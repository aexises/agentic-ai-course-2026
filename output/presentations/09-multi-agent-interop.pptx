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4d0caf022a412a" /><Relationship Type="http://schemas.openxmlformats.org/officeDocument/2006/relationships/extended-properties" Target="/docProps/app.xml" Id="Rc94c1b53400c4015" /><Relationship Type="http://schemas.openxmlformats.org/officeDocument/2006/relationships/officeDocument" Target="/ppt/presentation.xml" Id="Rbb7f329a5c0b4d5b" /></Relationships>
</file>

<file path=ppt/presentation.xml><?xml version="1.0" encoding="utf-8"?>
<p:presentation xmlns:p="http://schemas.openxmlformats.org/presentationml/2006/main">
  <p:sldMasterIdLst>
    <p:sldMasterId xmlns:r="http://schemas.openxmlformats.org/officeDocument/2006/relationships" id="2147483648" r:id="Rd0331d4785ee4079"/>
  </p:sldMasterIdLst>
  <p:notesMasterIdLst>
    <p:notesMasterId xmlns:r="http://schemas.openxmlformats.org/officeDocument/2006/relationships" r:id="R1bd9b8594da74352"/>
  </p:notesMasterIdLst>
  <p:sldIdLst>
    <p:sldId xmlns:r="http://schemas.openxmlformats.org/officeDocument/2006/relationships" id="256" r:id="R2ffbef51653c4bd9"/>
    <p:sldId xmlns:r="http://schemas.openxmlformats.org/officeDocument/2006/relationships" id="257" r:id="Rbf1cd1be018f4a44"/>
    <p:sldId xmlns:r="http://schemas.openxmlformats.org/officeDocument/2006/relationships" id="258" r:id="Re274d627fee74c86"/>
    <p:sldId xmlns:r="http://schemas.openxmlformats.org/officeDocument/2006/relationships" id="259" r:id="R827885bb72c1400e"/>
    <p:sldId xmlns:r="http://schemas.openxmlformats.org/officeDocument/2006/relationships" id="260" r:id="R7126e8fe86ae4fac"/>
    <p:sldId xmlns:r="http://schemas.openxmlformats.org/officeDocument/2006/relationships" id="261" r:id="R76bcd8542137438d"/>
    <p:sldId xmlns:r="http://schemas.openxmlformats.org/officeDocument/2006/relationships" id="262" r:id="R666051090a01448d"/>
    <p:sldId xmlns:r="http://schemas.openxmlformats.org/officeDocument/2006/relationships" id="263" r:id="R950af6808d76458a"/>
    <p:sldId xmlns:r="http://schemas.openxmlformats.org/officeDocument/2006/relationships" id="264" r:id="Rb14e08a5f4104e40"/>
    <p:sldId xmlns:r="http://schemas.openxmlformats.org/officeDocument/2006/relationships" id="265" r:id="Rc394bf61375643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886aa30d914694" /><Relationship Type="http://schemas.openxmlformats.org/officeDocument/2006/relationships/slideMaster" Target="/ppt/slideMasters/slideMaster1.xml" Id="Rd0331d4785ee4079" /><Relationship Type="http://schemas.openxmlformats.org/officeDocument/2006/relationships/notesMaster" Target="/ppt/notesMasters/notesMaster1.xml" Id="R1bd9b8594da74352" /><Relationship Type="http://schemas.openxmlformats.org/officeDocument/2006/relationships/presProps" Target="/ppt/presProps.xml" Id="Rf4679fd74988463c" /><Relationship Type="http://schemas.openxmlformats.org/officeDocument/2006/relationships/tableStyles" Target="/ppt/tableStyles.xml" Id="Rb473e2043e7a4e81" /><Relationship Type="http://schemas.openxmlformats.org/officeDocument/2006/relationships/slide" Target="/ppt/slides/slide1.xml" Id="R2ffbef51653c4bd9" /><Relationship Type="http://schemas.openxmlformats.org/officeDocument/2006/relationships/slide" Target="/ppt/slides/slide2.xml" Id="Rbf1cd1be018f4a44" /><Relationship Type="http://schemas.openxmlformats.org/officeDocument/2006/relationships/slide" Target="/ppt/slides/slide3.xml" Id="Re274d627fee74c86" /><Relationship Type="http://schemas.openxmlformats.org/officeDocument/2006/relationships/slide" Target="/ppt/slides/slide4.xml" Id="R827885bb72c1400e" /><Relationship Type="http://schemas.openxmlformats.org/officeDocument/2006/relationships/slide" Target="/ppt/slides/slide5.xml" Id="R7126e8fe86ae4fac" /><Relationship Type="http://schemas.openxmlformats.org/officeDocument/2006/relationships/slide" Target="/ppt/slides/slide6.xml" Id="R76bcd8542137438d" /><Relationship Type="http://schemas.openxmlformats.org/officeDocument/2006/relationships/slide" Target="/ppt/slides/slide7.xml" Id="R666051090a01448d" /><Relationship Type="http://schemas.openxmlformats.org/officeDocument/2006/relationships/slide" Target="/ppt/slides/slide8.xml" Id="R950af6808d76458a" /><Relationship Type="http://schemas.openxmlformats.org/officeDocument/2006/relationships/slide" Target="/ppt/slides/slide9.xml" Id="Rb14e08a5f4104e40" /><Relationship Type="http://schemas.openxmlformats.org/officeDocument/2006/relationships/slide" Target="/ppt/slides/slide10.xml" Id="Rc394bf61375643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297f14c8d442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2bfc5af2954214" /><Relationship Type="http://schemas.openxmlformats.org/officeDocument/2006/relationships/notesMaster" Target="/ppt/notesMasters/notesMaster1.xml" Id="Rd0b94ab0ae6947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ecaa521d2f437e" /><Relationship Type="http://schemas.openxmlformats.org/officeDocument/2006/relationships/notesMaster" Target="/ppt/notesMasters/notesMaster1.xml" Id="Rcdd59e36287947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fda7cb5c864ea7" /><Relationship Type="http://schemas.openxmlformats.org/officeDocument/2006/relationships/notesMaster" Target="/ppt/notesMasters/notesMaster1.xml" Id="R59e1a5cca25743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69e9f6e8524a9f" /><Relationship Type="http://schemas.openxmlformats.org/officeDocument/2006/relationships/notesMaster" Target="/ppt/notesMasters/notesMaster1.xml" Id="Rdd07f15b03ac4f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daef469a9349e7" /><Relationship Type="http://schemas.openxmlformats.org/officeDocument/2006/relationships/notesMaster" Target="/ppt/notesMasters/notesMaster1.xml" Id="R47a7e0437bf54e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46c3ab73e44ba9" /><Relationship Type="http://schemas.openxmlformats.org/officeDocument/2006/relationships/notesMaster" Target="/ppt/notesMasters/notesMaster1.xml" Id="Rf15dc103d09b4f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0c5816774046a1" /><Relationship Type="http://schemas.openxmlformats.org/officeDocument/2006/relationships/notesMaster" Target="/ppt/notesMasters/notesMaster1.xml" Id="R8a7913957edf4b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604ba5588a4a2f" /><Relationship Type="http://schemas.openxmlformats.org/officeDocument/2006/relationships/notesMaster" Target="/ppt/notesMasters/notesMaster1.xml" Id="Rd19d26ab1c1940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48c180ed36418a" /><Relationship Type="http://schemas.openxmlformats.org/officeDocument/2006/relationships/notesMaster" Target="/ppt/notesMasters/notesMaster1.xml" Id="R76fb0b7a078944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6f952439e245b8" /><Relationship Type="http://schemas.openxmlformats.org/officeDocument/2006/relationships/notesMaster" Target="/ppt/notesMasters/notesMaster1.xml" Id="Re8a91d629e7a44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chapter thesis and connect it to the previous chapter.</a:t>
            </a:r>
          </a:p>
          <a:p xmlns:a="http://schemas.openxmlformats.org/drawingml/2006/main">
            <a:r>
              <a:t/>
            </a:r>
          </a:p>
          <a:p xmlns:a="http://schemas.openxmlformats.org/drawingml/2006/main">
            <a:r>
              <a:t>[Sources]</a:t>
            </a:r>
          </a:p>
          <a:p xmlns:a="http://schemas.openxmlformats.org/drawingml/2006/main">
            <a:r>
              <a:t>- Supplied source presentation: 09-multi-agent-interop.pdf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objectives as an advance organizer and as a checklist after the deck.</a:t>
            </a:r>
          </a:p>
          <a:p xmlns:a="http://schemas.openxmlformats.org/drawingml/2006/main">
            <a:r>
              <a:t/>
            </a:r>
          </a:p>
          <a:p xmlns:a="http://schemas.openxmlformats.org/drawingml/2006/main">
            <a:r>
              <a:t>[Sources]</a:t>
            </a:r>
          </a:p>
          <a:p xmlns:a="http://schemas.openxmlformats.org/drawingml/2006/main">
            <a:r>
              <a:t>- Supplied source presentation: 09-multi-agent-interop.pdf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09-multi-agent-interop.pdf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09-multi-agent-interop.pdf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09-multi-agent-interop.pdf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09-multi-agent-interop.pdf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09-multi-agent-interop.pdf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09-multi-agent-interop.pdf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retrieval practice. Ask for an answer that defines, compares, traces, and evaluates.</a:t>
            </a:r>
          </a:p>
          <a:p xmlns:a="http://schemas.openxmlformats.org/drawingml/2006/main">
            <a:r>
              <a:t/>
            </a:r>
          </a:p>
          <a:p xmlns:a="http://schemas.openxmlformats.org/drawingml/2006/main">
            <a:r>
              <a:t>[Sources]</a:t>
            </a:r>
          </a:p>
          <a:p xmlns:a="http://schemas.openxmlformats.org/drawingml/2006/main">
            <a:r>
              <a:t>- Supplied source presentation: 09-multi-agent-interop.pdf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four durable ideas and linking forward to the next chapter.</a:t>
            </a:r>
          </a:p>
          <a:p xmlns:a="http://schemas.openxmlformats.org/drawingml/2006/main">
            <a:r>
              <a:t/>
            </a:r>
          </a:p>
          <a:p xmlns:a="http://schemas.openxmlformats.org/drawingml/2006/main">
            <a:r>
              <a:t>[Sources]</a:t>
            </a:r>
          </a:p>
          <a:p xmlns:a="http://schemas.openxmlformats.org/drawingml/2006/main">
            <a:r>
              <a:t>- Supplied source presentation: 09-multi-agent-interop.pdf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2f7fc345e242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9647eaaab14db9" /><Relationship Type="http://schemas.openxmlformats.org/officeDocument/2006/relationships/slideLayout" Target="/ppt/slideLayouts/slideLayout1.xml" Id="Rb54de1c8acef4f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4de1c8acef4f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9991e60e8641d0" /><Relationship Type="http://schemas.openxmlformats.org/officeDocument/2006/relationships/notesSlide" Target="/ppt/notesSlides/notesSlide1.xml" Id="R9e2cc10cad6340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76b8436cb54114" /><Relationship Type="http://schemas.openxmlformats.org/officeDocument/2006/relationships/notesSlide" Target="/ppt/notesSlides/notesSlide2.xml" Id="R389f9722f9e747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8d51929e344570" /><Relationship Type="http://schemas.openxmlformats.org/officeDocument/2006/relationships/notesSlide" Target="/ppt/notesSlides/notesSlide3.xml" Id="R5daeead730c746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3c2ec1804d4a6f" /><Relationship Type="http://schemas.openxmlformats.org/officeDocument/2006/relationships/notesSlide" Target="/ppt/notesSlides/notesSlide4.xml" Id="R316e17707fe242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7d9b1ab7c747c0" /><Relationship Type="http://schemas.openxmlformats.org/officeDocument/2006/relationships/notesSlide" Target="/ppt/notesSlides/notesSlide5.xml" Id="Rbe62d6a85a2944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2ef87494454948" /><Relationship Type="http://schemas.openxmlformats.org/officeDocument/2006/relationships/notesSlide" Target="/ppt/notesSlides/notesSlide6.xml" Id="R804d9bd71a8e49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b1dcc1ddb241d2" /><Relationship Type="http://schemas.openxmlformats.org/officeDocument/2006/relationships/notesSlide" Target="/ppt/notesSlides/notesSlide7.xml" Id="R6c928ac807af46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fa61a3db0b4b0f" /><Relationship Type="http://schemas.openxmlformats.org/officeDocument/2006/relationships/notesSlide" Target="/ppt/notesSlides/notesSlide8.xml" Id="R05e72cb7b30e41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62600d3d3348ca" /><Relationship Type="http://schemas.openxmlformats.org/officeDocument/2006/relationships/notesSlide" Target="/ppt/notesSlides/notesSlide9.xml" Id="R0982bcc24dc345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82441c0deb4548" /><Relationship Type="http://schemas.openxmlformats.org/officeDocument/2006/relationships/notesSlide" Target="/ppt/notesSlides/notesSlide10.xml" Id="R750a0e10b9ee439e"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itle-accent">
            <a:extLst xmlns:a="http://schemas.openxmlformats.org/drawingml/2006/main">
              <a:ext uri="{FF2B5EF4-FFF2-40B4-BE49-F238E27FC236}">
                <a16:creationId xmlns:a16="http://schemas.microsoft.com/office/drawing/2014/main" id="{9D880DB7-6749-4AFD-99EC-E315E9CF9A2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ourse-title">
            <a:extLst xmlns:a="http://schemas.openxmlformats.org/drawingml/2006/main">
              <a:ext uri="{FF2B5EF4-FFF2-40B4-BE49-F238E27FC236}">
                <a16:creationId xmlns:a16="http://schemas.microsoft.com/office/drawing/2014/main" id="{AD1A8C95-6F14-4679-BAFD-CA27D49F5B56}"/>
              </a:ext>
            </a:extLst>
          </p:cNvPr>
          <p:cNvSpPr>
            <a:spLocks xmlns:a="http://schemas.openxmlformats.org/drawingml/2006/main" noGrp="1"/>
          </p:cNvSpPr>
          <p:nvPr/>
        </p:nvSpPr>
        <p:spPr>
          <a:xfrm xmlns:a="http://schemas.openxmlformats.org/drawingml/2006/main">
            <a:off x="400050" y="4000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5B5B57"/>
                </a:solidFill>
                <a:latin typeface="Helvetica Neue"/>
                <a:ea typeface="Helvetica Neue"/>
                <a:cs typeface="Helvetica Neue"/>
              </a:defRPr>
            </a:pPr>
            <a:r>
              <a:rPr sz="1650" b="1">
                <a:solidFill>
                  <a:srgbClr val="5B5B57"/>
                </a:solidFill>
                <a:latin typeface="Helvetica Neue"/>
                <a:ea typeface="Helvetica Neue"/>
                <a:cs typeface="Helvetica Neue"/>
              </a:rPr>
              <a:t>AGENTIC AI</a:t>
            </a:r>
          </a:p>
        </p:txBody>
      </p:sp>
      <p:sp>
        <p:nvSpPr>
          <p:cNvPr id="3" name="chapter-number">
            <a:extLst xmlns:a="http://schemas.openxmlformats.org/drawingml/2006/main">
              <a:ext uri="{FF2B5EF4-FFF2-40B4-BE49-F238E27FC236}">
                <a16:creationId xmlns:a16="http://schemas.microsoft.com/office/drawing/2014/main" id="{029F1896-BDB3-440C-BD93-B883A16D37EF}"/>
              </a:ext>
            </a:extLst>
          </p:cNvPr>
          <p:cNvSpPr>
            <a:spLocks xmlns:a="http://schemas.openxmlformats.org/drawingml/2006/main" noGrp="1"/>
          </p:cNvSpPr>
          <p:nvPr/>
        </p:nvSpPr>
        <p:spPr>
          <a:xfrm xmlns:a="http://schemas.openxmlformats.org/drawingml/2006/main">
            <a:off x="10096500" y="3619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09</a:t>
            </a:r>
          </a:p>
        </p:txBody>
      </p:sp>
      <p:sp>
        <p:nvSpPr>
          <p:cNvPr id="4" name="deck-title">
            <a:extLst xmlns:a="http://schemas.openxmlformats.org/drawingml/2006/main">
              <a:ext uri="{FF2B5EF4-FFF2-40B4-BE49-F238E27FC236}">
                <a16:creationId xmlns:a16="http://schemas.microsoft.com/office/drawing/2014/main" id="{02DABF3F-73B1-435D-B961-6DBAE5E9C889}"/>
              </a:ext>
            </a:extLst>
          </p:cNvPr>
          <p:cNvSpPr>
            <a:spLocks xmlns:a="http://schemas.openxmlformats.org/drawingml/2006/main" noGrp="1"/>
          </p:cNvSpPr>
          <p:nvPr/>
        </p:nvSpPr>
        <p:spPr>
          <a:xfrm xmlns:a="http://schemas.openxmlformats.org/drawingml/2006/main">
            <a:off x="400050" y="1524000"/>
            <a:ext cx="9858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Multi-Agent Interoperability</a:t>
            </a:r>
          </a:p>
        </p:txBody>
      </p:sp>
      <p:sp>
        <p:nvSpPr>
          <p:cNvPr id="5" name="deck-thesis">
            <a:extLst xmlns:a="http://schemas.openxmlformats.org/drawingml/2006/main">
              <a:ext uri="{FF2B5EF4-FFF2-40B4-BE49-F238E27FC236}">
                <a16:creationId xmlns:a16="http://schemas.microsoft.com/office/drawing/2014/main" id="{670924B1-DA88-40F5-A813-477A6234CE90}"/>
              </a:ext>
            </a:extLst>
          </p:cNvPr>
          <p:cNvSpPr>
            <a:spLocks xmlns:a="http://schemas.openxmlformats.org/drawingml/2006/main" noGrp="1"/>
          </p:cNvSpPr>
          <p:nvPr/>
        </p:nvSpPr>
        <p:spPr>
          <a:xfrm xmlns:a="http://schemas.openxmlformats.org/drawingml/2006/main">
            <a:off x="400050" y="4610100"/>
            <a:ext cx="8524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0">
                <a:solidFill>
                  <a:srgbClr val="5B5B57"/>
                </a:solidFill>
                <a:latin typeface="Helvetica Neue"/>
                <a:ea typeface="Helvetica Neue"/>
                <a:cs typeface="Helvetica Neue"/>
              </a:defRPr>
            </a:pPr>
            <a:r>
              <a:rPr sz="2025" b="0">
                <a:solidFill>
                  <a:srgbClr val="5B5B57"/>
                </a:solidFill>
                <a:latin typeface="Helvetica Neue"/>
                <a:ea typeface="Helvetica Neue"/>
                <a:cs typeface="Helvetica Neue"/>
              </a:rPr>
              <a:t>A2A treats agents as discoverable services with long-running task lifecycles, while MCP connects each agent to tools and data.</a:t>
            </a:r>
          </a:p>
        </p:txBody>
      </p:sp>
      <p:sp>
        <p:nvSpPr>
          <p:cNvPr id="6" name="title-marker">
            <a:extLst xmlns:a="http://schemas.openxmlformats.org/drawingml/2006/main">
              <a:ext uri="{FF2B5EF4-FFF2-40B4-BE49-F238E27FC236}">
                <a16:creationId xmlns:a16="http://schemas.microsoft.com/office/drawing/2014/main" id="{FAFEB564-588E-4474-AB52-C7094305E4AE}"/>
              </a:ext>
            </a:extLst>
          </p:cNvPr>
          <p:cNvSpPr>
            <a:spLocks xmlns:a="http://schemas.openxmlformats.org/drawingml/2006/main" noGrp="1"/>
          </p:cNvSpPr>
          <p:nvPr/>
        </p:nvSpPr>
        <p:spPr>
          <a:xfrm xmlns:a="http://schemas.openxmlformats.org/drawingml/2006/main">
            <a:off x="9525000" y="4610100"/>
            <a:ext cx="2266950" cy="11049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7" name="title-marker-text">
            <a:extLst xmlns:a="http://schemas.openxmlformats.org/drawingml/2006/main">
              <a:ext uri="{FF2B5EF4-FFF2-40B4-BE49-F238E27FC236}">
                <a16:creationId xmlns:a16="http://schemas.microsoft.com/office/drawing/2014/main" id="{385A881A-E4A5-4930-9FBB-0A9DB1C5F6DD}"/>
              </a:ext>
            </a:extLst>
          </p:cNvPr>
          <p:cNvSpPr>
            <a:spLocks xmlns:a="http://schemas.openxmlformats.org/drawingml/2006/main" noGrp="1"/>
          </p:cNvSpPr>
          <p:nvPr/>
        </p:nvSpPr>
        <p:spPr>
          <a:xfrm xmlns:a="http://schemas.openxmlformats.org/drawingml/2006/main">
            <a:off x="9753600" y="476250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STUDY</a:t>
            </a:r>
          </a:p>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DECK</a:t>
            </a:r>
          </a:p>
        </p:txBody>
      </p:sp>
    </p:spTree>
    <p:extLst>
      <p:ext uri="{BB962C8B-B14F-4D97-AF65-F5344CB8AC3E}">
        <p14:creationId xmlns:p14="http://schemas.microsoft.com/office/powerpoint/2010/main" val="13030290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7EA6CAFA-FACF-42DE-A4DE-A3C80F4389F2}"/>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8FBB8BC8-0FBA-4CEC-B69D-DC2BCDDFB945}"/>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LEARNING MAP  /  09</a:t>
            </a:r>
          </a:p>
        </p:txBody>
      </p:sp>
      <p:sp>
        <p:nvSpPr>
          <p:cNvPr id="3" name="slide-number">
            <a:extLst xmlns:a="http://schemas.openxmlformats.org/drawingml/2006/main">
              <a:ext uri="{FF2B5EF4-FFF2-40B4-BE49-F238E27FC236}">
                <a16:creationId xmlns:a16="http://schemas.microsoft.com/office/drawing/2014/main" id="{7C86393F-8769-4466-AF7F-BB73B67B155B}"/>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02</a:t>
            </a:r>
          </a:p>
        </p:txBody>
      </p:sp>
      <p:sp>
        <p:nvSpPr>
          <p:cNvPr id="4" name="chapter-footer">
            <a:extLst xmlns:a="http://schemas.openxmlformats.org/drawingml/2006/main">
              <a:ext uri="{FF2B5EF4-FFF2-40B4-BE49-F238E27FC236}">
                <a16:creationId xmlns:a16="http://schemas.microsoft.com/office/drawing/2014/main" id="{C0B249E2-4755-437D-86C0-5CE3C3DFEC1C}"/>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Interoperability</a:t>
            </a:r>
          </a:p>
        </p:txBody>
      </p:sp>
      <p:sp>
        <p:nvSpPr>
          <p:cNvPr id="5" name="objectives-title">
            <a:extLst xmlns:a="http://schemas.openxmlformats.org/drawingml/2006/main">
              <a:ext uri="{FF2B5EF4-FFF2-40B4-BE49-F238E27FC236}">
                <a16:creationId xmlns:a16="http://schemas.microsoft.com/office/drawing/2014/main" id="{5B5E1F23-F654-436E-9E5A-5EB95AB1F13E}"/>
              </a:ext>
            </a:extLst>
          </p:cNvPr>
          <p:cNvSpPr>
            <a:spLocks xmlns:a="http://schemas.openxmlformats.org/drawingml/2006/main" noGrp="1"/>
          </p:cNvSpPr>
          <p:nvPr/>
        </p:nvSpPr>
        <p:spPr>
          <a:xfrm xmlns:a="http://schemas.openxmlformats.org/drawingml/2006/main">
            <a:off x="390525" y="9906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By the end, you should be able to...</a:t>
            </a:r>
          </a:p>
        </p:txBody>
      </p:sp>
      <p:sp>
        <p:nvSpPr>
          <p:cNvPr id="6" name="objective-number-1">
            <a:extLst xmlns:a="http://schemas.openxmlformats.org/drawingml/2006/main">
              <a:ext uri="{FF2B5EF4-FFF2-40B4-BE49-F238E27FC236}">
                <a16:creationId xmlns:a16="http://schemas.microsoft.com/office/drawing/2014/main" id="{16050268-0FF0-4B02-A5CE-27D93AD15B52}"/>
              </a:ext>
            </a:extLst>
          </p:cNvPr>
          <p:cNvSpPr>
            <a:spLocks xmlns:a="http://schemas.openxmlformats.org/drawingml/2006/main" noGrp="1"/>
          </p:cNvSpPr>
          <p:nvPr/>
        </p:nvSpPr>
        <p:spPr>
          <a:xfrm xmlns:a="http://schemas.openxmlformats.org/drawingml/2006/main">
            <a:off x="39052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01</a:t>
            </a:r>
          </a:p>
        </p:txBody>
      </p:sp>
      <p:sp>
        <p:nvSpPr>
          <p:cNvPr id="7" name="objective-1">
            <a:extLst xmlns:a="http://schemas.openxmlformats.org/drawingml/2006/main">
              <a:ext uri="{FF2B5EF4-FFF2-40B4-BE49-F238E27FC236}">
                <a16:creationId xmlns:a16="http://schemas.microsoft.com/office/drawing/2014/main" id="{98F656A6-D832-4AA3-9881-903A30A1DFFC}"/>
              </a:ext>
            </a:extLst>
          </p:cNvPr>
          <p:cNvSpPr>
            <a:spLocks xmlns:a="http://schemas.openxmlformats.org/drawingml/2006/main" noGrp="1"/>
          </p:cNvSpPr>
          <p:nvPr/>
        </p:nvSpPr>
        <p:spPr>
          <a:xfrm xmlns:a="http://schemas.openxmlformats.org/drawingml/2006/main">
            <a:off x="39052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Explain the agent interoperability problem</a:t>
            </a:r>
          </a:p>
        </p:txBody>
      </p:sp>
      <p:sp>
        <p:nvSpPr>
          <p:cNvPr id="8" name="objective-number-2">
            <a:extLst xmlns:a="http://schemas.openxmlformats.org/drawingml/2006/main">
              <a:ext uri="{FF2B5EF4-FFF2-40B4-BE49-F238E27FC236}">
                <a16:creationId xmlns:a16="http://schemas.microsoft.com/office/drawing/2014/main" id="{B4203223-53D9-465A-8C3A-AFA45535F103}"/>
              </a:ext>
            </a:extLst>
          </p:cNvPr>
          <p:cNvSpPr>
            <a:spLocks xmlns:a="http://schemas.openxmlformats.org/drawingml/2006/main" noGrp="1"/>
          </p:cNvSpPr>
          <p:nvPr/>
        </p:nvSpPr>
        <p:spPr>
          <a:xfrm xmlns:a="http://schemas.openxmlformats.org/drawingml/2006/main">
            <a:off x="327660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02</a:t>
            </a:r>
          </a:p>
        </p:txBody>
      </p:sp>
      <p:sp>
        <p:nvSpPr>
          <p:cNvPr id="9" name="objective-2">
            <a:extLst xmlns:a="http://schemas.openxmlformats.org/drawingml/2006/main">
              <a:ext uri="{FF2B5EF4-FFF2-40B4-BE49-F238E27FC236}">
                <a16:creationId xmlns:a16="http://schemas.microsoft.com/office/drawing/2014/main" id="{5E7FC0F9-40B4-4A03-8F8D-8FFBD062F7D9}"/>
              </a:ext>
            </a:extLst>
          </p:cNvPr>
          <p:cNvSpPr>
            <a:spLocks xmlns:a="http://schemas.openxmlformats.org/drawingml/2006/main" noGrp="1"/>
          </p:cNvSpPr>
          <p:nvPr/>
        </p:nvSpPr>
        <p:spPr>
          <a:xfrm xmlns:a="http://schemas.openxmlformats.org/drawingml/2006/main">
            <a:off x="327660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Describe Agent Cards and A2A task objects</a:t>
            </a:r>
          </a:p>
        </p:txBody>
      </p:sp>
      <p:sp>
        <p:nvSpPr>
          <p:cNvPr id="10" name="objective-number-3">
            <a:extLst xmlns:a="http://schemas.openxmlformats.org/drawingml/2006/main">
              <a:ext uri="{FF2B5EF4-FFF2-40B4-BE49-F238E27FC236}">
                <a16:creationId xmlns:a16="http://schemas.microsoft.com/office/drawing/2014/main" id="{28D2387B-84FF-4555-A748-C2EDB3F39A88}"/>
              </a:ext>
            </a:extLst>
          </p:cNvPr>
          <p:cNvSpPr>
            <a:spLocks xmlns:a="http://schemas.openxmlformats.org/drawingml/2006/main" noGrp="1"/>
          </p:cNvSpPr>
          <p:nvPr/>
        </p:nvSpPr>
        <p:spPr>
          <a:xfrm xmlns:a="http://schemas.openxmlformats.org/drawingml/2006/main">
            <a:off x="616267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03</a:t>
            </a:r>
          </a:p>
        </p:txBody>
      </p:sp>
      <p:sp>
        <p:nvSpPr>
          <p:cNvPr id="11" name="objective-3">
            <a:extLst xmlns:a="http://schemas.openxmlformats.org/drawingml/2006/main">
              <a:ext uri="{FF2B5EF4-FFF2-40B4-BE49-F238E27FC236}">
                <a16:creationId xmlns:a16="http://schemas.microsoft.com/office/drawing/2014/main" id="{39931130-F676-42E2-A912-AD56730E0A05}"/>
              </a:ext>
            </a:extLst>
          </p:cNvPr>
          <p:cNvSpPr>
            <a:spLocks xmlns:a="http://schemas.openxmlformats.org/drawingml/2006/main" noGrp="1"/>
          </p:cNvSpPr>
          <p:nvPr/>
        </p:nvSpPr>
        <p:spPr>
          <a:xfrm xmlns:a="http://schemas.openxmlformats.org/drawingml/2006/main">
            <a:off x="616267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Separate MCP and A2A responsibilities</a:t>
            </a:r>
          </a:p>
        </p:txBody>
      </p:sp>
      <p:sp>
        <p:nvSpPr>
          <p:cNvPr id="12" name="objective-number-4">
            <a:extLst xmlns:a="http://schemas.openxmlformats.org/drawingml/2006/main">
              <a:ext uri="{FF2B5EF4-FFF2-40B4-BE49-F238E27FC236}">
                <a16:creationId xmlns:a16="http://schemas.microsoft.com/office/drawing/2014/main" id="{A38B0F8B-EFA4-40B1-A34D-8E4401AFE336}"/>
              </a:ext>
            </a:extLst>
          </p:cNvPr>
          <p:cNvSpPr>
            <a:spLocks xmlns:a="http://schemas.openxmlformats.org/drawingml/2006/main" noGrp="1"/>
          </p:cNvSpPr>
          <p:nvPr/>
        </p:nvSpPr>
        <p:spPr>
          <a:xfrm xmlns:a="http://schemas.openxmlformats.org/drawingml/2006/main">
            <a:off x="904875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04</a:t>
            </a:r>
          </a:p>
        </p:txBody>
      </p:sp>
      <p:sp>
        <p:nvSpPr>
          <p:cNvPr id="13" name="objective-4">
            <a:extLst xmlns:a="http://schemas.openxmlformats.org/drawingml/2006/main">
              <a:ext uri="{FF2B5EF4-FFF2-40B4-BE49-F238E27FC236}">
                <a16:creationId xmlns:a16="http://schemas.microsoft.com/office/drawing/2014/main" id="{BE381B07-7E62-4CED-89BE-64650716D867}"/>
              </a:ext>
            </a:extLst>
          </p:cNvPr>
          <p:cNvSpPr>
            <a:spLocks xmlns:a="http://schemas.openxmlformats.org/drawingml/2006/main" noGrp="1"/>
          </p:cNvSpPr>
          <p:nvPr/>
        </p:nvSpPr>
        <p:spPr>
          <a:xfrm xmlns:a="http://schemas.openxmlformats.org/drawingml/2006/main">
            <a:off x="904875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Threat-model cross-agent delegation</a:t>
            </a:r>
          </a:p>
        </p:txBody>
      </p:sp>
    </p:spTree>
    <p:extLst>
      <p:ext uri="{BB962C8B-B14F-4D97-AF65-F5344CB8AC3E}">
        <p14:creationId xmlns:p14="http://schemas.microsoft.com/office/powerpoint/2010/main" val="11022556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5D8F9038-983B-4AF5-8B5C-41C90537EE2D}"/>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35AF4DEC-2393-4EE9-8FB5-B25961863949}"/>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01  /  09</a:t>
            </a:r>
          </a:p>
        </p:txBody>
      </p:sp>
      <p:sp>
        <p:nvSpPr>
          <p:cNvPr id="3" name="slide-number">
            <a:extLst xmlns:a="http://schemas.openxmlformats.org/drawingml/2006/main">
              <a:ext uri="{FF2B5EF4-FFF2-40B4-BE49-F238E27FC236}">
                <a16:creationId xmlns:a16="http://schemas.microsoft.com/office/drawing/2014/main" id="{DF66FC97-BD56-405A-8FA2-647E92549C56}"/>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03</a:t>
            </a:r>
          </a:p>
        </p:txBody>
      </p:sp>
      <p:sp>
        <p:nvSpPr>
          <p:cNvPr id="4" name="chapter-footer">
            <a:extLst xmlns:a="http://schemas.openxmlformats.org/drawingml/2006/main">
              <a:ext uri="{FF2B5EF4-FFF2-40B4-BE49-F238E27FC236}">
                <a16:creationId xmlns:a16="http://schemas.microsoft.com/office/drawing/2014/main" id="{F798671C-0FDA-42A4-939C-A1440D3872E7}"/>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Interoperability</a:t>
            </a:r>
          </a:p>
        </p:txBody>
      </p:sp>
      <p:sp>
        <p:nvSpPr>
          <p:cNvPr id="5" name="section-title">
            <a:extLst xmlns:a="http://schemas.openxmlformats.org/drawingml/2006/main">
              <a:ext uri="{FF2B5EF4-FFF2-40B4-BE49-F238E27FC236}">
                <a16:creationId xmlns:a16="http://schemas.microsoft.com/office/drawing/2014/main" id="{90395E86-3284-414F-BEA2-638D79BB8FAC}"/>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25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Agent ecosystems recreate the integration problem one layer up</a:t>
            </a:r>
          </a:p>
        </p:txBody>
      </p:sp>
      <p:sp>
        <p:nvSpPr>
          <p:cNvPr id="6" name="section-explanation">
            <a:extLst xmlns:a="http://schemas.openxmlformats.org/drawingml/2006/main">
              <a:ext uri="{FF2B5EF4-FFF2-40B4-BE49-F238E27FC236}">
                <a16:creationId xmlns:a16="http://schemas.microsoft.com/office/drawing/2014/main" id="{8056EF98-1120-44E0-A38F-240F0C46A91A}"/>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Real agents use different frameworks, vendors, organizations, endpoints, and security domains. Bespoke pairwise integrations do not scale. An interoperable agent must publish capabilities and accept work without exposing its internal reasoning implementation.</a:t>
            </a:r>
          </a:p>
        </p:txBody>
      </p:sp>
      <p:sp>
        <p:nvSpPr>
          <p:cNvPr id="7" name="column-rule">
            <a:extLst xmlns:a="http://schemas.openxmlformats.org/drawingml/2006/main">
              <a:ext uri="{FF2B5EF4-FFF2-40B4-BE49-F238E27FC236}">
                <a16:creationId xmlns:a16="http://schemas.microsoft.com/office/drawing/2014/main" id="{19B8B5B6-6FD2-4561-B340-8D39A0A8BA28}"/>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section-points">
            <a:extLst xmlns:a="http://schemas.openxmlformats.org/drawingml/2006/main">
              <a:ext uri="{FF2B5EF4-FFF2-40B4-BE49-F238E27FC236}">
                <a16:creationId xmlns:a16="http://schemas.microsoft.com/office/drawing/2014/main" id="{48583344-F54E-44E8-ADEE-58A03BA91198}"/>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An agent resembles a service with discovery, endpoint, and authentication.</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Unlike a simple API, it reasons and may run for minutes or days.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The protocol must cover status, streaming, and artifacts.</a:t>
            </a:r>
          </a:p>
        </p:txBody>
      </p:sp>
    </p:spTree>
    <p:extLst>
      <p:ext uri="{BB962C8B-B14F-4D97-AF65-F5344CB8AC3E}">
        <p14:creationId xmlns:p14="http://schemas.microsoft.com/office/powerpoint/2010/main" val="1765742537"/>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A8D0099A-0788-4AF3-BB7A-7ADB0612A6C7}"/>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FC7B0751-A2DC-4872-B96A-483487FECBF0}"/>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02  /  09</a:t>
            </a:r>
          </a:p>
        </p:txBody>
      </p:sp>
      <p:sp>
        <p:nvSpPr>
          <p:cNvPr id="3" name="slide-number">
            <a:extLst xmlns:a="http://schemas.openxmlformats.org/drawingml/2006/main">
              <a:ext uri="{FF2B5EF4-FFF2-40B4-BE49-F238E27FC236}">
                <a16:creationId xmlns:a16="http://schemas.microsoft.com/office/drawing/2014/main" id="{0C380E07-67D1-4AD9-A108-5A8B6C93D3AA}"/>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04</a:t>
            </a:r>
          </a:p>
        </p:txBody>
      </p:sp>
      <p:sp>
        <p:nvSpPr>
          <p:cNvPr id="4" name="chapter-footer">
            <a:extLst xmlns:a="http://schemas.openxmlformats.org/drawingml/2006/main">
              <a:ext uri="{FF2B5EF4-FFF2-40B4-BE49-F238E27FC236}">
                <a16:creationId xmlns:a16="http://schemas.microsoft.com/office/drawing/2014/main" id="{DEE771EA-4F9C-4D6C-938B-F7DC8EA046FC}"/>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Interoperability</a:t>
            </a:r>
          </a:p>
        </p:txBody>
      </p:sp>
      <p:sp>
        <p:nvSpPr>
          <p:cNvPr id="5" name="section-title">
            <a:extLst xmlns:a="http://schemas.openxmlformats.org/drawingml/2006/main">
              <a:ext uri="{FF2B5EF4-FFF2-40B4-BE49-F238E27FC236}">
                <a16:creationId xmlns:a16="http://schemas.microsoft.com/office/drawing/2014/main" id="{C8AAA555-5489-443A-8B52-F4F92C95EDDA}"/>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A2A builds agent collaboration on web standards</a:t>
            </a:r>
          </a:p>
        </p:txBody>
      </p:sp>
      <p:sp>
        <p:nvSpPr>
          <p:cNvPr id="6" name="section-explanation">
            <a:extLst xmlns:a="http://schemas.openxmlformats.org/drawingml/2006/main">
              <a:ext uri="{FF2B5EF4-FFF2-40B4-BE49-F238E27FC236}">
                <a16:creationId xmlns:a16="http://schemas.microsoft.com/office/drawing/2014/main" id="{BEF9EE9B-6C5B-46AE-8848-7268BF4D3BBB}"/>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The Agent-to-Agent protocol uses HTTP, JSON-RPC, server-sent events, and standard authentication. Its design supports natural agentic interaction, secure enterprise use, long-running tasks, and multiple modalities.</a:t>
            </a:r>
          </a:p>
        </p:txBody>
      </p:sp>
      <p:sp>
        <p:nvSpPr>
          <p:cNvPr id="7" name="point-band-1">
            <a:extLst xmlns:a="http://schemas.openxmlformats.org/drawingml/2006/main">
              <a:ext uri="{FF2B5EF4-FFF2-40B4-BE49-F238E27FC236}">
                <a16:creationId xmlns:a16="http://schemas.microsoft.com/office/drawing/2014/main" id="{88302331-3123-4670-AFD3-B574F611FD2F}"/>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point-1">
            <a:extLst xmlns:a="http://schemas.openxmlformats.org/drawingml/2006/main">
              <a:ext uri="{FF2B5EF4-FFF2-40B4-BE49-F238E27FC236}">
                <a16:creationId xmlns:a16="http://schemas.microsoft.com/office/drawing/2014/main" id="{9EF4145B-1388-40EF-8EED-C2D3AF66B9D2}"/>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HTTP provides transport.</a:t>
            </a:r>
          </a:p>
        </p:txBody>
      </p:sp>
      <p:sp>
        <p:nvSpPr>
          <p:cNvPr id="9" name="point-band-2">
            <a:extLst xmlns:a="http://schemas.openxmlformats.org/drawingml/2006/main">
              <a:ext uri="{FF2B5EF4-FFF2-40B4-BE49-F238E27FC236}">
                <a16:creationId xmlns:a16="http://schemas.microsoft.com/office/drawing/2014/main" id="{CAEC9C72-2E26-444F-B35E-A6C78A3C865F}"/>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0" name="point-2">
            <a:extLst xmlns:a="http://schemas.openxmlformats.org/drawingml/2006/main">
              <a:ext uri="{FF2B5EF4-FFF2-40B4-BE49-F238E27FC236}">
                <a16:creationId xmlns:a16="http://schemas.microsoft.com/office/drawing/2014/main" id="{7D6C1E28-3E91-4E39-B0AD-5FCE4F60DA45}"/>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JSON-RPC structures requests and responses.</a:t>
            </a:r>
          </a:p>
        </p:txBody>
      </p:sp>
      <p:sp>
        <p:nvSpPr>
          <p:cNvPr id="11" name="point-band-3">
            <a:extLst xmlns:a="http://schemas.openxmlformats.org/drawingml/2006/main">
              <a:ext uri="{FF2B5EF4-FFF2-40B4-BE49-F238E27FC236}">
                <a16:creationId xmlns:a16="http://schemas.microsoft.com/office/drawing/2014/main" id="{BAF0AF81-F361-4DD3-B064-27175A715F0A}"/>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2" name="point-3">
            <a:extLst xmlns:a="http://schemas.openxmlformats.org/drawingml/2006/main">
              <a:ext uri="{FF2B5EF4-FFF2-40B4-BE49-F238E27FC236}">
                <a16:creationId xmlns:a16="http://schemas.microsoft.com/office/drawing/2014/main" id="{3F82B1FF-9D36-4C75-B20B-66EA385907F2}"/>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SSE streams task updates.</a:t>
            </a:r>
          </a:p>
        </p:txBody>
      </p:sp>
      <p:sp>
        <p:nvSpPr>
          <p:cNvPr id="13" name="point-band-4">
            <a:extLst xmlns:a="http://schemas.openxmlformats.org/drawingml/2006/main">
              <a:ext uri="{FF2B5EF4-FFF2-40B4-BE49-F238E27FC236}">
                <a16:creationId xmlns:a16="http://schemas.microsoft.com/office/drawing/2014/main" id="{2559D737-DCDA-471C-AE35-B8713A919AE0}"/>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4" name="point-4">
            <a:extLst xmlns:a="http://schemas.openxmlformats.org/drawingml/2006/main">
              <a:ext uri="{FF2B5EF4-FFF2-40B4-BE49-F238E27FC236}">
                <a16:creationId xmlns:a16="http://schemas.microsoft.com/office/drawing/2014/main" id="{17E64C12-688C-44E1-B4AB-32346B06A9E4}"/>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Standard authentication lowers integration friction.</a:t>
            </a:r>
          </a:p>
        </p:txBody>
      </p:sp>
    </p:spTree>
    <p:extLst>
      <p:ext uri="{BB962C8B-B14F-4D97-AF65-F5344CB8AC3E}">
        <p14:creationId xmlns:p14="http://schemas.microsoft.com/office/powerpoint/2010/main" val="16467626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B6A5EB25-56E6-40C7-A64B-75BF1998032B}"/>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E561F377-1220-40D4-9A06-231ACC5DCF3F}"/>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03  /  09</a:t>
            </a:r>
          </a:p>
        </p:txBody>
      </p:sp>
      <p:sp>
        <p:nvSpPr>
          <p:cNvPr id="3" name="slide-number">
            <a:extLst xmlns:a="http://schemas.openxmlformats.org/drawingml/2006/main">
              <a:ext uri="{FF2B5EF4-FFF2-40B4-BE49-F238E27FC236}">
                <a16:creationId xmlns:a16="http://schemas.microsoft.com/office/drawing/2014/main" id="{A3217B9A-D03A-4216-99A5-7E7BD5404E29}"/>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05</a:t>
            </a:r>
          </a:p>
        </p:txBody>
      </p:sp>
      <p:sp>
        <p:nvSpPr>
          <p:cNvPr id="4" name="chapter-footer">
            <a:extLst xmlns:a="http://schemas.openxmlformats.org/drawingml/2006/main">
              <a:ext uri="{FF2B5EF4-FFF2-40B4-BE49-F238E27FC236}">
                <a16:creationId xmlns:a16="http://schemas.microsoft.com/office/drawing/2014/main" id="{88FEEC75-0B3F-4E05-9EFE-236160F36189}"/>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Interoperability</a:t>
            </a:r>
          </a:p>
        </p:txBody>
      </p:sp>
      <p:sp>
        <p:nvSpPr>
          <p:cNvPr id="5" name="section-title">
            <a:extLst xmlns:a="http://schemas.openxmlformats.org/drawingml/2006/main">
              <a:ext uri="{FF2B5EF4-FFF2-40B4-BE49-F238E27FC236}">
                <a16:creationId xmlns:a16="http://schemas.microsoft.com/office/drawing/2014/main" id="{43944EC5-D3BC-48FD-A0D3-770E00546421}"/>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Agent Cards make capabilities discoverable</a:t>
            </a:r>
          </a:p>
        </p:txBody>
      </p:sp>
      <p:sp>
        <p:nvSpPr>
          <p:cNvPr id="6" name="section-explanation">
            <a:extLst xmlns:a="http://schemas.openxmlformats.org/drawingml/2006/main">
              <a:ext uri="{FF2B5EF4-FFF2-40B4-BE49-F238E27FC236}">
                <a16:creationId xmlns:a16="http://schemas.microsoft.com/office/drawing/2014/main" id="{33C411DF-FDA1-495E-ABA5-8A91EDFC973F}"/>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An Agent Card is a machine-readable manifest containing identity, provider, version, skills, endpoint, and authentication information. Clients can fetch a well-known URL, use a registry, or follow a referral.</a:t>
            </a:r>
          </a:p>
        </p:txBody>
      </p:sp>
      <p:sp>
        <p:nvSpPr>
          <p:cNvPr id="7" name="column-rule">
            <a:extLst xmlns:a="http://schemas.openxmlformats.org/drawingml/2006/main">
              <a:ext uri="{FF2B5EF4-FFF2-40B4-BE49-F238E27FC236}">
                <a16:creationId xmlns:a16="http://schemas.microsoft.com/office/drawing/2014/main" id="{7DF5B8B9-68DE-40C9-98FA-6FF178FA5E18}"/>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section-points">
            <a:extLst xmlns:a="http://schemas.openxmlformats.org/drawingml/2006/main">
              <a:ext uri="{FF2B5EF4-FFF2-40B4-BE49-F238E27FC236}">
                <a16:creationId xmlns:a16="http://schemas.microsoft.com/office/drawing/2014/main" id="{21B628B2-52D5-472F-B5CE-8DB0EC522CDA}"/>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Discovery avoids hard-coding every remote capability.</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Cards should be authenticated or signed before trust.</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Capabilities should be described at agent-level granularity.</a:t>
            </a:r>
          </a:p>
        </p:txBody>
      </p:sp>
    </p:spTree>
    <p:extLst>
      <p:ext uri="{BB962C8B-B14F-4D97-AF65-F5344CB8AC3E}">
        <p14:creationId xmlns:p14="http://schemas.microsoft.com/office/powerpoint/2010/main" val="1923015922"/>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7F54FACF-903B-4A5C-B81C-73A82EE2B969}"/>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0ABDC18F-B0DA-4759-AA1C-15F1A3679098}"/>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04  /  09</a:t>
            </a:r>
          </a:p>
        </p:txBody>
      </p:sp>
      <p:sp>
        <p:nvSpPr>
          <p:cNvPr id="3" name="slide-number">
            <a:extLst xmlns:a="http://schemas.openxmlformats.org/drawingml/2006/main">
              <a:ext uri="{FF2B5EF4-FFF2-40B4-BE49-F238E27FC236}">
                <a16:creationId xmlns:a16="http://schemas.microsoft.com/office/drawing/2014/main" id="{B7644F41-22B1-4E8D-96ED-0FFD2B72EF8D}"/>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06</a:t>
            </a:r>
          </a:p>
        </p:txBody>
      </p:sp>
      <p:sp>
        <p:nvSpPr>
          <p:cNvPr id="4" name="chapter-footer">
            <a:extLst xmlns:a="http://schemas.openxmlformats.org/drawingml/2006/main">
              <a:ext uri="{FF2B5EF4-FFF2-40B4-BE49-F238E27FC236}">
                <a16:creationId xmlns:a16="http://schemas.microsoft.com/office/drawing/2014/main" id="{29BB611C-E35F-4CB6-802C-62C2F63CF785}"/>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Interoperability</a:t>
            </a:r>
          </a:p>
        </p:txBody>
      </p:sp>
      <p:sp>
        <p:nvSpPr>
          <p:cNvPr id="5" name="section-title">
            <a:extLst xmlns:a="http://schemas.openxmlformats.org/drawingml/2006/main">
              <a:ext uri="{FF2B5EF4-FFF2-40B4-BE49-F238E27FC236}">
                <a16:creationId xmlns:a16="http://schemas.microsoft.com/office/drawing/2014/main" id="{03B44D19-0251-44BB-8D64-5B2A3085F82B}"/>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Tasks organize long-running collaboration</a:t>
            </a:r>
          </a:p>
        </p:txBody>
      </p:sp>
      <p:sp>
        <p:nvSpPr>
          <p:cNvPr id="6" name="section-explanation">
            <a:extLst xmlns:a="http://schemas.openxmlformats.org/drawingml/2006/main">
              <a:ext uri="{FF2B5EF4-FFF2-40B4-BE49-F238E27FC236}">
                <a16:creationId xmlns:a16="http://schemas.microsoft.com/office/drawing/2014/main" id="{3E2AF17E-19CC-4D15-9E56-C41F2F723BEB}"/>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A task has a lifecycle such as submitted, working, waiting for input, completed, failed, or canceled. Messages contain parts such as text or files; artifacts are the produced deliverables. Streaming exposes progress without pretending the work is one synchronous call.</a:t>
            </a:r>
          </a:p>
        </p:txBody>
      </p:sp>
      <p:sp>
        <p:nvSpPr>
          <p:cNvPr id="7" name="point-band-1">
            <a:extLst xmlns:a="http://schemas.openxmlformats.org/drawingml/2006/main">
              <a:ext uri="{FF2B5EF4-FFF2-40B4-BE49-F238E27FC236}">
                <a16:creationId xmlns:a16="http://schemas.microsoft.com/office/drawing/2014/main" id="{E75A54FB-E4AA-4163-83E4-2C0C6480F38E}"/>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point-1">
            <a:extLst xmlns:a="http://schemas.openxmlformats.org/drawingml/2006/main">
              <a:ext uri="{FF2B5EF4-FFF2-40B4-BE49-F238E27FC236}">
                <a16:creationId xmlns:a16="http://schemas.microsoft.com/office/drawing/2014/main" id="{D908848D-9786-4F8F-8302-A1D68C2D31C6}"/>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Messages carry conversation turns.</a:t>
            </a:r>
          </a:p>
        </p:txBody>
      </p:sp>
      <p:sp>
        <p:nvSpPr>
          <p:cNvPr id="9" name="point-band-2">
            <a:extLst xmlns:a="http://schemas.openxmlformats.org/drawingml/2006/main">
              <a:ext uri="{FF2B5EF4-FFF2-40B4-BE49-F238E27FC236}">
                <a16:creationId xmlns:a16="http://schemas.microsoft.com/office/drawing/2014/main" id="{007B9245-8434-4D5C-9EB5-22680A4C2EBE}"/>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0" name="point-2">
            <a:extLst xmlns:a="http://schemas.openxmlformats.org/drawingml/2006/main">
              <a:ext uri="{FF2B5EF4-FFF2-40B4-BE49-F238E27FC236}">
                <a16:creationId xmlns:a16="http://schemas.microsoft.com/office/drawing/2014/main" id="{1969A41F-098A-4938-8B34-889AA33430E8}"/>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Parts carry multimodal content.</a:t>
            </a:r>
          </a:p>
        </p:txBody>
      </p:sp>
      <p:sp>
        <p:nvSpPr>
          <p:cNvPr id="11" name="point-band-3">
            <a:extLst xmlns:a="http://schemas.openxmlformats.org/drawingml/2006/main">
              <a:ext uri="{FF2B5EF4-FFF2-40B4-BE49-F238E27FC236}">
                <a16:creationId xmlns:a16="http://schemas.microsoft.com/office/drawing/2014/main" id="{0F91C834-18E1-4B38-AFB5-D2C3A5121D2A}"/>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2" name="point-3">
            <a:extLst xmlns:a="http://schemas.openxmlformats.org/drawingml/2006/main">
              <a:ext uri="{FF2B5EF4-FFF2-40B4-BE49-F238E27FC236}">
                <a16:creationId xmlns:a16="http://schemas.microsoft.com/office/drawing/2014/main" id="{664DF763-5C59-4D64-82E6-43C6B926AD92}"/>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Artifacts carry completed outputs.</a:t>
            </a:r>
          </a:p>
        </p:txBody>
      </p:sp>
      <p:sp>
        <p:nvSpPr>
          <p:cNvPr id="13" name="point-band-4">
            <a:extLst xmlns:a="http://schemas.openxmlformats.org/drawingml/2006/main">
              <a:ext uri="{FF2B5EF4-FFF2-40B4-BE49-F238E27FC236}">
                <a16:creationId xmlns:a16="http://schemas.microsoft.com/office/drawing/2014/main" id="{DA49F2B4-7BB8-4AEA-90AA-B3DA1284DB52}"/>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4" name="point-4">
            <a:extLst xmlns:a="http://schemas.openxmlformats.org/drawingml/2006/main">
              <a:ext uri="{FF2B5EF4-FFF2-40B4-BE49-F238E27FC236}">
                <a16:creationId xmlns:a16="http://schemas.microsoft.com/office/drawing/2014/main" id="{AA8B001C-9FD5-4A86-ABDE-B1303F63A378}"/>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Lifecycle state enables pause, input, retry, and completion.</a:t>
            </a:r>
          </a:p>
        </p:txBody>
      </p:sp>
    </p:spTree>
    <p:extLst>
      <p:ext uri="{BB962C8B-B14F-4D97-AF65-F5344CB8AC3E}">
        <p14:creationId xmlns:p14="http://schemas.microsoft.com/office/powerpoint/2010/main" val="10619372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584F8A84-42DF-444D-8FF7-B71201A056C8}"/>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26760A0C-F4D5-4E0B-BBB7-6F12B54138E2}"/>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05  /  09</a:t>
            </a:r>
          </a:p>
        </p:txBody>
      </p:sp>
      <p:sp>
        <p:nvSpPr>
          <p:cNvPr id="3" name="slide-number">
            <a:extLst xmlns:a="http://schemas.openxmlformats.org/drawingml/2006/main">
              <a:ext uri="{FF2B5EF4-FFF2-40B4-BE49-F238E27FC236}">
                <a16:creationId xmlns:a16="http://schemas.microsoft.com/office/drawing/2014/main" id="{729AE1D9-C7B7-4FE8-A921-4584CD5EE2CD}"/>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07</a:t>
            </a:r>
          </a:p>
        </p:txBody>
      </p:sp>
      <p:sp>
        <p:nvSpPr>
          <p:cNvPr id="4" name="chapter-footer">
            <a:extLst xmlns:a="http://schemas.openxmlformats.org/drawingml/2006/main">
              <a:ext uri="{FF2B5EF4-FFF2-40B4-BE49-F238E27FC236}">
                <a16:creationId xmlns:a16="http://schemas.microsoft.com/office/drawing/2014/main" id="{AAF0EAE5-71B0-49D1-81D0-6B58F33D4A48}"/>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Interoperability</a:t>
            </a:r>
          </a:p>
        </p:txBody>
      </p:sp>
      <p:sp>
        <p:nvSpPr>
          <p:cNvPr id="5" name="section-title">
            <a:extLst xmlns:a="http://schemas.openxmlformats.org/drawingml/2006/main">
              <a:ext uri="{FF2B5EF4-FFF2-40B4-BE49-F238E27FC236}">
                <a16:creationId xmlns:a16="http://schemas.microsoft.com/office/drawing/2014/main" id="{BDE03027-FAEC-4BBC-81C3-E09C63DB6EA3}"/>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MCP and A2A form two different layers</a:t>
            </a:r>
          </a:p>
        </p:txBody>
      </p:sp>
      <p:sp>
        <p:nvSpPr>
          <p:cNvPr id="6" name="section-explanation">
            <a:extLst xmlns:a="http://schemas.openxmlformats.org/drawingml/2006/main">
              <a:ext uri="{FF2B5EF4-FFF2-40B4-BE49-F238E27FC236}">
                <a16:creationId xmlns:a16="http://schemas.microsoft.com/office/drawing/2014/main" id="{BC046546-C835-4264-840D-6E3B24674D32}"/>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MCP connects an agent to schema-defined tools and data sources. A2A connects one autonomous, reasoning agent to another through a task lifecycle. A remote agent may itself use MCP servers to complete delegated work.</a:t>
            </a:r>
          </a:p>
        </p:txBody>
      </p:sp>
      <p:sp>
        <p:nvSpPr>
          <p:cNvPr id="7" name="column-rule">
            <a:extLst xmlns:a="http://schemas.openxmlformats.org/drawingml/2006/main">
              <a:ext uri="{FF2B5EF4-FFF2-40B4-BE49-F238E27FC236}">
                <a16:creationId xmlns:a16="http://schemas.microsoft.com/office/drawing/2014/main" id="{B87BDFBB-2A17-41F3-896C-E5A47E1C0BED}"/>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section-points">
            <a:extLst xmlns:a="http://schemas.openxmlformats.org/drawingml/2006/main">
              <a:ext uri="{FF2B5EF4-FFF2-40B4-BE49-F238E27FC236}">
                <a16:creationId xmlns:a16="http://schemas.microsoft.com/office/drawing/2014/main" id="{A22F6DAB-BC63-44F2-AB24-AB02F0FCB99B}"/>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Use MCP for vertical integration with tools and data.</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Use A2A for horizontal collaboration across agent boundaries.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Do not model a long-running autonomous service as a micro-tool.</a:t>
            </a:r>
          </a:p>
        </p:txBody>
      </p:sp>
    </p:spTree>
    <p:extLst>
      <p:ext uri="{BB962C8B-B14F-4D97-AF65-F5344CB8AC3E}">
        <p14:creationId xmlns:p14="http://schemas.microsoft.com/office/powerpoint/2010/main" val="2030556776"/>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FACA8A81-3AD0-4A45-A653-1128B3D78E7C}"/>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7536A8B2-B17E-4381-86E5-00E6C35A788E}"/>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06  /  09</a:t>
            </a:r>
          </a:p>
        </p:txBody>
      </p:sp>
      <p:sp>
        <p:nvSpPr>
          <p:cNvPr id="3" name="slide-number">
            <a:extLst xmlns:a="http://schemas.openxmlformats.org/drawingml/2006/main">
              <a:ext uri="{FF2B5EF4-FFF2-40B4-BE49-F238E27FC236}">
                <a16:creationId xmlns:a16="http://schemas.microsoft.com/office/drawing/2014/main" id="{5656F57B-DC10-43A6-8F92-76A69BCDF638}"/>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08</a:t>
            </a:r>
          </a:p>
        </p:txBody>
      </p:sp>
      <p:sp>
        <p:nvSpPr>
          <p:cNvPr id="4" name="chapter-footer">
            <a:extLst xmlns:a="http://schemas.openxmlformats.org/drawingml/2006/main">
              <a:ext uri="{FF2B5EF4-FFF2-40B4-BE49-F238E27FC236}">
                <a16:creationId xmlns:a16="http://schemas.microsoft.com/office/drawing/2014/main" id="{3827AE9C-F298-4FD0-85DB-D129A1621F60}"/>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Interoperability</a:t>
            </a:r>
          </a:p>
        </p:txBody>
      </p:sp>
      <p:sp>
        <p:nvSpPr>
          <p:cNvPr id="5" name="section-title">
            <a:extLst xmlns:a="http://schemas.openxmlformats.org/drawingml/2006/main">
              <a:ext uri="{FF2B5EF4-FFF2-40B4-BE49-F238E27FC236}">
                <a16:creationId xmlns:a16="http://schemas.microsoft.com/office/drawing/2014/main" id="{3C7B624B-93DD-4BFC-8AF0-72388969CC37}"/>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Delegation crosses trust and governance boundaries</a:t>
            </a:r>
          </a:p>
        </p:txBody>
      </p:sp>
      <p:sp>
        <p:nvSpPr>
          <p:cNvPr id="6" name="section-explanation">
            <a:extLst xmlns:a="http://schemas.openxmlformats.org/drawingml/2006/main">
              <a:ext uri="{FF2B5EF4-FFF2-40B4-BE49-F238E27FC236}">
                <a16:creationId xmlns:a16="http://schemas.microsoft.com/office/drawing/2014/main" id="{92B60078-A317-4D23-8302-7957900D80F5}"/>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Every cross-agent edge raises questions about identity, authorization, prompt injection, over-delegation, data retention, compliance, cost, and audit. Remote outputs must be handled as untrusted content even after authentication.</a:t>
            </a:r>
          </a:p>
        </p:txBody>
      </p:sp>
      <p:sp>
        <p:nvSpPr>
          <p:cNvPr id="7" name="point-band-1">
            <a:extLst xmlns:a="http://schemas.openxmlformats.org/drawingml/2006/main">
              <a:ext uri="{FF2B5EF4-FFF2-40B4-BE49-F238E27FC236}">
                <a16:creationId xmlns:a16="http://schemas.microsoft.com/office/drawing/2014/main" id="{50B07605-7416-4EEF-BE99-EE11BC2381CD}"/>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point-1">
            <a:extLst xmlns:a="http://schemas.openxmlformats.org/drawingml/2006/main">
              <a:ext uri="{FF2B5EF4-FFF2-40B4-BE49-F238E27FC236}">
                <a16:creationId xmlns:a16="http://schemas.microsoft.com/office/drawing/2014/main" id="{0E26FCE8-12A3-4277-B755-4B9A1B2C9D3A}"/>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Authenticate the agent and verify its card.</a:t>
            </a:r>
          </a:p>
        </p:txBody>
      </p:sp>
      <p:sp>
        <p:nvSpPr>
          <p:cNvPr id="9" name="point-band-2">
            <a:extLst xmlns:a="http://schemas.openxmlformats.org/drawingml/2006/main">
              <a:ext uri="{FF2B5EF4-FFF2-40B4-BE49-F238E27FC236}">
                <a16:creationId xmlns:a16="http://schemas.microsoft.com/office/drawing/2014/main" id="{84BA3A23-534B-4552-B817-CFA105D50A78}"/>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0" name="point-2">
            <a:extLst xmlns:a="http://schemas.openxmlformats.org/drawingml/2006/main">
              <a:ext uri="{FF2B5EF4-FFF2-40B4-BE49-F238E27FC236}">
                <a16:creationId xmlns:a16="http://schemas.microsoft.com/office/drawing/2014/main" id="{B9F90D71-E79C-41A9-8E6B-E45C41879E92}"/>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Scope delegated authority by task, spend, action, and time.</a:t>
            </a:r>
          </a:p>
        </p:txBody>
      </p:sp>
      <p:sp>
        <p:nvSpPr>
          <p:cNvPr id="11" name="point-band-3">
            <a:extLst xmlns:a="http://schemas.openxmlformats.org/drawingml/2006/main">
              <a:ext uri="{FF2B5EF4-FFF2-40B4-BE49-F238E27FC236}">
                <a16:creationId xmlns:a16="http://schemas.microsoft.com/office/drawing/2014/main" id="{0C6C2DC5-3BAC-4535-8DE0-13F094BC0B2E}"/>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2" name="point-3">
            <a:extLst xmlns:a="http://schemas.openxmlformats.org/drawingml/2006/main">
              <a:ext uri="{FF2B5EF4-FFF2-40B4-BE49-F238E27FC236}">
                <a16:creationId xmlns:a16="http://schemas.microsoft.com/office/drawing/2014/main" id="{DC5862D7-2A72-4331-A203-C7A7138F6A6C}"/>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Confirm high-stakes actions with a human.</a:t>
            </a:r>
          </a:p>
        </p:txBody>
      </p:sp>
      <p:sp>
        <p:nvSpPr>
          <p:cNvPr id="13" name="point-band-4">
            <a:extLst xmlns:a="http://schemas.openxmlformats.org/drawingml/2006/main">
              <a:ext uri="{FF2B5EF4-FFF2-40B4-BE49-F238E27FC236}">
                <a16:creationId xmlns:a16="http://schemas.microsoft.com/office/drawing/2014/main" id="{EE359CF7-6D5B-46C5-9255-5592BAF04374}"/>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4" name="point-4">
            <a:extLst xmlns:a="http://schemas.openxmlformats.org/drawingml/2006/main">
              <a:ext uri="{FF2B5EF4-FFF2-40B4-BE49-F238E27FC236}">
                <a16:creationId xmlns:a16="http://schemas.microsoft.com/office/drawing/2014/main" id="{2D630104-8A97-4A22-842B-A7DF83AB8092}"/>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Log context leaving the organization and artifacts returning.</a:t>
            </a:r>
          </a:p>
        </p:txBody>
      </p:sp>
    </p:spTree>
    <p:extLst>
      <p:ext uri="{BB962C8B-B14F-4D97-AF65-F5344CB8AC3E}">
        <p14:creationId xmlns:p14="http://schemas.microsoft.com/office/powerpoint/2010/main" val="12490869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accent-line">
            <a:extLst xmlns:a="http://schemas.openxmlformats.org/drawingml/2006/main">
              <a:ext uri="{FF2B5EF4-FFF2-40B4-BE49-F238E27FC236}">
                <a16:creationId xmlns:a16="http://schemas.microsoft.com/office/drawing/2014/main" id="{440539EB-BEFE-46C3-828A-E97C7942D104}"/>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D7C90532-6930-4623-891E-37EA9BB59B49}"/>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EXAM CHECK  /  09</a:t>
            </a:r>
          </a:p>
        </p:txBody>
      </p:sp>
      <p:sp>
        <p:nvSpPr>
          <p:cNvPr id="3" name="slide-number">
            <a:extLst xmlns:a="http://schemas.openxmlformats.org/drawingml/2006/main">
              <a:ext uri="{FF2B5EF4-FFF2-40B4-BE49-F238E27FC236}">
                <a16:creationId xmlns:a16="http://schemas.microsoft.com/office/drawing/2014/main" id="{E33EA243-2026-4A9B-992C-28FD82E9B7DD}"/>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09</a:t>
            </a:r>
          </a:p>
        </p:txBody>
      </p:sp>
      <p:sp>
        <p:nvSpPr>
          <p:cNvPr id="4" name="chapter-footer">
            <a:extLst xmlns:a="http://schemas.openxmlformats.org/drawingml/2006/main">
              <a:ext uri="{FF2B5EF4-FFF2-40B4-BE49-F238E27FC236}">
                <a16:creationId xmlns:a16="http://schemas.microsoft.com/office/drawing/2014/main" id="{947E6E9C-29AA-4E6C-857D-3F93B3B3C6EA}"/>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Interoperability</a:t>
            </a:r>
          </a:p>
        </p:txBody>
      </p:sp>
      <p:sp>
        <p:nvSpPr>
          <p:cNvPr id="5" name="exam-title">
            <a:extLst xmlns:a="http://schemas.openxmlformats.org/drawingml/2006/main">
              <a:ext uri="{FF2B5EF4-FFF2-40B4-BE49-F238E27FC236}">
                <a16:creationId xmlns:a16="http://schemas.microsoft.com/office/drawing/2014/main" id="{CF4CEA9E-91D7-4BA3-B04D-7F19C356F3FE}"/>
              </a:ext>
            </a:extLst>
          </p:cNvPr>
          <p:cNvSpPr>
            <a:spLocks xmlns:a="http://schemas.openxmlformats.org/drawingml/2006/main" noGrp="1"/>
          </p:cNvSpPr>
          <p:nvPr/>
        </p:nvSpPr>
        <p:spPr>
          <a:xfrm xmlns:a="http://schemas.openxmlformats.org/drawingml/2006/main">
            <a:off x="390525" y="981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Can you answer these without notes?</a:t>
            </a:r>
          </a:p>
        </p:txBody>
      </p:sp>
      <p:sp>
        <p:nvSpPr>
          <p:cNvPr id="6" name="exam-number-1">
            <a:extLst xmlns:a="http://schemas.openxmlformats.org/drawingml/2006/main">
              <a:ext uri="{FF2B5EF4-FFF2-40B4-BE49-F238E27FC236}">
                <a16:creationId xmlns:a16="http://schemas.microsoft.com/office/drawing/2014/main" id="{3EA3C723-FC7F-405B-8329-B21CA4705EEC}"/>
              </a:ext>
            </a:extLst>
          </p:cNvPr>
          <p:cNvSpPr>
            <a:spLocks xmlns:a="http://schemas.openxmlformats.org/drawingml/2006/main" noGrp="1"/>
          </p:cNvSpPr>
          <p:nvPr/>
        </p:nvSpPr>
        <p:spPr>
          <a:xfrm xmlns:a="http://schemas.openxmlformats.org/drawingml/2006/main">
            <a:off x="390525"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01</a:t>
            </a:r>
          </a:p>
        </p:txBody>
      </p:sp>
      <p:sp>
        <p:nvSpPr>
          <p:cNvPr id="7" name="exam-question-1">
            <a:extLst xmlns:a="http://schemas.openxmlformats.org/drawingml/2006/main">
              <a:ext uri="{FF2B5EF4-FFF2-40B4-BE49-F238E27FC236}">
                <a16:creationId xmlns:a16="http://schemas.microsoft.com/office/drawing/2014/main" id="{D1CEB8AD-F6C5-4A65-8554-0338ECB4A5F8}"/>
              </a:ext>
            </a:extLst>
          </p:cNvPr>
          <p:cNvSpPr>
            <a:spLocks xmlns:a="http://schemas.openxmlformats.org/drawingml/2006/main" noGrp="1"/>
          </p:cNvSpPr>
          <p:nvPr/>
        </p:nvSpPr>
        <p:spPr>
          <a:xfrm xmlns:a="http://schemas.openxmlformats.org/drawingml/2006/main">
            <a:off x="1076325"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Why is an agent not equivalent to a simple REST endpoint?</a:t>
            </a:r>
          </a:p>
        </p:txBody>
      </p:sp>
      <p:sp>
        <p:nvSpPr>
          <p:cNvPr id="8" name="exam-number-2">
            <a:extLst xmlns:a="http://schemas.openxmlformats.org/drawingml/2006/main">
              <a:ext uri="{FF2B5EF4-FFF2-40B4-BE49-F238E27FC236}">
                <a16:creationId xmlns:a16="http://schemas.microsoft.com/office/drawing/2014/main" id="{FD4209F8-A26B-4BA7-91AB-2E9D310827DF}"/>
              </a:ext>
            </a:extLst>
          </p:cNvPr>
          <p:cNvSpPr>
            <a:spLocks xmlns:a="http://schemas.openxmlformats.org/drawingml/2006/main" noGrp="1"/>
          </p:cNvSpPr>
          <p:nvPr/>
        </p:nvSpPr>
        <p:spPr>
          <a:xfrm xmlns:a="http://schemas.openxmlformats.org/drawingml/2006/main">
            <a:off x="6191250"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02</a:t>
            </a:r>
          </a:p>
        </p:txBody>
      </p:sp>
      <p:sp>
        <p:nvSpPr>
          <p:cNvPr id="9" name="exam-question-2">
            <a:extLst xmlns:a="http://schemas.openxmlformats.org/drawingml/2006/main">
              <a:ext uri="{FF2B5EF4-FFF2-40B4-BE49-F238E27FC236}">
                <a16:creationId xmlns:a16="http://schemas.microsoft.com/office/drawing/2014/main" id="{311C2ECC-EDE8-42C6-8F5B-B7813BFF0546}"/>
              </a:ext>
            </a:extLst>
          </p:cNvPr>
          <p:cNvSpPr>
            <a:spLocks xmlns:a="http://schemas.openxmlformats.org/drawingml/2006/main" noGrp="1"/>
          </p:cNvSpPr>
          <p:nvPr/>
        </p:nvSpPr>
        <p:spPr>
          <a:xfrm xmlns:a="http://schemas.openxmlformats.org/drawingml/2006/main">
            <a:off x="6877050"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What information belongs in an Agent Card?</a:t>
            </a:r>
          </a:p>
        </p:txBody>
      </p:sp>
      <p:sp>
        <p:nvSpPr>
          <p:cNvPr id="10" name="exam-number-3">
            <a:extLst xmlns:a="http://schemas.openxmlformats.org/drawingml/2006/main">
              <a:ext uri="{FF2B5EF4-FFF2-40B4-BE49-F238E27FC236}">
                <a16:creationId xmlns:a16="http://schemas.microsoft.com/office/drawing/2014/main" id="{51B7A4AB-01DE-4387-91D5-762AD8B22CEE}"/>
              </a:ext>
            </a:extLst>
          </p:cNvPr>
          <p:cNvSpPr>
            <a:spLocks xmlns:a="http://schemas.openxmlformats.org/drawingml/2006/main" noGrp="1"/>
          </p:cNvSpPr>
          <p:nvPr/>
        </p:nvSpPr>
        <p:spPr>
          <a:xfrm xmlns:a="http://schemas.openxmlformats.org/drawingml/2006/main">
            <a:off x="390525"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03</a:t>
            </a:r>
          </a:p>
        </p:txBody>
      </p:sp>
      <p:sp>
        <p:nvSpPr>
          <p:cNvPr id="11" name="exam-question-3">
            <a:extLst xmlns:a="http://schemas.openxmlformats.org/drawingml/2006/main">
              <a:ext uri="{FF2B5EF4-FFF2-40B4-BE49-F238E27FC236}">
                <a16:creationId xmlns:a16="http://schemas.microsoft.com/office/drawing/2014/main" id="{1CE0E4D0-A11F-461B-ADB0-6D910C7E5907}"/>
              </a:ext>
            </a:extLst>
          </p:cNvPr>
          <p:cNvSpPr>
            <a:spLocks xmlns:a="http://schemas.openxmlformats.org/drawingml/2006/main" noGrp="1"/>
          </p:cNvSpPr>
          <p:nvPr/>
        </p:nvSpPr>
        <p:spPr>
          <a:xfrm xmlns:a="http://schemas.openxmlformats.org/drawingml/2006/main">
            <a:off x="1076325"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Define task, message, part, and artifact.</a:t>
            </a:r>
          </a:p>
        </p:txBody>
      </p:sp>
      <p:sp>
        <p:nvSpPr>
          <p:cNvPr id="12" name="exam-number-4">
            <a:extLst xmlns:a="http://schemas.openxmlformats.org/drawingml/2006/main">
              <a:ext uri="{FF2B5EF4-FFF2-40B4-BE49-F238E27FC236}">
                <a16:creationId xmlns:a16="http://schemas.microsoft.com/office/drawing/2014/main" id="{2D43ED4F-B0FC-41D5-83EB-7B564016C5B0}"/>
              </a:ext>
            </a:extLst>
          </p:cNvPr>
          <p:cNvSpPr>
            <a:spLocks xmlns:a="http://schemas.openxmlformats.org/drawingml/2006/main" noGrp="1"/>
          </p:cNvSpPr>
          <p:nvPr/>
        </p:nvSpPr>
        <p:spPr>
          <a:xfrm xmlns:a="http://schemas.openxmlformats.org/drawingml/2006/main">
            <a:off x="6191250"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04</a:t>
            </a:r>
          </a:p>
        </p:txBody>
      </p:sp>
      <p:sp>
        <p:nvSpPr>
          <p:cNvPr id="13" name="exam-question-4">
            <a:extLst xmlns:a="http://schemas.openxmlformats.org/drawingml/2006/main">
              <a:ext uri="{FF2B5EF4-FFF2-40B4-BE49-F238E27FC236}">
                <a16:creationId xmlns:a16="http://schemas.microsoft.com/office/drawing/2014/main" id="{80E2E2E1-33EF-4FAD-9C52-1B11D99FDAA4}"/>
              </a:ext>
            </a:extLst>
          </p:cNvPr>
          <p:cNvSpPr>
            <a:spLocks xmlns:a="http://schemas.openxmlformats.org/drawingml/2006/main" noGrp="1"/>
          </p:cNvSpPr>
          <p:nvPr/>
        </p:nvSpPr>
        <p:spPr>
          <a:xfrm xmlns:a="http://schemas.openxmlformats.org/drawingml/2006/main">
            <a:off x="6877050"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How does A2A support long-running work?</a:t>
            </a:r>
          </a:p>
        </p:txBody>
      </p:sp>
      <p:sp>
        <p:nvSpPr>
          <p:cNvPr id="14" name="exam-number-5">
            <a:extLst xmlns:a="http://schemas.openxmlformats.org/drawingml/2006/main">
              <a:ext uri="{FF2B5EF4-FFF2-40B4-BE49-F238E27FC236}">
                <a16:creationId xmlns:a16="http://schemas.microsoft.com/office/drawing/2014/main" id="{1ACA1592-0990-401A-A0A7-0B00AEB0D9EA}"/>
              </a:ext>
            </a:extLst>
          </p:cNvPr>
          <p:cNvSpPr>
            <a:spLocks xmlns:a="http://schemas.openxmlformats.org/drawingml/2006/main" noGrp="1"/>
          </p:cNvSpPr>
          <p:nvPr/>
        </p:nvSpPr>
        <p:spPr>
          <a:xfrm xmlns:a="http://schemas.openxmlformats.org/drawingml/2006/main">
            <a:off x="390525"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05</a:t>
            </a:r>
          </a:p>
        </p:txBody>
      </p:sp>
      <p:sp>
        <p:nvSpPr>
          <p:cNvPr id="15" name="exam-question-5">
            <a:extLst xmlns:a="http://schemas.openxmlformats.org/drawingml/2006/main">
              <a:ext uri="{FF2B5EF4-FFF2-40B4-BE49-F238E27FC236}">
                <a16:creationId xmlns:a16="http://schemas.microsoft.com/office/drawing/2014/main" id="{1633BDAA-B359-4201-BDD1-72420451BF8C}"/>
              </a:ext>
            </a:extLst>
          </p:cNvPr>
          <p:cNvSpPr>
            <a:spLocks xmlns:a="http://schemas.openxmlformats.org/drawingml/2006/main" noGrp="1"/>
          </p:cNvSpPr>
          <p:nvPr/>
        </p:nvSpPr>
        <p:spPr>
          <a:xfrm xmlns:a="http://schemas.openxmlformats.org/drawingml/2006/main">
            <a:off x="1076325"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Compare MCP and A2A with a concrete example.</a:t>
            </a:r>
          </a:p>
        </p:txBody>
      </p:sp>
      <p:sp>
        <p:nvSpPr>
          <p:cNvPr id="16" name="exam-number-6">
            <a:extLst xmlns:a="http://schemas.openxmlformats.org/drawingml/2006/main">
              <a:ext uri="{FF2B5EF4-FFF2-40B4-BE49-F238E27FC236}">
                <a16:creationId xmlns:a16="http://schemas.microsoft.com/office/drawing/2014/main" id="{3CF93377-7A10-4958-8BFD-6CAA32A245F4}"/>
              </a:ext>
            </a:extLst>
          </p:cNvPr>
          <p:cNvSpPr>
            <a:spLocks xmlns:a="http://schemas.openxmlformats.org/drawingml/2006/main" noGrp="1"/>
          </p:cNvSpPr>
          <p:nvPr/>
        </p:nvSpPr>
        <p:spPr>
          <a:xfrm xmlns:a="http://schemas.openxmlformats.org/drawingml/2006/main">
            <a:off x="6191250"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06</a:t>
            </a:r>
          </a:p>
        </p:txBody>
      </p:sp>
      <p:sp>
        <p:nvSpPr>
          <p:cNvPr id="17" name="exam-question-6">
            <a:extLst xmlns:a="http://schemas.openxmlformats.org/drawingml/2006/main">
              <a:ext uri="{FF2B5EF4-FFF2-40B4-BE49-F238E27FC236}">
                <a16:creationId xmlns:a16="http://schemas.microsoft.com/office/drawing/2014/main" id="{C9A00C7C-8B3E-421F-B867-4C95484ACC64}"/>
              </a:ext>
            </a:extLst>
          </p:cNvPr>
          <p:cNvSpPr>
            <a:spLocks xmlns:a="http://schemas.openxmlformats.org/drawingml/2006/main" noGrp="1"/>
          </p:cNvSpPr>
          <p:nvPr/>
        </p:nvSpPr>
        <p:spPr>
          <a:xfrm xmlns:a="http://schemas.openxmlformats.org/drawingml/2006/main">
            <a:off x="6877050"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Threat-model a delegated task across organizations.</a:t>
            </a:r>
          </a:p>
        </p:txBody>
      </p:sp>
    </p:spTree>
    <p:extLst>
      <p:ext uri="{BB962C8B-B14F-4D97-AF65-F5344CB8AC3E}">
        <p14:creationId xmlns:p14="http://schemas.microsoft.com/office/powerpoint/2010/main" val="161958261"/>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A6FE7ADA-9D50-41BE-B4CB-9B2B66287699}"/>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01307E67-66E4-4631-8C5A-79D19162B451}"/>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CHAPTER SYNTHESIS  /  09</a:t>
            </a:r>
          </a:p>
        </p:txBody>
      </p:sp>
      <p:sp>
        <p:nvSpPr>
          <p:cNvPr id="3" name="slide-number">
            <a:extLst xmlns:a="http://schemas.openxmlformats.org/drawingml/2006/main">
              <a:ext uri="{FF2B5EF4-FFF2-40B4-BE49-F238E27FC236}">
                <a16:creationId xmlns:a16="http://schemas.microsoft.com/office/drawing/2014/main" id="{1C2A3CBE-749B-4791-88D7-4A7D50B5A9D0}"/>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10</a:t>
            </a:r>
          </a:p>
        </p:txBody>
      </p:sp>
      <p:sp>
        <p:nvSpPr>
          <p:cNvPr id="4" name="chapter-footer">
            <a:extLst xmlns:a="http://schemas.openxmlformats.org/drawingml/2006/main">
              <a:ext uri="{FF2B5EF4-FFF2-40B4-BE49-F238E27FC236}">
                <a16:creationId xmlns:a16="http://schemas.microsoft.com/office/drawing/2014/main" id="{85AC5192-B16B-4A3C-941A-24C4580FEB70}"/>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Interoperability</a:t>
            </a:r>
          </a:p>
        </p:txBody>
      </p:sp>
      <p:sp>
        <p:nvSpPr>
          <p:cNvPr id="5" name="closing-title">
            <a:extLst xmlns:a="http://schemas.openxmlformats.org/drawingml/2006/main">
              <a:ext uri="{FF2B5EF4-FFF2-40B4-BE49-F238E27FC236}">
                <a16:creationId xmlns:a16="http://schemas.microsoft.com/office/drawing/2014/main" id="{DAE90BD3-15C6-4B4A-B1B4-9B837A6D2515}"/>
              </a:ext>
            </a:extLst>
          </p:cNvPr>
          <p:cNvSpPr>
            <a:spLocks xmlns:a="http://schemas.openxmlformats.org/drawingml/2006/main" noGrp="1"/>
          </p:cNvSpPr>
          <p:nvPr/>
        </p:nvSpPr>
        <p:spPr>
          <a:xfrm xmlns:a="http://schemas.openxmlformats.org/drawingml/2006/main">
            <a:off x="390525" y="104775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What must remain after the details fade</a:t>
            </a:r>
          </a:p>
        </p:txBody>
      </p:sp>
      <p:sp>
        <p:nvSpPr>
          <p:cNvPr id="6" name="takeaway-number-1">
            <a:extLst xmlns:a="http://schemas.openxmlformats.org/drawingml/2006/main">
              <a:ext uri="{FF2B5EF4-FFF2-40B4-BE49-F238E27FC236}">
                <a16:creationId xmlns:a16="http://schemas.microsoft.com/office/drawing/2014/main" id="{C0824A2C-ECD0-4ECB-9B7F-884D0519DD2D}"/>
              </a:ext>
            </a:extLst>
          </p:cNvPr>
          <p:cNvSpPr>
            <a:spLocks xmlns:a="http://schemas.openxmlformats.org/drawingml/2006/main" noGrp="1"/>
          </p:cNvSpPr>
          <p:nvPr/>
        </p:nvSpPr>
        <p:spPr>
          <a:xfrm xmlns:a="http://schemas.openxmlformats.org/drawingml/2006/main">
            <a:off x="390525" y="23336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01</a:t>
            </a:r>
          </a:p>
        </p:txBody>
      </p:sp>
      <p:sp>
        <p:nvSpPr>
          <p:cNvPr id="7" name="takeaway-1">
            <a:extLst xmlns:a="http://schemas.openxmlformats.org/drawingml/2006/main">
              <a:ext uri="{FF2B5EF4-FFF2-40B4-BE49-F238E27FC236}">
                <a16:creationId xmlns:a16="http://schemas.microsoft.com/office/drawing/2014/main" id="{24EFF0A1-8C0B-4EAB-90F2-ACB257B37C13}"/>
              </a:ext>
            </a:extLst>
          </p:cNvPr>
          <p:cNvSpPr>
            <a:spLocks xmlns:a="http://schemas.openxmlformats.org/drawingml/2006/main" noGrp="1"/>
          </p:cNvSpPr>
          <p:nvPr/>
        </p:nvSpPr>
        <p:spPr>
          <a:xfrm xmlns:a="http://schemas.openxmlformats.org/drawingml/2006/main">
            <a:off x="1257300" y="23145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A2A standardizes discovery and long-running work between agents.</a:t>
            </a:r>
          </a:p>
        </p:txBody>
      </p:sp>
      <p:sp>
        <p:nvSpPr>
          <p:cNvPr id="8" name="takeaway-number-2">
            <a:extLst xmlns:a="http://schemas.openxmlformats.org/drawingml/2006/main">
              <a:ext uri="{FF2B5EF4-FFF2-40B4-BE49-F238E27FC236}">
                <a16:creationId xmlns:a16="http://schemas.microsoft.com/office/drawing/2014/main" id="{AC3F2871-A044-47BD-A26F-6B919FED6BF8}"/>
              </a:ext>
            </a:extLst>
          </p:cNvPr>
          <p:cNvSpPr>
            <a:spLocks xmlns:a="http://schemas.openxmlformats.org/drawingml/2006/main" noGrp="1"/>
          </p:cNvSpPr>
          <p:nvPr/>
        </p:nvSpPr>
        <p:spPr>
          <a:xfrm xmlns:a="http://schemas.openxmlformats.org/drawingml/2006/main">
            <a:off x="390525" y="32099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02</a:t>
            </a:r>
          </a:p>
        </p:txBody>
      </p:sp>
      <p:sp>
        <p:nvSpPr>
          <p:cNvPr id="9" name="takeaway-2">
            <a:extLst xmlns:a="http://schemas.openxmlformats.org/drawingml/2006/main">
              <a:ext uri="{FF2B5EF4-FFF2-40B4-BE49-F238E27FC236}">
                <a16:creationId xmlns:a16="http://schemas.microsoft.com/office/drawing/2014/main" id="{1D851F6D-6791-4CAD-B724-EFE17C58471A}"/>
              </a:ext>
            </a:extLst>
          </p:cNvPr>
          <p:cNvSpPr>
            <a:spLocks xmlns:a="http://schemas.openxmlformats.org/drawingml/2006/main" noGrp="1"/>
          </p:cNvSpPr>
          <p:nvPr/>
        </p:nvSpPr>
        <p:spPr>
          <a:xfrm xmlns:a="http://schemas.openxmlformats.org/drawingml/2006/main">
            <a:off x="1257300" y="31908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Agent Cards advertise identity, skills, endpoint, and authentication.</a:t>
            </a:r>
          </a:p>
        </p:txBody>
      </p:sp>
      <p:sp>
        <p:nvSpPr>
          <p:cNvPr id="10" name="takeaway-number-3">
            <a:extLst xmlns:a="http://schemas.openxmlformats.org/drawingml/2006/main">
              <a:ext uri="{FF2B5EF4-FFF2-40B4-BE49-F238E27FC236}">
                <a16:creationId xmlns:a16="http://schemas.microsoft.com/office/drawing/2014/main" id="{A7F16DD3-98C5-49C0-AB1A-15823E999FDB}"/>
              </a:ext>
            </a:extLst>
          </p:cNvPr>
          <p:cNvSpPr>
            <a:spLocks xmlns:a="http://schemas.openxmlformats.org/drawingml/2006/main" noGrp="1"/>
          </p:cNvSpPr>
          <p:nvPr/>
        </p:nvSpPr>
        <p:spPr>
          <a:xfrm xmlns:a="http://schemas.openxmlformats.org/drawingml/2006/main">
            <a:off x="390525" y="40862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03</a:t>
            </a:r>
          </a:p>
        </p:txBody>
      </p:sp>
      <p:sp>
        <p:nvSpPr>
          <p:cNvPr id="11" name="takeaway-3">
            <a:extLst xmlns:a="http://schemas.openxmlformats.org/drawingml/2006/main">
              <a:ext uri="{FF2B5EF4-FFF2-40B4-BE49-F238E27FC236}">
                <a16:creationId xmlns:a16="http://schemas.microsoft.com/office/drawing/2014/main" id="{82F586A1-0281-4E25-B47F-A0CBA8E58E4E}"/>
              </a:ext>
            </a:extLst>
          </p:cNvPr>
          <p:cNvSpPr>
            <a:spLocks xmlns:a="http://schemas.openxmlformats.org/drawingml/2006/main" noGrp="1"/>
          </p:cNvSpPr>
          <p:nvPr/>
        </p:nvSpPr>
        <p:spPr>
          <a:xfrm xmlns:a="http://schemas.openxmlformats.org/drawingml/2006/main">
            <a:off x="1257300" y="40671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MCP serves tools and data; A2A serves agent collaboration.</a:t>
            </a:r>
          </a:p>
        </p:txBody>
      </p:sp>
      <p:sp>
        <p:nvSpPr>
          <p:cNvPr id="12" name="takeaway-number-4">
            <a:extLst xmlns:a="http://schemas.openxmlformats.org/drawingml/2006/main">
              <a:ext uri="{FF2B5EF4-FFF2-40B4-BE49-F238E27FC236}">
                <a16:creationId xmlns:a16="http://schemas.microsoft.com/office/drawing/2014/main" id="{527CFB21-16B4-4257-B6C8-8CA5D4A55C30}"/>
              </a:ext>
            </a:extLst>
          </p:cNvPr>
          <p:cNvSpPr>
            <a:spLocks xmlns:a="http://schemas.openxmlformats.org/drawingml/2006/main" noGrp="1"/>
          </p:cNvSpPr>
          <p:nvPr/>
        </p:nvSpPr>
        <p:spPr>
          <a:xfrm xmlns:a="http://schemas.openxmlformats.org/drawingml/2006/main">
            <a:off x="390525" y="49625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04</a:t>
            </a:r>
          </a:p>
        </p:txBody>
      </p:sp>
      <p:sp>
        <p:nvSpPr>
          <p:cNvPr id="13" name="takeaway-4">
            <a:extLst xmlns:a="http://schemas.openxmlformats.org/drawingml/2006/main">
              <a:ext uri="{FF2B5EF4-FFF2-40B4-BE49-F238E27FC236}">
                <a16:creationId xmlns:a16="http://schemas.microsoft.com/office/drawing/2014/main" id="{BBEC37D9-BF2C-4037-A685-34B719647403}"/>
              </a:ext>
            </a:extLst>
          </p:cNvPr>
          <p:cNvSpPr>
            <a:spLocks xmlns:a="http://schemas.openxmlformats.org/drawingml/2006/main" noGrp="1"/>
          </p:cNvSpPr>
          <p:nvPr/>
        </p:nvSpPr>
        <p:spPr>
          <a:xfrm xmlns:a="http://schemas.openxmlformats.org/drawingml/2006/main">
            <a:off x="1257300" y="49434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Cross-agent trust requires authentication, least privilege, bounds, and audit.</a:t>
            </a:r>
          </a:p>
        </p:txBody>
      </p:sp>
    </p:spTree>
    <p:extLst>
      <p:ext uri="{BB962C8B-B14F-4D97-AF65-F5344CB8AC3E}">
        <p14:creationId xmlns:p14="http://schemas.microsoft.com/office/powerpoint/2010/main" val="19338110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2026-07-27T18:05:36.8770000Z</dcterms:created>
  <dcterms:modified xsi:type="dcterms:W3CDTF">2026-07-27T18:05:36.8770000Z</dcterms:modified>
</coreProperties>
</file>