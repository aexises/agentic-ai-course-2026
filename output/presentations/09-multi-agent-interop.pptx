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9e25c2718a44227" /><Relationship Type="http://schemas.openxmlformats.org/officeDocument/2006/relationships/extended-properties" Target="/docProps/app.xml" Id="Rac1b5fafda514227" /><Relationship Type="http://schemas.openxmlformats.org/officeDocument/2006/relationships/officeDocument" Target="/ppt/presentation.xml" Id="Rb171f906026b4293" /></Relationships>
</file>

<file path=ppt/presentation.xml><?xml version="1.0" encoding="utf-8"?>
<p:presentation xmlns:p="http://schemas.openxmlformats.org/presentationml/2006/main">
  <p:sldMasterIdLst>
    <p:sldMasterId xmlns:r="http://schemas.openxmlformats.org/officeDocument/2006/relationships" id="2147483648" r:id="R99a21bb895534dfd"/>
  </p:sldMasterIdLst>
  <p:notesMasterIdLst>
    <p:notesMasterId xmlns:r="http://schemas.openxmlformats.org/officeDocument/2006/relationships" r:id="R33285df59e7947c7"/>
  </p:notesMasterIdLst>
  <p:sldIdLst>
    <p:sldId xmlns:r="http://schemas.openxmlformats.org/officeDocument/2006/relationships" id="256" r:id="R6e62fcae3d7d4979"/>
    <p:sldId xmlns:r="http://schemas.openxmlformats.org/officeDocument/2006/relationships" id="257" r:id="R6edaa40d52d7404b"/>
    <p:sldId xmlns:r="http://schemas.openxmlformats.org/officeDocument/2006/relationships" id="258" r:id="R17ec79946ed54473"/>
    <p:sldId xmlns:r="http://schemas.openxmlformats.org/officeDocument/2006/relationships" id="259" r:id="Rca58282f72a64597"/>
    <p:sldId xmlns:r="http://schemas.openxmlformats.org/officeDocument/2006/relationships" id="260" r:id="R49e805f8e7d5444a"/>
    <p:sldId xmlns:r="http://schemas.openxmlformats.org/officeDocument/2006/relationships" id="261" r:id="Read5caf8aea0465e"/>
    <p:sldId xmlns:r="http://schemas.openxmlformats.org/officeDocument/2006/relationships" id="262" r:id="R9a775328190b4e03"/>
    <p:sldId xmlns:r="http://schemas.openxmlformats.org/officeDocument/2006/relationships" id="263" r:id="Rd154e3a8c0154868"/>
    <p:sldId xmlns:r="http://schemas.openxmlformats.org/officeDocument/2006/relationships" id="264" r:id="R65be6f843da24f39"/>
    <p:sldId xmlns:r="http://schemas.openxmlformats.org/officeDocument/2006/relationships" id="265" r:id="R97e0300dd8be4c13"/>
    <p:sldId xmlns:r="http://schemas.openxmlformats.org/officeDocument/2006/relationships" id="266" r:id="Rc26bbc38bf604613"/>
    <p:sldId xmlns:r="http://schemas.openxmlformats.org/officeDocument/2006/relationships" id="267" r:id="Rbc618e88274a43e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00c7413aaa34edd" /><Relationship Type="http://schemas.openxmlformats.org/officeDocument/2006/relationships/slideMaster" Target="/ppt/slideMasters/slideMaster1.xml" Id="R99a21bb895534dfd" /><Relationship Type="http://schemas.openxmlformats.org/officeDocument/2006/relationships/notesMaster" Target="/ppt/notesMasters/notesMaster1.xml" Id="R33285df59e7947c7" /><Relationship Type="http://schemas.openxmlformats.org/officeDocument/2006/relationships/presProps" Target="/ppt/presProps.xml" Id="R41853f89d7fe4bfd" /><Relationship Type="http://schemas.openxmlformats.org/officeDocument/2006/relationships/tableStyles" Target="/ppt/tableStyles.xml" Id="R2e5c834c6d234abb" /><Relationship Type="http://schemas.openxmlformats.org/officeDocument/2006/relationships/slide" Target="/ppt/slides/slide1.xml" Id="R6e62fcae3d7d4979" /><Relationship Type="http://schemas.openxmlformats.org/officeDocument/2006/relationships/slide" Target="/ppt/slides/slide2.xml" Id="R6edaa40d52d7404b" /><Relationship Type="http://schemas.openxmlformats.org/officeDocument/2006/relationships/slide" Target="/ppt/slides/slide3.xml" Id="R17ec79946ed54473" /><Relationship Type="http://schemas.openxmlformats.org/officeDocument/2006/relationships/slide" Target="/ppt/slides/slide4.xml" Id="Rca58282f72a64597" /><Relationship Type="http://schemas.openxmlformats.org/officeDocument/2006/relationships/slide" Target="/ppt/slides/slide5.xml" Id="R49e805f8e7d5444a" /><Relationship Type="http://schemas.openxmlformats.org/officeDocument/2006/relationships/slide" Target="/ppt/slides/slide6.xml" Id="Read5caf8aea0465e" /><Relationship Type="http://schemas.openxmlformats.org/officeDocument/2006/relationships/slide" Target="/ppt/slides/slide7.xml" Id="R9a775328190b4e03" /><Relationship Type="http://schemas.openxmlformats.org/officeDocument/2006/relationships/slide" Target="/ppt/slides/slide8.xml" Id="Rd154e3a8c0154868" /><Relationship Type="http://schemas.openxmlformats.org/officeDocument/2006/relationships/slide" Target="/ppt/slides/slide9.xml" Id="R65be6f843da24f39" /><Relationship Type="http://schemas.openxmlformats.org/officeDocument/2006/relationships/slide" Target="/ppt/slides/slide10.xml" Id="R97e0300dd8be4c13" /><Relationship Type="http://schemas.openxmlformats.org/officeDocument/2006/relationships/slide" Target="/ppt/slides/slide11.xml" Id="Rc26bbc38bf604613" /><Relationship Type="http://schemas.openxmlformats.org/officeDocument/2006/relationships/slide" Target="/ppt/slides/slide12.xml" Id="Rbc618e88274a43e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8a2917cb0054c5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843ca5f337542ea" /><Relationship Type="http://schemas.openxmlformats.org/officeDocument/2006/relationships/notesMaster" Target="/ppt/notesMasters/notesMaster1.xml" Id="Rd03cce4c6ac849d6" /></Relationships>
</file>

<file path=ppt/notesSlides/_rels/notesSlide2.xml.rels>&#65279;<?xml version="1.0" encoding="utf-8"?><Relationships xmlns="http://schemas.openxmlformats.org/package/2006/relationships"><Relationship Type="http://schemas.openxmlformats.org/officeDocument/2006/relationships/slide" Target="/ppt/slides/slide2.xml" Id="R6a4ad902a2d549d1" /><Relationship Type="http://schemas.openxmlformats.org/officeDocument/2006/relationships/notesMaster" Target="/ppt/notesMasters/notesMaster1.xml" Id="Re44df813ac4e4fd1" /></Relationships>
</file>

<file path=ppt/notesSlides/_rels/notesSlide3.xml.rels>&#65279;<?xml version="1.0" encoding="utf-8"?><Relationships xmlns="http://schemas.openxmlformats.org/package/2006/relationships"><Relationship Type="http://schemas.openxmlformats.org/officeDocument/2006/relationships/slide" Target="/ppt/slides/slide3.xml" Id="R6f6ba5e053fb44e0" /><Relationship Type="http://schemas.openxmlformats.org/officeDocument/2006/relationships/notesMaster" Target="/ppt/notesMasters/notesMaster1.xml" Id="R59773c1061f945be" /></Relationships>
</file>

<file path=ppt/notesSlides/_rels/notesSlide4.xml.rels>&#65279;<?xml version="1.0" encoding="utf-8"?><Relationships xmlns="http://schemas.openxmlformats.org/package/2006/relationships"><Relationship Type="http://schemas.openxmlformats.org/officeDocument/2006/relationships/slide" Target="/ppt/slides/slide4.xml" Id="R837d41d581db4a1c" /><Relationship Type="http://schemas.openxmlformats.org/officeDocument/2006/relationships/notesMaster" Target="/ppt/notesMasters/notesMaster1.xml" Id="R4e41d9a4ec33452c" /></Relationships>
</file>

<file path=ppt/notesSlides/_rels/notesSlide5.xml.rels>&#65279;<?xml version="1.0" encoding="utf-8"?><Relationships xmlns="http://schemas.openxmlformats.org/package/2006/relationships"><Relationship Type="http://schemas.openxmlformats.org/officeDocument/2006/relationships/slide" Target="/ppt/slides/slide5.xml" Id="R4d828baff41f4760" /><Relationship Type="http://schemas.openxmlformats.org/officeDocument/2006/relationships/notesMaster" Target="/ppt/notesMasters/notesMaster1.xml" Id="Re9875940634845fc" /></Relationships>
</file>

<file path=ppt/notesSlides/_rels/notesSlide6.xml.rels>&#65279;<?xml version="1.0" encoding="utf-8"?><Relationships xmlns="http://schemas.openxmlformats.org/package/2006/relationships"><Relationship Type="http://schemas.openxmlformats.org/officeDocument/2006/relationships/slide" Target="/ppt/slides/slide6.xml" Id="R87a90de90f9e46fa" /><Relationship Type="http://schemas.openxmlformats.org/officeDocument/2006/relationships/notesMaster" Target="/ppt/notesMasters/notesMaster1.xml" Id="Rbbc016057ebc4f9e" /></Relationships>
</file>

<file path=ppt/notesSlides/_rels/notesSlide7.xml.rels>&#65279;<?xml version="1.0" encoding="utf-8"?><Relationships xmlns="http://schemas.openxmlformats.org/package/2006/relationships"><Relationship Type="http://schemas.openxmlformats.org/officeDocument/2006/relationships/slide" Target="/ppt/slides/slide7.xml" Id="Reb9948fd12f645ab" /><Relationship Type="http://schemas.openxmlformats.org/officeDocument/2006/relationships/notesMaster" Target="/ppt/notesMasters/notesMaster1.xml" Id="Rc90e0e93a3114ef8" /></Relationships>
</file>

<file path=ppt/notesSlides/_rels/notesSlide8.xml.rels>&#65279;<?xml version="1.0" encoding="utf-8"?><Relationships xmlns="http://schemas.openxmlformats.org/package/2006/relationships"><Relationship Type="http://schemas.openxmlformats.org/officeDocument/2006/relationships/slide" Target="/ppt/slides/slide8.xml" Id="R6792031618a341af" /><Relationship Type="http://schemas.openxmlformats.org/officeDocument/2006/relationships/notesMaster" Target="/ppt/notesMasters/notesMaster1.xml" Id="R290b33d5142442c3" /></Relationships>
</file>

<file path=ppt/notesSlides/_rels/notesSlide9.xml.rels>&#65279;<?xml version="1.0" encoding="utf-8"?><Relationships xmlns="http://schemas.openxmlformats.org/package/2006/relationships"><Relationship Type="http://schemas.openxmlformats.org/officeDocument/2006/relationships/slide" Target="/ppt/slides/slide9.xml" Id="Re3c61336f3554c64" /><Relationship Type="http://schemas.openxmlformats.org/officeDocument/2006/relationships/notesMaster" Target="/ppt/notesMasters/notesMaster1.xml" Id="Rb753ae6a930f45b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508218c2b55463b" /><Relationship Type="http://schemas.openxmlformats.org/officeDocument/2006/relationships/notesMaster" Target="/ppt/notesMasters/notesMaster1.xml" Id="Rbf1b344627124ca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5621aebe83d41b8" /><Relationship Type="http://schemas.openxmlformats.org/officeDocument/2006/relationships/notesMaster" Target="/ppt/notesMasters/notesMaster1.xml" Id="R303a2ad0d59b4ee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a940c31649b41d6" /><Relationship Type="http://schemas.openxmlformats.org/officeDocument/2006/relationships/notesMaster" Target="/ppt/notesMasters/notesMaster1.xml" Id="R264f21a218294e1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chapter thesis and connect it to the previous chapter.</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09-multi-agent-interop.pdf</a:t>
            </a:r>
          </a:p>
          <a:p xmlns:a="http://schemas.openxmlformats.org/drawingml/2006/main">
            <a:r>
              <a:t>- S6: A2A specification 1.0.0. Versioned protocol specification, accessed, 2026-09-09. https://a2a-protocol.org/v1.0.0/specification/ Separates the data model from JSON-RPC, gRPC, and HTTP/REST bindings. The course traces JSON-RPC.</a:t>
            </a:r>
          </a:p>
          <a:p xmlns:a="http://schemas.openxmlformats.org/drawingml/2006/main">
            <a:r>
              <a:t/>
            </a:r>
          </a:p>
          <a:p xmlns:a="http://schemas.openxmlformats.org/drawingml/2006/main">
            <a:r>
              <a:t>[Assessed practice]</a:t>
            </a:r>
          </a:p>
          <a:p xmlns:a="http://schemas.openxmlformats.org/drawingml/2006/main">
            <a:r>
              <a:t>Trace a delegated catalog task from discovery to completion. Identify the caller, authorization decision, timeout owner, and artifact validator. No remote service deployment is required.</a:t>
            </a:r>
          </a:p>
          <a:p xmlns:a="http://schemas.openxmlformats.org/drawingml/2006/main">
            <a:r>
              <a:t>Acceptance: Use A2A 1.0.0 terminology and distinguish the chosen binding from the abstract task model. Explain what happens after a failed or canceled task.</a:t>
            </a:r>
          </a:p>
          <a:p xmlns:a="http://schemas.openxmlformats.org/drawingml/2006/main">
            <a:r>
              <a:t>Lab: labs/08_langgraph_approval_security.ipynb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objectives as an advance organizer and as a checklist after the deck.</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09-multi-agent-interop.pdf</a:t>
            </a:r>
          </a:p>
          <a:p xmlns:a="http://schemas.openxmlformats.org/drawingml/2006/main">
            <a:r>
              <a:t>- S6: A2A specification 1.0.0. Versioned protocol specification, accessed, 2026-09-09. https://a2a-protocol.org/v1.0.0/specification/ Separates the data model from JSON-RPC, gRPC, and HTTP/REST bindings. The course traces JSON-RPC.</a:t>
            </a:r>
          </a:p>
          <a:p xmlns:a="http://schemas.openxmlformats.org/drawingml/2006/main">
            <a:r>
              <a:t/>
            </a:r>
          </a:p>
          <a:p xmlns:a="http://schemas.openxmlformats.org/drawingml/2006/main">
            <a:r>
              <a:t>[Assessed practice]</a:t>
            </a:r>
          </a:p>
          <a:p xmlns:a="http://schemas.openxmlformats.org/drawingml/2006/main">
            <a:r>
              <a:t>Trace a delegated catalog task from discovery to completion. Identify the caller, authorization decision, timeout owner, and artifact validator. No remote service deployment is required.</a:t>
            </a:r>
          </a:p>
          <a:p xmlns:a="http://schemas.openxmlformats.org/drawingml/2006/main">
            <a:r>
              <a:t>Acceptance: Use A2A 1.0.0 terminology and distinguish the chosen binding from the abstract task model. Explain what happens after a failed or canceled task.</a:t>
            </a:r>
          </a:p>
          <a:p xmlns:a="http://schemas.openxmlformats.org/drawingml/2006/main">
            <a:r>
              <a:t>Lab: labs/08_langgraph_approval_security.ipynb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claim first, then use the numbered points as evidence and design consequences.</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09-multi-agent-interop.pdf</a:t>
            </a:r>
          </a:p>
          <a:p xmlns:a="http://schemas.openxmlformats.org/drawingml/2006/main">
            <a:r>
              <a:t>- S6: A2A specification 1.0.0. Versioned protocol specification, accessed, 2026-09-09. https://a2a-protocol.org/v1.0.0/specification/ Separates the data model from JSON-RPC, gRPC, and HTTP/REST bindings. The course traces JSON-RPC.</a:t>
            </a:r>
          </a:p>
          <a:p xmlns:a="http://schemas.openxmlformats.org/drawingml/2006/main">
            <a:r>
              <a:t/>
            </a:r>
          </a:p>
          <a:p xmlns:a="http://schemas.openxmlformats.org/drawingml/2006/main">
            <a:r>
              <a:t>[Assessed practice]</a:t>
            </a:r>
          </a:p>
          <a:p xmlns:a="http://schemas.openxmlformats.org/drawingml/2006/main">
            <a:r>
              <a:t>Trace a delegated catalog task from discovery to completion. Identify the caller, authorization decision, timeout owner, and artifact validator. No remote service deployment is required.</a:t>
            </a:r>
          </a:p>
          <a:p xmlns:a="http://schemas.openxmlformats.org/drawingml/2006/main">
            <a:r>
              <a:t>Acceptance: Use A2A 1.0.0 terminology and distinguish the chosen binding from the abstract task model. Explain what happens after a failed or canceled task.</a:t>
            </a:r>
          </a:p>
          <a:p xmlns:a="http://schemas.openxmlformats.org/drawingml/2006/main">
            <a:r>
              <a:t>Lab: labs/08_langgraph_approval_security.ipynb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on the central statement, then connect the lower points as a single mental model.</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09-multi-agent-interop.pdf</a:t>
            </a:r>
          </a:p>
          <a:p xmlns:a="http://schemas.openxmlformats.org/drawingml/2006/main">
            <a:r>
              <a:t>- S6: A2A specification 1.0.0. Versioned protocol specification, accessed, 2026-09-09. https://a2a-protocol.org/v1.0.0/specification/ Separates the data model from JSON-RPC, gRPC, and HTTP/REST bindings. The course traces JSON-RPC.</a:t>
            </a:r>
          </a:p>
          <a:p xmlns:a="http://schemas.openxmlformats.org/drawingml/2006/main">
            <a:r>
              <a:t/>
            </a:r>
          </a:p>
          <a:p xmlns:a="http://schemas.openxmlformats.org/drawingml/2006/main">
            <a:r>
              <a:t>[Assessed practice]</a:t>
            </a:r>
          </a:p>
          <a:p xmlns:a="http://schemas.openxmlformats.org/drawingml/2006/main">
            <a:r>
              <a:t>Trace a delegated catalog task from discovery to completion. Identify the caller, authorization decision, timeout owner, and artifact validator. No remote service deployment is required.</a:t>
            </a:r>
          </a:p>
          <a:p xmlns:a="http://schemas.openxmlformats.org/drawingml/2006/main">
            <a:r>
              <a:t>Acceptance: Use A2A 1.0.0 terminology and distinguish the chosen binding from the abstract task model. Explain what happens after a failed or canceled task.</a:t>
            </a:r>
          </a:p>
          <a:p xmlns:a="http://schemas.openxmlformats.org/drawingml/2006/main">
            <a:r>
              <a:t>Lab: labs/08_langgraph_approval_security.ipynb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claim first, then use the numbered points as evidence and design consequences.</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09-multi-agent-interop.pdf</a:t>
            </a:r>
          </a:p>
          <a:p xmlns:a="http://schemas.openxmlformats.org/drawingml/2006/main">
            <a:r>
              <a:t>- S6: A2A specification 1.0.0. Versioned protocol specification, accessed, 2026-09-09. https://a2a-protocol.org/v1.0.0/specification/ Separates the data model from JSON-RPC, gRPC, and HTTP/REST bindings. The course traces JSON-RPC.</a:t>
            </a:r>
          </a:p>
          <a:p xmlns:a="http://schemas.openxmlformats.org/drawingml/2006/main">
            <a:r>
              <a:t/>
            </a:r>
          </a:p>
          <a:p xmlns:a="http://schemas.openxmlformats.org/drawingml/2006/main">
            <a:r>
              <a:t>[Assessed practice]</a:t>
            </a:r>
          </a:p>
          <a:p xmlns:a="http://schemas.openxmlformats.org/drawingml/2006/main">
            <a:r>
              <a:t>Trace a delegated catalog task from discovery to completion. Identify the caller, authorization decision, timeout owner, and artifact validator. No remote service deployment is required.</a:t>
            </a:r>
          </a:p>
          <a:p xmlns:a="http://schemas.openxmlformats.org/drawingml/2006/main">
            <a:r>
              <a:t>Acceptance: Use A2A 1.0.0 terminology and distinguish the chosen binding from the abstract task model. Explain what happens after a failed or canceled task.</a:t>
            </a:r>
          </a:p>
          <a:p xmlns:a="http://schemas.openxmlformats.org/drawingml/2006/main">
            <a:r>
              <a:t>Lab: labs/08_langgraph_approval_security.ipynb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on the central statement, then connect the lower points as a single mental model.</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09-multi-agent-interop.pdf</a:t>
            </a:r>
          </a:p>
          <a:p xmlns:a="http://schemas.openxmlformats.org/drawingml/2006/main">
            <a:r>
              <a:t>- S6: A2A specification 1.0.0. Versioned protocol specification, accessed, 2026-09-09. https://a2a-protocol.org/v1.0.0/specification/ Separates the data model from JSON-RPC, gRPC, and HTTP/REST bindings. The course traces JSON-RPC.</a:t>
            </a:r>
          </a:p>
          <a:p xmlns:a="http://schemas.openxmlformats.org/drawingml/2006/main">
            <a:r>
              <a:t/>
            </a:r>
          </a:p>
          <a:p xmlns:a="http://schemas.openxmlformats.org/drawingml/2006/main">
            <a:r>
              <a:t>[Assessed practice]</a:t>
            </a:r>
          </a:p>
          <a:p xmlns:a="http://schemas.openxmlformats.org/drawingml/2006/main">
            <a:r>
              <a:t>Trace a delegated catalog task from discovery to completion. Identify the caller, authorization decision, timeout owner, and artifact validator. No remote service deployment is required.</a:t>
            </a:r>
          </a:p>
          <a:p xmlns:a="http://schemas.openxmlformats.org/drawingml/2006/main">
            <a:r>
              <a:t>Acceptance: Use A2A 1.0.0 terminology and distinguish the chosen binding from the abstract task model. Explain what happens after a failed or canceled task.</a:t>
            </a:r>
          </a:p>
          <a:p xmlns:a="http://schemas.openxmlformats.org/drawingml/2006/main">
            <a:r>
              <a:t>Lab: labs/08_langgraph_approval_security.ipynb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claim first, then use the numbered points as evidence and design consequences.</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09-multi-agent-interop.pdf</a:t>
            </a:r>
          </a:p>
          <a:p xmlns:a="http://schemas.openxmlformats.org/drawingml/2006/main">
            <a:r>
              <a:t>- S6: A2A specification 1.0.0. Versioned protocol specification, accessed, 2026-09-09. https://a2a-protocol.org/v1.0.0/specification/ Separates the data model from JSON-RPC, gRPC, and HTTP/REST bindings. The course traces JSON-RPC.</a:t>
            </a:r>
          </a:p>
          <a:p xmlns:a="http://schemas.openxmlformats.org/drawingml/2006/main">
            <a:r>
              <a:t/>
            </a:r>
          </a:p>
          <a:p xmlns:a="http://schemas.openxmlformats.org/drawingml/2006/main">
            <a:r>
              <a:t>[Assessed practice]</a:t>
            </a:r>
          </a:p>
          <a:p xmlns:a="http://schemas.openxmlformats.org/drawingml/2006/main">
            <a:r>
              <a:t>Trace a delegated catalog task from discovery to completion. Identify the caller, authorization decision, timeout owner, and artifact validator. No remote service deployment is required.</a:t>
            </a:r>
          </a:p>
          <a:p xmlns:a="http://schemas.openxmlformats.org/drawingml/2006/main">
            <a:r>
              <a:t>Acceptance: Use A2A 1.0.0 terminology and distinguish the chosen binding from the abstract task model. Explain what happens after a failed or canceled task.</a:t>
            </a:r>
          </a:p>
          <a:p xmlns:a="http://schemas.openxmlformats.org/drawingml/2006/main">
            <a:r>
              <a:t>Lab: labs/08_langgraph_approval_security.ipynb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on the central statement, then connect the lower points as a single mental model.</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09-multi-agent-interop.pdf</a:t>
            </a:r>
          </a:p>
          <a:p xmlns:a="http://schemas.openxmlformats.org/drawingml/2006/main">
            <a:r>
              <a:t>- S6: A2A specification 1.0.0. Versioned protocol specification, accessed, 2026-09-09. https://a2a-protocol.org/v1.0.0/specification/ Separates the data model from JSON-RPC, gRPC, and HTTP/REST bindings. The course traces JSON-RPC.</a:t>
            </a:r>
          </a:p>
          <a:p xmlns:a="http://schemas.openxmlformats.org/drawingml/2006/main">
            <a:r>
              <a:t/>
            </a:r>
          </a:p>
          <a:p xmlns:a="http://schemas.openxmlformats.org/drawingml/2006/main">
            <a:r>
              <a:t>[Assessed practice]</a:t>
            </a:r>
          </a:p>
          <a:p xmlns:a="http://schemas.openxmlformats.org/drawingml/2006/main">
            <a:r>
              <a:t>Trace a delegated catalog task from discovery to completion. Identify the caller, authorization decision, timeout owner, and artifact validator. No remote service deployment is required.</a:t>
            </a:r>
          </a:p>
          <a:p xmlns:a="http://schemas.openxmlformats.org/drawingml/2006/main">
            <a:r>
              <a:t>Acceptance: Use A2A 1.0.0 terminology and distinguish the chosen binding from the abstract task model. Explain what happens after a failed or canceled task.</a:t>
            </a:r>
          </a:p>
          <a:p xmlns:a="http://schemas.openxmlformats.org/drawingml/2006/main">
            <a:r>
              <a:t>Lab: labs/08_langgraph_approval_security.ipynb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claim first, then use the numbered points as evidence and design consequences.</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09-multi-agent-interop.pdf</a:t>
            </a:r>
          </a:p>
          <a:p xmlns:a="http://schemas.openxmlformats.org/drawingml/2006/main">
            <a:r>
              <a:t>- S6: A2A specification 1.0.0. Versioned protocol specification, accessed, 2026-09-09. https://a2a-protocol.org/v1.0.0/specification/ Separates the data model from JSON-RPC, gRPC, and HTTP/REST bindings. The course traces JSON-RPC.</a:t>
            </a:r>
          </a:p>
          <a:p xmlns:a="http://schemas.openxmlformats.org/drawingml/2006/main">
            <a:r>
              <a:t/>
            </a:r>
          </a:p>
          <a:p xmlns:a="http://schemas.openxmlformats.org/drawingml/2006/main">
            <a:r>
              <a:t>[Assessed practice]</a:t>
            </a:r>
          </a:p>
          <a:p xmlns:a="http://schemas.openxmlformats.org/drawingml/2006/main">
            <a:r>
              <a:t>Trace a delegated catalog task from discovery to completion. Identify the caller, authorization decision, timeout owner, and artifact validator. No remote service deployment is required.</a:t>
            </a:r>
          </a:p>
          <a:p xmlns:a="http://schemas.openxmlformats.org/drawingml/2006/main">
            <a:r>
              <a:t>Acceptance: Use A2A 1.0.0 terminology and distinguish the chosen binding from the abstract task model. Explain what happens after a failed or canceled task.</a:t>
            </a:r>
          </a:p>
          <a:p xmlns:a="http://schemas.openxmlformats.org/drawingml/2006/main">
            <a:r>
              <a:t>Lab: labs/08_langgraph_approval_security.ipynb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as retrieval practice. Ask for an answer that defines, compares, traces, and evaluates.</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09-multi-agent-interop.pdf</a:t>
            </a:r>
          </a:p>
          <a:p xmlns:a="http://schemas.openxmlformats.org/drawingml/2006/main">
            <a:r>
              <a:t>- S6: A2A specification 1.0.0. Versioned protocol specification, accessed, 2026-09-09. https://a2a-protocol.org/v1.0.0/specification/ Separates the data model from JSON-RPC, gRPC, and HTTP/REST bindings. The course traces JSON-RPC.</a:t>
            </a:r>
          </a:p>
          <a:p xmlns:a="http://schemas.openxmlformats.org/drawingml/2006/main">
            <a:r>
              <a:t/>
            </a:r>
          </a:p>
          <a:p xmlns:a="http://schemas.openxmlformats.org/drawingml/2006/main">
            <a:r>
              <a:t>[Assessed practice]</a:t>
            </a:r>
          </a:p>
          <a:p xmlns:a="http://schemas.openxmlformats.org/drawingml/2006/main">
            <a:r>
              <a:t>Trace a delegated catalog task from discovery to completion. Identify the caller, authorization decision, timeout owner, and artifact validator. No remote service deployment is required.</a:t>
            </a:r>
          </a:p>
          <a:p xmlns:a="http://schemas.openxmlformats.org/drawingml/2006/main">
            <a:r>
              <a:t>Acceptance: Use A2A 1.0.0 terminology and distinguish the chosen binding from the abstract task model. Explain what happens after a failed or canceled task.</a:t>
            </a:r>
          </a:p>
          <a:p xmlns:a="http://schemas.openxmlformats.org/drawingml/2006/main">
            <a:r>
              <a:t>Lab: labs/08_langgraph_approval_security.ipynb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restating the four durable ideas and linking forward to the next chapter.</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09-multi-agent-interop.pdf</a:t>
            </a:r>
          </a:p>
          <a:p xmlns:a="http://schemas.openxmlformats.org/drawingml/2006/main">
            <a:r>
              <a:t>- S6: A2A specification 1.0.0. Versioned protocol specification, accessed, 2026-09-09. https://a2a-protocol.org/v1.0.0/specification/ Separates the data model from JSON-RPC, gRPC, and HTTP/REST bindings. The course traces JSON-RPC.</a:t>
            </a:r>
          </a:p>
          <a:p xmlns:a="http://schemas.openxmlformats.org/drawingml/2006/main">
            <a:r>
              <a:t/>
            </a:r>
          </a:p>
          <a:p xmlns:a="http://schemas.openxmlformats.org/drawingml/2006/main">
            <a:r>
              <a:t>[Assessed practice]</a:t>
            </a:r>
          </a:p>
          <a:p xmlns:a="http://schemas.openxmlformats.org/drawingml/2006/main">
            <a:r>
              <a:t>Trace a delegated catalog task from discovery to completion. Identify the caller, authorization decision, timeout owner, and artifact validator. No remote service deployment is required.</a:t>
            </a:r>
          </a:p>
          <a:p xmlns:a="http://schemas.openxmlformats.org/drawingml/2006/main">
            <a:r>
              <a:t>Acceptance: Use A2A 1.0.0 terminology and distinguish the chosen binding from the abstract task model. Explain what happens after a failed or canceled task.</a:t>
            </a:r>
          </a:p>
          <a:p xmlns:a="http://schemas.openxmlformats.org/drawingml/2006/main">
            <a:r>
              <a:t>Lab: labs/08_langgraph_approval_security.ipynb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Assess the submitted evidence with the stated acceptance check. Reading links and limitations follow.</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09-multi-agent-interop.pdf</a:t>
            </a:r>
          </a:p>
          <a:p xmlns:a="http://schemas.openxmlformats.org/drawingml/2006/main">
            <a:r>
              <a:t>- S6: A2A specification 1.0.0. Versioned protocol specification, accessed, 2026-09-09. https://a2a-protocol.org/v1.0.0/specification/ Separates the data model from JSON-RPC, gRPC, and HTTP/REST bindings. The course traces JSON-RPC.</a:t>
            </a:r>
          </a:p>
          <a:p xmlns:a="http://schemas.openxmlformats.org/drawingml/2006/main">
            <a:r>
              <a:t/>
            </a:r>
          </a:p>
          <a:p xmlns:a="http://schemas.openxmlformats.org/drawingml/2006/main">
            <a:r>
              <a:t>[Assessed practice]</a:t>
            </a:r>
          </a:p>
          <a:p xmlns:a="http://schemas.openxmlformats.org/drawingml/2006/main">
            <a:r>
              <a:t>Trace a delegated catalog task from discovery to completion. Identify the caller, authorization decision, timeout owner, and artifact validator. No remote service deployment is required.</a:t>
            </a:r>
          </a:p>
          <a:p xmlns:a="http://schemas.openxmlformats.org/drawingml/2006/main">
            <a:r>
              <a:t>Acceptance: Use A2A 1.0.0 terminology and distinguish the chosen binding from the abstract task model. Explain what happens after a failed or canceled task.</a:t>
            </a:r>
          </a:p>
          <a:p xmlns:a="http://schemas.openxmlformats.org/drawingml/2006/main">
            <a:r>
              <a:t>Lab: labs/08_langgraph_approval_security.ipynb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ee94e73cdd243c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1505cb4a9384d47" /><Relationship Type="http://schemas.openxmlformats.org/officeDocument/2006/relationships/slideLayout" Target="/ppt/slideLayouts/slideLayout1.xml" Id="R0124deb71e46414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124deb71e46414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5cbff1896214f8b" /><Relationship Type="http://schemas.openxmlformats.org/officeDocument/2006/relationships/notesSlide" Target="/ppt/notesSlides/notesSlide1.xml" Id="R3f8dc76dfd2f476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7941fbcd3fe4387" /><Relationship Type="http://schemas.openxmlformats.org/officeDocument/2006/relationships/notesSlide" Target="/ppt/notesSlides/notesSlide2.xml" Id="Rb009c4db3870481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24a6c1ef0a44692" /><Relationship Type="http://schemas.openxmlformats.org/officeDocument/2006/relationships/notesSlide" Target="/ppt/notesSlides/notesSlide3.xml" Id="R974fc5750b2e4c3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0d25b0efa664c94" /><Relationship Type="http://schemas.openxmlformats.org/officeDocument/2006/relationships/notesSlide" Target="/ppt/notesSlides/notesSlide4.xml" Id="R4abff0df50b94cd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b738c7f6abf41ba" /><Relationship Type="http://schemas.openxmlformats.org/officeDocument/2006/relationships/notesSlide" Target="/ppt/notesSlides/notesSlide5.xml" Id="R9354e543113c4cb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8f1264cba944bbc" /><Relationship Type="http://schemas.openxmlformats.org/officeDocument/2006/relationships/notesSlide" Target="/ppt/notesSlides/notesSlide6.xml" Id="Rf57699a136054c3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d89304ae8fe4737" /><Relationship Type="http://schemas.openxmlformats.org/officeDocument/2006/relationships/notesSlide" Target="/ppt/notesSlides/notesSlide7.xml" Id="R0d7e9f6937a74ba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f99841ae76848ca" /><Relationship Type="http://schemas.openxmlformats.org/officeDocument/2006/relationships/notesSlide" Target="/ppt/notesSlides/notesSlide8.xml" Id="Rcd70535e42ce45b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990107ef7f54fa2" /><Relationship Type="http://schemas.openxmlformats.org/officeDocument/2006/relationships/notesSlide" Target="/ppt/notesSlides/notesSlide9.xml" Id="R69de39d69c1c438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51fa741409c4425" /><Relationship Type="http://schemas.openxmlformats.org/officeDocument/2006/relationships/notesSlide" Target="/ppt/notesSlides/notesSlide10.xml" Id="R806d8f08fb674e2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a67dd491d2240a5" /><Relationship Type="http://schemas.openxmlformats.org/officeDocument/2006/relationships/notesSlide" Target="/ppt/notesSlides/notesSlide11.xml" Id="R36cc9c01c2d5429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9e86e1113674d55" /><Relationship Type="http://schemas.openxmlformats.org/officeDocument/2006/relationships/notesSlide" Target="/ppt/notesSlides/notesSlide12.xml" Id="R0754c529cc5d48e2" /></Relationships>
</file>

<file path=ppt/slides/slide1.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8" name="title-accent">
            <a:extLst xmlns:a="http://schemas.openxmlformats.org/drawingml/2006/main">
              <a:ext uri="{FF2B5EF4-FFF2-40B4-BE49-F238E27FC236}">
                <a16:creationId xmlns:a16="http://schemas.microsoft.com/office/drawing/2014/main" id="{4C13C296-347A-4BA3-BD16-EF92F26735D2}"/>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2" name="course-title">
            <a:extLst xmlns:a="http://schemas.openxmlformats.org/drawingml/2006/main">
              <a:ext uri="{FF2B5EF4-FFF2-40B4-BE49-F238E27FC236}">
                <a16:creationId xmlns:a16="http://schemas.microsoft.com/office/drawing/2014/main" id="{B754B759-D211-4EAB-97C0-7D64C7BE4276}"/>
              </a:ext>
            </a:extLst>
          </p:cNvPr>
          <p:cNvSpPr>
            <a:spLocks xmlns:a="http://schemas.openxmlformats.org/drawingml/2006/main" noGrp="1"/>
          </p:cNvSpPr>
          <p:nvPr/>
        </p:nvSpPr>
        <p:spPr>
          <a:xfrm xmlns:a="http://schemas.openxmlformats.org/drawingml/2006/main">
            <a:off x="400050" y="400050"/>
            <a:ext cx="4000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650" b="1">
                <a:solidFill>
                  <a:srgbClr val="5B5B57"/>
                </a:solidFill>
                <a:latin typeface="Helvetica Neue"/>
                <a:ea typeface="Helvetica Neue"/>
                <a:cs typeface="Helvetica Neue"/>
              </a:defRPr>
            </a:pPr>
            <a:r>
              <a:rPr sz="1650" b="1">
                <a:solidFill>
                  <a:srgbClr val="5B5B57"/>
                </a:solidFill>
                <a:latin typeface="Helvetica Neue"/>
                <a:ea typeface="Helvetica Neue"/>
                <a:cs typeface="Helvetica Neue"/>
              </a:rPr>
              <a:t>AGENTIC AI</a:t>
            </a:r>
          </a:p>
        </p:txBody>
      </p:sp>
      <p:sp>
        <p:nvSpPr>
          <p:cNvPr id="3" name="chapter-number">
            <a:extLst xmlns:a="http://schemas.openxmlformats.org/drawingml/2006/main">
              <a:ext uri="{FF2B5EF4-FFF2-40B4-BE49-F238E27FC236}">
                <a16:creationId xmlns:a16="http://schemas.microsoft.com/office/drawing/2014/main" id="{D2C1D506-BC19-4855-8E58-5A7BC0E7B7B0}"/>
              </a:ext>
            </a:extLst>
          </p:cNvPr>
          <p:cNvSpPr>
            <a:spLocks xmlns:a="http://schemas.openxmlformats.org/drawingml/2006/main" noGrp="1"/>
          </p:cNvSpPr>
          <p:nvPr/>
        </p:nvSpPr>
        <p:spPr>
          <a:xfrm xmlns:a="http://schemas.openxmlformats.org/drawingml/2006/main">
            <a:off x="10096500" y="361950"/>
            <a:ext cx="1676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2400" b="1">
                <a:solidFill>
                  <a:srgbClr val="111111"/>
                </a:solidFill>
                <a:latin typeface="Helvetica Neue"/>
                <a:ea typeface="Helvetica Neue"/>
                <a:cs typeface="Helvetica Neue"/>
              </a:defRPr>
            </a:pPr>
            <a:r>
              <a:rPr sz="2400" b="1">
                <a:solidFill>
                  <a:srgbClr val="111111"/>
                </a:solidFill>
                <a:latin typeface="Helvetica Neue"/>
                <a:ea typeface="Helvetica Neue"/>
                <a:cs typeface="Helvetica Neue"/>
              </a:rPr>
              <a:t>09</a:t>
            </a:r>
          </a:p>
        </p:txBody>
      </p:sp>
      <p:sp>
        <p:nvSpPr>
          <p:cNvPr id="4" name="deck-title">
            <a:extLst xmlns:a="http://schemas.openxmlformats.org/drawingml/2006/main">
              <a:ext uri="{FF2B5EF4-FFF2-40B4-BE49-F238E27FC236}">
                <a16:creationId xmlns:a16="http://schemas.microsoft.com/office/drawing/2014/main" id="{F03F254F-EDE5-489A-81E3-D20411279DDF}"/>
              </a:ext>
            </a:extLst>
          </p:cNvPr>
          <p:cNvSpPr>
            <a:spLocks xmlns:a="http://schemas.openxmlformats.org/drawingml/2006/main" noGrp="1"/>
          </p:cNvSpPr>
          <p:nvPr/>
        </p:nvSpPr>
        <p:spPr>
          <a:xfrm xmlns:a="http://schemas.openxmlformats.org/drawingml/2006/main">
            <a:off x="400050" y="1524000"/>
            <a:ext cx="9858375"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b">
            <a:normAutofit fontScale="100000"/>
          </a:bodyPr>
          <a:lstStyle xmlns:a="http://schemas.openxmlformats.org/drawingml/2006/main"/>
          <a:p xmlns:a="http://schemas.openxmlformats.org/drawingml/2006/main">
            <a:pPr algn="l">
              <a:defRPr sz="4800" b="1">
                <a:solidFill>
                  <a:srgbClr val="111111"/>
                </a:solidFill>
                <a:latin typeface="Helvetica Neue"/>
                <a:ea typeface="Helvetica Neue"/>
                <a:cs typeface="Helvetica Neue"/>
              </a:defRPr>
            </a:pPr>
            <a:r>
              <a:rPr sz="4800" b="1">
                <a:solidFill>
                  <a:srgbClr val="111111"/>
                </a:solidFill>
                <a:latin typeface="Helvetica Neue"/>
                <a:ea typeface="Helvetica Neue"/>
                <a:cs typeface="Helvetica Neue"/>
              </a:rPr>
              <a:t>Multi-Agent Interoperability</a:t>
            </a:r>
          </a:p>
        </p:txBody>
      </p:sp>
      <p:sp>
        <p:nvSpPr>
          <p:cNvPr id="5" name="deck-thesis">
            <a:extLst xmlns:a="http://schemas.openxmlformats.org/drawingml/2006/main">
              <a:ext uri="{FF2B5EF4-FFF2-40B4-BE49-F238E27FC236}">
                <a16:creationId xmlns:a16="http://schemas.microsoft.com/office/drawing/2014/main" id="{98916907-88FA-4027-868D-0D12BAF87445}"/>
              </a:ext>
            </a:extLst>
          </p:cNvPr>
          <p:cNvSpPr>
            <a:spLocks xmlns:a="http://schemas.openxmlformats.org/drawingml/2006/main" noGrp="1"/>
          </p:cNvSpPr>
          <p:nvPr/>
        </p:nvSpPr>
        <p:spPr>
          <a:xfrm xmlns:a="http://schemas.openxmlformats.org/drawingml/2006/main">
            <a:off x="400050" y="4610100"/>
            <a:ext cx="8524875"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025" b="0">
                <a:solidFill>
                  <a:srgbClr val="5B5B57"/>
                </a:solidFill>
                <a:latin typeface="Helvetica Neue"/>
                <a:ea typeface="Helvetica Neue"/>
                <a:cs typeface="Helvetica Neue"/>
              </a:defRPr>
            </a:pPr>
            <a:r>
              <a:rPr sz="2025" b="0">
                <a:solidFill>
                  <a:srgbClr val="5B5B57"/>
                </a:solidFill>
                <a:latin typeface="Helvetica Neue"/>
                <a:ea typeface="Helvetica Neue"/>
                <a:cs typeface="Helvetica Neue"/>
              </a:rPr>
              <a:t>A2A treats agents as discoverable services with long-running task lifecycles, while MCP connects each agent to tools and data.</a:t>
            </a:r>
          </a:p>
        </p:txBody>
      </p:sp>
      <p:sp>
        <p:nvSpPr>
          <p:cNvPr id="6" name="title-marker">
            <a:extLst xmlns:a="http://schemas.openxmlformats.org/drawingml/2006/main">
              <a:ext uri="{FF2B5EF4-FFF2-40B4-BE49-F238E27FC236}">
                <a16:creationId xmlns:a16="http://schemas.microsoft.com/office/drawing/2014/main" id="{1E1E4DFC-EF7A-450F-AF7F-F7CA10E4E642}"/>
              </a:ext>
            </a:extLst>
          </p:cNvPr>
          <p:cNvSpPr>
            <a:spLocks xmlns:a="http://schemas.openxmlformats.org/drawingml/2006/main" noGrp="1"/>
          </p:cNvSpPr>
          <p:nvPr/>
        </p:nvSpPr>
        <p:spPr>
          <a:xfrm xmlns:a="http://schemas.openxmlformats.org/drawingml/2006/main">
            <a:off x="9525000" y="4610100"/>
            <a:ext cx="2266950" cy="1104900"/>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7" name="title-marker-text">
            <a:extLst xmlns:a="http://schemas.openxmlformats.org/drawingml/2006/main">
              <a:ext uri="{FF2B5EF4-FFF2-40B4-BE49-F238E27FC236}">
                <a16:creationId xmlns:a16="http://schemas.microsoft.com/office/drawing/2014/main" id="{4EFC669F-A21F-4588-B9D0-DC33C8BA547C}"/>
              </a:ext>
            </a:extLst>
          </p:cNvPr>
          <p:cNvSpPr>
            <a:spLocks xmlns:a="http://schemas.openxmlformats.org/drawingml/2006/main" noGrp="1"/>
          </p:cNvSpPr>
          <p:nvPr/>
        </p:nvSpPr>
        <p:spPr>
          <a:xfrm xmlns:a="http://schemas.openxmlformats.org/drawingml/2006/main">
            <a:off x="9753600" y="4762500"/>
            <a:ext cx="1809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Autofit/>
          </a:bodyPr>
          <a:lstStyle xmlns:a="http://schemas.openxmlformats.org/drawingml/2006/main"/>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STUDY</a:t>
            </a:r>
          </a:p>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DECK</a:t>
            </a:r>
          </a:p>
        </p:txBody>
      </p:sp>
    </p:spTree>
    <p:extLst>
      <p:ext uri="{BB962C8B-B14F-4D97-AF65-F5344CB8AC3E}">
        <p14:creationId xmlns:p14="http://schemas.microsoft.com/office/powerpoint/2010/main" val="155341005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accent-line">
            <a:extLst xmlns:a="http://schemas.openxmlformats.org/drawingml/2006/main">
              <a:ext uri="{FF2B5EF4-FFF2-40B4-BE49-F238E27FC236}">
                <a16:creationId xmlns:a16="http://schemas.microsoft.com/office/drawing/2014/main" id="{DBA921D7-795C-499F-BB74-37608A7D5A46}"/>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2" name="chapter-label">
            <a:extLst xmlns:a="http://schemas.openxmlformats.org/drawingml/2006/main">
              <a:ext uri="{FF2B5EF4-FFF2-40B4-BE49-F238E27FC236}">
                <a16:creationId xmlns:a16="http://schemas.microsoft.com/office/drawing/2014/main" id="{04752E80-A782-4262-AE55-57FA813BD396}"/>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LEARNING MAP  /  09</a:t>
            </a:r>
          </a:p>
        </p:txBody>
      </p:sp>
      <p:sp>
        <p:nvSpPr>
          <p:cNvPr id="3" name="slide-number">
            <a:extLst xmlns:a="http://schemas.openxmlformats.org/drawingml/2006/main">
              <a:ext uri="{FF2B5EF4-FFF2-40B4-BE49-F238E27FC236}">
                <a16:creationId xmlns:a16="http://schemas.microsoft.com/office/drawing/2014/main" id="{23E6C0F8-7133-4850-B1C1-B7EFF41A7F96}"/>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02</a:t>
            </a:r>
          </a:p>
        </p:txBody>
      </p:sp>
      <p:sp>
        <p:nvSpPr>
          <p:cNvPr id="4" name="chapter-footer">
            <a:extLst xmlns:a="http://schemas.openxmlformats.org/drawingml/2006/main">
              <a:ext uri="{FF2B5EF4-FFF2-40B4-BE49-F238E27FC236}">
                <a16:creationId xmlns:a16="http://schemas.microsoft.com/office/drawing/2014/main" id="{8B1C026C-3224-49EA-87D6-E0A39B472578}"/>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Multi-Agent Interoperability</a:t>
            </a:r>
          </a:p>
        </p:txBody>
      </p:sp>
      <p:sp>
        <p:nvSpPr>
          <p:cNvPr id="5" name="objectives-title">
            <a:extLst xmlns:a="http://schemas.openxmlformats.org/drawingml/2006/main">
              <a:ext uri="{FF2B5EF4-FFF2-40B4-BE49-F238E27FC236}">
                <a16:creationId xmlns:a16="http://schemas.microsoft.com/office/drawing/2014/main" id="{88A64AAB-875B-425D-A220-15AC81883D99}"/>
              </a:ext>
            </a:extLst>
          </p:cNvPr>
          <p:cNvSpPr>
            <a:spLocks xmlns:a="http://schemas.openxmlformats.org/drawingml/2006/main" noGrp="1"/>
          </p:cNvSpPr>
          <p:nvPr/>
        </p:nvSpPr>
        <p:spPr>
          <a:xfrm xmlns:a="http://schemas.openxmlformats.org/drawingml/2006/main">
            <a:off x="390525" y="99060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150" b="1">
                <a:solidFill>
                  <a:srgbClr val="111111"/>
                </a:solidFill>
                <a:latin typeface="Helvetica Neue"/>
                <a:ea typeface="Helvetica Neue"/>
                <a:cs typeface="Helvetica Neue"/>
              </a:defRPr>
            </a:pPr>
            <a:r>
              <a:rPr sz="3150" b="1">
                <a:solidFill>
                  <a:srgbClr val="111111"/>
                </a:solidFill>
                <a:latin typeface="Helvetica Neue"/>
                <a:ea typeface="Helvetica Neue"/>
                <a:cs typeface="Helvetica Neue"/>
              </a:rPr>
              <a:t>By the end, you should be able to...</a:t>
            </a:r>
          </a:p>
        </p:txBody>
      </p:sp>
      <p:sp>
        <p:nvSpPr>
          <p:cNvPr id="6" name="objective-number-1">
            <a:extLst xmlns:a="http://schemas.openxmlformats.org/drawingml/2006/main">
              <a:ext uri="{FF2B5EF4-FFF2-40B4-BE49-F238E27FC236}">
                <a16:creationId xmlns:a16="http://schemas.microsoft.com/office/drawing/2014/main" id="{1EB4B2B3-F1E1-4A4F-A3B4-60BFE1557D50}"/>
              </a:ext>
            </a:extLst>
          </p:cNvPr>
          <p:cNvSpPr>
            <a:spLocks xmlns:a="http://schemas.openxmlformats.org/drawingml/2006/main" noGrp="1"/>
          </p:cNvSpPr>
          <p:nvPr/>
        </p:nvSpPr>
        <p:spPr>
          <a:xfrm xmlns:a="http://schemas.openxmlformats.org/drawingml/2006/main">
            <a:off x="390525" y="2381250"/>
            <a:ext cx="2000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450" b="1">
                <a:solidFill>
                  <a:srgbClr val="FFB45E"/>
                </a:solidFill>
                <a:latin typeface="Helvetica Neue"/>
                <a:ea typeface="Helvetica Neue"/>
                <a:cs typeface="Helvetica Neue"/>
              </a:defRPr>
            </a:pPr>
            <a:r>
              <a:rPr sz="3450" b="1">
                <a:solidFill>
                  <a:srgbClr val="FFB45E"/>
                </a:solidFill>
                <a:latin typeface="Helvetica Neue"/>
                <a:ea typeface="Helvetica Neue"/>
                <a:cs typeface="Helvetica Neue"/>
              </a:rPr>
              <a:t>01</a:t>
            </a:r>
          </a:p>
        </p:txBody>
      </p:sp>
      <p:sp>
        <p:nvSpPr>
          <p:cNvPr id="7" name="objective-1">
            <a:extLst xmlns:a="http://schemas.openxmlformats.org/drawingml/2006/main">
              <a:ext uri="{FF2B5EF4-FFF2-40B4-BE49-F238E27FC236}">
                <a16:creationId xmlns:a16="http://schemas.microsoft.com/office/drawing/2014/main" id="{C9D54263-298A-4150-8952-02476E90DCA2}"/>
              </a:ext>
            </a:extLst>
          </p:cNvPr>
          <p:cNvSpPr>
            <a:spLocks xmlns:a="http://schemas.openxmlformats.org/drawingml/2006/main" noGrp="1"/>
          </p:cNvSpPr>
          <p:nvPr/>
        </p:nvSpPr>
        <p:spPr>
          <a:xfrm xmlns:a="http://schemas.openxmlformats.org/drawingml/2006/main">
            <a:off x="390525" y="3143250"/>
            <a:ext cx="2381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Explain the agent interoperability problem</a:t>
            </a:r>
          </a:p>
        </p:txBody>
      </p:sp>
      <p:sp>
        <p:nvSpPr>
          <p:cNvPr id="8" name="objective-number-2">
            <a:extLst xmlns:a="http://schemas.openxmlformats.org/drawingml/2006/main">
              <a:ext uri="{FF2B5EF4-FFF2-40B4-BE49-F238E27FC236}">
                <a16:creationId xmlns:a16="http://schemas.microsoft.com/office/drawing/2014/main" id="{7CA644E2-2113-4195-968C-BBD87E7B4208}"/>
              </a:ext>
            </a:extLst>
          </p:cNvPr>
          <p:cNvSpPr>
            <a:spLocks xmlns:a="http://schemas.openxmlformats.org/drawingml/2006/main" noGrp="1"/>
          </p:cNvSpPr>
          <p:nvPr/>
        </p:nvSpPr>
        <p:spPr>
          <a:xfrm xmlns:a="http://schemas.openxmlformats.org/drawingml/2006/main">
            <a:off x="3276600" y="2381250"/>
            <a:ext cx="2000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450" b="1">
                <a:solidFill>
                  <a:srgbClr val="FFB45E"/>
                </a:solidFill>
                <a:latin typeface="Helvetica Neue"/>
                <a:ea typeface="Helvetica Neue"/>
                <a:cs typeface="Helvetica Neue"/>
              </a:defRPr>
            </a:pPr>
            <a:r>
              <a:rPr sz="3450" b="1">
                <a:solidFill>
                  <a:srgbClr val="FFB45E"/>
                </a:solidFill>
                <a:latin typeface="Helvetica Neue"/>
                <a:ea typeface="Helvetica Neue"/>
                <a:cs typeface="Helvetica Neue"/>
              </a:rPr>
              <a:t>02</a:t>
            </a:r>
          </a:p>
        </p:txBody>
      </p:sp>
      <p:sp>
        <p:nvSpPr>
          <p:cNvPr id="9" name="objective-2">
            <a:extLst xmlns:a="http://schemas.openxmlformats.org/drawingml/2006/main">
              <a:ext uri="{FF2B5EF4-FFF2-40B4-BE49-F238E27FC236}">
                <a16:creationId xmlns:a16="http://schemas.microsoft.com/office/drawing/2014/main" id="{7639DCAF-A151-4515-B817-6840DC7D57D5}"/>
              </a:ext>
            </a:extLst>
          </p:cNvPr>
          <p:cNvSpPr>
            <a:spLocks xmlns:a="http://schemas.openxmlformats.org/drawingml/2006/main" noGrp="1"/>
          </p:cNvSpPr>
          <p:nvPr/>
        </p:nvSpPr>
        <p:spPr>
          <a:xfrm xmlns:a="http://schemas.openxmlformats.org/drawingml/2006/main">
            <a:off x="3276600" y="3143250"/>
            <a:ext cx="2381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Describe Agent Cards and A2A task objects</a:t>
            </a:r>
          </a:p>
        </p:txBody>
      </p:sp>
      <p:sp>
        <p:nvSpPr>
          <p:cNvPr id="10" name="objective-number-3">
            <a:extLst xmlns:a="http://schemas.openxmlformats.org/drawingml/2006/main">
              <a:ext uri="{FF2B5EF4-FFF2-40B4-BE49-F238E27FC236}">
                <a16:creationId xmlns:a16="http://schemas.microsoft.com/office/drawing/2014/main" id="{B4346DBF-BD1B-4714-A9F2-55EC7D4F2C49}"/>
              </a:ext>
            </a:extLst>
          </p:cNvPr>
          <p:cNvSpPr>
            <a:spLocks xmlns:a="http://schemas.openxmlformats.org/drawingml/2006/main" noGrp="1"/>
          </p:cNvSpPr>
          <p:nvPr/>
        </p:nvSpPr>
        <p:spPr>
          <a:xfrm xmlns:a="http://schemas.openxmlformats.org/drawingml/2006/main">
            <a:off x="6162675" y="2381250"/>
            <a:ext cx="2000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450" b="1">
                <a:solidFill>
                  <a:srgbClr val="FFB45E"/>
                </a:solidFill>
                <a:latin typeface="Helvetica Neue"/>
                <a:ea typeface="Helvetica Neue"/>
                <a:cs typeface="Helvetica Neue"/>
              </a:defRPr>
            </a:pPr>
            <a:r>
              <a:rPr sz="3450" b="1">
                <a:solidFill>
                  <a:srgbClr val="FFB45E"/>
                </a:solidFill>
                <a:latin typeface="Helvetica Neue"/>
                <a:ea typeface="Helvetica Neue"/>
                <a:cs typeface="Helvetica Neue"/>
              </a:rPr>
              <a:t>03</a:t>
            </a:r>
          </a:p>
        </p:txBody>
      </p:sp>
      <p:sp>
        <p:nvSpPr>
          <p:cNvPr id="11" name="objective-3">
            <a:extLst xmlns:a="http://schemas.openxmlformats.org/drawingml/2006/main">
              <a:ext uri="{FF2B5EF4-FFF2-40B4-BE49-F238E27FC236}">
                <a16:creationId xmlns:a16="http://schemas.microsoft.com/office/drawing/2014/main" id="{CA35B261-088F-4F10-A7F6-693F0ACBB397}"/>
              </a:ext>
            </a:extLst>
          </p:cNvPr>
          <p:cNvSpPr>
            <a:spLocks xmlns:a="http://schemas.openxmlformats.org/drawingml/2006/main" noGrp="1"/>
          </p:cNvSpPr>
          <p:nvPr/>
        </p:nvSpPr>
        <p:spPr>
          <a:xfrm xmlns:a="http://schemas.openxmlformats.org/drawingml/2006/main">
            <a:off x="6162675" y="3143250"/>
            <a:ext cx="2381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Separate MCP and A2A responsibilities</a:t>
            </a:r>
          </a:p>
        </p:txBody>
      </p:sp>
      <p:sp>
        <p:nvSpPr>
          <p:cNvPr id="12" name="objective-number-4">
            <a:extLst xmlns:a="http://schemas.openxmlformats.org/drawingml/2006/main">
              <a:ext uri="{FF2B5EF4-FFF2-40B4-BE49-F238E27FC236}">
                <a16:creationId xmlns:a16="http://schemas.microsoft.com/office/drawing/2014/main" id="{39C97D6E-466F-426F-9EF4-F12CC4ACA50C}"/>
              </a:ext>
            </a:extLst>
          </p:cNvPr>
          <p:cNvSpPr>
            <a:spLocks xmlns:a="http://schemas.openxmlformats.org/drawingml/2006/main" noGrp="1"/>
          </p:cNvSpPr>
          <p:nvPr/>
        </p:nvSpPr>
        <p:spPr>
          <a:xfrm xmlns:a="http://schemas.openxmlformats.org/drawingml/2006/main">
            <a:off x="9048750" y="2381250"/>
            <a:ext cx="2000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450" b="1">
                <a:solidFill>
                  <a:srgbClr val="FFB45E"/>
                </a:solidFill>
                <a:latin typeface="Helvetica Neue"/>
                <a:ea typeface="Helvetica Neue"/>
                <a:cs typeface="Helvetica Neue"/>
              </a:defRPr>
            </a:pPr>
            <a:r>
              <a:rPr sz="3450" b="1">
                <a:solidFill>
                  <a:srgbClr val="FFB45E"/>
                </a:solidFill>
                <a:latin typeface="Helvetica Neue"/>
                <a:ea typeface="Helvetica Neue"/>
                <a:cs typeface="Helvetica Neue"/>
              </a:rPr>
              <a:t>04</a:t>
            </a:r>
          </a:p>
        </p:txBody>
      </p:sp>
      <p:sp>
        <p:nvSpPr>
          <p:cNvPr id="13" name="objective-4">
            <a:extLst xmlns:a="http://schemas.openxmlformats.org/drawingml/2006/main">
              <a:ext uri="{FF2B5EF4-FFF2-40B4-BE49-F238E27FC236}">
                <a16:creationId xmlns:a16="http://schemas.microsoft.com/office/drawing/2014/main" id="{56D9BCDB-439D-4A3F-828F-92BF58C0E241}"/>
              </a:ext>
            </a:extLst>
          </p:cNvPr>
          <p:cNvSpPr>
            <a:spLocks xmlns:a="http://schemas.openxmlformats.org/drawingml/2006/main" noGrp="1"/>
          </p:cNvSpPr>
          <p:nvPr/>
        </p:nvSpPr>
        <p:spPr>
          <a:xfrm xmlns:a="http://schemas.openxmlformats.org/drawingml/2006/main">
            <a:off x="9048750" y="3143250"/>
            <a:ext cx="2381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Threat-model cross-agent delegation</a:t>
            </a:r>
          </a:p>
        </p:txBody>
      </p:sp>
    </p:spTree>
    <p:extLst>
      <p:ext uri="{BB962C8B-B14F-4D97-AF65-F5344CB8AC3E}">
        <p14:creationId xmlns:p14="http://schemas.microsoft.com/office/powerpoint/2010/main" val="59830519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ccent-line">
            <a:extLst xmlns:a="http://schemas.openxmlformats.org/drawingml/2006/main">
              <a:ext uri="{FF2B5EF4-FFF2-40B4-BE49-F238E27FC236}">
                <a16:creationId xmlns:a16="http://schemas.microsoft.com/office/drawing/2014/main" id="{E913569E-59A3-4C5A-A1D4-51409218E3D5}"/>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2" name="chapter-label">
            <a:extLst xmlns:a="http://schemas.openxmlformats.org/drawingml/2006/main">
              <a:ext uri="{FF2B5EF4-FFF2-40B4-BE49-F238E27FC236}">
                <a16:creationId xmlns:a16="http://schemas.microsoft.com/office/drawing/2014/main" id="{BD302652-1D05-436F-836C-96277C68D024}"/>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01  /  09</a:t>
            </a:r>
          </a:p>
        </p:txBody>
      </p:sp>
      <p:sp>
        <p:nvSpPr>
          <p:cNvPr id="3" name="slide-number">
            <a:extLst xmlns:a="http://schemas.openxmlformats.org/drawingml/2006/main">
              <a:ext uri="{FF2B5EF4-FFF2-40B4-BE49-F238E27FC236}">
                <a16:creationId xmlns:a16="http://schemas.microsoft.com/office/drawing/2014/main" id="{3B5D4E35-2201-43C4-A8BC-F34AFD42A411}"/>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03</a:t>
            </a:r>
          </a:p>
        </p:txBody>
      </p:sp>
      <p:sp>
        <p:nvSpPr>
          <p:cNvPr id="4" name="chapter-footer">
            <a:extLst xmlns:a="http://schemas.openxmlformats.org/drawingml/2006/main">
              <a:ext uri="{FF2B5EF4-FFF2-40B4-BE49-F238E27FC236}">
                <a16:creationId xmlns:a16="http://schemas.microsoft.com/office/drawing/2014/main" id="{169D373B-0E52-4CEB-B2C6-13648F8F366C}"/>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Multi-Agent Interoperability</a:t>
            </a:r>
          </a:p>
        </p:txBody>
      </p:sp>
      <p:sp>
        <p:nvSpPr>
          <p:cNvPr id="5" name="section-title">
            <a:extLst xmlns:a="http://schemas.openxmlformats.org/drawingml/2006/main">
              <a:ext uri="{FF2B5EF4-FFF2-40B4-BE49-F238E27FC236}">
                <a16:creationId xmlns:a16="http://schemas.microsoft.com/office/drawing/2014/main" id="{38F29783-06D7-49F2-8A42-20BB62E1CE8A}"/>
              </a:ext>
            </a:extLst>
          </p:cNvPr>
          <p:cNvSpPr>
            <a:spLocks xmlns:a="http://schemas.openxmlformats.org/drawingml/2006/main" noGrp="1"/>
          </p:cNvSpPr>
          <p:nvPr/>
        </p:nvSpPr>
        <p:spPr>
          <a:xfrm xmlns:a="http://schemas.openxmlformats.org/drawingml/2006/main">
            <a:off x="390525" y="971550"/>
            <a:ext cx="111442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25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Agent ecosystems recreate the integration problem one layer up</a:t>
            </a:r>
          </a:p>
        </p:txBody>
      </p:sp>
      <p:sp>
        <p:nvSpPr>
          <p:cNvPr id="6" name="section-explanation">
            <a:extLst xmlns:a="http://schemas.openxmlformats.org/drawingml/2006/main">
              <a:ext uri="{FF2B5EF4-FFF2-40B4-BE49-F238E27FC236}">
                <a16:creationId xmlns:a16="http://schemas.microsoft.com/office/drawing/2014/main" id="{CDC1620A-5AF7-4291-8796-8DF29FC7231F}"/>
              </a:ext>
            </a:extLst>
          </p:cNvPr>
          <p:cNvSpPr>
            <a:spLocks xmlns:a="http://schemas.openxmlformats.org/drawingml/2006/main" noGrp="1"/>
          </p:cNvSpPr>
          <p:nvPr/>
        </p:nvSpPr>
        <p:spPr>
          <a:xfrm xmlns:a="http://schemas.openxmlformats.org/drawingml/2006/main">
            <a:off x="390525" y="2381250"/>
            <a:ext cx="4524375" cy="2905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0">
                <a:solidFill>
                  <a:srgbClr val="5B5B57"/>
                </a:solidFill>
                <a:latin typeface="Helvetica Neue"/>
                <a:ea typeface="Helvetica Neue"/>
                <a:cs typeface="Helvetica Neue"/>
              </a:defRPr>
            </a:pPr>
            <a:r>
              <a:rPr sz="1875" b="0">
                <a:solidFill>
                  <a:srgbClr val="5B5B57"/>
                </a:solidFill>
                <a:latin typeface="Helvetica Neue"/>
                <a:ea typeface="Helvetica Neue"/>
                <a:cs typeface="Helvetica Neue"/>
              </a:rPr>
              <a:t>Real agents use different frameworks, vendors, organizations, endpoints, and security domains. Bespoke pairwise integrations do not scale. An interoperable agent must publish capabilities and accept work without exposing its internal reasoning implementation.</a:t>
            </a:r>
          </a:p>
        </p:txBody>
      </p:sp>
      <p:sp>
        <p:nvSpPr>
          <p:cNvPr id="7" name="column-rule">
            <a:extLst xmlns:a="http://schemas.openxmlformats.org/drawingml/2006/main">
              <a:ext uri="{FF2B5EF4-FFF2-40B4-BE49-F238E27FC236}">
                <a16:creationId xmlns:a16="http://schemas.microsoft.com/office/drawing/2014/main" id="{FA74BFEB-9137-4C57-B3D2-980E8BD9DE09}"/>
              </a:ext>
            </a:extLst>
          </p:cNvPr>
          <p:cNvSpPr>
            <a:spLocks xmlns:a="http://schemas.openxmlformats.org/drawingml/2006/main" noGrp="1"/>
          </p:cNvSpPr>
          <p:nvPr/>
        </p:nvSpPr>
        <p:spPr>
          <a:xfrm xmlns:a="http://schemas.openxmlformats.org/drawingml/2006/main">
            <a:off x="5334000" y="2343150"/>
            <a:ext cx="47625" cy="3257550"/>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8" name="section-points">
            <a:extLst xmlns:a="http://schemas.openxmlformats.org/drawingml/2006/main">
              <a:ext uri="{FF2B5EF4-FFF2-40B4-BE49-F238E27FC236}">
                <a16:creationId xmlns:a16="http://schemas.microsoft.com/office/drawing/2014/main" id="{6C596391-5F4E-4681-8DBC-0192AE90E98F}"/>
              </a:ext>
            </a:extLst>
          </p:cNvPr>
          <p:cNvSpPr>
            <a:spLocks xmlns:a="http://schemas.openxmlformats.org/drawingml/2006/main" noGrp="1"/>
          </p:cNvSpPr>
          <p:nvPr/>
        </p:nvSpPr>
        <p:spPr>
          <a:xfrm xmlns:a="http://schemas.openxmlformats.org/drawingml/2006/main">
            <a:off x="5857875" y="2343150"/>
            <a:ext cx="5572125" cy="3429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01  An agent resembles a service with discovery, endpoint, and authentication.</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02  Unlike a simple API, it reasons and may run for minutes or days.</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03  The protocol must cover status, streaming, and artifacts.</a:t>
            </a:r>
          </a:p>
        </p:txBody>
      </p:sp>
    </p:spTree>
    <p:extLst>
      <p:ext uri="{BB962C8B-B14F-4D97-AF65-F5344CB8AC3E}">
        <p14:creationId xmlns:p14="http://schemas.microsoft.com/office/powerpoint/2010/main" val="2138229759"/>
      </p:ext>
    </p:extLst>
  </p:cSld>
</p:sld>
</file>

<file path=ppt/slides/slide4.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5" name="accent-line">
            <a:extLst xmlns:a="http://schemas.openxmlformats.org/drawingml/2006/main">
              <a:ext uri="{FF2B5EF4-FFF2-40B4-BE49-F238E27FC236}">
                <a16:creationId xmlns:a16="http://schemas.microsoft.com/office/drawing/2014/main" id="{EF8D7E04-7F95-4BC6-BCCD-1ED98888908B}"/>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2" name="chapter-label">
            <a:extLst xmlns:a="http://schemas.openxmlformats.org/drawingml/2006/main">
              <a:ext uri="{FF2B5EF4-FFF2-40B4-BE49-F238E27FC236}">
                <a16:creationId xmlns:a16="http://schemas.microsoft.com/office/drawing/2014/main" id="{9FF716EE-3788-4084-B6CA-E53685BF3EB8}"/>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02  /  09</a:t>
            </a:r>
          </a:p>
        </p:txBody>
      </p:sp>
      <p:sp>
        <p:nvSpPr>
          <p:cNvPr id="3" name="slide-number">
            <a:extLst xmlns:a="http://schemas.openxmlformats.org/drawingml/2006/main">
              <a:ext uri="{FF2B5EF4-FFF2-40B4-BE49-F238E27FC236}">
                <a16:creationId xmlns:a16="http://schemas.microsoft.com/office/drawing/2014/main" id="{60243749-0506-4CDE-B722-E5FB70E47EE3}"/>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04</a:t>
            </a:r>
          </a:p>
        </p:txBody>
      </p:sp>
      <p:sp>
        <p:nvSpPr>
          <p:cNvPr id="4" name="chapter-footer">
            <a:extLst xmlns:a="http://schemas.openxmlformats.org/drawingml/2006/main">
              <a:ext uri="{FF2B5EF4-FFF2-40B4-BE49-F238E27FC236}">
                <a16:creationId xmlns:a16="http://schemas.microsoft.com/office/drawing/2014/main" id="{9F53ECE8-27BD-4EA1-99D4-AC187E1A9AF8}"/>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Multi-Agent Interoperability</a:t>
            </a:r>
          </a:p>
        </p:txBody>
      </p:sp>
      <p:sp>
        <p:nvSpPr>
          <p:cNvPr id="5" name="section-title">
            <a:extLst xmlns:a="http://schemas.openxmlformats.org/drawingml/2006/main">
              <a:ext uri="{FF2B5EF4-FFF2-40B4-BE49-F238E27FC236}">
                <a16:creationId xmlns:a16="http://schemas.microsoft.com/office/drawing/2014/main" id="{7C137312-F448-43FE-B726-3C664BB78654}"/>
              </a:ext>
            </a:extLst>
          </p:cNvPr>
          <p:cNvSpPr>
            <a:spLocks xmlns:a="http://schemas.openxmlformats.org/drawingml/2006/main" noGrp="1"/>
          </p:cNvSpPr>
          <p:nvPr/>
        </p:nvSpPr>
        <p:spPr>
          <a:xfrm xmlns:a="http://schemas.openxmlformats.org/drawingml/2006/main">
            <a:off x="390525" y="1000125"/>
            <a:ext cx="11144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A2A 1.0.0 separates operations from bindings</a:t>
            </a:r>
          </a:p>
        </p:txBody>
      </p:sp>
      <p:sp>
        <p:nvSpPr>
          <p:cNvPr id="6" name="section-explanation">
            <a:extLst xmlns:a="http://schemas.openxmlformats.org/drawingml/2006/main">
              <a:ext uri="{FF2B5EF4-FFF2-40B4-BE49-F238E27FC236}">
                <a16:creationId xmlns:a16="http://schemas.microsoft.com/office/drawing/2014/main" id="{9E009620-8949-48DB-BAD1-07E9C09D548B}"/>
              </a:ext>
            </a:extLst>
          </p:cNvPr>
          <p:cNvSpPr>
            <a:spLocks xmlns:a="http://schemas.openxmlformats.org/drawingml/2006/main" noGrp="1"/>
          </p:cNvSpPr>
          <p:nvPr/>
        </p:nvSpPr>
        <p:spPr>
          <a:xfrm xmlns:a="http://schemas.openxmlformats.org/drawingml/2006/main">
            <a:off x="1143000" y="2143125"/>
            <a:ext cx="990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A2A 1.0.0 defines a task and message model with JSON-RPC, gRPC, and HTTP/REST bindings. This course traces JSON-RPC over HTTP. Select a binding and version explicitly when implementing discovery, streaming, and authentication.</a:t>
            </a:r>
          </a:p>
        </p:txBody>
      </p:sp>
      <p:sp>
        <p:nvSpPr>
          <p:cNvPr id="7" name="point-band-1">
            <a:extLst xmlns:a="http://schemas.openxmlformats.org/drawingml/2006/main">
              <a:ext uri="{FF2B5EF4-FFF2-40B4-BE49-F238E27FC236}">
                <a16:creationId xmlns:a16="http://schemas.microsoft.com/office/drawing/2014/main" id="{6C83DFB3-0960-4CA4-BC7F-7B732C687F94}"/>
              </a:ext>
            </a:extLst>
          </p:cNvPr>
          <p:cNvSpPr>
            <a:spLocks xmlns:a="http://schemas.openxmlformats.org/drawingml/2006/main" noGrp="1"/>
          </p:cNvSpPr>
          <p:nvPr/>
        </p:nvSpPr>
        <p:spPr>
          <a:xfrm xmlns:a="http://schemas.openxmlformats.org/drawingml/2006/main">
            <a:off x="390525" y="4048125"/>
            <a:ext cx="2509838" cy="76200"/>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8" name="point-1">
            <a:extLst xmlns:a="http://schemas.openxmlformats.org/drawingml/2006/main">
              <a:ext uri="{FF2B5EF4-FFF2-40B4-BE49-F238E27FC236}">
                <a16:creationId xmlns:a16="http://schemas.microsoft.com/office/drawing/2014/main" id="{339EB329-882F-4741-BE28-B223CF10DC6B}"/>
              </a:ext>
            </a:extLst>
          </p:cNvPr>
          <p:cNvSpPr>
            <a:spLocks xmlns:a="http://schemas.openxmlformats.org/drawingml/2006/main" noGrp="1"/>
          </p:cNvSpPr>
          <p:nvPr/>
        </p:nvSpPr>
        <p:spPr>
          <a:xfrm xmlns:a="http://schemas.openxmlformats.org/drawingml/2006/main">
            <a:off x="390525"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This course uses the JSON-RPC binding over HTTP.</a:t>
            </a:r>
          </a:p>
        </p:txBody>
      </p:sp>
      <p:sp>
        <p:nvSpPr>
          <p:cNvPr id="9" name="point-band-2">
            <a:extLst xmlns:a="http://schemas.openxmlformats.org/drawingml/2006/main">
              <a:ext uri="{FF2B5EF4-FFF2-40B4-BE49-F238E27FC236}">
                <a16:creationId xmlns:a16="http://schemas.microsoft.com/office/drawing/2014/main" id="{085B30CC-BAF0-4793-B628-80B5AFC12744}"/>
              </a:ext>
            </a:extLst>
          </p:cNvPr>
          <p:cNvSpPr>
            <a:spLocks xmlns:a="http://schemas.openxmlformats.org/drawingml/2006/main" noGrp="1"/>
          </p:cNvSpPr>
          <p:nvPr/>
        </p:nvSpPr>
        <p:spPr>
          <a:xfrm xmlns:a="http://schemas.openxmlformats.org/drawingml/2006/main">
            <a:off x="3167063" y="4048125"/>
            <a:ext cx="2509838" cy="76200"/>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10" name="point-2">
            <a:extLst xmlns:a="http://schemas.openxmlformats.org/drawingml/2006/main">
              <a:ext uri="{FF2B5EF4-FFF2-40B4-BE49-F238E27FC236}">
                <a16:creationId xmlns:a16="http://schemas.microsoft.com/office/drawing/2014/main" id="{8F7DD6C5-9A52-4178-89D7-F054297DF878}"/>
              </a:ext>
            </a:extLst>
          </p:cNvPr>
          <p:cNvSpPr>
            <a:spLocks xmlns:a="http://schemas.openxmlformats.org/drawingml/2006/main" noGrp="1"/>
          </p:cNvSpPr>
          <p:nvPr/>
        </p:nvSpPr>
        <p:spPr>
          <a:xfrm xmlns:a="http://schemas.openxmlformats.org/drawingml/2006/main">
            <a:off x="3167063"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Other defined bindings include gRPC and HTTP/REST.</a:t>
            </a:r>
          </a:p>
        </p:txBody>
      </p:sp>
      <p:sp>
        <p:nvSpPr>
          <p:cNvPr id="11" name="point-band-3">
            <a:extLst xmlns:a="http://schemas.openxmlformats.org/drawingml/2006/main">
              <a:ext uri="{FF2B5EF4-FFF2-40B4-BE49-F238E27FC236}">
                <a16:creationId xmlns:a16="http://schemas.microsoft.com/office/drawing/2014/main" id="{A75404FB-97E3-46ED-A4C2-EBFF8751BAD0}"/>
              </a:ext>
            </a:extLst>
          </p:cNvPr>
          <p:cNvSpPr>
            <a:spLocks xmlns:a="http://schemas.openxmlformats.org/drawingml/2006/main" noGrp="1"/>
          </p:cNvSpPr>
          <p:nvPr/>
        </p:nvSpPr>
        <p:spPr>
          <a:xfrm xmlns:a="http://schemas.openxmlformats.org/drawingml/2006/main">
            <a:off x="5943600" y="4048125"/>
            <a:ext cx="2509838" cy="76200"/>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12" name="point-3">
            <a:extLst xmlns:a="http://schemas.openxmlformats.org/drawingml/2006/main">
              <a:ext uri="{FF2B5EF4-FFF2-40B4-BE49-F238E27FC236}">
                <a16:creationId xmlns:a16="http://schemas.microsoft.com/office/drawing/2014/main" id="{C382220E-99A1-46CB-949F-47EAD2B9AD7E}"/>
              </a:ext>
            </a:extLst>
          </p:cNvPr>
          <p:cNvSpPr>
            <a:spLocks xmlns:a="http://schemas.openxmlformats.org/drawingml/2006/main" noGrp="1"/>
          </p:cNvSpPr>
          <p:nvPr/>
        </p:nvSpPr>
        <p:spPr>
          <a:xfrm xmlns:a="http://schemas.openxmlformats.org/drawingml/2006/main">
            <a:off x="5943600"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The JSON-RPC streaming path uses server-sent events.</a:t>
            </a:r>
          </a:p>
        </p:txBody>
      </p:sp>
      <p:sp>
        <p:nvSpPr>
          <p:cNvPr id="13" name="point-band-4">
            <a:extLst xmlns:a="http://schemas.openxmlformats.org/drawingml/2006/main">
              <a:ext uri="{FF2B5EF4-FFF2-40B4-BE49-F238E27FC236}">
                <a16:creationId xmlns:a16="http://schemas.microsoft.com/office/drawing/2014/main" id="{BD734EE3-EFBE-49F8-A332-7817417CA80C}"/>
              </a:ext>
            </a:extLst>
          </p:cNvPr>
          <p:cNvSpPr>
            <a:spLocks xmlns:a="http://schemas.openxmlformats.org/drawingml/2006/main" noGrp="1"/>
          </p:cNvSpPr>
          <p:nvPr/>
        </p:nvSpPr>
        <p:spPr>
          <a:xfrm xmlns:a="http://schemas.openxmlformats.org/drawingml/2006/main">
            <a:off x="8720138" y="4048125"/>
            <a:ext cx="2509838" cy="76200"/>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14" name="point-4">
            <a:extLst xmlns:a="http://schemas.openxmlformats.org/drawingml/2006/main">
              <a:ext uri="{FF2B5EF4-FFF2-40B4-BE49-F238E27FC236}">
                <a16:creationId xmlns:a16="http://schemas.microsoft.com/office/drawing/2014/main" id="{DB045329-3DDE-4255-BE22-4940E7E03E11}"/>
              </a:ext>
            </a:extLst>
          </p:cNvPr>
          <p:cNvSpPr>
            <a:spLocks xmlns:a="http://schemas.openxmlformats.org/drawingml/2006/main" noGrp="1"/>
          </p:cNvSpPr>
          <p:nvPr/>
        </p:nvSpPr>
        <p:spPr>
          <a:xfrm xmlns:a="http://schemas.openxmlformats.org/drawingml/2006/main">
            <a:off x="8720138"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The application authenticates and authorizes each caller.</a:t>
            </a:r>
          </a:p>
        </p:txBody>
      </p:sp>
    </p:spTree>
    <p:extLst>
      <p:ext uri="{BB962C8B-B14F-4D97-AF65-F5344CB8AC3E}">
        <p14:creationId xmlns:p14="http://schemas.microsoft.com/office/powerpoint/2010/main" val="156022527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ccent-line">
            <a:extLst xmlns:a="http://schemas.openxmlformats.org/drawingml/2006/main">
              <a:ext uri="{FF2B5EF4-FFF2-40B4-BE49-F238E27FC236}">
                <a16:creationId xmlns:a16="http://schemas.microsoft.com/office/drawing/2014/main" id="{A00483F4-94DB-4A9C-9042-9F1B63ACD59E}"/>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2" name="chapter-label">
            <a:extLst xmlns:a="http://schemas.openxmlformats.org/drawingml/2006/main">
              <a:ext uri="{FF2B5EF4-FFF2-40B4-BE49-F238E27FC236}">
                <a16:creationId xmlns:a16="http://schemas.microsoft.com/office/drawing/2014/main" id="{2C3A17FD-27BE-49BC-8094-EFDD683AD53F}"/>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03  /  09</a:t>
            </a:r>
          </a:p>
        </p:txBody>
      </p:sp>
      <p:sp>
        <p:nvSpPr>
          <p:cNvPr id="3" name="slide-number">
            <a:extLst xmlns:a="http://schemas.openxmlformats.org/drawingml/2006/main">
              <a:ext uri="{FF2B5EF4-FFF2-40B4-BE49-F238E27FC236}">
                <a16:creationId xmlns:a16="http://schemas.microsoft.com/office/drawing/2014/main" id="{570B68CA-FDEC-46AA-A504-CFC318752EA8}"/>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05</a:t>
            </a:r>
          </a:p>
        </p:txBody>
      </p:sp>
      <p:sp>
        <p:nvSpPr>
          <p:cNvPr id="4" name="chapter-footer">
            <a:extLst xmlns:a="http://schemas.openxmlformats.org/drawingml/2006/main">
              <a:ext uri="{FF2B5EF4-FFF2-40B4-BE49-F238E27FC236}">
                <a16:creationId xmlns:a16="http://schemas.microsoft.com/office/drawing/2014/main" id="{1BFD02EB-F342-473F-9874-E5DF712D103E}"/>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Multi-Agent Interoperability</a:t>
            </a:r>
          </a:p>
        </p:txBody>
      </p:sp>
      <p:sp>
        <p:nvSpPr>
          <p:cNvPr id="5" name="section-title">
            <a:extLst xmlns:a="http://schemas.openxmlformats.org/drawingml/2006/main">
              <a:ext uri="{FF2B5EF4-FFF2-40B4-BE49-F238E27FC236}">
                <a16:creationId xmlns:a16="http://schemas.microsoft.com/office/drawing/2014/main" id="{A26BEC0B-6702-47C9-8B41-1475AB420732}"/>
              </a:ext>
            </a:extLst>
          </p:cNvPr>
          <p:cNvSpPr>
            <a:spLocks xmlns:a="http://schemas.openxmlformats.org/drawingml/2006/main" noGrp="1"/>
          </p:cNvSpPr>
          <p:nvPr/>
        </p:nvSpPr>
        <p:spPr>
          <a:xfrm xmlns:a="http://schemas.openxmlformats.org/drawingml/2006/main">
            <a:off x="390525" y="971550"/>
            <a:ext cx="111442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Agent Cards make capabilities discoverable</a:t>
            </a:r>
          </a:p>
        </p:txBody>
      </p:sp>
      <p:sp>
        <p:nvSpPr>
          <p:cNvPr id="6" name="section-explanation">
            <a:extLst xmlns:a="http://schemas.openxmlformats.org/drawingml/2006/main">
              <a:ext uri="{FF2B5EF4-FFF2-40B4-BE49-F238E27FC236}">
                <a16:creationId xmlns:a16="http://schemas.microsoft.com/office/drawing/2014/main" id="{4A8A7D20-9A35-48E6-8AC4-A57C0DDBEF9A}"/>
              </a:ext>
            </a:extLst>
          </p:cNvPr>
          <p:cNvSpPr>
            <a:spLocks xmlns:a="http://schemas.openxmlformats.org/drawingml/2006/main" noGrp="1"/>
          </p:cNvSpPr>
          <p:nvPr/>
        </p:nvSpPr>
        <p:spPr>
          <a:xfrm xmlns:a="http://schemas.openxmlformats.org/drawingml/2006/main">
            <a:off x="390525" y="2381250"/>
            <a:ext cx="4524375" cy="2905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0">
                <a:solidFill>
                  <a:srgbClr val="5B5B57"/>
                </a:solidFill>
                <a:latin typeface="Helvetica Neue"/>
                <a:ea typeface="Helvetica Neue"/>
                <a:cs typeface="Helvetica Neue"/>
              </a:defRPr>
            </a:pPr>
            <a:r>
              <a:rPr sz="1875" b="0">
                <a:solidFill>
                  <a:srgbClr val="5B5B57"/>
                </a:solidFill>
                <a:latin typeface="Helvetica Neue"/>
                <a:ea typeface="Helvetica Neue"/>
                <a:cs typeface="Helvetica Neue"/>
              </a:rPr>
              <a:t>An Agent Card is a machine-readable manifest containing identity, provider, version, skills, endpoint, and authentication information. Clients can fetch a well-known URL, use a registry, or follow a referral.</a:t>
            </a:r>
          </a:p>
        </p:txBody>
      </p:sp>
      <p:sp>
        <p:nvSpPr>
          <p:cNvPr id="7" name="column-rule">
            <a:extLst xmlns:a="http://schemas.openxmlformats.org/drawingml/2006/main">
              <a:ext uri="{FF2B5EF4-FFF2-40B4-BE49-F238E27FC236}">
                <a16:creationId xmlns:a16="http://schemas.microsoft.com/office/drawing/2014/main" id="{9015BC1E-1BC1-4003-9135-560A518A915B}"/>
              </a:ext>
            </a:extLst>
          </p:cNvPr>
          <p:cNvSpPr>
            <a:spLocks xmlns:a="http://schemas.openxmlformats.org/drawingml/2006/main" noGrp="1"/>
          </p:cNvSpPr>
          <p:nvPr/>
        </p:nvSpPr>
        <p:spPr>
          <a:xfrm xmlns:a="http://schemas.openxmlformats.org/drawingml/2006/main">
            <a:off x="5334000" y="2343150"/>
            <a:ext cx="47625" cy="3257550"/>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8" name="section-points">
            <a:extLst xmlns:a="http://schemas.openxmlformats.org/drawingml/2006/main">
              <a:ext uri="{FF2B5EF4-FFF2-40B4-BE49-F238E27FC236}">
                <a16:creationId xmlns:a16="http://schemas.microsoft.com/office/drawing/2014/main" id="{10891E6C-BC83-4058-9E8A-F551CE0AB0FD}"/>
              </a:ext>
            </a:extLst>
          </p:cNvPr>
          <p:cNvSpPr>
            <a:spLocks xmlns:a="http://schemas.openxmlformats.org/drawingml/2006/main" noGrp="1"/>
          </p:cNvSpPr>
          <p:nvPr/>
        </p:nvSpPr>
        <p:spPr>
          <a:xfrm xmlns:a="http://schemas.openxmlformats.org/drawingml/2006/main">
            <a:off x="5857875" y="2343150"/>
            <a:ext cx="5572125" cy="3429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01  Discovery avoids hard-coding every remote capability.</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02  Cards should be authenticated or signed before trust.</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03  Capabilities should be described at agent-level granularity.</a:t>
            </a:r>
          </a:p>
        </p:txBody>
      </p:sp>
    </p:spTree>
    <p:extLst>
      <p:ext uri="{BB962C8B-B14F-4D97-AF65-F5344CB8AC3E}">
        <p14:creationId xmlns:p14="http://schemas.microsoft.com/office/powerpoint/2010/main" val="2142205111"/>
      </p:ext>
    </p:extLst>
  </p:cSld>
</p:sld>
</file>

<file path=ppt/slides/slide6.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5" name="accent-line">
            <a:extLst xmlns:a="http://schemas.openxmlformats.org/drawingml/2006/main">
              <a:ext uri="{FF2B5EF4-FFF2-40B4-BE49-F238E27FC236}">
                <a16:creationId xmlns:a16="http://schemas.microsoft.com/office/drawing/2014/main" id="{39079289-BE12-4EE7-8405-A5D928457B3D}"/>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2" name="chapter-label">
            <a:extLst xmlns:a="http://schemas.openxmlformats.org/drawingml/2006/main">
              <a:ext uri="{FF2B5EF4-FFF2-40B4-BE49-F238E27FC236}">
                <a16:creationId xmlns:a16="http://schemas.microsoft.com/office/drawing/2014/main" id="{9FABB581-CDB3-4E44-BF38-A3451894CBCF}"/>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04  /  09</a:t>
            </a:r>
          </a:p>
        </p:txBody>
      </p:sp>
      <p:sp>
        <p:nvSpPr>
          <p:cNvPr id="3" name="slide-number">
            <a:extLst xmlns:a="http://schemas.openxmlformats.org/drawingml/2006/main">
              <a:ext uri="{FF2B5EF4-FFF2-40B4-BE49-F238E27FC236}">
                <a16:creationId xmlns:a16="http://schemas.microsoft.com/office/drawing/2014/main" id="{36908F44-E428-4A77-A8C8-64DCBD1D9521}"/>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06</a:t>
            </a:r>
          </a:p>
        </p:txBody>
      </p:sp>
      <p:sp>
        <p:nvSpPr>
          <p:cNvPr id="4" name="chapter-footer">
            <a:extLst xmlns:a="http://schemas.openxmlformats.org/drawingml/2006/main">
              <a:ext uri="{FF2B5EF4-FFF2-40B4-BE49-F238E27FC236}">
                <a16:creationId xmlns:a16="http://schemas.microsoft.com/office/drawing/2014/main" id="{09E1DA30-9D3E-41C9-AB38-A305F9021AD8}"/>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Multi-Agent Interoperability</a:t>
            </a:r>
          </a:p>
        </p:txBody>
      </p:sp>
      <p:sp>
        <p:nvSpPr>
          <p:cNvPr id="5" name="section-title">
            <a:extLst xmlns:a="http://schemas.openxmlformats.org/drawingml/2006/main">
              <a:ext uri="{FF2B5EF4-FFF2-40B4-BE49-F238E27FC236}">
                <a16:creationId xmlns:a16="http://schemas.microsoft.com/office/drawing/2014/main" id="{CE37210D-5E28-4D18-98FE-F448BB9E5823}"/>
              </a:ext>
            </a:extLst>
          </p:cNvPr>
          <p:cNvSpPr>
            <a:spLocks xmlns:a="http://schemas.openxmlformats.org/drawingml/2006/main" noGrp="1"/>
          </p:cNvSpPr>
          <p:nvPr/>
        </p:nvSpPr>
        <p:spPr>
          <a:xfrm xmlns:a="http://schemas.openxmlformats.org/drawingml/2006/main">
            <a:off x="390525" y="1000125"/>
            <a:ext cx="11144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Tasks organize long-running collaboration</a:t>
            </a:r>
          </a:p>
        </p:txBody>
      </p:sp>
      <p:sp>
        <p:nvSpPr>
          <p:cNvPr id="6" name="section-explanation">
            <a:extLst xmlns:a="http://schemas.openxmlformats.org/drawingml/2006/main">
              <a:ext uri="{FF2B5EF4-FFF2-40B4-BE49-F238E27FC236}">
                <a16:creationId xmlns:a16="http://schemas.microsoft.com/office/drawing/2014/main" id="{55112C45-0A10-4F47-BB35-20CD3B33BCDC}"/>
              </a:ext>
            </a:extLst>
          </p:cNvPr>
          <p:cNvSpPr>
            <a:spLocks xmlns:a="http://schemas.openxmlformats.org/drawingml/2006/main" noGrp="1"/>
          </p:cNvSpPr>
          <p:nvPr/>
        </p:nvSpPr>
        <p:spPr>
          <a:xfrm xmlns:a="http://schemas.openxmlformats.org/drawingml/2006/main">
            <a:off x="1143000" y="2143125"/>
            <a:ext cx="990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A task has a lifecycle such as submitted, working, waiting for input, completed, failed, or canceled. Messages contain parts such as text or files; artifacts are the produced deliverables. Streaming exposes progress without pretending the work is one synchronous call.</a:t>
            </a:r>
          </a:p>
        </p:txBody>
      </p:sp>
      <p:sp>
        <p:nvSpPr>
          <p:cNvPr id="7" name="point-band-1">
            <a:extLst xmlns:a="http://schemas.openxmlformats.org/drawingml/2006/main">
              <a:ext uri="{FF2B5EF4-FFF2-40B4-BE49-F238E27FC236}">
                <a16:creationId xmlns:a16="http://schemas.microsoft.com/office/drawing/2014/main" id="{84724C10-B747-4398-97C5-01F249A61685}"/>
              </a:ext>
            </a:extLst>
          </p:cNvPr>
          <p:cNvSpPr>
            <a:spLocks xmlns:a="http://schemas.openxmlformats.org/drawingml/2006/main" noGrp="1"/>
          </p:cNvSpPr>
          <p:nvPr/>
        </p:nvSpPr>
        <p:spPr>
          <a:xfrm xmlns:a="http://schemas.openxmlformats.org/drawingml/2006/main">
            <a:off x="390525" y="4048125"/>
            <a:ext cx="2509838" cy="76200"/>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8" name="point-1">
            <a:extLst xmlns:a="http://schemas.openxmlformats.org/drawingml/2006/main">
              <a:ext uri="{FF2B5EF4-FFF2-40B4-BE49-F238E27FC236}">
                <a16:creationId xmlns:a16="http://schemas.microsoft.com/office/drawing/2014/main" id="{920E1DE7-30B8-491C-BCE8-771DEC175DF0}"/>
              </a:ext>
            </a:extLst>
          </p:cNvPr>
          <p:cNvSpPr>
            <a:spLocks xmlns:a="http://schemas.openxmlformats.org/drawingml/2006/main" noGrp="1"/>
          </p:cNvSpPr>
          <p:nvPr/>
        </p:nvSpPr>
        <p:spPr>
          <a:xfrm xmlns:a="http://schemas.openxmlformats.org/drawingml/2006/main">
            <a:off x="390525"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Messages carry conversation turns.</a:t>
            </a:r>
          </a:p>
        </p:txBody>
      </p:sp>
      <p:sp>
        <p:nvSpPr>
          <p:cNvPr id="9" name="point-band-2">
            <a:extLst xmlns:a="http://schemas.openxmlformats.org/drawingml/2006/main">
              <a:ext uri="{FF2B5EF4-FFF2-40B4-BE49-F238E27FC236}">
                <a16:creationId xmlns:a16="http://schemas.microsoft.com/office/drawing/2014/main" id="{14D69761-C4E1-43CA-ACF8-EE9F7D0434DA}"/>
              </a:ext>
            </a:extLst>
          </p:cNvPr>
          <p:cNvSpPr>
            <a:spLocks xmlns:a="http://schemas.openxmlformats.org/drawingml/2006/main" noGrp="1"/>
          </p:cNvSpPr>
          <p:nvPr/>
        </p:nvSpPr>
        <p:spPr>
          <a:xfrm xmlns:a="http://schemas.openxmlformats.org/drawingml/2006/main">
            <a:off x="3167063" y="4048125"/>
            <a:ext cx="2509838" cy="76200"/>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10" name="point-2">
            <a:extLst xmlns:a="http://schemas.openxmlformats.org/drawingml/2006/main">
              <a:ext uri="{FF2B5EF4-FFF2-40B4-BE49-F238E27FC236}">
                <a16:creationId xmlns:a16="http://schemas.microsoft.com/office/drawing/2014/main" id="{54DA0294-E8EE-42DA-B612-044C4BDA334D}"/>
              </a:ext>
            </a:extLst>
          </p:cNvPr>
          <p:cNvSpPr>
            <a:spLocks xmlns:a="http://schemas.openxmlformats.org/drawingml/2006/main" noGrp="1"/>
          </p:cNvSpPr>
          <p:nvPr/>
        </p:nvSpPr>
        <p:spPr>
          <a:xfrm xmlns:a="http://schemas.openxmlformats.org/drawingml/2006/main">
            <a:off x="3167063"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Parts carry multimodal content.</a:t>
            </a:r>
          </a:p>
        </p:txBody>
      </p:sp>
      <p:sp>
        <p:nvSpPr>
          <p:cNvPr id="11" name="point-band-3">
            <a:extLst xmlns:a="http://schemas.openxmlformats.org/drawingml/2006/main">
              <a:ext uri="{FF2B5EF4-FFF2-40B4-BE49-F238E27FC236}">
                <a16:creationId xmlns:a16="http://schemas.microsoft.com/office/drawing/2014/main" id="{F005206D-5CB1-46AD-A5DF-94B6D35F0105}"/>
              </a:ext>
            </a:extLst>
          </p:cNvPr>
          <p:cNvSpPr>
            <a:spLocks xmlns:a="http://schemas.openxmlformats.org/drawingml/2006/main" noGrp="1"/>
          </p:cNvSpPr>
          <p:nvPr/>
        </p:nvSpPr>
        <p:spPr>
          <a:xfrm xmlns:a="http://schemas.openxmlformats.org/drawingml/2006/main">
            <a:off x="5943600" y="4048125"/>
            <a:ext cx="2509838" cy="76200"/>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12" name="point-3">
            <a:extLst xmlns:a="http://schemas.openxmlformats.org/drawingml/2006/main">
              <a:ext uri="{FF2B5EF4-FFF2-40B4-BE49-F238E27FC236}">
                <a16:creationId xmlns:a16="http://schemas.microsoft.com/office/drawing/2014/main" id="{2EF0D453-D91E-4371-BC77-5740B4B891F4}"/>
              </a:ext>
            </a:extLst>
          </p:cNvPr>
          <p:cNvSpPr>
            <a:spLocks xmlns:a="http://schemas.openxmlformats.org/drawingml/2006/main" noGrp="1"/>
          </p:cNvSpPr>
          <p:nvPr/>
        </p:nvSpPr>
        <p:spPr>
          <a:xfrm xmlns:a="http://schemas.openxmlformats.org/drawingml/2006/main">
            <a:off x="5943600"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Artifacts carry completed outputs.</a:t>
            </a:r>
          </a:p>
        </p:txBody>
      </p:sp>
      <p:sp>
        <p:nvSpPr>
          <p:cNvPr id="13" name="point-band-4">
            <a:extLst xmlns:a="http://schemas.openxmlformats.org/drawingml/2006/main">
              <a:ext uri="{FF2B5EF4-FFF2-40B4-BE49-F238E27FC236}">
                <a16:creationId xmlns:a16="http://schemas.microsoft.com/office/drawing/2014/main" id="{3DB4BE67-6A53-44E8-B155-D775ABDFF5D3}"/>
              </a:ext>
            </a:extLst>
          </p:cNvPr>
          <p:cNvSpPr>
            <a:spLocks xmlns:a="http://schemas.openxmlformats.org/drawingml/2006/main" noGrp="1"/>
          </p:cNvSpPr>
          <p:nvPr/>
        </p:nvSpPr>
        <p:spPr>
          <a:xfrm xmlns:a="http://schemas.openxmlformats.org/drawingml/2006/main">
            <a:off x="8720138" y="4048125"/>
            <a:ext cx="2509838" cy="76200"/>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14" name="point-4">
            <a:extLst xmlns:a="http://schemas.openxmlformats.org/drawingml/2006/main">
              <a:ext uri="{FF2B5EF4-FFF2-40B4-BE49-F238E27FC236}">
                <a16:creationId xmlns:a16="http://schemas.microsoft.com/office/drawing/2014/main" id="{E734285F-8548-4CAF-9774-ED892AADAABE}"/>
              </a:ext>
            </a:extLst>
          </p:cNvPr>
          <p:cNvSpPr>
            <a:spLocks xmlns:a="http://schemas.openxmlformats.org/drawingml/2006/main" noGrp="1"/>
          </p:cNvSpPr>
          <p:nvPr/>
        </p:nvSpPr>
        <p:spPr>
          <a:xfrm xmlns:a="http://schemas.openxmlformats.org/drawingml/2006/main">
            <a:off x="8720138"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Lifecycle state enables pause, input, retry, and completion.</a:t>
            </a:r>
          </a:p>
        </p:txBody>
      </p:sp>
    </p:spTree>
    <p:extLst>
      <p:ext uri="{BB962C8B-B14F-4D97-AF65-F5344CB8AC3E}">
        <p14:creationId xmlns:p14="http://schemas.microsoft.com/office/powerpoint/2010/main" val="131089532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ccent-line">
            <a:extLst xmlns:a="http://schemas.openxmlformats.org/drawingml/2006/main">
              <a:ext uri="{FF2B5EF4-FFF2-40B4-BE49-F238E27FC236}">
                <a16:creationId xmlns:a16="http://schemas.microsoft.com/office/drawing/2014/main" id="{27F87110-3726-463F-A820-4EEC29D93573}"/>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2" name="chapter-label">
            <a:extLst xmlns:a="http://schemas.openxmlformats.org/drawingml/2006/main">
              <a:ext uri="{FF2B5EF4-FFF2-40B4-BE49-F238E27FC236}">
                <a16:creationId xmlns:a16="http://schemas.microsoft.com/office/drawing/2014/main" id="{A8EAA780-F15E-4913-BC96-146D5F28BDC0}"/>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05  /  09</a:t>
            </a:r>
          </a:p>
        </p:txBody>
      </p:sp>
      <p:sp>
        <p:nvSpPr>
          <p:cNvPr id="3" name="slide-number">
            <a:extLst xmlns:a="http://schemas.openxmlformats.org/drawingml/2006/main">
              <a:ext uri="{FF2B5EF4-FFF2-40B4-BE49-F238E27FC236}">
                <a16:creationId xmlns:a16="http://schemas.microsoft.com/office/drawing/2014/main" id="{AEEC1FCB-820B-488D-B968-5ED1427D53A5}"/>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07</a:t>
            </a:r>
          </a:p>
        </p:txBody>
      </p:sp>
      <p:sp>
        <p:nvSpPr>
          <p:cNvPr id="4" name="chapter-footer">
            <a:extLst xmlns:a="http://schemas.openxmlformats.org/drawingml/2006/main">
              <a:ext uri="{FF2B5EF4-FFF2-40B4-BE49-F238E27FC236}">
                <a16:creationId xmlns:a16="http://schemas.microsoft.com/office/drawing/2014/main" id="{1CFF78C9-194E-4898-9EA6-678F2EEF595D}"/>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Multi-Agent Interoperability</a:t>
            </a:r>
          </a:p>
        </p:txBody>
      </p:sp>
      <p:sp>
        <p:nvSpPr>
          <p:cNvPr id="5" name="section-title">
            <a:extLst xmlns:a="http://schemas.openxmlformats.org/drawingml/2006/main">
              <a:ext uri="{FF2B5EF4-FFF2-40B4-BE49-F238E27FC236}">
                <a16:creationId xmlns:a16="http://schemas.microsoft.com/office/drawing/2014/main" id="{C8CDC144-E65C-4FF6-A774-7E7F216BCF78}"/>
              </a:ext>
            </a:extLst>
          </p:cNvPr>
          <p:cNvSpPr>
            <a:spLocks xmlns:a="http://schemas.openxmlformats.org/drawingml/2006/main" noGrp="1"/>
          </p:cNvSpPr>
          <p:nvPr/>
        </p:nvSpPr>
        <p:spPr>
          <a:xfrm xmlns:a="http://schemas.openxmlformats.org/drawingml/2006/main">
            <a:off x="390525" y="971550"/>
            <a:ext cx="111442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MCP and A2A form two different layers</a:t>
            </a:r>
          </a:p>
        </p:txBody>
      </p:sp>
      <p:sp>
        <p:nvSpPr>
          <p:cNvPr id="6" name="section-explanation">
            <a:extLst xmlns:a="http://schemas.openxmlformats.org/drawingml/2006/main">
              <a:ext uri="{FF2B5EF4-FFF2-40B4-BE49-F238E27FC236}">
                <a16:creationId xmlns:a16="http://schemas.microsoft.com/office/drawing/2014/main" id="{FB0C5617-52AB-429E-B629-E395E11F7014}"/>
              </a:ext>
            </a:extLst>
          </p:cNvPr>
          <p:cNvSpPr>
            <a:spLocks xmlns:a="http://schemas.openxmlformats.org/drawingml/2006/main" noGrp="1"/>
          </p:cNvSpPr>
          <p:nvPr/>
        </p:nvSpPr>
        <p:spPr>
          <a:xfrm xmlns:a="http://schemas.openxmlformats.org/drawingml/2006/main">
            <a:off x="390525" y="2381250"/>
            <a:ext cx="4524375" cy="2905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0">
                <a:solidFill>
                  <a:srgbClr val="5B5B57"/>
                </a:solidFill>
                <a:latin typeface="Helvetica Neue"/>
                <a:ea typeface="Helvetica Neue"/>
                <a:cs typeface="Helvetica Neue"/>
              </a:defRPr>
            </a:pPr>
            <a:r>
              <a:rPr sz="1875" b="0">
                <a:solidFill>
                  <a:srgbClr val="5B5B57"/>
                </a:solidFill>
                <a:latin typeface="Helvetica Neue"/>
                <a:ea typeface="Helvetica Neue"/>
                <a:cs typeface="Helvetica Neue"/>
              </a:rPr>
              <a:t>MCP connects an agent to schema-defined tools and data sources. A2A connects one autonomous, reasoning agent to another through a task lifecycle. A remote agent may itself use MCP servers to complete delegated work.</a:t>
            </a:r>
          </a:p>
        </p:txBody>
      </p:sp>
      <p:sp>
        <p:nvSpPr>
          <p:cNvPr id="7" name="column-rule">
            <a:extLst xmlns:a="http://schemas.openxmlformats.org/drawingml/2006/main">
              <a:ext uri="{FF2B5EF4-FFF2-40B4-BE49-F238E27FC236}">
                <a16:creationId xmlns:a16="http://schemas.microsoft.com/office/drawing/2014/main" id="{DBC513AE-EE8C-468C-81C8-D4245AB5FC16}"/>
              </a:ext>
            </a:extLst>
          </p:cNvPr>
          <p:cNvSpPr>
            <a:spLocks xmlns:a="http://schemas.openxmlformats.org/drawingml/2006/main" noGrp="1"/>
          </p:cNvSpPr>
          <p:nvPr/>
        </p:nvSpPr>
        <p:spPr>
          <a:xfrm xmlns:a="http://schemas.openxmlformats.org/drawingml/2006/main">
            <a:off x="5334000" y="2343150"/>
            <a:ext cx="47625" cy="3257550"/>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8" name="section-points">
            <a:extLst xmlns:a="http://schemas.openxmlformats.org/drawingml/2006/main">
              <a:ext uri="{FF2B5EF4-FFF2-40B4-BE49-F238E27FC236}">
                <a16:creationId xmlns:a16="http://schemas.microsoft.com/office/drawing/2014/main" id="{E31A8A53-DF15-4370-A847-2F68A789EFFC}"/>
              </a:ext>
            </a:extLst>
          </p:cNvPr>
          <p:cNvSpPr>
            <a:spLocks xmlns:a="http://schemas.openxmlformats.org/drawingml/2006/main" noGrp="1"/>
          </p:cNvSpPr>
          <p:nvPr/>
        </p:nvSpPr>
        <p:spPr>
          <a:xfrm xmlns:a="http://schemas.openxmlformats.org/drawingml/2006/main">
            <a:off x="5857875" y="2343150"/>
            <a:ext cx="5572125" cy="3429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01  Use MCP for vertical integration with tools and data.</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02  Use A2A for horizontal collaboration across agent boundaries.</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03  Do not model a long-running autonomous service as a micro-tool.</a:t>
            </a:r>
          </a:p>
        </p:txBody>
      </p:sp>
    </p:spTree>
    <p:extLst>
      <p:ext uri="{BB962C8B-B14F-4D97-AF65-F5344CB8AC3E}">
        <p14:creationId xmlns:p14="http://schemas.microsoft.com/office/powerpoint/2010/main" val="16504930"/>
      </p:ext>
    </p:extLst>
  </p:cSld>
</p:sld>
</file>

<file path=ppt/slides/slide8.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5" name="accent-line">
            <a:extLst xmlns:a="http://schemas.openxmlformats.org/drawingml/2006/main">
              <a:ext uri="{FF2B5EF4-FFF2-40B4-BE49-F238E27FC236}">
                <a16:creationId xmlns:a16="http://schemas.microsoft.com/office/drawing/2014/main" id="{BF310CCD-A87A-44CC-A27B-3182ABE33B7A}"/>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2" name="chapter-label">
            <a:extLst xmlns:a="http://schemas.openxmlformats.org/drawingml/2006/main">
              <a:ext uri="{FF2B5EF4-FFF2-40B4-BE49-F238E27FC236}">
                <a16:creationId xmlns:a16="http://schemas.microsoft.com/office/drawing/2014/main" id="{B8B306BA-C65E-4CF9-9FFC-D20C80D1036D}"/>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06  /  09</a:t>
            </a:r>
          </a:p>
        </p:txBody>
      </p:sp>
      <p:sp>
        <p:nvSpPr>
          <p:cNvPr id="3" name="slide-number">
            <a:extLst xmlns:a="http://schemas.openxmlformats.org/drawingml/2006/main">
              <a:ext uri="{FF2B5EF4-FFF2-40B4-BE49-F238E27FC236}">
                <a16:creationId xmlns:a16="http://schemas.microsoft.com/office/drawing/2014/main" id="{918C3DF8-36BB-4F8F-A6A3-12C89FCA34A1}"/>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08</a:t>
            </a:r>
          </a:p>
        </p:txBody>
      </p:sp>
      <p:sp>
        <p:nvSpPr>
          <p:cNvPr id="4" name="chapter-footer">
            <a:extLst xmlns:a="http://schemas.openxmlformats.org/drawingml/2006/main">
              <a:ext uri="{FF2B5EF4-FFF2-40B4-BE49-F238E27FC236}">
                <a16:creationId xmlns:a16="http://schemas.microsoft.com/office/drawing/2014/main" id="{3310F70F-FDC1-4C0C-AC10-EF0CD5CBE8E0}"/>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Multi-Agent Interoperability</a:t>
            </a:r>
          </a:p>
        </p:txBody>
      </p:sp>
      <p:sp>
        <p:nvSpPr>
          <p:cNvPr id="5" name="section-title">
            <a:extLst xmlns:a="http://schemas.openxmlformats.org/drawingml/2006/main">
              <a:ext uri="{FF2B5EF4-FFF2-40B4-BE49-F238E27FC236}">
                <a16:creationId xmlns:a16="http://schemas.microsoft.com/office/drawing/2014/main" id="{8ECA3979-EEDA-465F-9FBF-AFAFB3F8A4AE}"/>
              </a:ext>
            </a:extLst>
          </p:cNvPr>
          <p:cNvSpPr>
            <a:spLocks xmlns:a="http://schemas.openxmlformats.org/drawingml/2006/main" noGrp="1"/>
          </p:cNvSpPr>
          <p:nvPr/>
        </p:nvSpPr>
        <p:spPr>
          <a:xfrm xmlns:a="http://schemas.openxmlformats.org/drawingml/2006/main">
            <a:off x="390525" y="1000125"/>
            <a:ext cx="11144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Delegation crosses trust and governance boundaries</a:t>
            </a:r>
          </a:p>
        </p:txBody>
      </p:sp>
      <p:sp>
        <p:nvSpPr>
          <p:cNvPr id="6" name="section-explanation">
            <a:extLst xmlns:a="http://schemas.openxmlformats.org/drawingml/2006/main">
              <a:ext uri="{FF2B5EF4-FFF2-40B4-BE49-F238E27FC236}">
                <a16:creationId xmlns:a16="http://schemas.microsoft.com/office/drawing/2014/main" id="{46D37D45-1C2F-42C6-8FC7-44BB06C15235}"/>
              </a:ext>
            </a:extLst>
          </p:cNvPr>
          <p:cNvSpPr>
            <a:spLocks xmlns:a="http://schemas.openxmlformats.org/drawingml/2006/main" noGrp="1"/>
          </p:cNvSpPr>
          <p:nvPr/>
        </p:nvSpPr>
        <p:spPr>
          <a:xfrm xmlns:a="http://schemas.openxmlformats.org/drawingml/2006/main">
            <a:off x="1143000" y="2143125"/>
            <a:ext cx="990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Every cross-agent edge raises questions about identity, authorization, prompt injection, over-delegation, data retention, compliance, cost, and audit. Remote outputs must be handled as untrusted content even after authentication.</a:t>
            </a:r>
          </a:p>
        </p:txBody>
      </p:sp>
      <p:sp>
        <p:nvSpPr>
          <p:cNvPr id="7" name="point-band-1">
            <a:extLst xmlns:a="http://schemas.openxmlformats.org/drawingml/2006/main">
              <a:ext uri="{FF2B5EF4-FFF2-40B4-BE49-F238E27FC236}">
                <a16:creationId xmlns:a16="http://schemas.microsoft.com/office/drawing/2014/main" id="{8AE04E56-CD85-4DE6-8A86-0454379C36B3}"/>
              </a:ext>
            </a:extLst>
          </p:cNvPr>
          <p:cNvSpPr>
            <a:spLocks xmlns:a="http://schemas.openxmlformats.org/drawingml/2006/main" noGrp="1"/>
          </p:cNvSpPr>
          <p:nvPr/>
        </p:nvSpPr>
        <p:spPr>
          <a:xfrm xmlns:a="http://schemas.openxmlformats.org/drawingml/2006/main">
            <a:off x="390525" y="4048125"/>
            <a:ext cx="2509838" cy="76200"/>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8" name="point-1">
            <a:extLst xmlns:a="http://schemas.openxmlformats.org/drawingml/2006/main">
              <a:ext uri="{FF2B5EF4-FFF2-40B4-BE49-F238E27FC236}">
                <a16:creationId xmlns:a16="http://schemas.microsoft.com/office/drawing/2014/main" id="{99FE894B-E1F6-4D91-8B09-76F99B7EAD30}"/>
              </a:ext>
            </a:extLst>
          </p:cNvPr>
          <p:cNvSpPr>
            <a:spLocks xmlns:a="http://schemas.openxmlformats.org/drawingml/2006/main" noGrp="1"/>
          </p:cNvSpPr>
          <p:nvPr/>
        </p:nvSpPr>
        <p:spPr>
          <a:xfrm xmlns:a="http://schemas.openxmlformats.org/drawingml/2006/main">
            <a:off x="390525"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Authenticate the agent and verify its card.</a:t>
            </a:r>
          </a:p>
        </p:txBody>
      </p:sp>
      <p:sp>
        <p:nvSpPr>
          <p:cNvPr id="9" name="point-band-2">
            <a:extLst xmlns:a="http://schemas.openxmlformats.org/drawingml/2006/main">
              <a:ext uri="{FF2B5EF4-FFF2-40B4-BE49-F238E27FC236}">
                <a16:creationId xmlns:a16="http://schemas.microsoft.com/office/drawing/2014/main" id="{8AE8B489-335F-44A3-B05D-615ECDFF9B06}"/>
              </a:ext>
            </a:extLst>
          </p:cNvPr>
          <p:cNvSpPr>
            <a:spLocks xmlns:a="http://schemas.openxmlformats.org/drawingml/2006/main" noGrp="1"/>
          </p:cNvSpPr>
          <p:nvPr/>
        </p:nvSpPr>
        <p:spPr>
          <a:xfrm xmlns:a="http://schemas.openxmlformats.org/drawingml/2006/main">
            <a:off x="3167063" y="4048125"/>
            <a:ext cx="2509838" cy="76200"/>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10" name="point-2">
            <a:extLst xmlns:a="http://schemas.openxmlformats.org/drawingml/2006/main">
              <a:ext uri="{FF2B5EF4-FFF2-40B4-BE49-F238E27FC236}">
                <a16:creationId xmlns:a16="http://schemas.microsoft.com/office/drawing/2014/main" id="{D90970D3-B766-4F70-A954-DF0BE94E62B5}"/>
              </a:ext>
            </a:extLst>
          </p:cNvPr>
          <p:cNvSpPr>
            <a:spLocks xmlns:a="http://schemas.openxmlformats.org/drawingml/2006/main" noGrp="1"/>
          </p:cNvSpPr>
          <p:nvPr/>
        </p:nvSpPr>
        <p:spPr>
          <a:xfrm xmlns:a="http://schemas.openxmlformats.org/drawingml/2006/main">
            <a:off x="3167063"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Scope delegated authority by task, spend, action, and time.</a:t>
            </a:r>
          </a:p>
        </p:txBody>
      </p:sp>
      <p:sp>
        <p:nvSpPr>
          <p:cNvPr id="11" name="point-band-3">
            <a:extLst xmlns:a="http://schemas.openxmlformats.org/drawingml/2006/main">
              <a:ext uri="{FF2B5EF4-FFF2-40B4-BE49-F238E27FC236}">
                <a16:creationId xmlns:a16="http://schemas.microsoft.com/office/drawing/2014/main" id="{5B3E6C8E-24D0-467D-BB96-A0E8C5155C01}"/>
              </a:ext>
            </a:extLst>
          </p:cNvPr>
          <p:cNvSpPr>
            <a:spLocks xmlns:a="http://schemas.openxmlformats.org/drawingml/2006/main" noGrp="1"/>
          </p:cNvSpPr>
          <p:nvPr/>
        </p:nvSpPr>
        <p:spPr>
          <a:xfrm xmlns:a="http://schemas.openxmlformats.org/drawingml/2006/main">
            <a:off x="5943600" y="4048125"/>
            <a:ext cx="2509838" cy="76200"/>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12" name="point-3">
            <a:extLst xmlns:a="http://schemas.openxmlformats.org/drawingml/2006/main">
              <a:ext uri="{FF2B5EF4-FFF2-40B4-BE49-F238E27FC236}">
                <a16:creationId xmlns:a16="http://schemas.microsoft.com/office/drawing/2014/main" id="{A3D4C554-B7FC-4EF3-9168-A6A97FDB53A9}"/>
              </a:ext>
            </a:extLst>
          </p:cNvPr>
          <p:cNvSpPr>
            <a:spLocks xmlns:a="http://schemas.openxmlformats.org/drawingml/2006/main" noGrp="1"/>
          </p:cNvSpPr>
          <p:nvPr/>
        </p:nvSpPr>
        <p:spPr>
          <a:xfrm xmlns:a="http://schemas.openxmlformats.org/drawingml/2006/main">
            <a:off x="5943600"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Confirm high-stakes actions with a human.</a:t>
            </a:r>
          </a:p>
        </p:txBody>
      </p:sp>
      <p:sp>
        <p:nvSpPr>
          <p:cNvPr id="13" name="point-band-4">
            <a:extLst xmlns:a="http://schemas.openxmlformats.org/drawingml/2006/main">
              <a:ext uri="{FF2B5EF4-FFF2-40B4-BE49-F238E27FC236}">
                <a16:creationId xmlns:a16="http://schemas.microsoft.com/office/drawing/2014/main" id="{1DBD188F-64A4-4B51-996C-AA8F13BE8130}"/>
              </a:ext>
            </a:extLst>
          </p:cNvPr>
          <p:cNvSpPr>
            <a:spLocks xmlns:a="http://schemas.openxmlformats.org/drawingml/2006/main" noGrp="1"/>
          </p:cNvSpPr>
          <p:nvPr/>
        </p:nvSpPr>
        <p:spPr>
          <a:xfrm xmlns:a="http://schemas.openxmlformats.org/drawingml/2006/main">
            <a:off x="8720138" y="4048125"/>
            <a:ext cx="2509838" cy="76200"/>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14" name="point-4">
            <a:extLst xmlns:a="http://schemas.openxmlformats.org/drawingml/2006/main">
              <a:ext uri="{FF2B5EF4-FFF2-40B4-BE49-F238E27FC236}">
                <a16:creationId xmlns:a16="http://schemas.microsoft.com/office/drawing/2014/main" id="{3B3F8F84-6F7C-47AD-8FA3-4840829FDF78}"/>
              </a:ext>
            </a:extLst>
          </p:cNvPr>
          <p:cNvSpPr>
            <a:spLocks xmlns:a="http://schemas.openxmlformats.org/drawingml/2006/main" noGrp="1"/>
          </p:cNvSpPr>
          <p:nvPr/>
        </p:nvSpPr>
        <p:spPr>
          <a:xfrm xmlns:a="http://schemas.openxmlformats.org/drawingml/2006/main">
            <a:off x="8720138"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Log context leaving the organization and artifacts returning.</a:t>
            </a:r>
          </a:p>
        </p:txBody>
      </p:sp>
    </p:spTree>
    <p:extLst>
      <p:ext uri="{BB962C8B-B14F-4D97-AF65-F5344CB8AC3E}">
        <p14:creationId xmlns:p14="http://schemas.microsoft.com/office/powerpoint/2010/main" val="82872191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ccent-line">
            <a:extLst xmlns:a="http://schemas.openxmlformats.org/drawingml/2006/main">
              <a:ext uri="{FF2B5EF4-FFF2-40B4-BE49-F238E27FC236}">
                <a16:creationId xmlns:a16="http://schemas.microsoft.com/office/drawing/2014/main" id="{07359100-CCAB-478B-BC68-0078924A6D46}"/>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2" name="chapter-label">
            <a:extLst xmlns:a="http://schemas.openxmlformats.org/drawingml/2006/main">
              <a:ext uri="{FF2B5EF4-FFF2-40B4-BE49-F238E27FC236}">
                <a16:creationId xmlns:a16="http://schemas.microsoft.com/office/drawing/2014/main" id="{AF9F7326-85B4-49F5-A88E-83093E52E520}"/>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07  /  09</a:t>
            </a:r>
          </a:p>
        </p:txBody>
      </p:sp>
      <p:sp>
        <p:nvSpPr>
          <p:cNvPr id="3" name="slide-number">
            <a:extLst xmlns:a="http://schemas.openxmlformats.org/drawingml/2006/main">
              <a:ext uri="{FF2B5EF4-FFF2-40B4-BE49-F238E27FC236}">
                <a16:creationId xmlns:a16="http://schemas.microsoft.com/office/drawing/2014/main" id="{B2EF5060-E07F-4E59-9680-C46AAC8B798C}"/>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09</a:t>
            </a:r>
          </a:p>
        </p:txBody>
      </p:sp>
      <p:sp>
        <p:nvSpPr>
          <p:cNvPr id="4" name="chapter-footer">
            <a:extLst xmlns:a="http://schemas.openxmlformats.org/drawingml/2006/main">
              <a:ext uri="{FF2B5EF4-FFF2-40B4-BE49-F238E27FC236}">
                <a16:creationId xmlns:a16="http://schemas.microsoft.com/office/drawing/2014/main" id="{493490B4-7622-4879-BA2A-8B7FAA435F05}"/>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Multi-Agent Interoperability</a:t>
            </a:r>
          </a:p>
        </p:txBody>
      </p:sp>
      <p:sp>
        <p:nvSpPr>
          <p:cNvPr id="5" name="section-title">
            <a:extLst xmlns:a="http://schemas.openxmlformats.org/drawingml/2006/main">
              <a:ext uri="{FF2B5EF4-FFF2-40B4-BE49-F238E27FC236}">
                <a16:creationId xmlns:a16="http://schemas.microsoft.com/office/drawing/2014/main" id="{E025C2C0-208D-4415-B772-ED0BA1644EA3}"/>
              </a:ext>
            </a:extLst>
          </p:cNvPr>
          <p:cNvSpPr>
            <a:spLocks xmlns:a="http://schemas.openxmlformats.org/drawingml/2006/main" noGrp="1"/>
          </p:cNvSpPr>
          <p:nvPr/>
        </p:nvSpPr>
        <p:spPr>
          <a:xfrm xmlns:a="http://schemas.openxmlformats.org/drawingml/2006/main">
            <a:off x="390525" y="971550"/>
            <a:ext cx="111442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Delegation needs a versioned contract</a:t>
            </a:r>
          </a:p>
        </p:txBody>
      </p:sp>
      <p:sp>
        <p:nvSpPr>
          <p:cNvPr id="6" name="section-explanation">
            <a:extLst xmlns:a="http://schemas.openxmlformats.org/drawingml/2006/main">
              <a:ext uri="{FF2B5EF4-FFF2-40B4-BE49-F238E27FC236}">
                <a16:creationId xmlns:a16="http://schemas.microsoft.com/office/drawing/2014/main" id="{80A0F8C8-B41C-4471-BCFC-6D7806E819C1}"/>
              </a:ext>
            </a:extLst>
          </p:cNvPr>
          <p:cNvSpPr>
            <a:spLocks xmlns:a="http://schemas.openxmlformats.org/drawingml/2006/main" noGrp="1"/>
          </p:cNvSpPr>
          <p:nvPr/>
        </p:nvSpPr>
        <p:spPr>
          <a:xfrm xmlns:a="http://schemas.openxmlformats.org/drawingml/2006/main">
            <a:off x="390525" y="2381250"/>
            <a:ext cx="4524375" cy="2905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0">
                <a:solidFill>
                  <a:srgbClr val="5B5B57"/>
                </a:solidFill>
                <a:latin typeface="Helvetica Neue"/>
                <a:ea typeface="Helvetica Neue"/>
                <a:cs typeface="Helvetica Neue"/>
              </a:defRPr>
            </a:pPr>
            <a:r>
              <a:rPr sz="1875" b="0">
                <a:solidFill>
                  <a:srgbClr val="5B5B57"/>
                </a:solidFill>
                <a:latin typeface="Helvetica Neue"/>
                <a:ea typeface="Helvetica Neue"/>
                <a:cs typeface="Helvetica Neue"/>
              </a:rPr>
              <a:t>This chapter uses A2A 1.0.0 and traces its JSON-RPC binding. The specification also defines gRPC and HTTP/REST bindings. Identity, permission, and the validity of a returned artifact remain separate checks.</a:t>
            </a:r>
          </a:p>
        </p:txBody>
      </p:sp>
      <p:sp>
        <p:nvSpPr>
          <p:cNvPr id="7" name="column-rule">
            <a:extLst xmlns:a="http://schemas.openxmlformats.org/drawingml/2006/main">
              <a:ext uri="{FF2B5EF4-FFF2-40B4-BE49-F238E27FC236}">
                <a16:creationId xmlns:a16="http://schemas.microsoft.com/office/drawing/2014/main" id="{B2F4569C-5E70-4C51-92DB-C11ADAFE826C}"/>
              </a:ext>
            </a:extLst>
          </p:cNvPr>
          <p:cNvSpPr>
            <a:spLocks xmlns:a="http://schemas.openxmlformats.org/drawingml/2006/main" noGrp="1"/>
          </p:cNvSpPr>
          <p:nvPr/>
        </p:nvSpPr>
        <p:spPr>
          <a:xfrm xmlns:a="http://schemas.openxmlformats.org/drawingml/2006/main">
            <a:off x="5334000" y="2343150"/>
            <a:ext cx="47625" cy="3257550"/>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8" name="section-points">
            <a:extLst xmlns:a="http://schemas.openxmlformats.org/drawingml/2006/main">
              <a:ext uri="{FF2B5EF4-FFF2-40B4-BE49-F238E27FC236}">
                <a16:creationId xmlns:a16="http://schemas.microsoft.com/office/drawing/2014/main" id="{12704C45-8D72-42B0-9B42-E0AE518961FB}"/>
              </a:ext>
            </a:extLst>
          </p:cNvPr>
          <p:cNvSpPr>
            <a:spLocks xmlns:a="http://schemas.openxmlformats.org/drawingml/2006/main" noGrp="1"/>
          </p:cNvSpPr>
          <p:nvPr/>
        </p:nvSpPr>
        <p:spPr>
          <a:xfrm xmlns:a="http://schemas.openxmlformats.org/drawingml/2006/main">
            <a:off x="5857875" y="2343150"/>
            <a:ext cx="5572125" cy="3429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01  Record the protocol version and selected binding.</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02  Authenticate the caller before assigning authority.</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03  Treat returned content as untrusted evidence.</a:t>
            </a:r>
          </a:p>
        </p:txBody>
      </p:sp>
    </p:spTree>
    <p:extLst>
      <p:ext uri="{BB962C8B-B14F-4D97-AF65-F5344CB8AC3E}">
        <p14:creationId xmlns:p14="http://schemas.microsoft.com/office/powerpoint/2010/main" val="52452284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accent-line">
            <a:extLst xmlns:a="http://schemas.openxmlformats.org/drawingml/2006/main">
              <a:ext uri="{FF2B5EF4-FFF2-40B4-BE49-F238E27FC236}">
                <a16:creationId xmlns:a16="http://schemas.microsoft.com/office/drawing/2014/main" id="{E67DE810-9F6A-44B0-9BBF-A4D749CB9CC0}"/>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2" name="chapter-label">
            <a:extLst xmlns:a="http://schemas.openxmlformats.org/drawingml/2006/main">
              <a:ext uri="{FF2B5EF4-FFF2-40B4-BE49-F238E27FC236}">
                <a16:creationId xmlns:a16="http://schemas.microsoft.com/office/drawing/2014/main" id="{E46BC77D-1499-4D11-8102-F9BD9CDA08E9}"/>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EXAM CHECK  /  09</a:t>
            </a:r>
          </a:p>
        </p:txBody>
      </p:sp>
      <p:sp>
        <p:nvSpPr>
          <p:cNvPr id="3" name="slide-number">
            <a:extLst xmlns:a="http://schemas.openxmlformats.org/drawingml/2006/main">
              <a:ext uri="{FF2B5EF4-FFF2-40B4-BE49-F238E27FC236}">
                <a16:creationId xmlns:a16="http://schemas.microsoft.com/office/drawing/2014/main" id="{9DE65C67-F73E-4F30-9FE0-3D79B8C00200}"/>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10</a:t>
            </a:r>
          </a:p>
        </p:txBody>
      </p:sp>
      <p:sp>
        <p:nvSpPr>
          <p:cNvPr id="4" name="chapter-footer">
            <a:extLst xmlns:a="http://schemas.openxmlformats.org/drawingml/2006/main">
              <a:ext uri="{FF2B5EF4-FFF2-40B4-BE49-F238E27FC236}">
                <a16:creationId xmlns:a16="http://schemas.microsoft.com/office/drawing/2014/main" id="{6B4D132E-D500-4AF8-8B84-CFCED7F011E0}"/>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Multi-Agent Interoperability</a:t>
            </a:r>
          </a:p>
        </p:txBody>
      </p:sp>
      <p:sp>
        <p:nvSpPr>
          <p:cNvPr id="5" name="exam-title">
            <a:extLst xmlns:a="http://schemas.openxmlformats.org/drawingml/2006/main">
              <a:ext uri="{FF2B5EF4-FFF2-40B4-BE49-F238E27FC236}">
                <a16:creationId xmlns:a16="http://schemas.microsoft.com/office/drawing/2014/main" id="{177FF6A4-A088-471E-8D1F-0C516C3018A5}"/>
              </a:ext>
            </a:extLst>
          </p:cNvPr>
          <p:cNvSpPr>
            <a:spLocks xmlns:a="http://schemas.openxmlformats.org/drawingml/2006/main" noGrp="1"/>
          </p:cNvSpPr>
          <p:nvPr/>
        </p:nvSpPr>
        <p:spPr>
          <a:xfrm xmlns:a="http://schemas.openxmlformats.org/drawingml/2006/main">
            <a:off x="390525" y="981075"/>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150" b="1">
                <a:solidFill>
                  <a:srgbClr val="111111"/>
                </a:solidFill>
                <a:latin typeface="Helvetica Neue"/>
                <a:ea typeface="Helvetica Neue"/>
                <a:cs typeface="Helvetica Neue"/>
              </a:defRPr>
            </a:pPr>
            <a:r>
              <a:rPr sz="3150" b="1">
                <a:solidFill>
                  <a:srgbClr val="111111"/>
                </a:solidFill>
                <a:latin typeface="Helvetica Neue"/>
                <a:ea typeface="Helvetica Neue"/>
                <a:cs typeface="Helvetica Neue"/>
              </a:rPr>
              <a:t>Can you answer these without notes?</a:t>
            </a:r>
          </a:p>
        </p:txBody>
      </p:sp>
      <p:sp>
        <p:nvSpPr>
          <p:cNvPr id="6" name="exam-number-1">
            <a:extLst xmlns:a="http://schemas.openxmlformats.org/drawingml/2006/main">
              <a:ext uri="{FF2B5EF4-FFF2-40B4-BE49-F238E27FC236}">
                <a16:creationId xmlns:a16="http://schemas.microsoft.com/office/drawing/2014/main" id="{49D83903-3006-4B24-B2D8-A5BDE13737DD}"/>
              </a:ext>
            </a:extLst>
          </p:cNvPr>
          <p:cNvSpPr>
            <a:spLocks xmlns:a="http://schemas.openxmlformats.org/drawingml/2006/main" noGrp="1"/>
          </p:cNvSpPr>
          <p:nvPr/>
        </p:nvSpPr>
        <p:spPr>
          <a:xfrm xmlns:a="http://schemas.openxmlformats.org/drawingml/2006/main">
            <a:off x="390525" y="22383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FFB45E"/>
                </a:solidFill>
                <a:latin typeface="Helvetica Neue"/>
                <a:ea typeface="Helvetica Neue"/>
                <a:cs typeface="Helvetica Neue"/>
              </a:defRPr>
            </a:pPr>
            <a:r>
              <a:rPr sz="1725" b="1">
                <a:solidFill>
                  <a:srgbClr val="FFB45E"/>
                </a:solidFill>
                <a:latin typeface="Helvetica Neue"/>
                <a:ea typeface="Helvetica Neue"/>
                <a:cs typeface="Helvetica Neue"/>
              </a:rPr>
              <a:t>01</a:t>
            </a:r>
          </a:p>
        </p:txBody>
      </p:sp>
      <p:sp>
        <p:nvSpPr>
          <p:cNvPr id="7" name="exam-question-1">
            <a:extLst xmlns:a="http://schemas.openxmlformats.org/drawingml/2006/main">
              <a:ext uri="{FF2B5EF4-FFF2-40B4-BE49-F238E27FC236}">
                <a16:creationId xmlns:a16="http://schemas.microsoft.com/office/drawing/2014/main" id="{17BDD39A-37F8-48A0-84F5-AA6F8526D0F2}"/>
              </a:ext>
            </a:extLst>
          </p:cNvPr>
          <p:cNvSpPr>
            <a:spLocks xmlns:a="http://schemas.openxmlformats.org/drawingml/2006/main" noGrp="1"/>
          </p:cNvSpPr>
          <p:nvPr/>
        </p:nvSpPr>
        <p:spPr>
          <a:xfrm xmlns:a="http://schemas.openxmlformats.org/drawingml/2006/main">
            <a:off x="1076325" y="22383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Why is an agent not equivalent to a simple REST endpoint?</a:t>
            </a:r>
          </a:p>
        </p:txBody>
      </p:sp>
      <p:sp>
        <p:nvSpPr>
          <p:cNvPr id="8" name="exam-number-2">
            <a:extLst xmlns:a="http://schemas.openxmlformats.org/drawingml/2006/main">
              <a:ext uri="{FF2B5EF4-FFF2-40B4-BE49-F238E27FC236}">
                <a16:creationId xmlns:a16="http://schemas.microsoft.com/office/drawing/2014/main" id="{A3E09A5A-57AD-4EB0-AB6C-78CA58B3D99E}"/>
              </a:ext>
            </a:extLst>
          </p:cNvPr>
          <p:cNvSpPr>
            <a:spLocks xmlns:a="http://schemas.openxmlformats.org/drawingml/2006/main" noGrp="1"/>
          </p:cNvSpPr>
          <p:nvPr/>
        </p:nvSpPr>
        <p:spPr>
          <a:xfrm xmlns:a="http://schemas.openxmlformats.org/drawingml/2006/main">
            <a:off x="6191250" y="22383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FFB45E"/>
                </a:solidFill>
                <a:latin typeface="Helvetica Neue"/>
                <a:ea typeface="Helvetica Neue"/>
                <a:cs typeface="Helvetica Neue"/>
              </a:defRPr>
            </a:pPr>
            <a:r>
              <a:rPr sz="1725" b="1">
                <a:solidFill>
                  <a:srgbClr val="FFB45E"/>
                </a:solidFill>
                <a:latin typeface="Helvetica Neue"/>
                <a:ea typeface="Helvetica Neue"/>
                <a:cs typeface="Helvetica Neue"/>
              </a:rPr>
              <a:t>02</a:t>
            </a:r>
          </a:p>
        </p:txBody>
      </p:sp>
      <p:sp>
        <p:nvSpPr>
          <p:cNvPr id="9" name="exam-question-2">
            <a:extLst xmlns:a="http://schemas.openxmlformats.org/drawingml/2006/main">
              <a:ext uri="{FF2B5EF4-FFF2-40B4-BE49-F238E27FC236}">
                <a16:creationId xmlns:a16="http://schemas.microsoft.com/office/drawing/2014/main" id="{FDE8F345-EB7D-48AD-99A6-8FFD3F80F084}"/>
              </a:ext>
            </a:extLst>
          </p:cNvPr>
          <p:cNvSpPr>
            <a:spLocks xmlns:a="http://schemas.openxmlformats.org/drawingml/2006/main" noGrp="1"/>
          </p:cNvSpPr>
          <p:nvPr/>
        </p:nvSpPr>
        <p:spPr>
          <a:xfrm xmlns:a="http://schemas.openxmlformats.org/drawingml/2006/main">
            <a:off x="6877050" y="22383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What information belongs in an Agent Card?</a:t>
            </a:r>
          </a:p>
        </p:txBody>
      </p:sp>
      <p:sp>
        <p:nvSpPr>
          <p:cNvPr id="10" name="exam-number-3">
            <a:extLst xmlns:a="http://schemas.openxmlformats.org/drawingml/2006/main">
              <a:ext uri="{FF2B5EF4-FFF2-40B4-BE49-F238E27FC236}">
                <a16:creationId xmlns:a16="http://schemas.microsoft.com/office/drawing/2014/main" id="{623B6B21-46FC-4CE7-8D7D-615221468F01}"/>
              </a:ext>
            </a:extLst>
          </p:cNvPr>
          <p:cNvSpPr>
            <a:spLocks xmlns:a="http://schemas.openxmlformats.org/drawingml/2006/main" noGrp="1"/>
          </p:cNvSpPr>
          <p:nvPr/>
        </p:nvSpPr>
        <p:spPr>
          <a:xfrm xmlns:a="http://schemas.openxmlformats.org/drawingml/2006/main">
            <a:off x="390525" y="34956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FFB45E"/>
                </a:solidFill>
                <a:latin typeface="Helvetica Neue"/>
                <a:ea typeface="Helvetica Neue"/>
                <a:cs typeface="Helvetica Neue"/>
              </a:defRPr>
            </a:pPr>
            <a:r>
              <a:rPr sz="1725" b="1">
                <a:solidFill>
                  <a:srgbClr val="FFB45E"/>
                </a:solidFill>
                <a:latin typeface="Helvetica Neue"/>
                <a:ea typeface="Helvetica Neue"/>
                <a:cs typeface="Helvetica Neue"/>
              </a:rPr>
              <a:t>03</a:t>
            </a:r>
          </a:p>
        </p:txBody>
      </p:sp>
      <p:sp>
        <p:nvSpPr>
          <p:cNvPr id="11" name="exam-question-3">
            <a:extLst xmlns:a="http://schemas.openxmlformats.org/drawingml/2006/main">
              <a:ext uri="{FF2B5EF4-FFF2-40B4-BE49-F238E27FC236}">
                <a16:creationId xmlns:a16="http://schemas.microsoft.com/office/drawing/2014/main" id="{82A6945D-1F7C-43EB-B223-9C57F13C0157}"/>
              </a:ext>
            </a:extLst>
          </p:cNvPr>
          <p:cNvSpPr>
            <a:spLocks xmlns:a="http://schemas.openxmlformats.org/drawingml/2006/main" noGrp="1"/>
          </p:cNvSpPr>
          <p:nvPr/>
        </p:nvSpPr>
        <p:spPr>
          <a:xfrm xmlns:a="http://schemas.openxmlformats.org/drawingml/2006/main">
            <a:off x="1076325" y="34956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Define task, message, part, and artifact.</a:t>
            </a:r>
          </a:p>
        </p:txBody>
      </p:sp>
      <p:sp>
        <p:nvSpPr>
          <p:cNvPr id="12" name="exam-number-4">
            <a:extLst xmlns:a="http://schemas.openxmlformats.org/drawingml/2006/main">
              <a:ext uri="{FF2B5EF4-FFF2-40B4-BE49-F238E27FC236}">
                <a16:creationId xmlns:a16="http://schemas.microsoft.com/office/drawing/2014/main" id="{1850B2E4-865A-4C47-B46C-0AB03F836A53}"/>
              </a:ext>
            </a:extLst>
          </p:cNvPr>
          <p:cNvSpPr>
            <a:spLocks xmlns:a="http://schemas.openxmlformats.org/drawingml/2006/main" noGrp="1"/>
          </p:cNvSpPr>
          <p:nvPr/>
        </p:nvSpPr>
        <p:spPr>
          <a:xfrm xmlns:a="http://schemas.openxmlformats.org/drawingml/2006/main">
            <a:off x="6191250" y="34956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FFB45E"/>
                </a:solidFill>
                <a:latin typeface="Helvetica Neue"/>
                <a:ea typeface="Helvetica Neue"/>
                <a:cs typeface="Helvetica Neue"/>
              </a:defRPr>
            </a:pPr>
            <a:r>
              <a:rPr sz="1725" b="1">
                <a:solidFill>
                  <a:srgbClr val="FFB45E"/>
                </a:solidFill>
                <a:latin typeface="Helvetica Neue"/>
                <a:ea typeface="Helvetica Neue"/>
                <a:cs typeface="Helvetica Neue"/>
              </a:rPr>
              <a:t>04</a:t>
            </a:r>
          </a:p>
        </p:txBody>
      </p:sp>
      <p:sp>
        <p:nvSpPr>
          <p:cNvPr id="13" name="exam-question-4">
            <a:extLst xmlns:a="http://schemas.openxmlformats.org/drawingml/2006/main">
              <a:ext uri="{FF2B5EF4-FFF2-40B4-BE49-F238E27FC236}">
                <a16:creationId xmlns:a16="http://schemas.microsoft.com/office/drawing/2014/main" id="{E6DDEEC5-C6D2-4DB2-B418-6A0047B7E008}"/>
              </a:ext>
            </a:extLst>
          </p:cNvPr>
          <p:cNvSpPr>
            <a:spLocks xmlns:a="http://schemas.openxmlformats.org/drawingml/2006/main" noGrp="1"/>
          </p:cNvSpPr>
          <p:nvPr/>
        </p:nvSpPr>
        <p:spPr>
          <a:xfrm xmlns:a="http://schemas.openxmlformats.org/drawingml/2006/main">
            <a:off x="6877050" y="34956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How does A2A support long-running work?</a:t>
            </a:r>
          </a:p>
        </p:txBody>
      </p:sp>
      <p:sp>
        <p:nvSpPr>
          <p:cNvPr id="14" name="exam-number-5">
            <a:extLst xmlns:a="http://schemas.openxmlformats.org/drawingml/2006/main">
              <a:ext uri="{FF2B5EF4-FFF2-40B4-BE49-F238E27FC236}">
                <a16:creationId xmlns:a16="http://schemas.microsoft.com/office/drawing/2014/main" id="{B0C99E1F-DE9B-4778-89E4-538F39FFD83E}"/>
              </a:ext>
            </a:extLst>
          </p:cNvPr>
          <p:cNvSpPr>
            <a:spLocks xmlns:a="http://schemas.openxmlformats.org/drawingml/2006/main" noGrp="1"/>
          </p:cNvSpPr>
          <p:nvPr/>
        </p:nvSpPr>
        <p:spPr>
          <a:xfrm xmlns:a="http://schemas.openxmlformats.org/drawingml/2006/main">
            <a:off x="390525" y="47529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FFB45E"/>
                </a:solidFill>
                <a:latin typeface="Helvetica Neue"/>
                <a:ea typeface="Helvetica Neue"/>
                <a:cs typeface="Helvetica Neue"/>
              </a:defRPr>
            </a:pPr>
            <a:r>
              <a:rPr sz="1725" b="1">
                <a:solidFill>
                  <a:srgbClr val="FFB45E"/>
                </a:solidFill>
                <a:latin typeface="Helvetica Neue"/>
                <a:ea typeface="Helvetica Neue"/>
                <a:cs typeface="Helvetica Neue"/>
              </a:rPr>
              <a:t>05</a:t>
            </a:r>
          </a:p>
        </p:txBody>
      </p:sp>
      <p:sp>
        <p:nvSpPr>
          <p:cNvPr id="15" name="exam-question-5">
            <a:extLst xmlns:a="http://schemas.openxmlformats.org/drawingml/2006/main">
              <a:ext uri="{FF2B5EF4-FFF2-40B4-BE49-F238E27FC236}">
                <a16:creationId xmlns:a16="http://schemas.microsoft.com/office/drawing/2014/main" id="{863EAD78-1C58-4311-BA9F-0C53AEA47BA9}"/>
              </a:ext>
            </a:extLst>
          </p:cNvPr>
          <p:cNvSpPr>
            <a:spLocks xmlns:a="http://schemas.openxmlformats.org/drawingml/2006/main" noGrp="1"/>
          </p:cNvSpPr>
          <p:nvPr/>
        </p:nvSpPr>
        <p:spPr>
          <a:xfrm xmlns:a="http://schemas.openxmlformats.org/drawingml/2006/main">
            <a:off x="1076325" y="47529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Compare MCP and A2A with a concrete example.</a:t>
            </a:r>
          </a:p>
        </p:txBody>
      </p:sp>
      <p:sp>
        <p:nvSpPr>
          <p:cNvPr id="16" name="exam-number-6">
            <a:extLst xmlns:a="http://schemas.openxmlformats.org/drawingml/2006/main">
              <a:ext uri="{FF2B5EF4-FFF2-40B4-BE49-F238E27FC236}">
                <a16:creationId xmlns:a16="http://schemas.microsoft.com/office/drawing/2014/main" id="{6EC107E4-A560-46A6-9955-142206596E93}"/>
              </a:ext>
            </a:extLst>
          </p:cNvPr>
          <p:cNvSpPr>
            <a:spLocks xmlns:a="http://schemas.openxmlformats.org/drawingml/2006/main" noGrp="1"/>
          </p:cNvSpPr>
          <p:nvPr/>
        </p:nvSpPr>
        <p:spPr>
          <a:xfrm xmlns:a="http://schemas.openxmlformats.org/drawingml/2006/main">
            <a:off x="6191250" y="47529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FFB45E"/>
                </a:solidFill>
                <a:latin typeface="Helvetica Neue"/>
                <a:ea typeface="Helvetica Neue"/>
                <a:cs typeface="Helvetica Neue"/>
              </a:defRPr>
            </a:pPr>
            <a:r>
              <a:rPr sz="1725" b="1">
                <a:solidFill>
                  <a:srgbClr val="FFB45E"/>
                </a:solidFill>
                <a:latin typeface="Helvetica Neue"/>
                <a:ea typeface="Helvetica Neue"/>
                <a:cs typeface="Helvetica Neue"/>
              </a:rPr>
              <a:t>06</a:t>
            </a:r>
          </a:p>
        </p:txBody>
      </p:sp>
      <p:sp>
        <p:nvSpPr>
          <p:cNvPr id="17" name="exam-question-6">
            <a:extLst xmlns:a="http://schemas.openxmlformats.org/drawingml/2006/main">
              <a:ext uri="{FF2B5EF4-FFF2-40B4-BE49-F238E27FC236}">
                <a16:creationId xmlns:a16="http://schemas.microsoft.com/office/drawing/2014/main" id="{9DE5C0F5-5999-4047-89F2-A792A7C19BE1}"/>
              </a:ext>
            </a:extLst>
          </p:cNvPr>
          <p:cNvSpPr>
            <a:spLocks xmlns:a="http://schemas.openxmlformats.org/drawingml/2006/main" noGrp="1"/>
          </p:cNvSpPr>
          <p:nvPr/>
        </p:nvSpPr>
        <p:spPr>
          <a:xfrm xmlns:a="http://schemas.openxmlformats.org/drawingml/2006/main">
            <a:off x="6877050" y="47529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Which responsibilities remain in the application after it adopts an interoperability protocol?</a:t>
            </a:r>
          </a:p>
        </p:txBody>
      </p:sp>
    </p:spTree>
    <p:extLst>
      <p:ext uri="{BB962C8B-B14F-4D97-AF65-F5344CB8AC3E}">
        <p14:creationId xmlns:p14="http://schemas.microsoft.com/office/powerpoint/2010/main" val="2054828455"/>
      </p:ext>
    </p:extLst>
  </p:cSld>
</p:sld>
</file>

<file path=ppt/slides/slide11.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4" name="accent-line">
            <a:extLst xmlns:a="http://schemas.openxmlformats.org/drawingml/2006/main">
              <a:ext uri="{FF2B5EF4-FFF2-40B4-BE49-F238E27FC236}">
                <a16:creationId xmlns:a16="http://schemas.microsoft.com/office/drawing/2014/main" id="{D1DD3924-4569-4D54-B18C-C881492A0C0B}"/>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2" name="chapter-label">
            <a:extLst xmlns:a="http://schemas.openxmlformats.org/drawingml/2006/main">
              <a:ext uri="{FF2B5EF4-FFF2-40B4-BE49-F238E27FC236}">
                <a16:creationId xmlns:a16="http://schemas.microsoft.com/office/drawing/2014/main" id="{D3CEDEFB-F004-4966-90C5-569632F24C12}"/>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CHAPTER SYNTHESIS  /  09</a:t>
            </a:r>
          </a:p>
        </p:txBody>
      </p:sp>
      <p:sp>
        <p:nvSpPr>
          <p:cNvPr id="3" name="slide-number">
            <a:extLst xmlns:a="http://schemas.openxmlformats.org/drawingml/2006/main">
              <a:ext uri="{FF2B5EF4-FFF2-40B4-BE49-F238E27FC236}">
                <a16:creationId xmlns:a16="http://schemas.microsoft.com/office/drawing/2014/main" id="{02AF48CC-1D0C-49FA-8368-A8880079A4A4}"/>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11</a:t>
            </a:r>
          </a:p>
        </p:txBody>
      </p:sp>
      <p:sp>
        <p:nvSpPr>
          <p:cNvPr id="4" name="chapter-footer">
            <a:extLst xmlns:a="http://schemas.openxmlformats.org/drawingml/2006/main">
              <a:ext uri="{FF2B5EF4-FFF2-40B4-BE49-F238E27FC236}">
                <a16:creationId xmlns:a16="http://schemas.microsoft.com/office/drawing/2014/main" id="{05DA940E-8D9A-46FD-81B8-3CAFD3387AF4}"/>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Multi-Agent Interoperability</a:t>
            </a:r>
          </a:p>
        </p:txBody>
      </p:sp>
      <p:sp>
        <p:nvSpPr>
          <p:cNvPr id="5" name="closing-title">
            <a:extLst xmlns:a="http://schemas.openxmlformats.org/drawingml/2006/main">
              <a:ext uri="{FF2B5EF4-FFF2-40B4-BE49-F238E27FC236}">
                <a16:creationId xmlns:a16="http://schemas.microsoft.com/office/drawing/2014/main" id="{AF56CFB5-FBC6-42B7-867F-9AEF6846955A}"/>
              </a:ext>
            </a:extLst>
          </p:cNvPr>
          <p:cNvSpPr>
            <a:spLocks xmlns:a="http://schemas.openxmlformats.org/drawingml/2006/main" noGrp="1"/>
          </p:cNvSpPr>
          <p:nvPr/>
        </p:nvSpPr>
        <p:spPr>
          <a:xfrm xmlns:a="http://schemas.openxmlformats.org/drawingml/2006/main">
            <a:off x="390525" y="1047750"/>
            <a:ext cx="10287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150" b="1">
                <a:solidFill>
                  <a:srgbClr val="111111"/>
                </a:solidFill>
                <a:latin typeface="Helvetica Neue"/>
                <a:ea typeface="Helvetica Neue"/>
                <a:cs typeface="Helvetica Neue"/>
              </a:defRPr>
            </a:pPr>
            <a:r>
              <a:rPr sz="3150" b="1">
                <a:solidFill>
                  <a:srgbClr val="111111"/>
                </a:solidFill>
                <a:latin typeface="Helvetica Neue"/>
                <a:ea typeface="Helvetica Neue"/>
                <a:cs typeface="Helvetica Neue"/>
              </a:rPr>
              <a:t>What must remain after the details fade</a:t>
            </a:r>
          </a:p>
        </p:txBody>
      </p:sp>
      <p:sp>
        <p:nvSpPr>
          <p:cNvPr id="6" name="takeaway-number-1">
            <a:extLst xmlns:a="http://schemas.openxmlformats.org/drawingml/2006/main">
              <a:ext uri="{FF2B5EF4-FFF2-40B4-BE49-F238E27FC236}">
                <a16:creationId xmlns:a16="http://schemas.microsoft.com/office/drawing/2014/main" id="{B972D655-F528-4E80-B711-68A698F0F9B2}"/>
              </a:ext>
            </a:extLst>
          </p:cNvPr>
          <p:cNvSpPr>
            <a:spLocks xmlns:a="http://schemas.openxmlformats.org/drawingml/2006/main" noGrp="1"/>
          </p:cNvSpPr>
          <p:nvPr/>
        </p:nvSpPr>
        <p:spPr>
          <a:xfrm xmlns:a="http://schemas.openxmlformats.org/drawingml/2006/main">
            <a:off x="390525" y="2333625"/>
            <a:ext cx="7048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250" b="1">
                <a:solidFill>
                  <a:srgbClr val="FFB45E"/>
                </a:solidFill>
                <a:latin typeface="Helvetica Neue"/>
                <a:ea typeface="Helvetica Neue"/>
                <a:cs typeface="Helvetica Neue"/>
              </a:defRPr>
            </a:pPr>
            <a:r>
              <a:rPr sz="2250" b="1">
                <a:solidFill>
                  <a:srgbClr val="FFB45E"/>
                </a:solidFill>
                <a:latin typeface="Helvetica Neue"/>
                <a:ea typeface="Helvetica Neue"/>
                <a:cs typeface="Helvetica Neue"/>
              </a:rPr>
              <a:t>01</a:t>
            </a:r>
          </a:p>
        </p:txBody>
      </p:sp>
      <p:sp>
        <p:nvSpPr>
          <p:cNvPr id="7" name="takeaway-1">
            <a:extLst xmlns:a="http://schemas.openxmlformats.org/drawingml/2006/main">
              <a:ext uri="{FF2B5EF4-FFF2-40B4-BE49-F238E27FC236}">
                <a16:creationId xmlns:a16="http://schemas.microsoft.com/office/drawing/2014/main" id="{F89ECFC6-F4FE-44E9-B503-CB13D69E0FDD}"/>
              </a:ext>
            </a:extLst>
          </p:cNvPr>
          <p:cNvSpPr>
            <a:spLocks xmlns:a="http://schemas.openxmlformats.org/drawingml/2006/main" noGrp="1"/>
          </p:cNvSpPr>
          <p:nvPr/>
        </p:nvSpPr>
        <p:spPr>
          <a:xfrm xmlns:a="http://schemas.openxmlformats.org/drawingml/2006/main">
            <a:off x="1257300" y="2314575"/>
            <a:ext cx="952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950" b="1">
                <a:solidFill>
                  <a:srgbClr val="111111"/>
                </a:solidFill>
                <a:latin typeface="Helvetica Neue"/>
                <a:ea typeface="Helvetica Neue"/>
                <a:cs typeface="Helvetica Neue"/>
              </a:defRPr>
            </a:pPr>
            <a:r>
              <a:rPr sz="1950" b="1">
                <a:solidFill>
                  <a:srgbClr val="111111"/>
                </a:solidFill>
                <a:latin typeface="Helvetica Neue"/>
                <a:ea typeface="Helvetica Neue"/>
                <a:cs typeface="Helvetica Neue"/>
              </a:rPr>
              <a:t>A2A standardizes discovery and long-running work between agents.</a:t>
            </a:r>
          </a:p>
        </p:txBody>
      </p:sp>
      <p:sp>
        <p:nvSpPr>
          <p:cNvPr id="8" name="takeaway-number-2">
            <a:extLst xmlns:a="http://schemas.openxmlformats.org/drawingml/2006/main">
              <a:ext uri="{FF2B5EF4-FFF2-40B4-BE49-F238E27FC236}">
                <a16:creationId xmlns:a16="http://schemas.microsoft.com/office/drawing/2014/main" id="{1A032F53-B553-470C-99DF-E6034D1517E9}"/>
              </a:ext>
            </a:extLst>
          </p:cNvPr>
          <p:cNvSpPr>
            <a:spLocks xmlns:a="http://schemas.openxmlformats.org/drawingml/2006/main" noGrp="1"/>
          </p:cNvSpPr>
          <p:nvPr/>
        </p:nvSpPr>
        <p:spPr>
          <a:xfrm xmlns:a="http://schemas.openxmlformats.org/drawingml/2006/main">
            <a:off x="390525" y="3209925"/>
            <a:ext cx="7048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250" b="1">
                <a:solidFill>
                  <a:srgbClr val="FFB45E"/>
                </a:solidFill>
                <a:latin typeface="Helvetica Neue"/>
                <a:ea typeface="Helvetica Neue"/>
                <a:cs typeface="Helvetica Neue"/>
              </a:defRPr>
            </a:pPr>
            <a:r>
              <a:rPr sz="2250" b="1">
                <a:solidFill>
                  <a:srgbClr val="FFB45E"/>
                </a:solidFill>
                <a:latin typeface="Helvetica Neue"/>
                <a:ea typeface="Helvetica Neue"/>
                <a:cs typeface="Helvetica Neue"/>
              </a:rPr>
              <a:t>02</a:t>
            </a:r>
          </a:p>
        </p:txBody>
      </p:sp>
      <p:sp>
        <p:nvSpPr>
          <p:cNvPr id="9" name="takeaway-2">
            <a:extLst xmlns:a="http://schemas.openxmlformats.org/drawingml/2006/main">
              <a:ext uri="{FF2B5EF4-FFF2-40B4-BE49-F238E27FC236}">
                <a16:creationId xmlns:a16="http://schemas.microsoft.com/office/drawing/2014/main" id="{2965A9B7-FE27-4990-95DC-4475AA65C5F7}"/>
              </a:ext>
            </a:extLst>
          </p:cNvPr>
          <p:cNvSpPr>
            <a:spLocks xmlns:a="http://schemas.openxmlformats.org/drawingml/2006/main" noGrp="1"/>
          </p:cNvSpPr>
          <p:nvPr/>
        </p:nvSpPr>
        <p:spPr>
          <a:xfrm xmlns:a="http://schemas.openxmlformats.org/drawingml/2006/main">
            <a:off x="1257300" y="3190875"/>
            <a:ext cx="952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950" b="1">
                <a:solidFill>
                  <a:srgbClr val="111111"/>
                </a:solidFill>
                <a:latin typeface="Helvetica Neue"/>
                <a:ea typeface="Helvetica Neue"/>
                <a:cs typeface="Helvetica Neue"/>
              </a:defRPr>
            </a:pPr>
            <a:r>
              <a:rPr sz="1950" b="1">
                <a:solidFill>
                  <a:srgbClr val="111111"/>
                </a:solidFill>
                <a:latin typeface="Helvetica Neue"/>
                <a:ea typeface="Helvetica Neue"/>
                <a:cs typeface="Helvetica Neue"/>
              </a:rPr>
              <a:t>Agent Cards advertise identity, skills, endpoint, and authentication.</a:t>
            </a:r>
          </a:p>
        </p:txBody>
      </p:sp>
      <p:sp>
        <p:nvSpPr>
          <p:cNvPr id="10" name="takeaway-number-3">
            <a:extLst xmlns:a="http://schemas.openxmlformats.org/drawingml/2006/main">
              <a:ext uri="{FF2B5EF4-FFF2-40B4-BE49-F238E27FC236}">
                <a16:creationId xmlns:a16="http://schemas.microsoft.com/office/drawing/2014/main" id="{3B0C9A7A-7C6E-421D-A56C-944096A7C6AC}"/>
              </a:ext>
            </a:extLst>
          </p:cNvPr>
          <p:cNvSpPr>
            <a:spLocks xmlns:a="http://schemas.openxmlformats.org/drawingml/2006/main" noGrp="1"/>
          </p:cNvSpPr>
          <p:nvPr/>
        </p:nvSpPr>
        <p:spPr>
          <a:xfrm xmlns:a="http://schemas.openxmlformats.org/drawingml/2006/main">
            <a:off x="390525" y="4086225"/>
            <a:ext cx="7048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250" b="1">
                <a:solidFill>
                  <a:srgbClr val="FFB45E"/>
                </a:solidFill>
                <a:latin typeface="Helvetica Neue"/>
                <a:ea typeface="Helvetica Neue"/>
                <a:cs typeface="Helvetica Neue"/>
              </a:defRPr>
            </a:pPr>
            <a:r>
              <a:rPr sz="2250" b="1">
                <a:solidFill>
                  <a:srgbClr val="FFB45E"/>
                </a:solidFill>
                <a:latin typeface="Helvetica Neue"/>
                <a:ea typeface="Helvetica Neue"/>
                <a:cs typeface="Helvetica Neue"/>
              </a:rPr>
              <a:t>03</a:t>
            </a:r>
          </a:p>
        </p:txBody>
      </p:sp>
      <p:sp>
        <p:nvSpPr>
          <p:cNvPr id="11" name="takeaway-3">
            <a:extLst xmlns:a="http://schemas.openxmlformats.org/drawingml/2006/main">
              <a:ext uri="{FF2B5EF4-FFF2-40B4-BE49-F238E27FC236}">
                <a16:creationId xmlns:a16="http://schemas.microsoft.com/office/drawing/2014/main" id="{239FDA4A-D689-4B8C-8A24-97B83C4C2DED}"/>
              </a:ext>
            </a:extLst>
          </p:cNvPr>
          <p:cNvSpPr>
            <a:spLocks xmlns:a="http://schemas.openxmlformats.org/drawingml/2006/main" noGrp="1"/>
          </p:cNvSpPr>
          <p:nvPr/>
        </p:nvSpPr>
        <p:spPr>
          <a:xfrm xmlns:a="http://schemas.openxmlformats.org/drawingml/2006/main">
            <a:off x="1257300" y="4067175"/>
            <a:ext cx="952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950" b="1">
                <a:solidFill>
                  <a:srgbClr val="111111"/>
                </a:solidFill>
                <a:latin typeface="Helvetica Neue"/>
                <a:ea typeface="Helvetica Neue"/>
                <a:cs typeface="Helvetica Neue"/>
              </a:defRPr>
            </a:pPr>
            <a:r>
              <a:rPr sz="1950" b="1">
                <a:solidFill>
                  <a:srgbClr val="111111"/>
                </a:solidFill>
                <a:latin typeface="Helvetica Neue"/>
                <a:ea typeface="Helvetica Neue"/>
                <a:cs typeface="Helvetica Neue"/>
              </a:rPr>
              <a:t>MCP serves tools and data; A2A serves agent collaboration.</a:t>
            </a:r>
          </a:p>
        </p:txBody>
      </p:sp>
      <p:sp>
        <p:nvSpPr>
          <p:cNvPr id="12" name="takeaway-number-4">
            <a:extLst xmlns:a="http://schemas.openxmlformats.org/drawingml/2006/main">
              <a:ext uri="{FF2B5EF4-FFF2-40B4-BE49-F238E27FC236}">
                <a16:creationId xmlns:a16="http://schemas.microsoft.com/office/drawing/2014/main" id="{87C5CB7F-CD2C-4B19-9C78-27C834188A59}"/>
              </a:ext>
            </a:extLst>
          </p:cNvPr>
          <p:cNvSpPr>
            <a:spLocks xmlns:a="http://schemas.openxmlformats.org/drawingml/2006/main" noGrp="1"/>
          </p:cNvSpPr>
          <p:nvPr/>
        </p:nvSpPr>
        <p:spPr>
          <a:xfrm xmlns:a="http://schemas.openxmlformats.org/drawingml/2006/main">
            <a:off x="390525" y="4962525"/>
            <a:ext cx="7048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250" b="1">
                <a:solidFill>
                  <a:srgbClr val="FFB45E"/>
                </a:solidFill>
                <a:latin typeface="Helvetica Neue"/>
                <a:ea typeface="Helvetica Neue"/>
                <a:cs typeface="Helvetica Neue"/>
              </a:defRPr>
            </a:pPr>
            <a:r>
              <a:rPr sz="2250" b="1">
                <a:solidFill>
                  <a:srgbClr val="FFB45E"/>
                </a:solidFill>
                <a:latin typeface="Helvetica Neue"/>
                <a:ea typeface="Helvetica Neue"/>
                <a:cs typeface="Helvetica Neue"/>
              </a:rPr>
              <a:t>04</a:t>
            </a:r>
          </a:p>
        </p:txBody>
      </p:sp>
      <p:sp>
        <p:nvSpPr>
          <p:cNvPr id="13" name="takeaway-4">
            <a:extLst xmlns:a="http://schemas.openxmlformats.org/drawingml/2006/main">
              <a:ext uri="{FF2B5EF4-FFF2-40B4-BE49-F238E27FC236}">
                <a16:creationId xmlns:a16="http://schemas.microsoft.com/office/drawing/2014/main" id="{6D7C10A3-93CC-4438-BD2A-AD9755DA210D}"/>
              </a:ext>
            </a:extLst>
          </p:cNvPr>
          <p:cNvSpPr>
            <a:spLocks xmlns:a="http://schemas.openxmlformats.org/drawingml/2006/main" noGrp="1"/>
          </p:cNvSpPr>
          <p:nvPr/>
        </p:nvSpPr>
        <p:spPr>
          <a:xfrm xmlns:a="http://schemas.openxmlformats.org/drawingml/2006/main">
            <a:off x="1257300" y="4943475"/>
            <a:ext cx="952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950" b="1">
                <a:solidFill>
                  <a:srgbClr val="111111"/>
                </a:solidFill>
                <a:latin typeface="Helvetica Neue"/>
                <a:ea typeface="Helvetica Neue"/>
                <a:cs typeface="Helvetica Neue"/>
              </a:defRPr>
            </a:pPr>
            <a:r>
              <a:rPr sz="1950" b="1">
                <a:solidFill>
                  <a:srgbClr val="111111"/>
                </a:solidFill>
                <a:latin typeface="Helvetica Neue"/>
                <a:ea typeface="Helvetica Neue"/>
                <a:cs typeface="Helvetica Neue"/>
              </a:rPr>
              <a:t>Cross-agent trust requires authentication, least privilege, bounds, and audit.</a:t>
            </a:r>
          </a:p>
        </p:txBody>
      </p:sp>
    </p:spTree>
    <p:extLst>
      <p:ext uri="{BB962C8B-B14F-4D97-AF65-F5344CB8AC3E}">
        <p14:creationId xmlns:p14="http://schemas.microsoft.com/office/powerpoint/2010/main" val="53954445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accent-line">
            <a:extLst xmlns:a="http://schemas.openxmlformats.org/drawingml/2006/main">
              <a:ext uri="{FF2B5EF4-FFF2-40B4-BE49-F238E27FC236}">
                <a16:creationId xmlns:a16="http://schemas.microsoft.com/office/drawing/2014/main" id="{F9E9D9A3-666A-4967-8F1A-CBE3B6B50A94}"/>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FFB45E"/>
          </a:solidFill>
          <a:ln xmlns:a="http://schemas.openxmlformats.org/drawingml/2006/main" w="0">
            <a:solidFill>
              <a:srgbClr val="FFB45E"/>
            </a:solidFill>
            <a:prstDash val="solid"/>
          </a:ln>
        </p:spPr>
      </p:sp>
      <p:sp>
        <p:nvSpPr>
          <p:cNvPr id="2" name="chapter-label">
            <a:extLst xmlns:a="http://schemas.openxmlformats.org/drawingml/2006/main">
              <a:ext uri="{FF2B5EF4-FFF2-40B4-BE49-F238E27FC236}">
                <a16:creationId xmlns:a16="http://schemas.microsoft.com/office/drawing/2014/main" id="{1D188EB3-059B-405A-AE60-15BD58A60CAA}"/>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PRACTICE AND READING  /  09</a:t>
            </a:r>
          </a:p>
        </p:txBody>
      </p:sp>
      <p:sp>
        <p:nvSpPr>
          <p:cNvPr id="3" name="slide-number">
            <a:extLst xmlns:a="http://schemas.openxmlformats.org/drawingml/2006/main">
              <a:ext uri="{FF2B5EF4-FFF2-40B4-BE49-F238E27FC236}">
                <a16:creationId xmlns:a16="http://schemas.microsoft.com/office/drawing/2014/main" id="{439054BB-E4F1-4F75-9C3F-A6242B2EF28D}"/>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12</a:t>
            </a:r>
          </a:p>
        </p:txBody>
      </p:sp>
      <p:sp>
        <p:nvSpPr>
          <p:cNvPr id="4" name="chapter-footer">
            <a:extLst xmlns:a="http://schemas.openxmlformats.org/drawingml/2006/main">
              <a:ext uri="{FF2B5EF4-FFF2-40B4-BE49-F238E27FC236}">
                <a16:creationId xmlns:a16="http://schemas.microsoft.com/office/drawing/2014/main" id="{2D83C5AA-F61D-4C64-99AC-5A2D9A306BDE}"/>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Multi-Agent Interoperability</a:t>
            </a:r>
          </a:p>
        </p:txBody>
      </p:sp>
      <p:sp>
        <p:nvSpPr>
          <p:cNvPr id="5" name="practice-title">
            <a:extLst xmlns:a="http://schemas.openxmlformats.org/drawingml/2006/main">
              <a:ext uri="{FF2B5EF4-FFF2-40B4-BE49-F238E27FC236}">
                <a16:creationId xmlns:a16="http://schemas.microsoft.com/office/drawing/2014/main" id="{206C28EB-9F40-41C9-A7E2-B4FA078514C1}"/>
              </a:ext>
            </a:extLst>
          </p:cNvPr>
          <p:cNvSpPr>
            <a:spLocks xmlns:a="http://schemas.openxmlformats.org/drawingml/2006/main" noGrp="1"/>
          </p:cNvSpPr>
          <p:nvPr/>
        </p:nvSpPr>
        <p:spPr>
          <a:xfrm xmlns:a="http://schemas.openxmlformats.org/drawingml/2006/main">
            <a:off x="390525" y="1000125"/>
            <a:ext cx="11144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Evidence to submit</a:t>
            </a:r>
          </a:p>
        </p:txBody>
      </p:sp>
      <p:sp>
        <p:nvSpPr>
          <p:cNvPr id="6" name="practice-task">
            <a:extLst xmlns:a="http://schemas.openxmlformats.org/drawingml/2006/main">
              <a:ext uri="{FF2B5EF4-FFF2-40B4-BE49-F238E27FC236}">
                <a16:creationId xmlns:a16="http://schemas.microsoft.com/office/drawing/2014/main" id="{FBF19A94-10DB-4226-8BF9-C7235C33FA60}"/>
              </a:ext>
            </a:extLst>
          </p:cNvPr>
          <p:cNvSpPr>
            <a:spLocks xmlns:a="http://schemas.openxmlformats.org/drawingml/2006/main" noGrp="1"/>
          </p:cNvSpPr>
          <p:nvPr/>
        </p:nvSpPr>
        <p:spPr>
          <a:xfrm xmlns:a="http://schemas.openxmlformats.org/drawingml/2006/main">
            <a:off x="390525" y="2000250"/>
            <a:ext cx="109537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950" b="0">
                <a:solidFill>
                  <a:srgbClr val="111111"/>
                </a:solidFill>
                <a:latin typeface="Helvetica Neue"/>
                <a:ea typeface="Helvetica Neue"/>
                <a:cs typeface="Helvetica Neue"/>
              </a:defRPr>
            </a:pPr>
            <a:r>
              <a:rPr sz="1950" b="0">
                <a:solidFill>
                  <a:srgbClr val="111111"/>
                </a:solidFill>
                <a:latin typeface="Helvetica Neue"/>
                <a:ea typeface="Helvetica Neue"/>
                <a:cs typeface="Helvetica Neue"/>
              </a:rPr>
              <a:t>Trace a delegated catalog task from discovery to completion. Identify the caller, authorization decision, timeout owner, and artifact validator. No remote service deployment is required.</a:t>
            </a:r>
          </a:p>
        </p:txBody>
      </p:sp>
      <p:sp>
        <p:nvSpPr>
          <p:cNvPr id="7" name="practice-check">
            <a:extLst xmlns:a="http://schemas.openxmlformats.org/drawingml/2006/main">
              <a:ext uri="{FF2B5EF4-FFF2-40B4-BE49-F238E27FC236}">
                <a16:creationId xmlns:a16="http://schemas.microsoft.com/office/drawing/2014/main" id="{E725A29A-35D3-49C6-89F2-470145848A62}"/>
              </a:ext>
            </a:extLst>
          </p:cNvPr>
          <p:cNvSpPr>
            <a:spLocks xmlns:a="http://schemas.openxmlformats.org/drawingml/2006/main" noGrp="1"/>
          </p:cNvSpPr>
          <p:nvPr/>
        </p:nvSpPr>
        <p:spPr>
          <a:xfrm xmlns:a="http://schemas.openxmlformats.org/drawingml/2006/main">
            <a:off x="390525" y="3381375"/>
            <a:ext cx="109537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00" b="0">
                <a:solidFill>
                  <a:srgbClr val="5B5B57"/>
                </a:solidFill>
                <a:latin typeface="Helvetica Neue"/>
                <a:ea typeface="Helvetica Neue"/>
                <a:cs typeface="Helvetica Neue"/>
              </a:defRPr>
            </a:pPr>
            <a:r>
              <a:rPr sz="1800" b="0">
                <a:solidFill>
                  <a:srgbClr val="5B5B57"/>
                </a:solidFill>
                <a:latin typeface="Helvetica Neue"/>
                <a:ea typeface="Helvetica Neue"/>
                <a:cs typeface="Helvetica Neue"/>
              </a:rPr>
              <a:t>Use A2A 1.0.0 terminology and distinguish the chosen binding from the abstract task model. Explain what happens after a failed or canceled task.</a:t>
            </a:r>
          </a:p>
        </p:txBody>
      </p:sp>
      <p:sp>
        <p:nvSpPr>
          <p:cNvPr id="8" name="practice-readings">
            <a:extLst xmlns:a="http://schemas.openxmlformats.org/drawingml/2006/main">
              <a:ext uri="{FF2B5EF4-FFF2-40B4-BE49-F238E27FC236}">
                <a16:creationId xmlns:a16="http://schemas.microsoft.com/office/drawing/2014/main" id="{1F7AD5D0-E499-4C86-8A49-3AA69EEB4E78}"/>
              </a:ext>
            </a:extLst>
          </p:cNvPr>
          <p:cNvSpPr>
            <a:spLocks xmlns:a="http://schemas.openxmlformats.org/drawingml/2006/main" noGrp="1"/>
          </p:cNvSpPr>
          <p:nvPr/>
        </p:nvSpPr>
        <p:spPr>
          <a:xfrm xmlns:a="http://schemas.openxmlformats.org/drawingml/2006/main">
            <a:off x="390525" y="4667250"/>
            <a:ext cx="109537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425" b="0">
                <a:solidFill>
                  <a:srgbClr val="111111"/>
                </a:solidFill>
                <a:latin typeface="Helvetica Neue"/>
                <a:ea typeface="Helvetica Neue"/>
                <a:cs typeface="Helvetica Neue"/>
              </a:defRPr>
            </a:pPr>
            <a:r>
              <a:rPr sz="1425" b="0">
                <a:solidFill>
                  <a:srgbClr val="111111"/>
                </a:solidFill>
                <a:latin typeface="Helvetica Neue"/>
                <a:ea typeface="Helvetica Neue"/>
                <a:cs typeface="Helvetica Neue"/>
              </a:rPr>
              <a:t>S6  A2A specification 1.0.0</a:t>
            </a:r>
          </a:p>
        </p:txBody>
      </p:sp>
      <p:sp>
        <p:nvSpPr>
          <p:cNvPr id="9" name="practice-lab">
            <a:extLst xmlns:a="http://schemas.openxmlformats.org/drawingml/2006/main">
              <a:ext uri="{FF2B5EF4-FFF2-40B4-BE49-F238E27FC236}">
                <a16:creationId xmlns:a16="http://schemas.microsoft.com/office/drawing/2014/main" id="{509532BC-8754-4BCD-9BE9-E2840586FFB7}"/>
              </a:ext>
            </a:extLst>
          </p:cNvPr>
          <p:cNvSpPr>
            <a:spLocks xmlns:a="http://schemas.openxmlformats.org/drawingml/2006/main" noGrp="1"/>
          </p:cNvSpPr>
          <p:nvPr/>
        </p:nvSpPr>
        <p:spPr>
          <a:xfrm xmlns:a="http://schemas.openxmlformats.org/drawingml/2006/main">
            <a:off x="390525" y="5857875"/>
            <a:ext cx="1095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defRPr sz="1275" b="0">
                <a:solidFill>
                  <a:srgbClr val="5B5B57"/>
                </a:solidFill>
                <a:latin typeface="Helvetica Neue"/>
                <a:ea typeface="Helvetica Neue"/>
                <a:cs typeface="Helvetica Neue"/>
              </a:defRPr>
            </a:pPr>
            <a:r>
              <a:rPr sz="1275" b="0">
                <a:solidFill>
                  <a:srgbClr val="5B5B57"/>
                </a:solidFill>
                <a:latin typeface="Helvetica Neue"/>
                <a:ea typeface="Helvetica Neue"/>
                <a:cs typeface="Helvetica Neue"/>
              </a:rPr>
              <a:t>labs/08_langgraph_approval_security.ipynb</a:t>
            </a:r>
          </a:p>
        </p:txBody>
      </p:sp>
    </p:spTree>
    <p:extLst>
      <p:ext uri="{BB962C8B-B14F-4D97-AF65-F5344CB8AC3E}">
        <p14:creationId xmlns:p14="http://schemas.microsoft.com/office/powerpoint/2010/main" val="1838090862"/>
      </p:ext>
    </p:extLst>
  </p:cSld>
</p:sld>
</file>

<file path=ppt/theme/theme1.xml><?xml version="1.0" encoding="utf-8"?>
<a:theme xmlns:a="http://schemas.openxmlformats.org/drawingml/2006/main" name="Course">
  <a:themeElements>
    <a:clrScheme name="Cours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ours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
  <lastModifiedBy/>
  <dc:title>09-multi-agent-interop</dc:title>
  <dcterms:created xsi:type="dcterms:W3CDTF">2026-09-09T16:56:50.1400000Z</dcterms:created>
  <dcterms:modified xsi:type="dcterms:W3CDTF">2026-09-09T16:56:50.1400000Z</dcterms:modified>
</coreProperties>
</file>