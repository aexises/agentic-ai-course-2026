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717f2580f846e9" /><Relationship Type="http://schemas.openxmlformats.org/officeDocument/2006/relationships/extended-properties" Target="/docProps/app.xml" Id="R700e7c585fa640df" /><Relationship Type="http://schemas.openxmlformats.org/officeDocument/2006/relationships/officeDocument" Target="/ppt/presentation.xml" Id="R0edee8f205ce462e" /></Relationships>
</file>

<file path=ppt/presentation.xml><?xml version="1.0" encoding="utf-8"?>
<p:presentation xmlns:p="http://schemas.openxmlformats.org/presentationml/2006/main">
  <p:sldMasterIdLst>
    <p:sldMasterId xmlns:r="http://schemas.openxmlformats.org/officeDocument/2006/relationships" id="2147483648" r:id="R63cc3f1afa524b49"/>
  </p:sldMasterIdLst>
  <p:notesMasterIdLst>
    <p:notesMasterId xmlns:r="http://schemas.openxmlformats.org/officeDocument/2006/relationships" r:id="Rb3f9a5f9b8a04e29"/>
  </p:notesMasterIdLst>
  <p:sldIdLst>
    <p:sldId xmlns:r="http://schemas.openxmlformats.org/officeDocument/2006/relationships" id="256" r:id="Rb4ddf0650bbe4f72"/>
    <p:sldId xmlns:r="http://schemas.openxmlformats.org/officeDocument/2006/relationships" id="257" r:id="R5b83c4ee0cfa4e2e"/>
    <p:sldId xmlns:r="http://schemas.openxmlformats.org/officeDocument/2006/relationships" id="258" r:id="R84ff464361564c7b"/>
    <p:sldId xmlns:r="http://schemas.openxmlformats.org/officeDocument/2006/relationships" id="259" r:id="R5ae2ce722a0b46ac"/>
    <p:sldId xmlns:r="http://schemas.openxmlformats.org/officeDocument/2006/relationships" id="260" r:id="R7ee80c8ea3f24306"/>
    <p:sldId xmlns:r="http://schemas.openxmlformats.org/officeDocument/2006/relationships" id="261" r:id="R6d5d93875c0e413a"/>
    <p:sldId xmlns:r="http://schemas.openxmlformats.org/officeDocument/2006/relationships" id="262" r:id="R2efa5b29ac6547b2"/>
    <p:sldId xmlns:r="http://schemas.openxmlformats.org/officeDocument/2006/relationships" id="263" r:id="R5a21eb59c8114153"/>
    <p:sldId xmlns:r="http://schemas.openxmlformats.org/officeDocument/2006/relationships" id="264" r:id="R4560486e87d64b59"/>
    <p:sldId xmlns:r="http://schemas.openxmlformats.org/officeDocument/2006/relationships" id="265" r:id="Rca6977e617c44b78"/>
    <p:sldId xmlns:r="http://schemas.openxmlformats.org/officeDocument/2006/relationships" id="266" r:id="Rde8f401a4d20473d"/>
    <p:sldId xmlns:r="http://schemas.openxmlformats.org/officeDocument/2006/relationships" id="267" r:id="R6077a2b4a1af41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308aef93074ccc" /><Relationship Type="http://schemas.openxmlformats.org/officeDocument/2006/relationships/slideMaster" Target="/ppt/slideMasters/slideMaster1.xml" Id="R63cc3f1afa524b49" /><Relationship Type="http://schemas.openxmlformats.org/officeDocument/2006/relationships/notesMaster" Target="/ppt/notesMasters/notesMaster1.xml" Id="Rb3f9a5f9b8a04e29" /><Relationship Type="http://schemas.openxmlformats.org/officeDocument/2006/relationships/presProps" Target="/ppt/presProps.xml" Id="R8bbabfcafdd44746" /><Relationship Type="http://schemas.openxmlformats.org/officeDocument/2006/relationships/tableStyles" Target="/ppt/tableStyles.xml" Id="R57b90426edd349cc" /><Relationship Type="http://schemas.openxmlformats.org/officeDocument/2006/relationships/slide" Target="/ppt/slides/slide1.xml" Id="Rb4ddf0650bbe4f72" /><Relationship Type="http://schemas.openxmlformats.org/officeDocument/2006/relationships/slide" Target="/ppt/slides/slide2.xml" Id="R5b83c4ee0cfa4e2e" /><Relationship Type="http://schemas.openxmlformats.org/officeDocument/2006/relationships/slide" Target="/ppt/slides/slide3.xml" Id="R84ff464361564c7b" /><Relationship Type="http://schemas.openxmlformats.org/officeDocument/2006/relationships/slide" Target="/ppt/slides/slide4.xml" Id="R5ae2ce722a0b46ac" /><Relationship Type="http://schemas.openxmlformats.org/officeDocument/2006/relationships/slide" Target="/ppt/slides/slide5.xml" Id="R7ee80c8ea3f24306" /><Relationship Type="http://schemas.openxmlformats.org/officeDocument/2006/relationships/slide" Target="/ppt/slides/slide6.xml" Id="R6d5d93875c0e413a" /><Relationship Type="http://schemas.openxmlformats.org/officeDocument/2006/relationships/slide" Target="/ppt/slides/slide7.xml" Id="R2efa5b29ac6547b2" /><Relationship Type="http://schemas.openxmlformats.org/officeDocument/2006/relationships/slide" Target="/ppt/slides/slide8.xml" Id="R5a21eb59c8114153" /><Relationship Type="http://schemas.openxmlformats.org/officeDocument/2006/relationships/slide" Target="/ppt/slides/slide9.xml" Id="R4560486e87d64b59" /><Relationship Type="http://schemas.openxmlformats.org/officeDocument/2006/relationships/slide" Target="/ppt/slides/slide10.xml" Id="Rca6977e617c44b78" /><Relationship Type="http://schemas.openxmlformats.org/officeDocument/2006/relationships/slide" Target="/ppt/slides/slide11.xml" Id="Rde8f401a4d20473d" /><Relationship Type="http://schemas.openxmlformats.org/officeDocument/2006/relationships/slide" Target="/ppt/slides/slide12.xml" Id="R6077a2b4a1af41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075314ed21497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835cb6f1500426a" /><Relationship Type="http://schemas.openxmlformats.org/officeDocument/2006/relationships/notesMaster" Target="/ppt/notesMasters/notesMaster1.xml" Id="R96aa10164a704a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c60fe093964be4" /><Relationship Type="http://schemas.openxmlformats.org/officeDocument/2006/relationships/notesMaster" Target="/ppt/notesMasters/notesMaster1.xml" Id="R36dcc2b477594e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2331c74cad4d9d" /><Relationship Type="http://schemas.openxmlformats.org/officeDocument/2006/relationships/notesMaster" Target="/ppt/notesMasters/notesMaster1.xml" Id="Ra57d4b67320c4e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868f0d5ddca4b09" /><Relationship Type="http://schemas.openxmlformats.org/officeDocument/2006/relationships/notesMaster" Target="/ppt/notesMasters/notesMaster1.xml" Id="R3b88486c4c5545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cd729929394f9f" /><Relationship Type="http://schemas.openxmlformats.org/officeDocument/2006/relationships/notesMaster" Target="/ppt/notesMasters/notesMaster1.xml" Id="Rd5f1d753edfa43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5faa1320e440a9" /><Relationship Type="http://schemas.openxmlformats.org/officeDocument/2006/relationships/notesMaster" Target="/ppt/notesMasters/notesMaster1.xml" Id="Rcce528ae7cc541a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ec0e24116e402a" /><Relationship Type="http://schemas.openxmlformats.org/officeDocument/2006/relationships/notesMaster" Target="/ppt/notesMasters/notesMaster1.xml" Id="Rd3ff0730945948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475d1ea9304745" /><Relationship Type="http://schemas.openxmlformats.org/officeDocument/2006/relationships/notesMaster" Target="/ppt/notesMasters/notesMaster1.xml" Id="Rc426be7b0cdf4143"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ef9428d7a24758" /><Relationship Type="http://schemas.openxmlformats.org/officeDocument/2006/relationships/notesMaster" Target="/ppt/notesMasters/notesMaster1.xml" Id="Rc097dc9dabb544d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d40396cc3248df" /><Relationship Type="http://schemas.openxmlformats.org/officeDocument/2006/relationships/notesMaster" Target="/ppt/notesMasters/notesMaster1.xml" Id="Rd3d7a72f02194c0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b78f964a874c14" /><Relationship Type="http://schemas.openxmlformats.org/officeDocument/2006/relationships/notesMaster" Target="/ppt/notesMasters/notesMaster1.xml" Id="R36bffe29d9eb463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69ecadab8924413" /><Relationship Type="http://schemas.openxmlformats.org/officeDocument/2006/relationships/notesMaster" Target="/ppt/notesMasters/notesMaster1.xml" Id="R386fef7ef2d742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Assess the submitted evidence with the stated acceptance check. Reading links and limitations follow.</a:t>
            </a:r>
          </a:p>
          <a:p xmlns:a="http://schemas.openxmlformats.org/drawingml/2006/main">
            <a:r>
              <a:t/>
            </a:r>
          </a:p>
          <a:p xmlns:a="http://schemas.openxmlformats.org/drawingml/2006/main">
            <a:r>
              <a:t>Edition: 2026-09-09</a:t>
            </a:r>
          </a:p>
          <a:p xmlns:a="http://schemas.openxmlformats.org/drawingml/2006/main">
            <a:r>
              <a:t/>
            </a:r>
          </a:p>
          <a:p xmlns:a="http://schemas.openxmlformats.org/drawingml/2006/main">
            <a:r>
              <a:t>[Sources]</a:t>
            </a:r>
          </a:p>
          <a:p xmlns:a="http://schemas.openxmlformats.org/drawingml/2006/main">
            <a:r>
              <a:t>- Original source presentation: 05-tools-mcp.pdf</a:t>
            </a:r>
          </a:p>
          <a:p xmlns:a="http://schemas.openxmlformats.org/drawingml/2006/main">
            <a:r>
              <a:t>- S1: Gemini function calling. Google documentation, accessed, 2026-09-09. https://ai.google.dev/gemini-api/docs/function-calling Check model support and preserve complete model content when returning function responses.</a:t>
            </a:r>
          </a:p>
          <a:p xmlns:a="http://schemas.openxmlformats.org/drawingml/2006/main">
            <a:r>
              <a:t>- S2: OpenAI Agents SDK model integration. SDK documentation, accessed, 2026-09-09. https://openai.github.io/openai-agents-python/models/ The course uses local tools with a Gemini Chat Completions compatibility endpoint.</a:t>
            </a:r>
          </a:p>
          <a:p xmlns:a="http://schemas.openxmlformats.org/drawingml/2006/main">
            <a:r>
              <a:t>- S5: MCP roots specification 2025-11-25. Versioned protocol specification, 2025-11-25. https://modelcontextprotocol.io/specification/2025-11-25/client/roots The course uses this historical protocol baseline. Implementations enforce access controls.</a:t>
            </a:r>
          </a:p>
          <a:p xmlns:a="http://schemas.openxmlformats.org/drawingml/2006/main">
            <a:r>
              <a:t/>
            </a:r>
          </a:p>
          <a:p xmlns:a="http://schemas.openxmlformats.org/drawingml/2006/main">
            <a:r>
              <a:t>[Assessed practice]</a:t>
            </a:r>
          </a:p>
          <a:p xmlns:a="http://schemas.openxmlformats.org/drawingml/2006/main">
            <a:r>
              <a:t>Complete Lab 5's dispatch policy. For the MCP 2025-11-25 baseline, explain why a roots response cannot substitute for filesystem access controls.</a:t>
            </a:r>
          </a:p>
          <a:p xmlns:a="http://schemas.openxmlformats.org/drawingml/2006/main">
            <a:r>
              <a:t>Acceptance: Reject booleans in numeric fields, nonfinite values, and oversized input. Name the component that enforces each permission.</a:t>
            </a:r>
          </a:p>
          <a:p xmlns:a="http://schemas.openxmlformats.org/drawingml/2006/main">
            <a:r>
              <a:t>Lab: labs/05_gemini_bounded_tools.ipynb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81759f5fc74b6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d3438b2795f484e" /><Relationship Type="http://schemas.openxmlformats.org/officeDocument/2006/relationships/slideLayout" Target="/ppt/slideLayouts/slideLayout1.xml" Id="Rfc407488044c42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407488044c42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bb2fd2c3304969" /><Relationship Type="http://schemas.openxmlformats.org/officeDocument/2006/relationships/notesSlide" Target="/ppt/notesSlides/notesSlide1.xml" Id="R8c15245a878943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6817ae2816b4a66" /><Relationship Type="http://schemas.openxmlformats.org/officeDocument/2006/relationships/notesSlide" Target="/ppt/notesSlides/notesSlide2.xml" Id="R7f108f56722044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a7be6b14f4d491f" /><Relationship Type="http://schemas.openxmlformats.org/officeDocument/2006/relationships/notesSlide" Target="/ppt/notesSlides/notesSlide3.xml" Id="R41ab9c0f4c4342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344b3c746404a1f" /><Relationship Type="http://schemas.openxmlformats.org/officeDocument/2006/relationships/notesSlide" Target="/ppt/notesSlides/notesSlide4.xml" Id="Rdce094e5fc774a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14d269409af4697" /><Relationship Type="http://schemas.openxmlformats.org/officeDocument/2006/relationships/notesSlide" Target="/ppt/notesSlides/notesSlide5.xml" Id="R3bf09e8e47f34d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fd153a8e91e4876" /><Relationship Type="http://schemas.openxmlformats.org/officeDocument/2006/relationships/notesSlide" Target="/ppt/notesSlides/notesSlide6.xml" Id="R39d3923055d44a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f9e4e064504db5" /><Relationship Type="http://schemas.openxmlformats.org/officeDocument/2006/relationships/notesSlide" Target="/ppt/notesSlides/notesSlide7.xml" Id="R6c940f48314649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ea264b9d6ac4747" /><Relationship Type="http://schemas.openxmlformats.org/officeDocument/2006/relationships/notesSlide" Target="/ppt/notesSlides/notesSlide8.xml" Id="R5facee69b23147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1bc67e7a266415b" /><Relationship Type="http://schemas.openxmlformats.org/officeDocument/2006/relationships/notesSlide" Target="/ppt/notesSlides/notesSlide9.xml" Id="R27aee9b3aea04a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38c879576844c5e" /><Relationship Type="http://schemas.openxmlformats.org/officeDocument/2006/relationships/notesSlide" Target="/ppt/notesSlides/notesSlide10.xml" Id="R4e5002efd00245f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59d0faec4a0470d" /><Relationship Type="http://schemas.openxmlformats.org/officeDocument/2006/relationships/notesSlide" Target="/ppt/notesSlides/notesSlide11.xml" Id="R88d3b0d8176a40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e2814c5dc54480d" /><Relationship Type="http://schemas.openxmlformats.org/officeDocument/2006/relationships/notesSlide" Target="/ppt/notesSlides/notesSlide12.xml" Id="R5a5f0cab7e5349e1"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87A3DBC9-B5AC-4421-B249-B39FC0C5283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ourse-title">
            <a:extLst xmlns:a="http://schemas.openxmlformats.org/drawingml/2006/main">
              <a:ext uri="{FF2B5EF4-FFF2-40B4-BE49-F238E27FC236}">
                <a16:creationId xmlns:a16="http://schemas.microsoft.com/office/drawing/2014/main" id="{7ABEC646-6430-49C0-A53D-1886931D0A97}"/>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6DA22EA6-EAA6-4733-BD7C-230F0A772EA7}"/>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05</a:t>
            </a:r>
          </a:p>
        </p:txBody>
      </p:sp>
      <p:sp>
        <p:nvSpPr>
          <p:cNvPr id="4" name="deck-title">
            <a:extLst xmlns:a="http://schemas.openxmlformats.org/drawingml/2006/main">
              <a:ext uri="{FF2B5EF4-FFF2-40B4-BE49-F238E27FC236}">
                <a16:creationId xmlns:a16="http://schemas.microsoft.com/office/drawing/2014/main" id="{1717A8A7-C307-45D1-B829-CC19174E9E17}"/>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Tool Use, MCP, and Frameworks</a:t>
            </a:r>
          </a:p>
        </p:txBody>
      </p:sp>
      <p:sp>
        <p:nvSpPr>
          <p:cNvPr id="5" name="deck-thesis">
            <a:extLst xmlns:a="http://schemas.openxmlformats.org/drawingml/2006/main">
              <a:ext uri="{FF2B5EF4-FFF2-40B4-BE49-F238E27FC236}">
                <a16:creationId xmlns:a16="http://schemas.microsoft.com/office/drawing/2014/main" id="{36E3B49B-4019-45B6-876E-CC3C8F551EBE}"/>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Tools are typed prompts at a security boundary; MCP standardizes their integration, while frameworks organize control and state.</a:t>
            </a:r>
          </a:p>
        </p:txBody>
      </p:sp>
      <p:sp>
        <p:nvSpPr>
          <p:cNvPr id="6" name="title-marker">
            <a:extLst xmlns:a="http://schemas.openxmlformats.org/drawingml/2006/main">
              <a:ext uri="{FF2B5EF4-FFF2-40B4-BE49-F238E27FC236}">
                <a16:creationId xmlns:a16="http://schemas.microsoft.com/office/drawing/2014/main" id="{59374889-1ADE-4BED-936B-F96483754E5A}"/>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7" name="title-marker-text">
            <a:extLst xmlns:a="http://schemas.openxmlformats.org/drawingml/2006/main">
              <a:ext uri="{FF2B5EF4-FFF2-40B4-BE49-F238E27FC236}">
                <a16:creationId xmlns:a16="http://schemas.microsoft.com/office/drawing/2014/main" id="{4A7E9F50-5209-4824-A53A-9E6B889FF8F5}"/>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202125635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18B58ED0-5AB2-48D7-B45B-42B755733D2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7CA1CEE2-AA25-4864-8501-DAB42FCC5B22}"/>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05</a:t>
            </a:r>
          </a:p>
        </p:txBody>
      </p:sp>
      <p:sp>
        <p:nvSpPr>
          <p:cNvPr id="3" name="slide-number">
            <a:extLst xmlns:a="http://schemas.openxmlformats.org/drawingml/2006/main">
              <a:ext uri="{FF2B5EF4-FFF2-40B4-BE49-F238E27FC236}">
                <a16:creationId xmlns:a16="http://schemas.microsoft.com/office/drawing/2014/main" id="{2110BDE1-D1A1-4342-BBF7-265C83244D3D}"/>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7958D0F4-710E-487A-A69A-CC35FFDD76A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objectives-title">
            <a:extLst xmlns:a="http://schemas.openxmlformats.org/drawingml/2006/main">
              <a:ext uri="{FF2B5EF4-FFF2-40B4-BE49-F238E27FC236}">
                <a16:creationId xmlns:a16="http://schemas.microsoft.com/office/drawing/2014/main" id="{8F0BEED4-E7DD-4025-9A36-1710C7FF413F}"/>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E35B3B08-B75B-4686-A6BF-DC8887D40D3A}"/>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51660D29-ED6B-4692-AC21-6BDC8E0EF8EE}"/>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Design reliable tool schemas</a:t>
            </a:r>
          </a:p>
        </p:txBody>
      </p:sp>
      <p:sp>
        <p:nvSpPr>
          <p:cNvPr id="8" name="objective-number-2">
            <a:extLst xmlns:a="http://schemas.openxmlformats.org/drawingml/2006/main">
              <a:ext uri="{FF2B5EF4-FFF2-40B4-BE49-F238E27FC236}">
                <a16:creationId xmlns:a16="http://schemas.microsoft.com/office/drawing/2014/main" id="{CC4E9756-CCB1-4D2E-BF61-0A64568DD790}"/>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CFC3853B-FF27-432B-B1D6-C3955C5B8DE9}"/>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Explain the model-runtime-tool cycle</a:t>
            </a:r>
          </a:p>
        </p:txBody>
      </p:sp>
      <p:sp>
        <p:nvSpPr>
          <p:cNvPr id="10" name="objective-number-3">
            <a:extLst xmlns:a="http://schemas.openxmlformats.org/drawingml/2006/main">
              <a:ext uri="{FF2B5EF4-FFF2-40B4-BE49-F238E27FC236}">
                <a16:creationId xmlns:a16="http://schemas.microsoft.com/office/drawing/2014/main" id="{B97B89B1-0C40-4E5A-BB37-885BE322F938}"/>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588D5C6D-D5CF-4ECF-A90D-C3E97A9730F1}"/>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Describe MCP primitives and transports</a:t>
            </a:r>
          </a:p>
        </p:txBody>
      </p:sp>
      <p:sp>
        <p:nvSpPr>
          <p:cNvPr id="12" name="objective-number-4">
            <a:extLst xmlns:a="http://schemas.openxmlformats.org/drawingml/2006/main">
              <a:ext uri="{FF2B5EF4-FFF2-40B4-BE49-F238E27FC236}">
                <a16:creationId xmlns:a16="http://schemas.microsoft.com/office/drawing/2014/main" id="{88E44937-16EB-490D-AAB0-55EB3008D6BF}"/>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02DE8B1F-5F02-4D3A-84E9-AFBB9D40580F}"/>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Choose raw APIs or a framework</a:t>
            </a:r>
          </a:p>
        </p:txBody>
      </p:sp>
    </p:spTree>
    <p:extLst>
      <p:ext uri="{BB962C8B-B14F-4D97-AF65-F5344CB8AC3E}">
        <p14:creationId xmlns:p14="http://schemas.microsoft.com/office/powerpoint/2010/main" val="66724541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236B9FC1-321D-4CCE-8640-5DB6FBF7AF7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39128FD-5996-4CFC-A319-DC167BF2AAB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05</a:t>
            </a:r>
          </a:p>
        </p:txBody>
      </p:sp>
      <p:sp>
        <p:nvSpPr>
          <p:cNvPr id="3" name="slide-number">
            <a:extLst xmlns:a="http://schemas.openxmlformats.org/drawingml/2006/main">
              <a:ext uri="{FF2B5EF4-FFF2-40B4-BE49-F238E27FC236}">
                <a16:creationId xmlns:a16="http://schemas.microsoft.com/office/drawing/2014/main" id="{C6EE8FEF-0F1E-490B-A8B4-C64037D2A17F}"/>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03241962-8375-4935-A4B6-100BD57FDCF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EE8F8690-46C9-427A-8ECD-57EA3812FCCB}"/>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A tool is a typed contract, not direct model access</a:t>
            </a:r>
          </a:p>
        </p:txBody>
      </p:sp>
      <p:sp>
        <p:nvSpPr>
          <p:cNvPr id="6" name="section-explanation">
            <a:extLst xmlns:a="http://schemas.openxmlformats.org/drawingml/2006/main">
              <a:ext uri="{FF2B5EF4-FFF2-40B4-BE49-F238E27FC236}">
                <a16:creationId xmlns:a16="http://schemas.microsoft.com/office/drawing/2014/main" id="{792D4340-0B71-4073-868E-54B6536B0E2E}"/>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 tool definition names an operation, explains when to use it, and defines typed parameters. The model emits a name and arguments; the runtime validates, authorizes, executes, and returns the result to context.</a:t>
            </a:r>
          </a:p>
        </p:txBody>
      </p:sp>
      <p:sp>
        <p:nvSpPr>
          <p:cNvPr id="7" name="column-rule">
            <a:extLst xmlns:a="http://schemas.openxmlformats.org/drawingml/2006/main">
              <a:ext uri="{FF2B5EF4-FFF2-40B4-BE49-F238E27FC236}">
                <a16:creationId xmlns:a16="http://schemas.microsoft.com/office/drawing/2014/main" id="{B846B7DC-410C-45BE-ACA9-D1387074AF17}"/>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8310B6BD-8680-4B17-9900-DC7347BEA8AE}"/>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The model never directly touches the external API.</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Schema validity must be followed by policy validation.</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Tool results are untrusted inputs to the next model step.</a:t>
            </a:r>
          </a:p>
        </p:txBody>
      </p:sp>
    </p:spTree>
    <p:extLst>
      <p:ext uri="{BB962C8B-B14F-4D97-AF65-F5344CB8AC3E}">
        <p14:creationId xmlns:p14="http://schemas.microsoft.com/office/powerpoint/2010/main" val="1393380632"/>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07087C35-3239-4A5F-855C-13C9B204F20C}"/>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B0C31DF0-C648-4659-8EF5-377D3E3EFF2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05</a:t>
            </a:r>
          </a:p>
        </p:txBody>
      </p:sp>
      <p:sp>
        <p:nvSpPr>
          <p:cNvPr id="3" name="slide-number">
            <a:extLst xmlns:a="http://schemas.openxmlformats.org/drawingml/2006/main">
              <a:ext uri="{FF2B5EF4-FFF2-40B4-BE49-F238E27FC236}">
                <a16:creationId xmlns:a16="http://schemas.microsoft.com/office/drawing/2014/main" id="{E7599DDB-0763-4530-85EB-7FAABCABA793}"/>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C591DB8F-9BA7-4B50-89EA-B58B2C4695BE}"/>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2DC3DBB2-D1EE-4C6F-B1D8-B876C1E7D9E3}"/>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Tool descriptions are prompts</a:t>
            </a:r>
          </a:p>
        </p:txBody>
      </p:sp>
      <p:sp>
        <p:nvSpPr>
          <p:cNvPr id="6" name="section-explanation">
            <a:extLst xmlns:a="http://schemas.openxmlformats.org/drawingml/2006/main">
              <a:ext uri="{FF2B5EF4-FFF2-40B4-BE49-F238E27FC236}">
                <a16:creationId xmlns:a16="http://schemas.microsoft.com/office/drawing/2014/main" id="{C5240E55-5A9D-4B7E-864F-A996508B9616}"/>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Models select and fill tools from their specifications, so names, descriptions, examples, parameter types, and error messages directly affect behavior. Good granularity avoids both excessive micro-calls and confusing mega-tools.</a:t>
            </a:r>
          </a:p>
        </p:txBody>
      </p:sp>
      <p:sp>
        <p:nvSpPr>
          <p:cNvPr id="7" name="point-band-1">
            <a:extLst xmlns:a="http://schemas.openxmlformats.org/drawingml/2006/main">
              <a:ext uri="{FF2B5EF4-FFF2-40B4-BE49-F238E27FC236}">
                <a16:creationId xmlns:a16="http://schemas.microsoft.com/office/drawing/2014/main" id="{CF756073-66E1-4B0C-B0BF-7A55EDC192BF}"/>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08FC934D-3802-4AF9-9386-47C51D26C7C1}"/>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Prefer minimal parameters and enums over unconstrained text.</a:t>
            </a:r>
          </a:p>
        </p:txBody>
      </p:sp>
      <p:sp>
        <p:nvSpPr>
          <p:cNvPr id="9" name="point-band-2">
            <a:extLst xmlns:a="http://schemas.openxmlformats.org/drawingml/2006/main">
              <a:ext uri="{FF2B5EF4-FFF2-40B4-BE49-F238E27FC236}">
                <a16:creationId xmlns:a16="http://schemas.microsoft.com/office/drawing/2014/main" id="{9F0A1CDC-897B-4630-AC0B-48941A81AAC3}"/>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0F5FFE45-34A4-4B5B-8801-76D406BB144D}"/>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Return actionable errors rather than stack traces.</a:t>
            </a:r>
          </a:p>
        </p:txBody>
      </p:sp>
      <p:sp>
        <p:nvSpPr>
          <p:cNvPr id="11" name="point-band-3">
            <a:extLst xmlns:a="http://schemas.openxmlformats.org/drawingml/2006/main">
              <a:ext uri="{FF2B5EF4-FFF2-40B4-BE49-F238E27FC236}">
                <a16:creationId xmlns:a16="http://schemas.microsoft.com/office/drawing/2014/main" id="{FE9CA975-92B7-428D-BEBE-127528620546}"/>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CCA9312A-853B-463A-B89F-6CE1A334CC5E}"/>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Make retry-prone operations idempotent.</a:t>
            </a:r>
          </a:p>
        </p:txBody>
      </p:sp>
      <p:sp>
        <p:nvSpPr>
          <p:cNvPr id="13" name="point-band-4">
            <a:extLst xmlns:a="http://schemas.openxmlformats.org/drawingml/2006/main">
              <a:ext uri="{FF2B5EF4-FFF2-40B4-BE49-F238E27FC236}">
                <a16:creationId xmlns:a16="http://schemas.microsoft.com/office/drawing/2014/main" id="{6FBA096B-870C-4F93-A719-41540585304F}"/>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7FB4CB80-4453-4EE4-99F6-0F14B72488C7}"/>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Gate destructive or irreversible actions.</a:t>
            </a:r>
          </a:p>
        </p:txBody>
      </p:sp>
    </p:spTree>
    <p:extLst>
      <p:ext uri="{BB962C8B-B14F-4D97-AF65-F5344CB8AC3E}">
        <p14:creationId xmlns:p14="http://schemas.microsoft.com/office/powerpoint/2010/main" val="1624738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96963BEB-C30A-4F08-B7EC-22CC0FB8B853}"/>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7CD0665-2CB4-4D3B-9A85-4E366061BDB5}"/>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05</a:t>
            </a:r>
          </a:p>
        </p:txBody>
      </p:sp>
      <p:sp>
        <p:nvSpPr>
          <p:cNvPr id="3" name="slide-number">
            <a:extLst xmlns:a="http://schemas.openxmlformats.org/drawingml/2006/main">
              <a:ext uri="{FF2B5EF4-FFF2-40B4-BE49-F238E27FC236}">
                <a16:creationId xmlns:a16="http://schemas.microsoft.com/office/drawing/2014/main" id="{C18CE2BC-BD0B-44B6-A5D0-63E6D66C1D53}"/>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2BE67D2A-803F-4A9C-9EC0-1F100ADBA6F6}"/>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615B39FB-3806-4D08-BCFC-403C9CDD9E30}"/>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The runtime is the security boundary</a:t>
            </a:r>
          </a:p>
        </p:txBody>
      </p:sp>
      <p:sp>
        <p:nvSpPr>
          <p:cNvPr id="6" name="section-explanation">
            <a:extLst xmlns:a="http://schemas.openxmlformats.org/drawingml/2006/main">
              <a:ext uri="{FF2B5EF4-FFF2-40B4-BE49-F238E27FC236}">
                <a16:creationId xmlns:a16="http://schemas.microsoft.com/office/drawing/2014/main" id="{0BE60ACF-04E9-45D5-AE33-C2F393CC4A6F}"/>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Model-generated arguments must be treated as attacker-controlled input. Runtime controls include sanitization, least-privilege credentials, read-only defaults, sandboxing, rate limits, audit logs, and confirmation.</a:t>
            </a:r>
          </a:p>
        </p:txBody>
      </p:sp>
      <p:sp>
        <p:nvSpPr>
          <p:cNvPr id="7" name="column-rule">
            <a:extLst xmlns:a="http://schemas.openxmlformats.org/drawingml/2006/main">
              <a:ext uri="{FF2B5EF4-FFF2-40B4-BE49-F238E27FC236}">
                <a16:creationId xmlns:a16="http://schemas.microsoft.com/office/drawing/2014/main" id="{31FD18CC-6206-4116-81C0-E1AC53D791D9}"/>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F9CDEB8D-0BCF-423E-8755-227C38460336}"/>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Do not execute raw model strings with unsafe evaluators.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Restrict filesystem and network scopes.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Separate proposing an action from authorizing it.</a:t>
            </a:r>
          </a:p>
        </p:txBody>
      </p:sp>
    </p:spTree>
    <p:extLst>
      <p:ext uri="{BB962C8B-B14F-4D97-AF65-F5344CB8AC3E}">
        <p14:creationId xmlns:p14="http://schemas.microsoft.com/office/powerpoint/2010/main" val="86977901"/>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3" name="accent-line">
            <a:extLst xmlns:a="http://schemas.openxmlformats.org/drawingml/2006/main">
              <a:ext uri="{FF2B5EF4-FFF2-40B4-BE49-F238E27FC236}">
                <a16:creationId xmlns:a16="http://schemas.microsoft.com/office/drawing/2014/main" id="{11CA5AFE-D734-4B73-B4EF-3B9D785394E4}"/>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F5FCDB13-E8FC-419F-A84B-722B9DCE190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05</a:t>
            </a:r>
          </a:p>
        </p:txBody>
      </p:sp>
      <p:sp>
        <p:nvSpPr>
          <p:cNvPr id="3" name="slide-number">
            <a:extLst xmlns:a="http://schemas.openxmlformats.org/drawingml/2006/main">
              <a:ext uri="{FF2B5EF4-FFF2-40B4-BE49-F238E27FC236}">
                <a16:creationId xmlns:a16="http://schemas.microsoft.com/office/drawing/2014/main" id="{E0CEFCFC-1621-4D36-A14B-17365D47A57F}"/>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104B726B-EDB5-4C9F-A737-51D271186454}"/>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E45284C3-2094-4576-B45C-6EE8E37ECFB3}"/>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MCP replaces bespoke N-by-M integration</a:t>
            </a:r>
          </a:p>
        </p:txBody>
      </p:sp>
      <p:sp>
        <p:nvSpPr>
          <p:cNvPr id="6" name="section-explanation">
            <a:extLst xmlns:a="http://schemas.openxmlformats.org/drawingml/2006/main">
              <a:ext uri="{FF2B5EF4-FFF2-40B4-BE49-F238E27FC236}">
                <a16:creationId xmlns:a16="http://schemas.microsoft.com/office/drawing/2014/main" id="{5CB4A544-9D7D-4CE2-AFCA-49EE6CE6F6C6}"/>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Without a standard, every agent must be wired separately to every tool. The Model Context Protocol provides a shared JSON-RPC interface so hosts can connect to reusable servers, changing integration growth from N multiplied by M toward N plus M.</a:t>
            </a:r>
          </a:p>
        </p:txBody>
      </p:sp>
      <p:sp>
        <p:nvSpPr>
          <p:cNvPr id="7" name="point-band-1">
            <a:extLst xmlns:a="http://schemas.openxmlformats.org/drawingml/2006/main">
              <a:ext uri="{FF2B5EF4-FFF2-40B4-BE49-F238E27FC236}">
                <a16:creationId xmlns:a16="http://schemas.microsoft.com/office/drawing/2014/main" id="{814A5C53-A079-4412-8116-10FD819DE810}"/>
              </a:ext>
            </a:extLst>
          </p:cNvPr>
          <p:cNvSpPr>
            <a:spLocks xmlns:a="http://schemas.openxmlformats.org/drawingml/2006/main" noGrp="1"/>
          </p:cNvSpPr>
          <p:nvPr/>
        </p:nvSpPr>
        <p:spPr>
          <a:xfrm xmlns:a="http://schemas.openxmlformats.org/drawingml/2006/main">
            <a:off x="3905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06655A85-D836-46F8-83EB-2D1EA0FC5D2B}"/>
              </a:ext>
            </a:extLst>
          </p:cNvPr>
          <p:cNvSpPr>
            <a:spLocks xmlns:a="http://schemas.openxmlformats.org/drawingml/2006/main" noGrp="1"/>
          </p:cNvSpPr>
          <p:nvPr/>
        </p:nvSpPr>
        <p:spPr>
          <a:xfrm xmlns:a="http://schemas.openxmlformats.org/drawingml/2006/main">
            <a:off x="3905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Tools expose actions with possible side effects.</a:t>
            </a:r>
          </a:p>
        </p:txBody>
      </p:sp>
      <p:sp>
        <p:nvSpPr>
          <p:cNvPr id="9" name="point-band-2">
            <a:extLst xmlns:a="http://schemas.openxmlformats.org/drawingml/2006/main">
              <a:ext uri="{FF2B5EF4-FFF2-40B4-BE49-F238E27FC236}">
                <a16:creationId xmlns:a16="http://schemas.microsoft.com/office/drawing/2014/main" id="{9E06BBE5-CD99-41EF-87AF-23CD1F44C123}"/>
              </a:ext>
            </a:extLst>
          </p:cNvPr>
          <p:cNvSpPr>
            <a:spLocks xmlns:a="http://schemas.openxmlformats.org/drawingml/2006/main" noGrp="1"/>
          </p:cNvSpPr>
          <p:nvPr/>
        </p:nvSpPr>
        <p:spPr>
          <a:xfrm xmlns:a="http://schemas.openxmlformats.org/drawingml/2006/main">
            <a:off x="409257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8A4EE8FC-154C-4004-961C-E1F7D8CE8BD1}"/>
              </a:ext>
            </a:extLst>
          </p:cNvPr>
          <p:cNvSpPr>
            <a:spLocks xmlns:a="http://schemas.openxmlformats.org/drawingml/2006/main" noGrp="1"/>
          </p:cNvSpPr>
          <p:nvPr/>
        </p:nvSpPr>
        <p:spPr>
          <a:xfrm xmlns:a="http://schemas.openxmlformats.org/drawingml/2006/main">
            <a:off x="409257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Resources expose read-only context.</a:t>
            </a:r>
          </a:p>
        </p:txBody>
      </p:sp>
      <p:sp>
        <p:nvSpPr>
          <p:cNvPr id="11" name="point-band-3">
            <a:extLst xmlns:a="http://schemas.openxmlformats.org/drawingml/2006/main">
              <a:ext uri="{FF2B5EF4-FFF2-40B4-BE49-F238E27FC236}">
                <a16:creationId xmlns:a16="http://schemas.microsoft.com/office/drawing/2014/main" id="{F3F95C48-460A-42B4-A478-CE608ECDA1C8}"/>
              </a:ext>
            </a:extLst>
          </p:cNvPr>
          <p:cNvSpPr>
            <a:spLocks xmlns:a="http://schemas.openxmlformats.org/drawingml/2006/main" noGrp="1"/>
          </p:cNvSpPr>
          <p:nvPr/>
        </p:nvSpPr>
        <p:spPr>
          <a:xfrm xmlns:a="http://schemas.openxmlformats.org/drawingml/2006/main">
            <a:off x="7794625" y="4048125"/>
            <a:ext cx="3435350"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21E46560-5C9D-4277-97BC-89DA0736EEDC}"/>
              </a:ext>
            </a:extLst>
          </p:cNvPr>
          <p:cNvSpPr>
            <a:spLocks xmlns:a="http://schemas.openxmlformats.org/drawingml/2006/main" noGrp="1"/>
          </p:cNvSpPr>
          <p:nvPr/>
        </p:nvSpPr>
        <p:spPr>
          <a:xfrm xmlns:a="http://schemas.openxmlformats.org/drawingml/2006/main">
            <a:off x="7794625" y="4324350"/>
            <a:ext cx="34353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Prompts expose reusable interaction templates.</a:t>
            </a:r>
          </a:p>
        </p:txBody>
      </p:sp>
    </p:spTree>
    <p:extLst>
      <p:ext uri="{BB962C8B-B14F-4D97-AF65-F5344CB8AC3E}">
        <p14:creationId xmlns:p14="http://schemas.microsoft.com/office/powerpoint/2010/main" val="9055963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28062BD3-70DB-4680-B24F-AD411FB5A126}"/>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7F13DA24-DA13-405C-A156-2C5692EEC32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05</a:t>
            </a:r>
          </a:p>
        </p:txBody>
      </p:sp>
      <p:sp>
        <p:nvSpPr>
          <p:cNvPr id="3" name="slide-number">
            <a:extLst xmlns:a="http://schemas.openxmlformats.org/drawingml/2006/main">
              <a:ext uri="{FF2B5EF4-FFF2-40B4-BE49-F238E27FC236}">
                <a16:creationId xmlns:a16="http://schemas.microsoft.com/office/drawing/2014/main" id="{B4C4BF9B-DE59-4BE7-9CA5-B5A73A532F23}"/>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5A5DE91F-63AF-4109-85E0-D247D36985A7}"/>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A985F080-1ADB-4BC0-A763-22A2925F9FB8}"/>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MCP capabilities depend on the selected version</a:t>
            </a:r>
          </a:p>
        </p:txBody>
      </p:sp>
      <p:sp>
        <p:nvSpPr>
          <p:cNvPr id="6" name="section-explanation">
            <a:extLst xmlns:a="http://schemas.openxmlformats.org/drawingml/2006/main">
              <a:ext uri="{FF2B5EF4-FFF2-40B4-BE49-F238E27FC236}">
                <a16:creationId xmlns:a16="http://schemas.microsoft.com/office/drawing/2014/main" id="{E6F980D3-80D1-487F-B027-46CFB6C128B0}"/>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For the MCP 2025-11-25 baseline, servers expose tools, resources, and prompts. Clients can support sampling, roots, and elicitation. This edition discusses stdio and Streamable HTTP and requires implementations to enforce access controls.</a:t>
            </a:r>
          </a:p>
        </p:txBody>
      </p:sp>
      <p:sp>
        <p:nvSpPr>
          <p:cNvPr id="7" name="column-rule">
            <a:extLst xmlns:a="http://schemas.openxmlformats.org/drawingml/2006/main">
              <a:ext uri="{FF2B5EF4-FFF2-40B4-BE49-F238E27FC236}">
                <a16:creationId xmlns:a16="http://schemas.microsoft.com/office/drawing/2014/main" id="{1F6E86F0-459C-4991-9255-9239B7B91549}"/>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31B7DCA7-00B6-441F-96AE-0C17A12B8495}"/>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Sampling lets a server request host-model generation.</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Roots advertise filesystem context. Implementations enforce access.</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Elicitation asks the user for input during a task.</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Transport choice changes deployment and trust assumptions.</a:t>
            </a:r>
          </a:p>
        </p:txBody>
      </p:sp>
    </p:spTree>
    <p:extLst>
      <p:ext uri="{BB962C8B-B14F-4D97-AF65-F5344CB8AC3E}">
        <p14:creationId xmlns:p14="http://schemas.microsoft.com/office/powerpoint/2010/main" val="584028195"/>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0F011F2D-2A73-408F-831E-35DA9E986F8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9796CEDE-FED7-4D29-9A73-636A36668C2C}"/>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05</a:t>
            </a:r>
          </a:p>
        </p:txBody>
      </p:sp>
      <p:sp>
        <p:nvSpPr>
          <p:cNvPr id="3" name="slide-number">
            <a:extLst xmlns:a="http://schemas.openxmlformats.org/drawingml/2006/main">
              <a:ext uri="{FF2B5EF4-FFF2-40B4-BE49-F238E27FC236}">
                <a16:creationId xmlns:a16="http://schemas.microsoft.com/office/drawing/2014/main" id="{CC0FF417-30CD-44AA-AFA9-E9057C666B6E}"/>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6FF60E39-61E5-42AF-BBB7-C811C9DA96A2}"/>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AB672D6B-D0C4-40C3-88A7-9D0AE6EA6743}"/>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Frameworks package orchestration, not understanding</a:t>
            </a:r>
          </a:p>
        </p:txBody>
      </p:sp>
      <p:sp>
        <p:nvSpPr>
          <p:cNvPr id="6" name="section-explanation">
            <a:extLst xmlns:a="http://schemas.openxmlformats.org/drawingml/2006/main">
              <a:ext uri="{FF2B5EF4-FFF2-40B4-BE49-F238E27FC236}">
                <a16:creationId xmlns:a16="http://schemas.microsoft.com/office/drawing/2014/main" id="{854592B3-ABA7-4F47-8094-B5AEB7E4E106}"/>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Frameworks provide loops or state graphs, persistence, streaming, tool integration, observability, memory, and human-in-the-loop hooks. Raw APIs suit simple or highly controlled agents; frameworks help when state and coordination become first-class.</a:t>
            </a:r>
          </a:p>
        </p:txBody>
      </p:sp>
      <p:sp>
        <p:nvSpPr>
          <p:cNvPr id="7" name="point-band-1">
            <a:extLst xmlns:a="http://schemas.openxmlformats.org/drawingml/2006/main">
              <a:ext uri="{FF2B5EF4-FFF2-40B4-BE49-F238E27FC236}">
                <a16:creationId xmlns:a16="http://schemas.microsoft.com/office/drawing/2014/main" id="{44378BA8-E886-4523-B639-CA7D2FD9CCF2}"/>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F244FD4D-51BF-4288-B27F-A56FA1E42718}"/>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LangGraph represents nodes, edges, conditional control, and shared state.</a:t>
            </a:r>
          </a:p>
        </p:txBody>
      </p:sp>
      <p:sp>
        <p:nvSpPr>
          <p:cNvPr id="9" name="point-band-2">
            <a:extLst xmlns:a="http://schemas.openxmlformats.org/drawingml/2006/main">
              <a:ext uri="{FF2B5EF4-FFF2-40B4-BE49-F238E27FC236}">
                <a16:creationId xmlns:a16="http://schemas.microsoft.com/office/drawing/2014/main" id="{59CC7763-6886-480E-B1D4-73441834047C}"/>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C02C8CE0-F28B-4B9B-AFBF-73103632F739}"/>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Crew-style systems emphasize role-based multi-agent work.</a:t>
            </a:r>
          </a:p>
        </p:txBody>
      </p:sp>
      <p:sp>
        <p:nvSpPr>
          <p:cNvPr id="11" name="point-band-3">
            <a:extLst xmlns:a="http://schemas.openxmlformats.org/drawingml/2006/main">
              <a:ext uri="{FF2B5EF4-FFF2-40B4-BE49-F238E27FC236}">
                <a16:creationId xmlns:a16="http://schemas.microsoft.com/office/drawing/2014/main" id="{8533A563-B810-40F2-851F-1885536DBCD7}"/>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824F340D-39AA-461C-A5DF-2C111A4D63DD}"/>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Understand prompts and boundaries before adding framework abstraction.</a:t>
            </a:r>
          </a:p>
        </p:txBody>
      </p:sp>
      <p:sp>
        <p:nvSpPr>
          <p:cNvPr id="13" name="point-band-4">
            <a:extLst xmlns:a="http://schemas.openxmlformats.org/drawingml/2006/main">
              <a:ext uri="{FF2B5EF4-FFF2-40B4-BE49-F238E27FC236}">
                <a16:creationId xmlns:a16="http://schemas.microsoft.com/office/drawing/2014/main" id="{DAD514FF-0963-4EC8-8F18-DB084D1DCD95}"/>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08F0B732-4D58-448A-BA5A-6CFBD740CF6F}"/>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MCP standardizes tools; A2A standardizes agent-to-agent collaboration.</a:t>
            </a:r>
          </a:p>
        </p:txBody>
      </p:sp>
    </p:spTree>
    <p:extLst>
      <p:ext uri="{BB962C8B-B14F-4D97-AF65-F5344CB8AC3E}">
        <p14:creationId xmlns:p14="http://schemas.microsoft.com/office/powerpoint/2010/main" val="4063045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DD998006-76F9-4D55-A7D8-FA6467F2E24D}"/>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DCBCD9CE-9AC1-4659-A9FA-5B364138A46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07  /  05</a:t>
            </a:r>
          </a:p>
        </p:txBody>
      </p:sp>
      <p:sp>
        <p:nvSpPr>
          <p:cNvPr id="3" name="slide-number">
            <a:extLst xmlns:a="http://schemas.openxmlformats.org/drawingml/2006/main">
              <a:ext uri="{FF2B5EF4-FFF2-40B4-BE49-F238E27FC236}">
                <a16:creationId xmlns:a16="http://schemas.microsoft.com/office/drawing/2014/main" id="{912FB1E4-8E95-4E8F-A0A4-E87884D2C8AA}"/>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DEE27281-7A2C-4083-BE44-CCAC7B5AA2B9}"/>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section-title">
            <a:extLst xmlns:a="http://schemas.openxmlformats.org/drawingml/2006/main">
              <a:ext uri="{FF2B5EF4-FFF2-40B4-BE49-F238E27FC236}">
                <a16:creationId xmlns:a16="http://schemas.microsoft.com/office/drawing/2014/main" id="{15219AAA-96CC-4720-85DE-D5EFAA86C366}"/>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Tool interfaces and authority need separate checks</a:t>
            </a:r>
          </a:p>
        </p:txBody>
      </p:sp>
      <p:sp>
        <p:nvSpPr>
          <p:cNvPr id="6" name="section-explanation">
            <a:extLst xmlns:a="http://schemas.openxmlformats.org/drawingml/2006/main">
              <a:ext uri="{FF2B5EF4-FFF2-40B4-BE49-F238E27FC236}">
                <a16:creationId xmlns:a16="http://schemas.microsoft.com/office/drawing/2014/main" id="{176DE62C-2E0F-41A6-A499-168D94D0D64A}"/>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The labs use Gemini native calls and the OpenAI Agents SDK compatibility path. They expose local functions with explicit input limits. MCP descriptions and roots convey context, while the host and server implementations enforce access.</a:t>
            </a:r>
          </a:p>
        </p:txBody>
      </p:sp>
      <p:sp>
        <p:nvSpPr>
          <p:cNvPr id="7" name="column-rule">
            <a:extLst xmlns:a="http://schemas.openxmlformats.org/drawingml/2006/main">
              <a:ext uri="{FF2B5EF4-FFF2-40B4-BE49-F238E27FC236}">
                <a16:creationId xmlns:a16="http://schemas.microsoft.com/office/drawing/2014/main" id="{C541660F-46AE-4EED-8B73-8D0F63DF42D9}"/>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D8C43E57-565A-44EF-A35E-4C00B2D6B57F}"/>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Reject unknown names and extra arguments before execution.</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Bound input size and arithmetic magnitude.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Check provider features rather than assuming parity.</a:t>
            </a:r>
          </a:p>
        </p:txBody>
      </p:sp>
    </p:spTree>
    <p:extLst>
      <p:ext uri="{BB962C8B-B14F-4D97-AF65-F5344CB8AC3E}">
        <p14:creationId xmlns:p14="http://schemas.microsoft.com/office/powerpoint/2010/main" val="7388419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11544139-8FE8-4296-B05B-827C142AFB4F}"/>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F6FB56DE-21DF-4A6B-A14B-89654B0FC5CA}"/>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05</a:t>
            </a:r>
          </a:p>
        </p:txBody>
      </p:sp>
      <p:sp>
        <p:nvSpPr>
          <p:cNvPr id="3" name="slide-number">
            <a:extLst xmlns:a="http://schemas.openxmlformats.org/drawingml/2006/main">
              <a:ext uri="{FF2B5EF4-FFF2-40B4-BE49-F238E27FC236}">
                <a16:creationId xmlns:a16="http://schemas.microsoft.com/office/drawing/2014/main" id="{D78AB776-DCA9-450D-8048-C4D8886586A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1988831E-6869-4D6E-B6B5-DD4BCBDA50E3}"/>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exam-title">
            <a:extLst xmlns:a="http://schemas.openxmlformats.org/drawingml/2006/main">
              <a:ext uri="{FF2B5EF4-FFF2-40B4-BE49-F238E27FC236}">
                <a16:creationId xmlns:a16="http://schemas.microsoft.com/office/drawing/2014/main" id="{4360355A-5FC7-4F63-8D81-890C57241496}"/>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EA10770C-F7D0-4AE1-AEC0-6A6A5539B33A}"/>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61DEF1F8-1F60-4914-88BA-1BD40A11BD41}"/>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Walk through the complete function-call cycle.</a:t>
            </a:r>
          </a:p>
        </p:txBody>
      </p:sp>
      <p:sp>
        <p:nvSpPr>
          <p:cNvPr id="8" name="exam-number-2">
            <a:extLst xmlns:a="http://schemas.openxmlformats.org/drawingml/2006/main">
              <a:ext uri="{FF2B5EF4-FFF2-40B4-BE49-F238E27FC236}">
                <a16:creationId xmlns:a16="http://schemas.microsoft.com/office/drawing/2014/main" id="{63AEC675-02C3-46AC-824E-D2E237FA1364}"/>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9ED29A33-EB11-4522-8189-AC0542B9CDCE}"/>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makes a tool specification model-friendly?</a:t>
            </a:r>
          </a:p>
        </p:txBody>
      </p:sp>
      <p:sp>
        <p:nvSpPr>
          <p:cNvPr id="10" name="exam-number-3">
            <a:extLst xmlns:a="http://schemas.openxmlformats.org/drawingml/2006/main">
              <a:ext uri="{FF2B5EF4-FFF2-40B4-BE49-F238E27FC236}">
                <a16:creationId xmlns:a16="http://schemas.microsoft.com/office/drawing/2014/main" id="{04AF33E3-DC1D-42F2-9404-0D2CD66CDA8E}"/>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C40BCEB2-C19D-47E4-8882-088914EBBB72}"/>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must tool results be treated as untrusted?</a:t>
            </a:r>
          </a:p>
        </p:txBody>
      </p:sp>
      <p:sp>
        <p:nvSpPr>
          <p:cNvPr id="12" name="exam-number-4">
            <a:extLst xmlns:a="http://schemas.openxmlformats.org/drawingml/2006/main">
              <a:ext uri="{FF2B5EF4-FFF2-40B4-BE49-F238E27FC236}">
                <a16:creationId xmlns:a16="http://schemas.microsoft.com/office/drawing/2014/main" id="{08DAC3B1-9D24-4FE6-AEEF-486D9BA9F36D}"/>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F426E87F-79D7-4472-B1E1-C420A4D6C05E}"/>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Explain the N-by-M problem and MCP's answer.</a:t>
            </a:r>
          </a:p>
        </p:txBody>
      </p:sp>
      <p:sp>
        <p:nvSpPr>
          <p:cNvPr id="14" name="exam-number-5">
            <a:extLst xmlns:a="http://schemas.openxmlformats.org/drawingml/2006/main">
              <a:ext uri="{FF2B5EF4-FFF2-40B4-BE49-F238E27FC236}">
                <a16:creationId xmlns:a16="http://schemas.microsoft.com/office/drawing/2014/main" id="{6969C5C8-30E7-40B3-A4AC-46A39834E032}"/>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2D036EBE-BA9A-4BBF-B112-8CE868CA157B}"/>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List server-side and client-side MCP primitives.</a:t>
            </a:r>
          </a:p>
        </p:txBody>
      </p:sp>
      <p:sp>
        <p:nvSpPr>
          <p:cNvPr id="16" name="exam-number-6">
            <a:extLst xmlns:a="http://schemas.openxmlformats.org/drawingml/2006/main">
              <a:ext uri="{FF2B5EF4-FFF2-40B4-BE49-F238E27FC236}">
                <a16:creationId xmlns:a16="http://schemas.microsoft.com/office/drawing/2014/main" id="{9CFA193A-A2E7-4EB1-9A48-749CE03ADC84}"/>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EEB4A0DC-9245-4BB1-9BCE-9DFAC81C6905}"/>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does an advertised filesystem root still need implementation-level access controls?</a:t>
            </a:r>
          </a:p>
        </p:txBody>
      </p:sp>
    </p:spTree>
    <p:extLst>
      <p:ext uri="{BB962C8B-B14F-4D97-AF65-F5344CB8AC3E}">
        <p14:creationId xmlns:p14="http://schemas.microsoft.com/office/powerpoint/2010/main" val="1022657809"/>
      </p:ext>
    </p:extLst>
  </p:cSld>
</p:sld>
</file>

<file path=ppt/slides/slide1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61704055-B2F4-4C5C-A0C4-88B3AA3D42A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142D4530-A07C-4327-B119-99DE331648C0}"/>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05</a:t>
            </a:r>
          </a:p>
        </p:txBody>
      </p:sp>
      <p:sp>
        <p:nvSpPr>
          <p:cNvPr id="3" name="slide-number">
            <a:extLst xmlns:a="http://schemas.openxmlformats.org/drawingml/2006/main">
              <a:ext uri="{FF2B5EF4-FFF2-40B4-BE49-F238E27FC236}">
                <a16:creationId xmlns:a16="http://schemas.microsoft.com/office/drawing/2014/main" id="{E9331114-60BC-4F17-8CDB-387CE99DF17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11</a:t>
            </a:r>
          </a:p>
        </p:txBody>
      </p:sp>
      <p:sp>
        <p:nvSpPr>
          <p:cNvPr id="4" name="chapter-footer">
            <a:extLst xmlns:a="http://schemas.openxmlformats.org/drawingml/2006/main">
              <a:ext uri="{FF2B5EF4-FFF2-40B4-BE49-F238E27FC236}">
                <a16:creationId xmlns:a16="http://schemas.microsoft.com/office/drawing/2014/main" id="{CE374156-E314-4674-BB07-D92F4A98C58F}"/>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closing-title">
            <a:extLst xmlns:a="http://schemas.openxmlformats.org/drawingml/2006/main">
              <a:ext uri="{FF2B5EF4-FFF2-40B4-BE49-F238E27FC236}">
                <a16:creationId xmlns:a16="http://schemas.microsoft.com/office/drawing/2014/main" id="{22BF3CE8-6DCD-4ADE-B847-F5A412E20281}"/>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1C2D8244-AB26-45CE-80FB-189AA4BF6B5F}"/>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95F2A2A6-1124-496C-B89D-10C0E6DA4A01}"/>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A model requests a tool call; a runtime decides whether to execute it.</a:t>
            </a:r>
          </a:p>
        </p:txBody>
      </p:sp>
      <p:sp>
        <p:nvSpPr>
          <p:cNvPr id="8" name="takeaway-number-2">
            <a:extLst xmlns:a="http://schemas.openxmlformats.org/drawingml/2006/main">
              <a:ext uri="{FF2B5EF4-FFF2-40B4-BE49-F238E27FC236}">
                <a16:creationId xmlns:a16="http://schemas.microsoft.com/office/drawing/2014/main" id="{9E8D5169-81FD-4BC0-AAF6-60F6564BDD92}"/>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83679B5E-09A2-4ACC-A3C7-5FE7DDF55737}"/>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Tool ergonomics strongly influence model reliability.</a:t>
            </a:r>
          </a:p>
        </p:txBody>
      </p:sp>
      <p:sp>
        <p:nvSpPr>
          <p:cNvPr id="10" name="takeaway-number-3">
            <a:extLst xmlns:a="http://schemas.openxmlformats.org/drawingml/2006/main">
              <a:ext uri="{FF2B5EF4-FFF2-40B4-BE49-F238E27FC236}">
                <a16:creationId xmlns:a16="http://schemas.microsoft.com/office/drawing/2014/main" id="{88D4BEC1-D27C-4423-B8DE-43FCB2BE2492}"/>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1092FD90-5A97-44EB-8116-289BF215701C}"/>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MCP standardizes reusable tools, resources, and prompts.</a:t>
            </a:r>
          </a:p>
        </p:txBody>
      </p:sp>
      <p:sp>
        <p:nvSpPr>
          <p:cNvPr id="12" name="takeaway-number-4">
            <a:extLst xmlns:a="http://schemas.openxmlformats.org/drawingml/2006/main">
              <a:ext uri="{FF2B5EF4-FFF2-40B4-BE49-F238E27FC236}">
                <a16:creationId xmlns:a16="http://schemas.microsoft.com/office/drawing/2014/main" id="{A4AF6BC7-7295-4B3D-B4A7-FEA226798AD9}"/>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50FFB978-0662-4A69-98EC-403F6BE42752}"/>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Frameworks are justified by stateful orchestration needs.</a:t>
            </a:r>
          </a:p>
        </p:txBody>
      </p:sp>
    </p:spTree>
    <p:extLst>
      <p:ext uri="{BB962C8B-B14F-4D97-AF65-F5344CB8AC3E}">
        <p14:creationId xmlns:p14="http://schemas.microsoft.com/office/powerpoint/2010/main" val="19831628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ccent-line">
            <a:extLst xmlns:a="http://schemas.openxmlformats.org/drawingml/2006/main">
              <a:ext uri="{FF2B5EF4-FFF2-40B4-BE49-F238E27FC236}">
                <a16:creationId xmlns:a16="http://schemas.microsoft.com/office/drawing/2014/main" id="{E77B56BE-D0F5-48D9-8D0C-4A415B70D64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85F8D672-9850-405B-96BD-2F0E2343736E}"/>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PRACTICE AND READING  /  05</a:t>
            </a:r>
          </a:p>
        </p:txBody>
      </p:sp>
      <p:sp>
        <p:nvSpPr>
          <p:cNvPr id="3" name="slide-number">
            <a:extLst xmlns:a="http://schemas.openxmlformats.org/drawingml/2006/main">
              <a:ext uri="{FF2B5EF4-FFF2-40B4-BE49-F238E27FC236}">
                <a16:creationId xmlns:a16="http://schemas.microsoft.com/office/drawing/2014/main" id="{9936A120-CF37-46F0-8154-F70E3C90293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12</a:t>
            </a:r>
          </a:p>
        </p:txBody>
      </p:sp>
      <p:sp>
        <p:nvSpPr>
          <p:cNvPr id="4" name="chapter-footer">
            <a:extLst xmlns:a="http://schemas.openxmlformats.org/drawingml/2006/main">
              <a:ext uri="{FF2B5EF4-FFF2-40B4-BE49-F238E27FC236}">
                <a16:creationId xmlns:a16="http://schemas.microsoft.com/office/drawing/2014/main" id="{E7D2A2B4-BFC5-4A46-9EC1-ED317AB6901B}"/>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Tool Use, MCP, and Frameworks</a:t>
            </a:r>
          </a:p>
        </p:txBody>
      </p:sp>
      <p:sp>
        <p:nvSpPr>
          <p:cNvPr id="5" name="practice-title">
            <a:extLst xmlns:a="http://schemas.openxmlformats.org/drawingml/2006/main">
              <a:ext uri="{FF2B5EF4-FFF2-40B4-BE49-F238E27FC236}">
                <a16:creationId xmlns:a16="http://schemas.microsoft.com/office/drawing/2014/main" id="{AF861C8F-F31B-4F8F-BFB3-D59FB643EEDA}"/>
              </a:ext>
            </a:extLst>
          </p:cNvPr>
          <p:cNvSpPr>
            <a:spLocks xmlns:a="http://schemas.openxmlformats.org/drawingml/2006/main" noGrp="1"/>
          </p:cNvSpPr>
          <p:nvPr/>
        </p:nvSpPr>
        <p:spPr>
          <a:xfrm xmlns:a="http://schemas.openxmlformats.org/drawingml/2006/main">
            <a:off x="390525" y="1000125"/>
            <a:ext cx="11144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Evidence to submit</a:t>
            </a:r>
          </a:p>
        </p:txBody>
      </p:sp>
      <p:sp>
        <p:nvSpPr>
          <p:cNvPr id="6" name="practice-task">
            <a:extLst xmlns:a="http://schemas.openxmlformats.org/drawingml/2006/main">
              <a:ext uri="{FF2B5EF4-FFF2-40B4-BE49-F238E27FC236}">
                <a16:creationId xmlns:a16="http://schemas.microsoft.com/office/drawing/2014/main" id="{A35057C9-64D8-493C-8641-8B65D2070A06}"/>
              </a:ext>
            </a:extLst>
          </p:cNvPr>
          <p:cNvSpPr>
            <a:spLocks xmlns:a="http://schemas.openxmlformats.org/drawingml/2006/main" noGrp="1"/>
          </p:cNvSpPr>
          <p:nvPr/>
        </p:nvSpPr>
        <p:spPr>
          <a:xfrm xmlns:a="http://schemas.openxmlformats.org/drawingml/2006/main">
            <a:off x="390525" y="2000250"/>
            <a:ext cx="10953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0">
                <a:solidFill>
                  <a:srgbClr val="111111"/>
                </a:solidFill>
                <a:latin typeface="Helvetica Neue"/>
                <a:ea typeface="Helvetica Neue"/>
                <a:cs typeface="Helvetica Neue"/>
              </a:defRPr>
            </a:pPr>
            <a:r>
              <a:rPr sz="1950" b="0">
                <a:solidFill>
                  <a:srgbClr val="111111"/>
                </a:solidFill>
                <a:latin typeface="Helvetica Neue"/>
                <a:ea typeface="Helvetica Neue"/>
                <a:cs typeface="Helvetica Neue"/>
              </a:rPr>
              <a:t>Complete Lab 5's dispatch policy. For the MCP 2025-11-25 baseline, explain why a roots response cannot substitute for filesystem access controls.</a:t>
            </a:r>
          </a:p>
        </p:txBody>
      </p:sp>
      <p:sp>
        <p:nvSpPr>
          <p:cNvPr id="7" name="practice-check">
            <a:extLst xmlns:a="http://schemas.openxmlformats.org/drawingml/2006/main">
              <a:ext uri="{FF2B5EF4-FFF2-40B4-BE49-F238E27FC236}">
                <a16:creationId xmlns:a16="http://schemas.microsoft.com/office/drawing/2014/main" id="{56B74765-E347-4E39-8E0D-20832E6EE53F}"/>
              </a:ext>
            </a:extLst>
          </p:cNvPr>
          <p:cNvSpPr>
            <a:spLocks xmlns:a="http://schemas.openxmlformats.org/drawingml/2006/main" noGrp="1"/>
          </p:cNvSpPr>
          <p:nvPr/>
        </p:nvSpPr>
        <p:spPr>
          <a:xfrm xmlns:a="http://schemas.openxmlformats.org/drawingml/2006/main">
            <a:off x="390525" y="3381375"/>
            <a:ext cx="10953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00" b="0">
                <a:solidFill>
                  <a:srgbClr val="5B5B57"/>
                </a:solidFill>
                <a:latin typeface="Helvetica Neue"/>
                <a:ea typeface="Helvetica Neue"/>
                <a:cs typeface="Helvetica Neue"/>
              </a:defRPr>
            </a:pPr>
            <a:r>
              <a:rPr sz="1800" b="0">
                <a:solidFill>
                  <a:srgbClr val="5B5B57"/>
                </a:solidFill>
                <a:latin typeface="Helvetica Neue"/>
                <a:ea typeface="Helvetica Neue"/>
                <a:cs typeface="Helvetica Neue"/>
              </a:rPr>
              <a:t>Reject booleans in numeric fields, nonfinite values, and oversized input. Name the component that enforces each permission.</a:t>
            </a:r>
          </a:p>
        </p:txBody>
      </p:sp>
      <p:sp>
        <p:nvSpPr>
          <p:cNvPr id="8" name="practice-readings">
            <a:extLst xmlns:a="http://schemas.openxmlformats.org/drawingml/2006/main">
              <a:ext uri="{FF2B5EF4-FFF2-40B4-BE49-F238E27FC236}">
                <a16:creationId xmlns:a16="http://schemas.microsoft.com/office/drawing/2014/main" id="{B3719561-A760-449D-B30F-745C97958069}"/>
              </a:ext>
            </a:extLst>
          </p:cNvPr>
          <p:cNvSpPr>
            <a:spLocks xmlns:a="http://schemas.openxmlformats.org/drawingml/2006/main" noGrp="1"/>
          </p:cNvSpPr>
          <p:nvPr/>
        </p:nvSpPr>
        <p:spPr>
          <a:xfrm xmlns:a="http://schemas.openxmlformats.org/drawingml/2006/main">
            <a:off x="390525" y="4667250"/>
            <a:ext cx="10953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S1  Gemini function calling</a:t>
            </a:r>
          </a:p>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S2  OpenAI Agents SDK model integration</a:t>
            </a:r>
          </a:p>
          <a:p xmlns:a="http://schemas.openxmlformats.org/drawingml/2006/main">
            <a:pPr algn="l">
              <a:defRPr sz="1425" b="0">
                <a:solidFill>
                  <a:srgbClr val="111111"/>
                </a:solidFill>
                <a:latin typeface="Helvetica Neue"/>
                <a:ea typeface="Helvetica Neue"/>
                <a:cs typeface="Helvetica Neue"/>
              </a:defRPr>
            </a:pPr>
            <a:r>
              <a:rPr sz="1425" b="0">
                <a:solidFill>
                  <a:srgbClr val="111111"/>
                </a:solidFill>
                <a:latin typeface="Helvetica Neue"/>
                <a:ea typeface="Helvetica Neue"/>
                <a:cs typeface="Helvetica Neue"/>
              </a:rPr>
              <a:t>S5  MCP roots specification 2025-11-25</a:t>
            </a:r>
          </a:p>
        </p:txBody>
      </p:sp>
      <p:sp>
        <p:nvSpPr>
          <p:cNvPr id="9" name="practice-lab">
            <a:extLst xmlns:a="http://schemas.openxmlformats.org/drawingml/2006/main">
              <a:ext uri="{FF2B5EF4-FFF2-40B4-BE49-F238E27FC236}">
                <a16:creationId xmlns:a16="http://schemas.microsoft.com/office/drawing/2014/main" id="{6E14BD8A-4B6A-4381-9174-F43DE898F5E4}"/>
              </a:ext>
            </a:extLst>
          </p:cNvPr>
          <p:cNvSpPr>
            <a:spLocks xmlns:a="http://schemas.openxmlformats.org/drawingml/2006/main" noGrp="1"/>
          </p:cNvSpPr>
          <p:nvPr/>
        </p:nvSpPr>
        <p:spPr>
          <a:xfrm xmlns:a="http://schemas.openxmlformats.org/drawingml/2006/main">
            <a:off x="390525" y="5857875"/>
            <a:ext cx="1095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defRPr sz="1275" b="0">
                <a:solidFill>
                  <a:srgbClr val="5B5B57"/>
                </a:solidFill>
                <a:latin typeface="Helvetica Neue"/>
                <a:ea typeface="Helvetica Neue"/>
                <a:cs typeface="Helvetica Neue"/>
              </a:defRPr>
            </a:pPr>
            <a:r>
              <a:rPr sz="1275" b="0">
                <a:solidFill>
                  <a:srgbClr val="5B5B57"/>
                </a:solidFill>
                <a:latin typeface="Helvetica Neue"/>
                <a:ea typeface="Helvetica Neue"/>
                <a:cs typeface="Helvetica Neue"/>
              </a:rPr>
              <a:t>labs/05_gemini_bounded_tools.ipynb</a:t>
            </a:r>
          </a:p>
        </p:txBody>
      </p:sp>
    </p:spTree>
    <p:extLst>
      <p:ext uri="{BB962C8B-B14F-4D97-AF65-F5344CB8AC3E}">
        <p14:creationId xmlns:p14="http://schemas.microsoft.com/office/powerpoint/2010/main" val="1816041549"/>
      </p:ext>
    </p:extLst>
  </p:cSld>
</p:sld>
</file>

<file path=ppt/theme/theme1.xml><?xml version="1.0" encoding="utf-8"?>
<a:theme xmlns:a="http://schemas.openxmlformats.org/drawingml/2006/main" name="Course">
  <a:themeElements>
    <a:clrScheme name="Cours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ours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
  <lastModifiedBy/>
  <dc:title>05-tools-mcp</dc:title>
  <dcterms:created xsi:type="dcterms:W3CDTF">2026-09-09T16:56:42.5500000Z</dcterms:created>
  <dcterms:modified xsi:type="dcterms:W3CDTF">2026-09-09T16:56:42.5500000Z</dcterms:modified>
</coreProperties>
</file>