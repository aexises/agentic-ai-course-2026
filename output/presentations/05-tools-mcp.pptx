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bf5863dab54b8f" /><Relationship Type="http://schemas.openxmlformats.org/officeDocument/2006/relationships/extended-properties" Target="/docProps/app.xml" Id="R3241e6fed5d94f89" /><Relationship Type="http://schemas.openxmlformats.org/officeDocument/2006/relationships/officeDocument" Target="/ppt/presentation.xml" Id="R1795ee2f758c47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23f40a1599477e"/>
  </p:sldMasterIdLst>
  <p:notesMasterIdLst>
    <p:notesMasterId xmlns:r="http://schemas.openxmlformats.org/officeDocument/2006/relationships" r:id="R2e5210e804c74a15"/>
  </p:notesMasterIdLst>
  <p:sldIdLst>
    <p:sldId xmlns:r="http://schemas.openxmlformats.org/officeDocument/2006/relationships" id="256" r:id="Red137a07b71d4dad"/>
    <p:sldId xmlns:r="http://schemas.openxmlformats.org/officeDocument/2006/relationships" id="257" r:id="R6c55db13477a4ff8"/>
    <p:sldId xmlns:r="http://schemas.openxmlformats.org/officeDocument/2006/relationships" id="258" r:id="R85be371ec3fa4664"/>
    <p:sldId xmlns:r="http://schemas.openxmlformats.org/officeDocument/2006/relationships" id="259" r:id="Ra71b6b7b3da24505"/>
    <p:sldId xmlns:r="http://schemas.openxmlformats.org/officeDocument/2006/relationships" id="260" r:id="Rcc8cf4ed93364fd9"/>
    <p:sldId xmlns:r="http://schemas.openxmlformats.org/officeDocument/2006/relationships" id="261" r:id="R59e12546ba1c439f"/>
    <p:sldId xmlns:r="http://schemas.openxmlformats.org/officeDocument/2006/relationships" id="262" r:id="Rbc2faf3d01e1400e"/>
    <p:sldId xmlns:r="http://schemas.openxmlformats.org/officeDocument/2006/relationships" id="263" r:id="Reaa7b798ac93408d"/>
    <p:sldId xmlns:r="http://schemas.openxmlformats.org/officeDocument/2006/relationships" id="264" r:id="R2caedb48ba084020"/>
    <p:sldId xmlns:r="http://schemas.openxmlformats.org/officeDocument/2006/relationships" id="265" r:id="R4ef7b956b276465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ae080b8f4a4898" /><Relationship Type="http://schemas.openxmlformats.org/officeDocument/2006/relationships/slideMaster" Target="/ppt/slideMasters/slideMaster1.xml" Id="Rae23f40a1599477e" /><Relationship Type="http://schemas.openxmlformats.org/officeDocument/2006/relationships/notesMaster" Target="/ppt/notesMasters/notesMaster1.xml" Id="R2e5210e804c74a15" /><Relationship Type="http://schemas.openxmlformats.org/officeDocument/2006/relationships/presProps" Target="/ppt/presProps.xml" Id="Rf0e82bf06e6044fc" /><Relationship Type="http://schemas.openxmlformats.org/officeDocument/2006/relationships/tableStyles" Target="/ppt/tableStyles.xml" Id="R045d39ae79d849d8" /><Relationship Type="http://schemas.openxmlformats.org/officeDocument/2006/relationships/slide" Target="/ppt/slides/slide1.xml" Id="Red137a07b71d4dad" /><Relationship Type="http://schemas.openxmlformats.org/officeDocument/2006/relationships/slide" Target="/ppt/slides/slide2.xml" Id="R6c55db13477a4ff8" /><Relationship Type="http://schemas.openxmlformats.org/officeDocument/2006/relationships/slide" Target="/ppt/slides/slide3.xml" Id="R85be371ec3fa4664" /><Relationship Type="http://schemas.openxmlformats.org/officeDocument/2006/relationships/slide" Target="/ppt/slides/slide4.xml" Id="Ra71b6b7b3da24505" /><Relationship Type="http://schemas.openxmlformats.org/officeDocument/2006/relationships/slide" Target="/ppt/slides/slide5.xml" Id="Rcc8cf4ed93364fd9" /><Relationship Type="http://schemas.openxmlformats.org/officeDocument/2006/relationships/slide" Target="/ppt/slides/slide6.xml" Id="R59e12546ba1c439f" /><Relationship Type="http://schemas.openxmlformats.org/officeDocument/2006/relationships/slide" Target="/ppt/slides/slide7.xml" Id="Rbc2faf3d01e1400e" /><Relationship Type="http://schemas.openxmlformats.org/officeDocument/2006/relationships/slide" Target="/ppt/slides/slide8.xml" Id="Reaa7b798ac93408d" /><Relationship Type="http://schemas.openxmlformats.org/officeDocument/2006/relationships/slide" Target="/ppt/slides/slide9.xml" Id="R2caedb48ba084020" /><Relationship Type="http://schemas.openxmlformats.org/officeDocument/2006/relationships/slide" Target="/ppt/slides/slide10.xml" Id="R4ef7b956b27646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aed626050f47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f6c8eb57394c5f" /><Relationship Type="http://schemas.openxmlformats.org/officeDocument/2006/relationships/notesMaster" Target="/ppt/notesMasters/notesMaster1.xml" Id="Rfea394ca498e4d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8243a0b1fa4417" /><Relationship Type="http://schemas.openxmlformats.org/officeDocument/2006/relationships/notesMaster" Target="/ppt/notesMasters/notesMaster1.xml" Id="R64eb4221781b4a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028f48f892421c" /><Relationship Type="http://schemas.openxmlformats.org/officeDocument/2006/relationships/notesMaster" Target="/ppt/notesMasters/notesMaster1.xml" Id="R3e296b7978194fa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4cc2aaf67634aaa" /><Relationship Type="http://schemas.openxmlformats.org/officeDocument/2006/relationships/notesMaster" Target="/ppt/notesMasters/notesMaster1.xml" Id="Rda6f3d6bf3eb4c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87b24396b14630" /><Relationship Type="http://schemas.openxmlformats.org/officeDocument/2006/relationships/notesMaster" Target="/ppt/notesMasters/notesMaster1.xml" Id="R7f0fa2ede3c546c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eb0fcf0bb4e484f" /><Relationship Type="http://schemas.openxmlformats.org/officeDocument/2006/relationships/notesMaster" Target="/ppt/notesMasters/notesMaster1.xml" Id="R0528a082109f454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2212d3d839c4b6a" /><Relationship Type="http://schemas.openxmlformats.org/officeDocument/2006/relationships/notesMaster" Target="/ppt/notesMasters/notesMaster1.xml" Id="R6d766f0ff6dc41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e17d5fa37774a26" /><Relationship Type="http://schemas.openxmlformats.org/officeDocument/2006/relationships/notesMaster" Target="/ppt/notesMasters/notesMaster1.xml" Id="Rc565e366dd1f4b1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1f714bdac1d4b5b" /><Relationship Type="http://schemas.openxmlformats.org/officeDocument/2006/relationships/notesMaster" Target="/ppt/notesMasters/notesMaster1.xml" Id="R4e081274890c4a7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7ebcf37eb184ed0" /><Relationship Type="http://schemas.openxmlformats.org/officeDocument/2006/relationships/notesMaster" Target="/ppt/notesMasters/notesMaster1.xml" Id="R196b55c6067d4f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chapter thesis and connect it to the previous chapter.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Supplied source presentation: 05-tools-mcp.pdf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objectives as an advance organizer and as a checklist after the deck.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Supplied source presentation: 05-tools-mcp.pdf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claim first, then use the numbered points as evidence and design consequences.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Supplied source presentation: 05-tools-mcp.pdf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Pause on the central statement, then connect the lower points as a single mental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Supplied source presentation: 05-tools-mcp.pdf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claim first, then use the numbered points as evidence and design consequences.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Supplied source presentation: 05-tools-mcp.pdf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Pause on the central statement, then connect the lower points as a single mental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Supplied source presentation: 05-tools-mcp.pdf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claim first, then use the numbered points as evidence and design consequences.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Supplied source presentation: 05-tools-mcp.pdf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Pause on the central statement, then connect the lower points as a single mental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Supplied source presentation: 05-tools-mcp.pdf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as retrieval practice. Ask for an answer that defines, compares, traces, and evaluates.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Supplied source presentation: 05-tools-mcp.pdf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restating the four durable ideas and linking forward to the next chapter.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Supplied source presentation: 05-tools-mcp.pdf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6e324268c940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f736c39d394dd3" /><Relationship Type="http://schemas.openxmlformats.org/officeDocument/2006/relationships/slideLayout" Target="/ppt/slideLayouts/slideLayout1.xml" Id="R24299d5a90004d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299d5a90004d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3216d049b44b4e" /><Relationship Type="http://schemas.openxmlformats.org/officeDocument/2006/relationships/notesSlide" Target="/ppt/notesSlides/notesSlide1.xml" Id="Rb254c5d124244d3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fc092df2ca43c0" /><Relationship Type="http://schemas.openxmlformats.org/officeDocument/2006/relationships/notesSlide" Target="/ppt/notesSlides/notesSlide2.xml" Id="R530fac804f2140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8cbf3e7ba447e0" /><Relationship Type="http://schemas.openxmlformats.org/officeDocument/2006/relationships/notesSlide" Target="/ppt/notesSlides/notesSlide3.xml" Id="R5693eab5b3a24b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c4ba7ecde3416f" /><Relationship Type="http://schemas.openxmlformats.org/officeDocument/2006/relationships/notesSlide" Target="/ppt/notesSlides/notesSlide4.xml" Id="R1a4d6a5ad55a47e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422d5ab3024d1d" /><Relationship Type="http://schemas.openxmlformats.org/officeDocument/2006/relationships/notesSlide" Target="/ppt/notesSlides/notesSlide5.xml" Id="Ra5475cdaaf9540d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fe250986e5456b" /><Relationship Type="http://schemas.openxmlformats.org/officeDocument/2006/relationships/notesSlide" Target="/ppt/notesSlides/notesSlide6.xml" Id="Rec86e13419c8486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d7da62c35b403b" /><Relationship Type="http://schemas.openxmlformats.org/officeDocument/2006/relationships/notesSlide" Target="/ppt/notesSlides/notesSlide7.xml" Id="R292a00005bde4de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c9af22a0b24cf7" /><Relationship Type="http://schemas.openxmlformats.org/officeDocument/2006/relationships/notesSlide" Target="/ppt/notesSlides/notesSlide8.xml" Id="Rff8d4bc07a2a46b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73ad964e7249c9" /><Relationship Type="http://schemas.openxmlformats.org/officeDocument/2006/relationships/notesSlide" Target="/ppt/notesSlides/notesSlide9.xml" Id="Re256e01be6714fb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327a9f651c41bc" /><Relationship Type="http://schemas.openxmlformats.org/officeDocument/2006/relationships/notesSlide" Target="/ppt/notesSlides/notesSlide10.xml" Id="Rb5e08ffb43ff431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D5899C54-868E-477C-BF6D-42E6B101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C8FF"/>
          </a:solidFill>
          <a:ln xmlns:a="http://schemas.openxmlformats.org/drawingml/2006/main" w="0">
            <a:solidFill>
              <a:srgbClr val="73C8FF"/>
            </a:solidFill>
            <a:prstDash val="solid"/>
          </a:ln>
        </p:spPr>
      </p:sp>
      <p:sp>
        <p:nvSpPr>
          <p:cNvPr id="2" name="course-title">
            <a:extLst xmlns:a="http://schemas.openxmlformats.org/drawingml/2006/main">
              <a:ext uri="{FF2B5EF4-FFF2-40B4-BE49-F238E27FC236}">
                <a16:creationId xmlns:a16="http://schemas.microsoft.com/office/drawing/2014/main" id="{D92AB11D-18E8-40B0-9CFA-A5370D90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AGENTIC AI</a:t>
            </a:r>
          </a:p>
        </p:txBody>
      </p:sp>
      <p:sp>
        <p:nvSpPr>
          <p:cNvPr id="3" name="chapter-number">
            <a:extLst xmlns:a="http://schemas.openxmlformats.org/drawingml/2006/main">
              <a:ext uri="{FF2B5EF4-FFF2-40B4-BE49-F238E27FC236}">
                <a16:creationId xmlns:a16="http://schemas.microsoft.com/office/drawing/2014/main" id="{926CC8ED-3955-4F76-8871-FAB8455C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1950"/>
            <a:ext cx="1676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4" name="deck-title">
            <a:extLst xmlns:a="http://schemas.openxmlformats.org/drawingml/2006/main">
              <a:ext uri="{FF2B5EF4-FFF2-40B4-BE49-F238E27FC236}">
                <a16:creationId xmlns:a16="http://schemas.microsoft.com/office/drawing/2014/main" id="{C51F5D94-C31E-4888-9617-86D504FB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985837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Tool Use, MCP, and Frameworks</a:t>
            </a:r>
          </a:p>
        </p:txBody>
      </p:sp>
      <p:sp>
        <p:nvSpPr>
          <p:cNvPr id="5" name="deck-thesis">
            <a:extLst xmlns:a="http://schemas.openxmlformats.org/drawingml/2006/main">
              <a:ext uri="{FF2B5EF4-FFF2-40B4-BE49-F238E27FC236}">
                <a16:creationId xmlns:a16="http://schemas.microsoft.com/office/drawing/2014/main" id="{18DCB1C6-390F-47B0-BFA6-1767A80D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0100"/>
            <a:ext cx="85248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Tools are typed prompts at a security boundary; MCP standardizes their integration, while frameworks organize control and state.</a:t>
            </a:r>
          </a:p>
        </p:txBody>
      </p:sp>
      <p:sp>
        <p:nvSpPr>
          <p:cNvPr id="6" name="title-marker">
            <a:extLst xmlns:a="http://schemas.openxmlformats.org/drawingml/2006/main">
              <a:ext uri="{FF2B5EF4-FFF2-40B4-BE49-F238E27FC236}">
                <a16:creationId xmlns:a16="http://schemas.microsoft.com/office/drawing/2014/main" id="{7752AB6A-33ED-4AED-B2D9-2262DEB2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610100"/>
            <a:ext cx="22669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C8FF"/>
          </a:solidFill>
          <a:ln xmlns:a="http://schemas.openxmlformats.org/drawingml/2006/main" w="0">
            <a:solidFill>
              <a:srgbClr val="73C8FF"/>
            </a:solidFill>
            <a:prstDash val="solid"/>
          </a:ln>
        </p:spPr>
      </p:sp>
      <p:sp>
        <p:nvSpPr>
          <p:cNvPr id="7" name="title-marker-text">
            <a:extLst xmlns:a="http://schemas.openxmlformats.org/drawingml/2006/main">
              <a:ext uri="{FF2B5EF4-FFF2-40B4-BE49-F238E27FC236}">
                <a16:creationId xmlns:a16="http://schemas.microsoft.com/office/drawing/2014/main" id="{614CC649-EC0D-4934-9327-01681714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762500"/>
            <a:ext cx="180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STUDY</a:t>
            </a:r>
          </a:p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DECK</a:t>
            </a:r>
          </a:p>
        </p:txBody>
      </p:sp>
    </p:spTree>
    <p:extLst>
      <p:ext uri="{BB962C8B-B14F-4D97-AF65-F5344CB8AC3E}">
        <p14:creationId xmlns:p14="http://schemas.microsoft.com/office/powerpoint/2010/main" val="6470904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ccent-line">
            <a:extLst xmlns:a="http://schemas.openxmlformats.org/drawingml/2006/main">
              <a:ext uri="{FF2B5EF4-FFF2-40B4-BE49-F238E27FC236}">
                <a16:creationId xmlns:a16="http://schemas.microsoft.com/office/drawing/2014/main" id="{ACFA995A-739C-40D1-BF59-8CA3A580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C8FF"/>
          </a:solidFill>
          <a:ln xmlns:a="http://schemas.openxmlformats.org/drawingml/2006/main" w="0">
            <a:solidFill>
              <a:srgbClr val="73C8FF"/>
            </a:solidFill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EF49084A-7A84-451D-A307-2A4E946B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67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LEARNING MAP  /  05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7CFB95D-D494-4CB5-8910-1455A24EA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chapter-footer">
            <a:extLst xmlns:a="http://schemas.openxmlformats.org/drawingml/2006/main">
              <a:ext uri="{FF2B5EF4-FFF2-40B4-BE49-F238E27FC236}">
                <a16:creationId xmlns:a16="http://schemas.microsoft.com/office/drawing/2014/main" id="{E53A0CD7-DF19-4334-8BCC-D5B3FAE6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Tool Use, MCP, and Frameworks</a:t>
            </a:r>
          </a:p>
        </p:txBody>
      </p:sp>
      <p:sp>
        <p:nvSpPr>
          <p:cNvPr id="5" name="objectives-title">
            <a:extLst xmlns:a="http://schemas.openxmlformats.org/drawingml/2006/main">
              <a:ext uri="{FF2B5EF4-FFF2-40B4-BE49-F238E27FC236}">
                <a16:creationId xmlns:a16="http://schemas.microsoft.com/office/drawing/2014/main" id="{D198162B-5E2D-42B0-A8B9-BBD0B3C1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By the end, you should be able to...</a:t>
            </a:r>
          </a:p>
        </p:txBody>
      </p:sp>
      <p:sp>
        <p:nvSpPr>
          <p:cNvPr id="6" name="objective-number-1">
            <a:extLst xmlns:a="http://schemas.openxmlformats.org/drawingml/2006/main">
              <a:ext uri="{FF2B5EF4-FFF2-40B4-BE49-F238E27FC236}">
                <a16:creationId xmlns:a16="http://schemas.microsoft.com/office/drawing/2014/main" id="{15A04EEA-4C7F-458F-9051-EC29C024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812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73C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73C8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objective-1">
            <a:extLst xmlns:a="http://schemas.openxmlformats.org/drawingml/2006/main">
              <a:ext uri="{FF2B5EF4-FFF2-40B4-BE49-F238E27FC236}">
                <a16:creationId xmlns:a16="http://schemas.microsoft.com/office/drawing/2014/main" id="{67B25A13-257B-4FD0-AE2C-3971FA7B8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143250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Design reliable tool schemas</a:t>
            </a:r>
          </a:p>
        </p:txBody>
      </p:sp>
      <p:sp>
        <p:nvSpPr>
          <p:cNvPr id="8" name="objective-number-2">
            <a:extLst xmlns:a="http://schemas.openxmlformats.org/drawingml/2006/main">
              <a:ext uri="{FF2B5EF4-FFF2-40B4-BE49-F238E27FC236}">
                <a16:creationId xmlns:a16="http://schemas.microsoft.com/office/drawing/2014/main" id="{FEC9242C-D300-428B-BFC0-787FB3B51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812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73C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73C8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objective-2">
            <a:extLst xmlns:a="http://schemas.openxmlformats.org/drawingml/2006/main">
              <a:ext uri="{FF2B5EF4-FFF2-40B4-BE49-F238E27FC236}">
                <a16:creationId xmlns:a16="http://schemas.microsoft.com/office/drawing/2014/main" id="{F5E34CF5-6BC1-407B-9BFA-7326C779E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43250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Explain the model-runtime-tool cycle</a:t>
            </a:r>
          </a:p>
        </p:txBody>
      </p:sp>
      <p:sp>
        <p:nvSpPr>
          <p:cNvPr id="10" name="objective-number-3">
            <a:extLst xmlns:a="http://schemas.openxmlformats.org/drawingml/2006/main">
              <a:ext uri="{FF2B5EF4-FFF2-40B4-BE49-F238E27FC236}">
                <a16:creationId xmlns:a16="http://schemas.microsoft.com/office/drawing/2014/main" id="{97637C37-9DB0-420B-A5DC-CA9BAF26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812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73C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73C8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objective-3">
            <a:extLst xmlns:a="http://schemas.openxmlformats.org/drawingml/2006/main">
              <a:ext uri="{FF2B5EF4-FFF2-40B4-BE49-F238E27FC236}">
                <a16:creationId xmlns:a16="http://schemas.microsoft.com/office/drawing/2014/main" id="{7ACAEF98-9CAC-4006-B5C0-052B89684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143250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Describe MCP primitives and transports</a:t>
            </a:r>
          </a:p>
        </p:txBody>
      </p:sp>
      <p:sp>
        <p:nvSpPr>
          <p:cNvPr id="12" name="objective-number-4">
            <a:extLst xmlns:a="http://schemas.openxmlformats.org/drawingml/2006/main">
              <a:ext uri="{FF2B5EF4-FFF2-40B4-BE49-F238E27FC236}">
                <a16:creationId xmlns:a16="http://schemas.microsoft.com/office/drawing/2014/main" id="{8F85DE63-25AF-4230-9B55-41E418B6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812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73C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73C8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3" name="objective-4">
            <a:extLst xmlns:a="http://schemas.openxmlformats.org/drawingml/2006/main">
              <a:ext uri="{FF2B5EF4-FFF2-40B4-BE49-F238E27FC236}">
                <a16:creationId xmlns:a16="http://schemas.microsoft.com/office/drawing/2014/main" id="{AD7C2C6A-F0B4-4195-876F-0CA619BC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43250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Choose raw APIs or a framework</a:t>
            </a:r>
          </a:p>
        </p:txBody>
      </p:sp>
    </p:spTree>
    <p:extLst>
      <p:ext uri="{BB962C8B-B14F-4D97-AF65-F5344CB8AC3E}">
        <p14:creationId xmlns:p14="http://schemas.microsoft.com/office/powerpoint/2010/main" val="15773150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ccent-line">
            <a:extLst xmlns:a="http://schemas.openxmlformats.org/drawingml/2006/main">
              <a:ext uri="{FF2B5EF4-FFF2-40B4-BE49-F238E27FC236}">
                <a16:creationId xmlns:a16="http://schemas.microsoft.com/office/drawing/2014/main" id="{639C41A1-8B84-4A3A-B0C6-D45AE5AB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C8FF"/>
          </a:solidFill>
          <a:ln xmlns:a="http://schemas.openxmlformats.org/drawingml/2006/main" w="0">
            <a:solidFill>
              <a:srgbClr val="73C8FF"/>
            </a:solidFill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4D749382-8127-469A-B7AF-784EA82B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67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CORE IDEA 01  /  05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78CEF16-86D1-46DA-9F14-2133CF33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4" name="chapter-footer">
            <a:extLst xmlns:a="http://schemas.openxmlformats.org/drawingml/2006/main">
              <a:ext uri="{FF2B5EF4-FFF2-40B4-BE49-F238E27FC236}">
                <a16:creationId xmlns:a16="http://schemas.microsoft.com/office/drawing/2014/main" id="{17F3F65D-E027-4079-BE52-B6B74648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Tool Use, MCP, and Frameworks</a:t>
            </a:r>
          </a:p>
        </p:txBody>
      </p:sp>
      <p:sp>
        <p:nvSpPr>
          <p:cNvPr id="5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A5BC9F3E-51F9-4A5F-9499-177F680F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71550"/>
            <a:ext cx="11144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 tool is a typed contract, not direct model access</a:t>
            </a:r>
          </a:p>
        </p:txBody>
      </p:sp>
      <p:sp>
        <p:nvSpPr>
          <p:cNvPr id="6" name="section-explanation">
            <a:extLst xmlns:a="http://schemas.openxmlformats.org/drawingml/2006/main">
              <a:ext uri="{FF2B5EF4-FFF2-40B4-BE49-F238E27FC236}">
                <a16:creationId xmlns:a16="http://schemas.microsoft.com/office/drawing/2014/main" id="{59C5F2A2-B9FC-429B-AEC5-3B2407E5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81250"/>
            <a:ext cx="4524375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A tool definition names an operation, explains when to use it, and defines typed parameters. The model emits a name and arguments; the runtime validates, authorizes, executes, and returns the result to context.</a:t>
            </a:r>
          </a:p>
        </p:txBody>
      </p:sp>
      <p:sp>
        <p:nvSpPr>
          <p:cNvPr id="7" name="column-rule">
            <a:extLst xmlns:a="http://schemas.openxmlformats.org/drawingml/2006/main">
              <a:ext uri="{FF2B5EF4-FFF2-40B4-BE49-F238E27FC236}">
                <a16:creationId xmlns:a16="http://schemas.microsoft.com/office/drawing/2014/main" id="{B23FD8C9-6B1C-4BE1-A81D-CA26B43BC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43150"/>
            <a:ext cx="47625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C8FF"/>
          </a:solidFill>
          <a:ln xmlns:a="http://schemas.openxmlformats.org/drawingml/2006/main" w="0">
            <a:solidFill>
              <a:srgbClr val="73C8FF"/>
            </a:solidFill>
            <a:prstDash val="solid"/>
          </a:ln>
        </p:spPr>
      </p:sp>
      <p:sp>
        <p:nvSpPr>
          <p:cNvPr id="8" name="section-points">
            <a:extLst xmlns:a="http://schemas.openxmlformats.org/drawingml/2006/main">
              <a:ext uri="{FF2B5EF4-FFF2-40B4-BE49-F238E27FC236}">
                <a16:creationId xmlns:a16="http://schemas.microsoft.com/office/drawing/2014/main" id="{73234070-A905-47BE-9177-7E322348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343150"/>
            <a:ext cx="5572125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01  The model never directly touches the external API.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02  Schema validity must be followed by policy validation.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03  Tool results are untrusted inputs to the next model step.</a:t>
            </a:r>
          </a:p>
        </p:txBody>
      </p:sp>
    </p:spTree>
    <p:extLst>
      <p:ext uri="{BB962C8B-B14F-4D97-AF65-F5344CB8AC3E}">
        <p14:creationId xmlns:p14="http://schemas.microsoft.com/office/powerpoint/2010/main" val="380807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ccent-line">
            <a:extLst xmlns:a="http://schemas.openxmlformats.org/drawingml/2006/main">
              <a:ext uri="{FF2B5EF4-FFF2-40B4-BE49-F238E27FC236}">
                <a16:creationId xmlns:a16="http://schemas.microsoft.com/office/drawing/2014/main" id="{E2E31CAB-DD28-4081-83DF-71FAAA72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C8FF"/>
          </a:solidFill>
          <a:ln xmlns:a="http://schemas.openxmlformats.org/drawingml/2006/main" w="0">
            <a:solidFill>
              <a:srgbClr val="73C8FF"/>
            </a:solidFill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74E36379-74EE-411D-A6A9-45685F0B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67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CORE IDEA 02  /  05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7440F1D-3F35-458A-9B55-0C6C68E2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" name="chapter-footer">
            <a:extLst xmlns:a="http://schemas.openxmlformats.org/drawingml/2006/main">
              <a:ext uri="{FF2B5EF4-FFF2-40B4-BE49-F238E27FC236}">
                <a16:creationId xmlns:a16="http://schemas.microsoft.com/office/drawing/2014/main" id="{68120DB2-6F52-47FE-9860-A5F42704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Tool Use, MCP, and Frameworks</a:t>
            </a:r>
          </a:p>
        </p:txBody>
      </p:sp>
      <p:sp>
        <p:nvSpPr>
          <p:cNvPr id="5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D49A5BD5-5A06-4515-B0F2-1A3E8210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00125"/>
            <a:ext cx="1114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Tool descriptions are prompts</a:t>
            </a:r>
          </a:p>
        </p:txBody>
      </p:sp>
      <p:sp>
        <p:nvSpPr>
          <p:cNvPr id="6" name="section-explanation">
            <a:extLst xmlns:a="http://schemas.openxmlformats.org/drawingml/2006/main">
              <a:ext uri="{FF2B5EF4-FFF2-40B4-BE49-F238E27FC236}">
                <a16:creationId xmlns:a16="http://schemas.microsoft.com/office/drawing/2014/main" id="{35A39FA9-EE98-4C12-BAE2-78E33110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43125"/>
            <a:ext cx="990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Models select and fill tools from their specifications, so names, descriptions, examples, parameter types, and error messages directly affect behavior. Good granularity avoids both excessive micro-calls and confusing mega-tools.</a:t>
            </a:r>
          </a:p>
        </p:txBody>
      </p:sp>
      <p:sp>
        <p:nvSpPr>
          <p:cNvPr id="7" name="point-band-1">
            <a:extLst xmlns:a="http://schemas.openxmlformats.org/drawingml/2006/main">
              <a:ext uri="{FF2B5EF4-FFF2-40B4-BE49-F238E27FC236}">
                <a16:creationId xmlns:a16="http://schemas.microsoft.com/office/drawing/2014/main" id="{DBD90DED-74CD-495E-91D2-1378D3E18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48125"/>
            <a:ext cx="2509838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C8FF"/>
          </a:solidFill>
          <a:ln xmlns:a="http://schemas.openxmlformats.org/drawingml/2006/main" w="0">
            <a:solidFill>
              <a:srgbClr val="73C8FF"/>
            </a:solidFill>
            <a:prstDash val="solid"/>
          </a:ln>
        </p:spPr>
      </p:sp>
      <p:sp>
        <p:nvSpPr>
          <p:cNvPr id="8" name="point-1">
            <a:extLst xmlns:a="http://schemas.openxmlformats.org/drawingml/2006/main">
              <a:ext uri="{FF2B5EF4-FFF2-40B4-BE49-F238E27FC236}">
                <a16:creationId xmlns:a16="http://schemas.microsoft.com/office/drawing/2014/main" id="{11E36EDE-4FC9-4850-BF44-18FDBC9B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24350"/>
            <a:ext cx="2509838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Prefer minimal parameters and enums over unconstrained text.</a:t>
            </a:r>
          </a:p>
        </p:txBody>
      </p:sp>
      <p:sp>
        <p:nvSpPr>
          <p:cNvPr id="9" name="point-band-2">
            <a:extLst xmlns:a="http://schemas.openxmlformats.org/drawingml/2006/main">
              <a:ext uri="{FF2B5EF4-FFF2-40B4-BE49-F238E27FC236}">
                <a16:creationId xmlns:a16="http://schemas.microsoft.com/office/drawing/2014/main" id="{D2BEECF1-2ED2-4AFC-B9FA-F57029386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7063" y="4048125"/>
            <a:ext cx="2509838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C8FF"/>
          </a:solidFill>
          <a:ln xmlns:a="http://schemas.openxmlformats.org/drawingml/2006/main" w="0">
            <a:solidFill>
              <a:srgbClr val="73C8FF"/>
            </a:solidFill>
            <a:prstDash val="solid"/>
          </a:ln>
        </p:spPr>
      </p:sp>
      <p:sp>
        <p:nvSpPr>
          <p:cNvPr id="10" name="point-2">
            <a:extLst xmlns:a="http://schemas.openxmlformats.org/drawingml/2006/main">
              <a:ext uri="{FF2B5EF4-FFF2-40B4-BE49-F238E27FC236}">
                <a16:creationId xmlns:a16="http://schemas.microsoft.com/office/drawing/2014/main" id="{AA86E871-E8B8-4F4D-B7ED-D2A836D7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7063" y="4324350"/>
            <a:ext cx="2509838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Return actionable errors rather than stack traces.</a:t>
            </a:r>
          </a:p>
        </p:txBody>
      </p:sp>
      <p:sp>
        <p:nvSpPr>
          <p:cNvPr id="11" name="point-band-3">
            <a:extLst xmlns:a="http://schemas.openxmlformats.org/drawingml/2006/main">
              <a:ext uri="{FF2B5EF4-FFF2-40B4-BE49-F238E27FC236}">
                <a16:creationId xmlns:a16="http://schemas.microsoft.com/office/drawing/2014/main" id="{F0E6FB36-6C77-4161-98B4-6A524865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48125"/>
            <a:ext cx="2509838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C8FF"/>
          </a:solidFill>
          <a:ln xmlns:a="http://schemas.openxmlformats.org/drawingml/2006/main" w="0">
            <a:solidFill>
              <a:srgbClr val="73C8FF"/>
            </a:solidFill>
            <a:prstDash val="solid"/>
          </a:ln>
        </p:spPr>
      </p:sp>
      <p:sp>
        <p:nvSpPr>
          <p:cNvPr id="12" name="point-3">
            <a:extLst xmlns:a="http://schemas.openxmlformats.org/drawingml/2006/main">
              <a:ext uri="{FF2B5EF4-FFF2-40B4-BE49-F238E27FC236}">
                <a16:creationId xmlns:a16="http://schemas.microsoft.com/office/drawing/2014/main" id="{2B1F89D5-394F-43B1-8BF2-EC423EF7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324350"/>
            <a:ext cx="2509838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Make retry-prone operations idempotent.</a:t>
            </a:r>
          </a:p>
        </p:txBody>
      </p:sp>
      <p:sp>
        <p:nvSpPr>
          <p:cNvPr id="13" name="point-band-4">
            <a:extLst xmlns:a="http://schemas.openxmlformats.org/drawingml/2006/main">
              <a:ext uri="{FF2B5EF4-FFF2-40B4-BE49-F238E27FC236}">
                <a16:creationId xmlns:a16="http://schemas.microsoft.com/office/drawing/2014/main" id="{EFBBA98E-E8A0-4985-9CF7-94A4DBCB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0138" y="4048125"/>
            <a:ext cx="2509838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C8FF"/>
          </a:solidFill>
          <a:ln xmlns:a="http://schemas.openxmlformats.org/drawingml/2006/main" w="0">
            <a:solidFill>
              <a:srgbClr val="73C8FF"/>
            </a:solidFill>
            <a:prstDash val="solid"/>
          </a:ln>
        </p:spPr>
      </p:sp>
      <p:sp>
        <p:nvSpPr>
          <p:cNvPr id="14" name="point-4">
            <a:extLst xmlns:a="http://schemas.openxmlformats.org/drawingml/2006/main">
              <a:ext uri="{FF2B5EF4-FFF2-40B4-BE49-F238E27FC236}">
                <a16:creationId xmlns:a16="http://schemas.microsoft.com/office/drawing/2014/main" id="{FAD3AAFE-ECCA-485B-8711-A2C904C0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0138" y="4324350"/>
            <a:ext cx="2509838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Gate destructive or irreversible actions.</a:t>
            </a:r>
          </a:p>
        </p:txBody>
      </p:sp>
    </p:spTree>
    <p:extLst>
      <p:ext uri="{BB962C8B-B14F-4D97-AF65-F5344CB8AC3E}">
        <p14:creationId xmlns:p14="http://schemas.microsoft.com/office/powerpoint/2010/main" val="14203561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ccent-line">
            <a:extLst xmlns:a="http://schemas.openxmlformats.org/drawingml/2006/main">
              <a:ext uri="{FF2B5EF4-FFF2-40B4-BE49-F238E27FC236}">
                <a16:creationId xmlns:a16="http://schemas.microsoft.com/office/drawing/2014/main" id="{5A4E452A-6A39-4018-87F1-596FAC34A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C8FF"/>
          </a:solidFill>
          <a:ln xmlns:a="http://schemas.openxmlformats.org/drawingml/2006/main" w="0">
            <a:solidFill>
              <a:srgbClr val="73C8FF"/>
            </a:solidFill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342FC7FA-156E-47F5-A6FD-5CFFAD25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67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CORE IDEA 03  /  05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D0B091E-08FD-4232-809F-0B8459AB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4" name="chapter-footer">
            <a:extLst xmlns:a="http://schemas.openxmlformats.org/drawingml/2006/main">
              <a:ext uri="{FF2B5EF4-FFF2-40B4-BE49-F238E27FC236}">
                <a16:creationId xmlns:a16="http://schemas.microsoft.com/office/drawing/2014/main" id="{D5EFBCE7-DCAD-48E1-97E7-B1FF2054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Tool Use, MCP, and Frameworks</a:t>
            </a:r>
          </a:p>
        </p:txBody>
      </p:sp>
      <p:sp>
        <p:nvSpPr>
          <p:cNvPr id="5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53F5F725-BD80-4D74-B89A-B1FA3326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71550"/>
            <a:ext cx="11144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runtime is the security boundary</a:t>
            </a:r>
          </a:p>
        </p:txBody>
      </p:sp>
      <p:sp>
        <p:nvSpPr>
          <p:cNvPr id="6" name="section-explanation">
            <a:extLst xmlns:a="http://schemas.openxmlformats.org/drawingml/2006/main">
              <a:ext uri="{FF2B5EF4-FFF2-40B4-BE49-F238E27FC236}">
                <a16:creationId xmlns:a16="http://schemas.microsoft.com/office/drawing/2014/main" id="{F76DFE33-7E15-4B4F-BE7C-F028A1BC7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81250"/>
            <a:ext cx="4524375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Model-generated arguments must be treated as attacker-controlled input. Runtime controls include sanitization, least-privilege credentials, read-only defaults, sandboxing, rate limits, audit logs, and confirmation.</a:t>
            </a:r>
          </a:p>
        </p:txBody>
      </p:sp>
      <p:sp>
        <p:nvSpPr>
          <p:cNvPr id="7" name="column-rule">
            <a:extLst xmlns:a="http://schemas.openxmlformats.org/drawingml/2006/main">
              <a:ext uri="{FF2B5EF4-FFF2-40B4-BE49-F238E27FC236}">
                <a16:creationId xmlns:a16="http://schemas.microsoft.com/office/drawing/2014/main" id="{ED3803DA-4C54-4E1C-A12B-69E8DA458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43150"/>
            <a:ext cx="47625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C8FF"/>
          </a:solidFill>
          <a:ln xmlns:a="http://schemas.openxmlformats.org/drawingml/2006/main" w="0">
            <a:solidFill>
              <a:srgbClr val="73C8FF"/>
            </a:solidFill>
            <a:prstDash val="solid"/>
          </a:ln>
        </p:spPr>
      </p:sp>
      <p:sp>
        <p:nvSpPr>
          <p:cNvPr id="8" name="section-points">
            <a:extLst xmlns:a="http://schemas.openxmlformats.org/drawingml/2006/main">
              <a:ext uri="{FF2B5EF4-FFF2-40B4-BE49-F238E27FC236}">
                <a16:creationId xmlns:a16="http://schemas.microsoft.com/office/drawing/2014/main" id="{4B9BBC87-8045-4168-918B-76EAB137A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343150"/>
            <a:ext cx="5572125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01  Do not execute raw model strings with unsafe evaluators.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02  Restrict filesystem and network scopes.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03  Separate proposing an action from authorizing it.</a:t>
            </a:r>
          </a:p>
        </p:txBody>
      </p:sp>
    </p:spTree>
    <p:extLst>
      <p:ext uri="{BB962C8B-B14F-4D97-AF65-F5344CB8AC3E}">
        <p14:creationId xmlns:p14="http://schemas.microsoft.com/office/powerpoint/2010/main" val="577304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accent-line">
            <a:extLst xmlns:a="http://schemas.openxmlformats.org/drawingml/2006/main">
              <a:ext uri="{FF2B5EF4-FFF2-40B4-BE49-F238E27FC236}">
                <a16:creationId xmlns:a16="http://schemas.microsoft.com/office/drawing/2014/main" id="{57FB3677-967C-4D2E-9D45-F1B257A0F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C8FF"/>
          </a:solidFill>
          <a:ln xmlns:a="http://schemas.openxmlformats.org/drawingml/2006/main" w="0">
            <a:solidFill>
              <a:srgbClr val="73C8FF"/>
            </a:solidFill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593110D7-523F-436F-BCFC-E0348EB92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67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CORE IDEA 04  /  05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2E0F5CE-1CCD-4505-A95E-A6E5BA2B1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4" name="chapter-footer">
            <a:extLst xmlns:a="http://schemas.openxmlformats.org/drawingml/2006/main">
              <a:ext uri="{FF2B5EF4-FFF2-40B4-BE49-F238E27FC236}">
                <a16:creationId xmlns:a16="http://schemas.microsoft.com/office/drawing/2014/main" id="{5803C34B-9F54-4F74-BB2F-56EBD0ED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Tool Use, MCP, and Frameworks</a:t>
            </a:r>
          </a:p>
        </p:txBody>
      </p:sp>
      <p:sp>
        <p:nvSpPr>
          <p:cNvPr id="5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AE6CE04A-8D33-4133-AE10-D218FD60C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00125"/>
            <a:ext cx="1114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MCP replaces bespoke N-by-M integration</a:t>
            </a:r>
          </a:p>
        </p:txBody>
      </p:sp>
      <p:sp>
        <p:nvSpPr>
          <p:cNvPr id="6" name="section-explanation">
            <a:extLst xmlns:a="http://schemas.openxmlformats.org/drawingml/2006/main">
              <a:ext uri="{FF2B5EF4-FFF2-40B4-BE49-F238E27FC236}">
                <a16:creationId xmlns:a16="http://schemas.microsoft.com/office/drawing/2014/main" id="{2DBAB43C-E5DA-45D8-BEE9-6C2BC3E1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43125"/>
            <a:ext cx="990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Without a standard, every agent must be wired separately to every tool. The Model Context Protocol provides a shared JSON-RPC interface so hosts can connect to reusable servers, changing integration growth from N multiplied by M toward N plus M.</a:t>
            </a:r>
          </a:p>
        </p:txBody>
      </p:sp>
      <p:sp>
        <p:nvSpPr>
          <p:cNvPr id="7" name="point-band-1">
            <a:extLst xmlns:a="http://schemas.openxmlformats.org/drawingml/2006/main">
              <a:ext uri="{FF2B5EF4-FFF2-40B4-BE49-F238E27FC236}">
                <a16:creationId xmlns:a16="http://schemas.microsoft.com/office/drawing/2014/main" id="{D47D8805-88C9-4902-9966-4B365FD6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48125"/>
            <a:ext cx="3435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C8FF"/>
          </a:solidFill>
          <a:ln xmlns:a="http://schemas.openxmlformats.org/drawingml/2006/main" w="0">
            <a:solidFill>
              <a:srgbClr val="73C8FF"/>
            </a:solidFill>
            <a:prstDash val="solid"/>
          </a:ln>
        </p:spPr>
      </p:sp>
      <p:sp>
        <p:nvSpPr>
          <p:cNvPr id="8" name="point-1">
            <a:extLst xmlns:a="http://schemas.openxmlformats.org/drawingml/2006/main">
              <a:ext uri="{FF2B5EF4-FFF2-40B4-BE49-F238E27FC236}">
                <a16:creationId xmlns:a16="http://schemas.microsoft.com/office/drawing/2014/main" id="{AAC345F3-1E91-45EE-AF3E-EE9F0C61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24350"/>
            <a:ext cx="34353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Tools expose actions with possible side effects.</a:t>
            </a:r>
          </a:p>
        </p:txBody>
      </p:sp>
      <p:sp>
        <p:nvSpPr>
          <p:cNvPr id="9" name="point-band-2">
            <a:extLst xmlns:a="http://schemas.openxmlformats.org/drawingml/2006/main">
              <a:ext uri="{FF2B5EF4-FFF2-40B4-BE49-F238E27FC236}">
                <a16:creationId xmlns:a16="http://schemas.microsoft.com/office/drawing/2014/main" id="{C59A4DDC-7691-468E-B901-A4722B4B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2575" y="4048125"/>
            <a:ext cx="3435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C8FF"/>
          </a:solidFill>
          <a:ln xmlns:a="http://schemas.openxmlformats.org/drawingml/2006/main" w="0">
            <a:solidFill>
              <a:srgbClr val="73C8FF"/>
            </a:solidFill>
            <a:prstDash val="solid"/>
          </a:ln>
        </p:spPr>
      </p:sp>
      <p:sp>
        <p:nvSpPr>
          <p:cNvPr id="10" name="point-2">
            <a:extLst xmlns:a="http://schemas.openxmlformats.org/drawingml/2006/main">
              <a:ext uri="{FF2B5EF4-FFF2-40B4-BE49-F238E27FC236}">
                <a16:creationId xmlns:a16="http://schemas.microsoft.com/office/drawing/2014/main" id="{D7510E4C-7095-42CF-A6B4-88FA5A976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2575" y="4324350"/>
            <a:ext cx="34353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Resources expose read-only context.</a:t>
            </a:r>
          </a:p>
        </p:txBody>
      </p:sp>
      <p:sp>
        <p:nvSpPr>
          <p:cNvPr id="11" name="point-band-3">
            <a:extLst xmlns:a="http://schemas.openxmlformats.org/drawingml/2006/main">
              <a:ext uri="{FF2B5EF4-FFF2-40B4-BE49-F238E27FC236}">
                <a16:creationId xmlns:a16="http://schemas.microsoft.com/office/drawing/2014/main" id="{4ABC55CE-1BC1-4A88-B000-CBA93489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4625" y="4048125"/>
            <a:ext cx="3435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C8FF"/>
          </a:solidFill>
          <a:ln xmlns:a="http://schemas.openxmlformats.org/drawingml/2006/main" w="0">
            <a:solidFill>
              <a:srgbClr val="73C8FF"/>
            </a:solidFill>
            <a:prstDash val="solid"/>
          </a:ln>
        </p:spPr>
      </p:sp>
      <p:sp>
        <p:nvSpPr>
          <p:cNvPr id="12" name="point-3">
            <a:extLst xmlns:a="http://schemas.openxmlformats.org/drawingml/2006/main">
              <a:ext uri="{FF2B5EF4-FFF2-40B4-BE49-F238E27FC236}">
                <a16:creationId xmlns:a16="http://schemas.microsoft.com/office/drawing/2014/main" id="{F12865AC-8CCE-4399-837A-97A738B3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4625" y="4324350"/>
            <a:ext cx="34353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Prompts expose reusable interaction templates.</a:t>
            </a:r>
          </a:p>
        </p:txBody>
      </p:sp>
    </p:spTree>
    <p:extLst>
      <p:ext uri="{BB962C8B-B14F-4D97-AF65-F5344CB8AC3E}">
        <p14:creationId xmlns:p14="http://schemas.microsoft.com/office/powerpoint/2010/main" val="2759819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ccent-line">
            <a:extLst xmlns:a="http://schemas.openxmlformats.org/drawingml/2006/main">
              <a:ext uri="{FF2B5EF4-FFF2-40B4-BE49-F238E27FC236}">
                <a16:creationId xmlns:a16="http://schemas.microsoft.com/office/drawing/2014/main" id="{DC64ED1B-A572-40AE-B446-37B4F2AE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C8FF"/>
          </a:solidFill>
          <a:ln xmlns:a="http://schemas.openxmlformats.org/drawingml/2006/main" w="0">
            <a:solidFill>
              <a:srgbClr val="73C8FF"/>
            </a:solidFill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93319A13-C2D5-44E0-901D-27763271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67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CORE IDEA 05  /  05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378E7CB-64C5-413B-A6E7-A65A932A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4" name="chapter-footer">
            <a:extLst xmlns:a="http://schemas.openxmlformats.org/drawingml/2006/main">
              <a:ext uri="{FF2B5EF4-FFF2-40B4-BE49-F238E27FC236}">
                <a16:creationId xmlns:a16="http://schemas.microsoft.com/office/drawing/2014/main" id="{D804AFD4-23DA-4D06-9DE5-0BA05684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Tool Use, MCP, and Frameworks</a:t>
            </a:r>
          </a:p>
        </p:txBody>
      </p:sp>
      <p:sp>
        <p:nvSpPr>
          <p:cNvPr id="5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CB5750E7-B5A1-454F-8ACC-35C0C714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71550"/>
            <a:ext cx="11144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MCP is bidirectional and transport-independent</a:t>
            </a:r>
          </a:p>
        </p:txBody>
      </p:sp>
      <p:sp>
        <p:nvSpPr>
          <p:cNvPr id="6" name="section-explanation">
            <a:extLst xmlns:a="http://schemas.openxmlformats.org/drawingml/2006/main">
              <a:ext uri="{FF2B5EF4-FFF2-40B4-BE49-F238E27FC236}">
                <a16:creationId xmlns:a16="http://schemas.microsoft.com/office/drawing/2014/main" id="{46CB334E-234B-49BE-8252-AC5F386B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81250"/>
            <a:ext cx="4524375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Servers expose tools, resources, and prompts; clients can expose sampling, roots, and elicitation. The same protocol messages can flow over local stdio or remote Streamable HTTP sessions.</a:t>
            </a:r>
          </a:p>
        </p:txBody>
      </p:sp>
      <p:sp>
        <p:nvSpPr>
          <p:cNvPr id="7" name="column-rule">
            <a:extLst xmlns:a="http://schemas.openxmlformats.org/drawingml/2006/main">
              <a:ext uri="{FF2B5EF4-FFF2-40B4-BE49-F238E27FC236}">
                <a16:creationId xmlns:a16="http://schemas.microsoft.com/office/drawing/2014/main" id="{46C24F7B-00A6-4C1C-9130-E795EFE7B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43150"/>
            <a:ext cx="47625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C8FF"/>
          </a:solidFill>
          <a:ln xmlns:a="http://schemas.openxmlformats.org/drawingml/2006/main" w="0">
            <a:solidFill>
              <a:srgbClr val="73C8FF"/>
            </a:solidFill>
            <a:prstDash val="solid"/>
          </a:ln>
        </p:spPr>
      </p:sp>
      <p:sp>
        <p:nvSpPr>
          <p:cNvPr id="8" name="section-points">
            <a:extLst xmlns:a="http://schemas.openxmlformats.org/drawingml/2006/main">
              <a:ext uri="{FF2B5EF4-FFF2-40B4-BE49-F238E27FC236}">
                <a16:creationId xmlns:a16="http://schemas.microsoft.com/office/drawing/2014/main" id="{8E82A1A2-381F-4DB1-876A-1B7428669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343150"/>
            <a:ext cx="5572125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01  Sampling lets a server request host-model generation.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02  Roots communicate permitted filesystem scopes.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03  Elicitation asks the user for input during a task.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04  Transport choice changes deployment and trust assumptions.</a:t>
            </a:r>
          </a:p>
        </p:txBody>
      </p:sp>
    </p:spTree>
    <p:extLst>
      <p:ext uri="{BB962C8B-B14F-4D97-AF65-F5344CB8AC3E}">
        <p14:creationId xmlns:p14="http://schemas.microsoft.com/office/powerpoint/2010/main" val="16688539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ccent-line">
            <a:extLst xmlns:a="http://schemas.openxmlformats.org/drawingml/2006/main">
              <a:ext uri="{FF2B5EF4-FFF2-40B4-BE49-F238E27FC236}">
                <a16:creationId xmlns:a16="http://schemas.microsoft.com/office/drawing/2014/main" id="{625DABA9-BE5E-4647-9CAE-A16BD5F5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C8FF"/>
          </a:solidFill>
          <a:ln xmlns:a="http://schemas.openxmlformats.org/drawingml/2006/main" w="0">
            <a:solidFill>
              <a:srgbClr val="73C8FF"/>
            </a:solidFill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CFEA7566-52FD-42F8-A686-9BAC8794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67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CORE IDEA 06  /  05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D3848F0-F8F9-4AF0-AAB0-BB5C2B830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4" name="chapter-footer">
            <a:extLst xmlns:a="http://schemas.openxmlformats.org/drawingml/2006/main">
              <a:ext uri="{FF2B5EF4-FFF2-40B4-BE49-F238E27FC236}">
                <a16:creationId xmlns:a16="http://schemas.microsoft.com/office/drawing/2014/main" id="{324F586B-A47C-4E09-8C88-B17CF72C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Tool Use, MCP, and Frameworks</a:t>
            </a:r>
          </a:p>
        </p:txBody>
      </p:sp>
      <p:sp>
        <p:nvSpPr>
          <p:cNvPr id="5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4135D614-9844-4922-9CCC-A6597A73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00125"/>
            <a:ext cx="1114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Frameworks package orchestration, not understanding</a:t>
            </a:r>
          </a:p>
        </p:txBody>
      </p:sp>
      <p:sp>
        <p:nvSpPr>
          <p:cNvPr id="6" name="section-explanation">
            <a:extLst xmlns:a="http://schemas.openxmlformats.org/drawingml/2006/main">
              <a:ext uri="{FF2B5EF4-FFF2-40B4-BE49-F238E27FC236}">
                <a16:creationId xmlns:a16="http://schemas.microsoft.com/office/drawing/2014/main" id="{63332224-4F11-4B17-B114-D44D141D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43125"/>
            <a:ext cx="990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Frameworks provide loops or state graphs, persistence, streaming, tool integration, observability, memory, and human-in-the-loop hooks. Raw APIs suit simple or highly controlled agents; frameworks help when state and coordination become first-class.</a:t>
            </a:r>
          </a:p>
        </p:txBody>
      </p:sp>
      <p:sp>
        <p:nvSpPr>
          <p:cNvPr id="7" name="point-band-1">
            <a:extLst xmlns:a="http://schemas.openxmlformats.org/drawingml/2006/main">
              <a:ext uri="{FF2B5EF4-FFF2-40B4-BE49-F238E27FC236}">
                <a16:creationId xmlns:a16="http://schemas.microsoft.com/office/drawing/2014/main" id="{772D41B7-3875-45E5-8A01-698E48D0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48125"/>
            <a:ext cx="2509838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C8FF"/>
          </a:solidFill>
          <a:ln xmlns:a="http://schemas.openxmlformats.org/drawingml/2006/main" w="0">
            <a:solidFill>
              <a:srgbClr val="73C8FF"/>
            </a:solidFill>
            <a:prstDash val="solid"/>
          </a:ln>
        </p:spPr>
      </p:sp>
      <p:sp>
        <p:nvSpPr>
          <p:cNvPr id="8" name="point-1">
            <a:extLst xmlns:a="http://schemas.openxmlformats.org/drawingml/2006/main">
              <a:ext uri="{FF2B5EF4-FFF2-40B4-BE49-F238E27FC236}">
                <a16:creationId xmlns:a16="http://schemas.microsoft.com/office/drawing/2014/main" id="{6AED7DD7-A18E-4738-878A-BCF5E0B9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24350"/>
            <a:ext cx="2509838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LangGraph represents nodes, edges, conditional control, and shared state.</a:t>
            </a:r>
          </a:p>
        </p:txBody>
      </p:sp>
      <p:sp>
        <p:nvSpPr>
          <p:cNvPr id="9" name="point-band-2">
            <a:extLst xmlns:a="http://schemas.openxmlformats.org/drawingml/2006/main">
              <a:ext uri="{FF2B5EF4-FFF2-40B4-BE49-F238E27FC236}">
                <a16:creationId xmlns:a16="http://schemas.microsoft.com/office/drawing/2014/main" id="{8E371C97-7E78-4FAA-AEE8-67DBB695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7063" y="4048125"/>
            <a:ext cx="2509838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C8FF"/>
          </a:solidFill>
          <a:ln xmlns:a="http://schemas.openxmlformats.org/drawingml/2006/main" w="0">
            <a:solidFill>
              <a:srgbClr val="73C8FF"/>
            </a:solidFill>
            <a:prstDash val="solid"/>
          </a:ln>
        </p:spPr>
      </p:sp>
      <p:sp>
        <p:nvSpPr>
          <p:cNvPr id="10" name="point-2">
            <a:extLst xmlns:a="http://schemas.openxmlformats.org/drawingml/2006/main">
              <a:ext uri="{FF2B5EF4-FFF2-40B4-BE49-F238E27FC236}">
                <a16:creationId xmlns:a16="http://schemas.microsoft.com/office/drawing/2014/main" id="{E07F052B-2687-471D-A328-8C36D48B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7063" y="4324350"/>
            <a:ext cx="2509838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Crew-style systems emphasize role-based multi-agent work.</a:t>
            </a:r>
          </a:p>
        </p:txBody>
      </p:sp>
      <p:sp>
        <p:nvSpPr>
          <p:cNvPr id="11" name="point-band-3">
            <a:extLst xmlns:a="http://schemas.openxmlformats.org/drawingml/2006/main">
              <a:ext uri="{FF2B5EF4-FFF2-40B4-BE49-F238E27FC236}">
                <a16:creationId xmlns:a16="http://schemas.microsoft.com/office/drawing/2014/main" id="{ACF9BDCD-65AB-4977-8699-10B4EDEEB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48125"/>
            <a:ext cx="2509838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C8FF"/>
          </a:solidFill>
          <a:ln xmlns:a="http://schemas.openxmlformats.org/drawingml/2006/main" w="0">
            <a:solidFill>
              <a:srgbClr val="73C8FF"/>
            </a:solidFill>
            <a:prstDash val="solid"/>
          </a:ln>
        </p:spPr>
      </p:sp>
      <p:sp>
        <p:nvSpPr>
          <p:cNvPr id="12" name="point-3">
            <a:extLst xmlns:a="http://schemas.openxmlformats.org/drawingml/2006/main">
              <a:ext uri="{FF2B5EF4-FFF2-40B4-BE49-F238E27FC236}">
                <a16:creationId xmlns:a16="http://schemas.microsoft.com/office/drawing/2014/main" id="{B16E57FA-5C39-417B-B58B-AB2366D1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324350"/>
            <a:ext cx="2509838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Understand prompts and boundaries before adding framework abstraction.</a:t>
            </a:r>
          </a:p>
        </p:txBody>
      </p:sp>
      <p:sp>
        <p:nvSpPr>
          <p:cNvPr id="13" name="point-band-4">
            <a:extLst xmlns:a="http://schemas.openxmlformats.org/drawingml/2006/main">
              <a:ext uri="{FF2B5EF4-FFF2-40B4-BE49-F238E27FC236}">
                <a16:creationId xmlns:a16="http://schemas.microsoft.com/office/drawing/2014/main" id="{6528B764-0BDB-42CD-97B2-4AB67C1A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0138" y="4048125"/>
            <a:ext cx="2509838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C8FF"/>
          </a:solidFill>
          <a:ln xmlns:a="http://schemas.openxmlformats.org/drawingml/2006/main" w="0">
            <a:solidFill>
              <a:srgbClr val="73C8FF"/>
            </a:solidFill>
            <a:prstDash val="solid"/>
          </a:ln>
        </p:spPr>
      </p:sp>
      <p:sp>
        <p:nvSpPr>
          <p:cNvPr id="14" name="point-4">
            <a:extLst xmlns:a="http://schemas.openxmlformats.org/drawingml/2006/main">
              <a:ext uri="{FF2B5EF4-FFF2-40B4-BE49-F238E27FC236}">
                <a16:creationId xmlns:a16="http://schemas.microsoft.com/office/drawing/2014/main" id="{86A43E84-357D-48D5-8BB3-3FE35605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0138" y="4324350"/>
            <a:ext cx="2509838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MCP standardizes tools; A2A standardizes agent-to-agent collaboration.</a:t>
            </a:r>
          </a:p>
        </p:txBody>
      </p:sp>
    </p:spTree>
    <p:extLst>
      <p:ext uri="{BB962C8B-B14F-4D97-AF65-F5344CB8AC3E}">
        <p14:creationId xmlns:p14="http://schemas.microsoft.com/office/powerpoint/2010/main" val="4945586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accent-line">
            <a:extLst xmlns:a="http://schemas.openxmlformats.org/drawingml/2006/main">
              <a:ext uri="{FF2B5EF4-FFF2-40B4-BE49-F238E27FC236}">
                <a16:creationId xmlns:a16="http://schemas.microsoft.com/office/drawing/2014/main" id="{E70E4FB6-46AD-4ECF-BA2E-6F93B7C24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C8FF"/>
          </a:solidFill>
          <a:ln xmlns:a="http://schemas.openxmlformats.org/drawingml/2006/main" w="0">
            <a:solidFill>
              <a:srgbClr val="73C8FF"/>
            </a:solidFill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B8A1FE86-1E38-4986-9D80-D9F6E763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67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EXAM CHECK  /  05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CCAE131-DAC0-468D-B2E8-3F90B2B2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4" name="chapter-footer">
            <a:extLst xmlns:a="http://schemas.openxmlformats.org/drawingml/2006/main">
              <a:ext uri="{FF2B5EF4-FFF2-40B4-BE49-F238E27FC236}">
                <a16:creationId xmlns:a16="http://schemas.microsoft.com/office/drawing/2014/main" id="{8FEFDE36-E75F-4C37-B535-05DD4942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Tool Use, MCP, and Frameworks</a:t>
            </a:r>
          </a:p>
        </p:txBody>
      </p:sp>
      <p:sp>
        <p:nvSpPr>
          <p:cNvPr id="5" name="exam-title">
            <a:extLst xmlns:a="http://schemas.openxmlformats.org/drawingml/2006/main">
              <a:ext uri="{FF2B5EF4-FFF2-40B4-BE49-F238E27FC236}">
                <a16:creationId xmlns:a16="http://schemas.microsoft.com/office/drawing/2014/main" id="{114A6282-351F-4260-AE3C-A74EE4E3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81075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Can you answer these without notes?</a:t>
            </a:r>
          </a:p>
        </p:txBody>
      </p:sp>
      <p:sp>
        <p:nvSpPr>
          <p:cNvPr id="6" name="exam-number-1">
            <a:extLst xmlns:a="http://schemas.openxmlformats.org/drawingml/2006/main">
              <a:ext uri="{FF2B5EF4-FFF2-40B4-BE49-F238E27FC236}">
                <a16:creationId xmlns:a16="http://schemas.microsoft.com/office/drawing/2014/main" id="{605C7839-CB79-4A9A-B172-BC8B66D6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383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3C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73C8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exam-question-1">
            <a:extLst xmlns:a="http://schemas.openxmlformats.org/drawingml/2006/main">
              <a:ext uri="{FF2B5EF4-FFF2-40B4-BE49-F238E27FC236}">
                <a16:creationId xmlns:a16="http://schemas.microsoft.com/office/drawing/2014/main" id="{02D59444-3378-4C1A-8D20-E8F11454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238375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Walk through the complete function-call cycle.</a:t>
            </a:r>
          </a:p>
        </p:txBody>
      </p:sp>
      <p:sp>
        <p:nvSpPr>
          <p:cNvPr id="8" name="exam-number-2">
            <a:extLst xmlns:a="http://schemas.openxmlformats.org/drawingml/2006/main">
              <a:ext uri="{FF2B5EF4-FFF2-40B4-BE49-F238E27FC236}">
                <a16:creationId xmlns:a16="http://schemas.microsoft.com/office/drawing/2014/main" id="{78F60366-8BB3-4B69-8C00-C13216C1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383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3C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73C8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exam-question-2">
            <a:extLst xmlns:a="http://schemas.openxmlformats.org/drawingml/2006/main">
              <a:ext uri="{FF2B5EF4-FFF2-40B4-BE49-F238E27FC236}">
                <a16:creationId xmlns:a16="http://schemas.microsoft.com/office/drawing/2014/main" id="{408BF2DA-ADF6-4419-B948-F229253DB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38375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What makes a tool specification model-friendly?</a:t>
            </a:r>
          </a:p>
        </p:txBody>
      </p:sp>
      <p:sp>
        <p:nvSpPr>
          <p:cNvPr id="10" name="exam-number-3">
            <a:extLst xmlns:a="http://schemas.openxmlformats.org/drawingml/2006/main">
              <a:ext uri="{FF2B5EF4-FFF2-40B4-BE49-F238E27FC236}">
                <a16:creationId xmlns:a16="http://schemas.microsoft.com/office/drawing/2014/main" id="{7EEF1060-D46A-4D48-80C3-4A518433B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956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3C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73C8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exam-question-3">
            <a:extLst xmlns:a="http://schemas.openxmlformats.org/drawingml/2006/main">
              <a:ext uri="{FF2B5EF4-FFF2-40B4-BE49-F238E27FC236}">
                <a16:creationId xmlns:a16="http://schemas.microsoft.com/office/drawing/2014/main" id="{D3DFDD6B-ADFB-421C-BFF3-5C4887D5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495675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Why must tool results be treated as untrusted?</a:t>
            </a:r>
          </a:p>
        </p:txBody>
      </p:sp>
      <p:sp>
        <p:nvSpPr>
          <p:cNvPr id="12" name="exam-number-4">
            <a:extLst xmlns:a="http://schemas.openxmlformats.org/drawingml/2006/main">
              <a:ext uri="{FF2B5EF4-FFF2-40B4-BE49-F238E27FC236}">
                <a16:creationId xmlns:a16="http://schemas.microsoft.com/office/drawing/2014/main" id="{DEFF9724-D62E-4375-80CE-FA32D0C9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956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3C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73C8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3" name="exam-question-4">
            <a:extLst xmlns:a="http://schemas.openxmlformats.org/drawingml/2006/main">
              <a:ext uri="{FF2B5EF4-FFF2-40B4-BE49-F238E27FC236}">
                <a16:creationId xmlns:a16="http://schemas.microsoft.com/office/drawing/2014/main" id="{EAF78C65-EE07-4C3A-9336-E2ABE0A8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95675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Explain the N-by-M problem and MCP's answer.</a:t>
            </a:r>
          </a:p>
        </p:txBody>
      </p:sp>
      <p:sp>
        <p:nvSpPr>
          <p:cNvPr id="14" name="exam-number-5">
            <a:extLst xmlns:a="http://schemas.openxmlformats.org/drawingml/2006/main">
              <a:ext uri="{FF2B5EF4-FFF2-40B4-BE49-F238E27FC236}">
                <a16:creationId xmlns:a16="http://schemas.microsoft.com/office/drawing/2014/main" id="{55E22C12-520E-44F3-A739-2B7217FE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529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3C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73C8F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15" name="exam-question-5">
            <a:extLst xmlns:a="http://schemas.openxmlformats.org/drawingml/2006/main">
              <a:ext uri="{FF2B5EF4-FFF2-40B4-BE49-F238E27FC236}">
                <a16:creationId xmlns:a16="http://schemas.microsoft.com/office/drawing/2014/main" id="{579C911A-441A-4017-A3FB-6D17A6F3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752975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List server-side and client-side MCP primitives.</a:t>
            </a:r>
          </a:p>
        </p:txBody>
      </p:sp>
      <p:sp>
        <p:nvSpPr>
          <p:cNvPr id="16" name="exam-number-6">
            <a:extLst xmlns:a="http://schemas.openxmlformats.org/drawingml/2006/main">
              <a:ext uri="{FF2B5EF4-FFF2-40B4-BE49-F238E27FC236}">
                <a16:creationId xmlns:a16="http://schemas.microsoft.com/office/drawing/2014/main" id="{05475133-35D2-4759-BE00-2836C9824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529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3C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73C8FF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17" name="exam-question-6">
            <a:extLst xmlns:a="http://schemas.openxmlformats.org/drawingml/2006/main">
              <a:ext uri="{FF2B5EF4-FFF2-40B4-BE49-F238E27FC236}">
                <a16:creationId xmlns:a16="http://schemas.microsoft.com/office/drawing/2014/main" id="{E2EBD6F6-B078-4B13-A3D0-27C39248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752975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When is a framework preferable to a raw model API?</a:t>
            </a:r>
          </a:p>
        </p:txBody>
      </p:sp>
    </p:spTree>
    <p:extLst>
      <p:ext uri="{BB962C8B-B14F-4D97-AF65-F5344CB8AC3E}">
        <p14:creationId xmlns:p14="http://schemas.microsoft.com/office/powerpoint/2010/main" val="12935576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ccent-line">
            <a:extLst xmlns:a="http://schemas.openxmlformats.org/drawingml/2006/main">
              <a:ext uri="{FF2B5EF4-FFF2-40B4-BE49-F238E27FC236}">
                <a16:creationId xmlns:a16="http://schemas.microsoft.com/office/drawing/2014/main" id="{6D7E477A-2383-4C1E-831F-A0328323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C8FF"/>
          </a:solidFill>
          <a:ln xmlns:a="http://schemas.openxmlformats.org/drawingml/2006/main" w="0">
            <a:solidFill>
              <a:srgbClr val="73C8FF"/>
            </a:solidFill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13185B49-0374-4545-82F8-E73A43307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67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CHAPTER SYNTHESIS  /  05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4098F0F-FD39-4766-BAD7-71517911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4" name="chapter-footer">
            <a:extLst xmlns:a="http://schemas.openxmlformats.org/drawingml/2006/main">
              <a:ext uri="{FF2B5EF4-FFF2-40B4-BE49-F238E27FC236}">
                <a16:creationId xmlns:a16="http://schemas.microsoft.com/office/drawing/2014/main" id="{573C0976-3047-4499-B850-29525BD9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Tool Use, MCP, and Frameworks</a:t>
            </a:r>
          </a:p>
        </p:txBody>
      </p:sp>
      <p:sp>
        <p:nvSpPr>
          <p:cNvPr id="5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92490F10-AF95-4B4A-8299-6A8A1BD8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47750"/>
            <a:ext cx="1028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What must remain after the details fade</a:t>
            </a:r>
          </a:p>
        </p:txBody>
      </p:sp>
      <p:sp>
        <p:nvSpPr>
          <p:cNvPr id="6" name="takeaway-number-1">
            <a:extLst xmlns:a="http://schemas.openxmlformats.org/drawingml/2006/main">
              <a:ext uri="{FF2B5EF4-FFF2-40B4-BE49-F238E27FC236}">
                <a16:creationId xmlns:a16="http://schemas.microsoft.com/office/drawing/2014/main" id="{A02CFE89-0825-4E6A-9FE1-3ABF49B3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33625"/>
            <a:ext cx="704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3C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73C8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takeaway-1">
            <a:extLst xmlns:a="http://schemas.openxmlformats.org/drawingml/2006/main">
              <a:ext uri="{FF2B5EF4-FFF2-40B4-BE49-F238E27FC236}">
                <a16:creationId xmlns:a16="http://schemas.microsoft.com/office/drawing/2014/main" id="{46E227B3-3DDE-45B4-9843-F3D34E2F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14575"/>
            <a:ext cx="952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 model requests a tool call; a runtime decides whether to execute it.</a:t>
            </a:r>
          </a:p>
        </p:txBody>
      </p:sp>
      <p:sp>
        <p:nvSpPr>
          <p:cNvPr id="8" name="takeaway-number-2">
            <a:extLst xmlns:a="http://schemas.openxmlformats.org/drawingml/2006/main">
              <a:ext uri="{FF2B5EF4-FFF2-40B4-BE49-F238E27FC236}">
                <a16:creationId xmlns:a16="http://schemas.microsoft.com/office/drawing/2014/main" id="{B8A546A7-4E98-4A03-9AF0-769FF7D2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09925"/>
            <a:ext cx="704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3C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73C8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takeaway-2">
            <a:extLst xmlns:a="http://schemas.openxmlformats.org/drawingml/2006/main">
              <a:ext uri="{FF2B5EF4-FFF2-40B4-BE49-F238E27FC236}">
                <a16:creationId xmlns:a16="http://schemas.microsoft.com/office/drawing/2014/main" id="{323AD9AD-647F-4C49-9A88-FB421CEA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90875"/>
            <a:ext cx="952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Tool ergonomics strongly influence model reliability.</a:t>
            </a:r>
          </a:p>
        </p:txBody>
      </p:sp>
      <p:sp>
        <p:nvSpPr>
          <p:cNvPr id="10" name="takeaway-number-3">
            <a:extLst xmlns:a="http://schemas.openxmlformats.org/drawingml/2006/main">
              <a:ext uri="{FF2B5EF4-FFF2-40B4-BE49-F238E27FC236}">
                <a16:creationId xmlns:a16="http://schemas.microsoft.com/office/drawing/2014/main" id="{F43A3EFB-9ABC-4DF3-8DFF-D0C3BD90E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86225"/>
            <a:ext cx="704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3C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73C8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takeaway-3">
            <a:extLst xmlns:a="http://schemas.openxmlformats.org/drawingml/2006/main">
              <a:ext uri="{FF2B5EF4-FFF2-40B4-BE49-F238E27FC236}">
                <a16:creationId xmlns:a16="http://schemas.microsoft.com/office/drawing/2014/main" id="{B4411378-E35A-42BD-827E-520B7F94C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67175"/>
            <a:ext cx="952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MCP standardizes reusable tools, resources, and prompts.</a:t>
            </a:r>
          </a:p>
        </p:txBody>
      </p:sp>
      <p:sp>
        <p:nvSpPr>
          <p:cNvPr id="12" name="takeaway-number-4">
            <a:extLst xmlns:a="http://schemas.openxmlformats.org/drawingml/2006/main">
              <a:ext uri="{FF2B5EF4-FFF2-40B4-BE49-F238E27FC236}">
                <a16:creationId xmlns:a16="http://schemas.microsoft.com/office/drawing/2014/main" id="{6EBDCF25-B002-43FA-B0EA-A2F8316DA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962525"/>
            <a:ext cx="704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3C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73C8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3" name="takeaway-4">
            <a:extLst xmlns:a="http://schemas.openxmlformats.org/drawingml/2006/main">
              <a:ext uri="{FF2B5EF4-FFF2-40B4-BE49-F238E27FC236}">
                <a16:creationId xmlns:a16="http://schemas.microsoft.com/office/drawing/2014/main" id="{99FF25B5-886A-458A-8B0E-AD5193BD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43475"/>
            <a:ext cx="952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Frameworks are justified by stateful orchestration needs.</a:t>
            </a:r>
          </a:p>
        </p:txBody>
      </p:sp>
    </p:spTree>
    <p:extLst>
      <p:ext uri="{BB962C8B-B14F-4D97-AF65-F5344CB8AC3E}">
        <p14:creationId xmlns:p14="http://schemas.microsoft.com/office/powerpoint/2010/main" val="17412875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2026-07-27T18:05:29.7610000Z</dcterms:created>
  <dcterms:modified xsi:type="dcterms:W3CDTF">2026-07-27T18:05:29.7610000Z</dcterms:modified>
</coreProperties>
</file>