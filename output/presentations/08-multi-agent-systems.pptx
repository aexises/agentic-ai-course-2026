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22116306994e13" /><Relationship Type="http://schemas.openxmlformats.org/officeDocument/2006/relationships/extended-properties" Target="/docProps/app.xml" Id="R6b54b4a961a24612" /><Relationship Type="http://schemas.openxmlformats.org/officeDocument/2006/relationships/officeDocument" Target="/ppt/presentation.xml" Id="R361a7706432d4be9" /></Relationships>
</file>

<file path=ppt/presentation.xml><?xml version="1.0" encoding="utf-8"?>
<p:presentation xmlns:p="http://schemas.openxmlformats.org/presentationml/2006/main">
  <p:sldMasterIdLst>
    <p:sldMasterId xmlns:r="http://schemas.openxmlformats.org/officeDocument/2006/relationships" id="2147483648" r:id="Rb4f92cbdd27a4040"/>
  </p:sldMasterIdLst>
  <p:notesMasterIdLst>
    <p:notesMasterId xmlns:r="http://schemas.openxmlformats.org/officeDocument/2006/relationships" r:id="Rf2c74ef84a60417a"/>
  </p:notesMasterIdLst>
  <p:sldIdLst>
    <p:sldId xmlns:r="http://schemas.openxmlformats.org/officeDocument/2006/relationships" id="256" r:id="R074f1f470f1248c2"/>
    <p:sldId xmlns:r="http://schemas.openxmlformats.org/officeDocument/2006/relationships" id="257" r:id="R322e1be2c3454690"/>
    <p:sldId xmlns:r="http://schemas.openxmlformats.org/officeDocument/2006/relationships" id="258" r:id="R485fdb44043043ef"/>
    <p:sldId xmlns:r="http://schemas.openxmlformats.org/officeDocument/2006/relationships" id="259" r:id="R07f39a176b6d4570"/>
    <p:sldId xmlns:r="http://schemas.openxmlformats.org/officeDocument/2006/relationships" id="260" r:id="R464e234be8a24152"/>
    <p:sldId xmlns:r="http://schemas.openxmlformats.org/officeDocument/2006/relationships" id="261" r:id="R2cb4d7dcaa024012"/>
    <p:sldId xmlns:r="http://schemas.openxmlformats.org/officeDocument/2006/relationships" id="262" r:id="R524157647ada4cdc"/>
    <p:sldId xmlns:r="http://schemas.openxmlformats.org/officeDocument/2006/relationships" id="263" r:id="R2d3183e57d3e430b"/>
    <p:sldId xmlns:r="http://schemas.openxmlformats.org/officeDocument/2006/relationships" id="264" r:id="R99b0d621dfc54ec4"/>
    <p:sldId xmlns:r="http://schemas.openxmlformats.org/officeDocument/2006/relationships" id="265" r:id="R21521997a0ad4666"/>
    <p:sldId xmlns:r="http://schemas.openxmlformats.org/officeDocument/2006/relationships" id="266" r:id="Rcb7434a0263b40f2"/>
    <p:sldId xmlns:r="http://schemas.openxmlformats.org/officeDocument/2006/relationships" id="267" r:id="Ra9f87dfdc92d44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81097e44404786" /><Relationship Type="http://schemas.openxmlformats.org/officeDocument/2006/relationships/slideMaster" Target="/ppt/slideMasters/slideMaster1.xml" Id="Rb4f92cbdd27a4040" /><Relationship Type="http://schemas.openxmlformats.org/officeDocument/2006/relationships/notesMaster" Target="/ppt/notesMasters/notesMaster1.xml" Id="Rf2c74ef84a60417a" /><Relationship Type="http://schemas.openxmlformats.org/officeDocument/2006/relationships/presProps" Target="/ppt/presProps.xml" Id="R4c71d4f3f55a4756" /><Relationship Type="http://schemas.openxmlformats.org/officeDocument/2006/relationships/tableStyles" Target="/ppt/tableStyles.xml" Id="Rc3920acd03b5414a" /><Relationship Type="http://schemas.openxmlformats.org/officeDocument/2006/relationships/slide" Target="/ppt/slides/slide1.xml" Id="R074f1f470f1248c2" /><Relationship Type="http://schemas.openxmlformats.org/officeDocument/2006/relationships/slide" Target="/ppt/slides/slide2.xml" Id="R322e1be2c3454690" /><Relationship Type="http://schemas.openxmlformats.org/officeDocument/2006/relationships/slide" Target="/ppt/slides/slide3.xml" Id="R485fdb44043043ef" /><Relationship Type="http://schemas.openxmlformats.org/officeDocument/2006/relationships/slide" Target="/ppt/slides/slide4.xml" Id="R07f39a176b6d4570" /><Relationship Type="http://schemas.openxmlformats.org/officeDocument/2006/relationships/slide" Target="/ppt/slides/slide5.xml" Id="R464e234be8a24152" /><Relationship Type="http://schemas.openxmlformats.org/officeDocument/2006/relationships/slide" Target="/ppt/slides/slide6.xml" Id="R2cb4d7dcaa024012" /><Relationship Type="http://schemas.openxmlformats.org/officeDocument/2006/relationships/slide" Target="/ppt/slides/slide7.xml" Id="R524157647ada4cdc" /><Relationship Type="http://schemas.openxmlformats.org/officeDocument/2006/relationships/slide" Target="/ppt/slides/slide8.xml" Id="R2d3183e57d3e430b" /><Relationship Type="http://schemas.openxmlformats.org/officeDocument/2006/relationships/slide" Target="/ppt/slides/slide9.xml" Id="R99b0d621dfc54ec4" /><Relationship Type="http://schemas.openxmlformats.org/officeDocument/2006/relationships/slide" Target="/ppt/slides/slide10.xml" Id="R21521997a0ad4666" /><Relationship Type="http://schemas.openxmlformats.org/officeDocument/2006/relationships/slide" Target="/ppt/slides/slide11.xml" Id="Rcb7434a0263b40f2" /><Relationship Type="http://schemas.openxmlformats.org/officeDocument/2006/relationships/slide" Target="/ppt/slides/slide12.xml" Id="Ra9f87dfdc92d44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9ef9b2a06e462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d5825ea6f64186" /><Relationship Type="http://schemas.openxmlformats.org/officeDocument/2006/relationships/notesMaster" Target="/ppt/notesMasters/notesMaster1.xml" Id="Rfda3bd8cb85e4a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95f614b149449c" /><Relationship Type="http://schemas.openxmlformats.org/officeDocument/2006/relationships/notesMaster" Target="/ppt/notesMasters/notesMaster1.xml" Id="R49285ca670544e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3b961c5bf24df3" /><Relationship Type="http://schemas.openxmlformats.org/officeDocument/2006/relationships/notesMaster" Target="/ppt/notesMasters/notesMaster1.xml" Id="Rd268f613e67b41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b7d6d9c97947fa" /><Relationship Type="http://schemas.openxmlformats.org/officeDocument/2006/relationships/notesMaster" Target="/ppt/notesMasters/notesMaster1.xml" Id="R5a6e8aec5ef442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e386cc10b94e5f" /><Relationship Type="http://schemas.openxmlformats.org/officeDocument/2006/relationships/notesMaster" Target="/ppt/notesMasters/notesMaster1.xml" Id="R04859900eda049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7d2c492bd24231" /><Relationship Type="http://schemas.openxmlformats.org/officeDocument/2006/relationships/notesMaster" Target="/ppt/notesMasters/notesMaster1.xml" Id="Rad454fd2f8b645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54152ec565479c" /><Relationship Type="http://schemas.openxmlformats.org/officeDocument/2006/relationships/notesMaster" Target="/ppt/notesMasters/notesMaster1.xml" Id="R2015a62aed8b4a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f32c82e4d94c3e" /><Relationship Type="http://schemas.openxmlformats.org/officeDocument/2006/relationships/notesMaster" Target="/ppt/notesMasters/notesMaster1.xml" Id="R168556e00e12478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9bfbb5de8145d8" /><Relationship Type="http://schemas.openxmlformats.org/officeDocument/2006/relationships/notesMaster" Target="/ppt/notesMasters/notesMaster1.xml" Id="R860fad5b64de4d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fa87732d659498d" /><Relationship Type="http://schemas.openxmlformats.org/officeDocument/2006/relationships/notesMaster" Target="/ppt/notesMasters/notesMaster1.xml" Id="Rd70265c8fc034df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5d0c673c6a4b34" /><Relationship Type="http://schemas.openxmlformats.org/officeDocument/2006/relationships/notesMaster" Target="/ppt/notesMasters/notesMaster1.xml" Id="R73f5d1e7bb2c49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4bea78db514e89" /><Relationship Type="http://schemas.openxmlformats.org/officeDocument/2006/relationships/notesMaster" Target="/ppt/notesMasters/notesMaster1.xml" Id="Rafb1b824f81144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Assess the submitted evidence with the stated acceptance check. Reading links and limitations follow.</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08-multi-agent-systems.pdf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a:r>
          </a:p>
          <a:p xmlns:a="http://schemas.openxmlformats.org/drawingml/2006/main">
            <a:r>
              <a:t>[Assessed practice]</a:t>
            </a:r>
          </a:p>
          <a:p xmlns:a="http://schemas.openxmlformats.org/drawingml/2006/main">
            <a:r>
              <a:t>Complete Lab 7. Compare a single agent, an objective reviewer, and an optional model reviewer. Add one case where every role sees the same misleading cue.</a:t>
            </a:r>
          </a:p>
          <a:p xmlns:a="http://schemas.openxmlformats.org/drawingml/2006/main">
            <a:r>
              <a:t>Acceptance: Report extra requests and shared errors. Explain any scope or information advantage before comparing outcomes.</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43e3a9fbb940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7fcefaf4b04ec2" /><Relationship Type="http://schemas.openxmlformats.org/officeDocument/2006/relationships/slideLayout" Target="/ppt/slideLayouts/slideLayout1.xml" Id="Rf1117eb1ec52411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117eb1ec52411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29324787e9d4b10" /><Relationship Type="http://schemas.openxmlformats.org/officeDocument/2006/relationships/notesSlide" Target="/ppt/notesSlides/notesSlide1.xml" Id="R291a904936554e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601547fb4a34299" /><Relationship Type="http://schemas.openxmlformats.org/officeDocument/2006/relationships/notesSlide" Target="/ppt/notesSlides/notesSlide2.xml" Id="Rc02b5c12a89549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20adab7a424ce3" /><Relationship Type="http://schemas.openxmlformats.org/officeDocument/2006/relationships/notesSlide" Target="/ppt/notesSlides/notesSlide3.xml" Id="R7101bcc0c0f0488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9489db9cfd047aa" /><Relationship Type="http://schemas.openxmlformats.org/officeDocument/2006/relationships/notesSlide" Target="/ppt/notesSlides/notesSlide4.xml" Id="R414303859c3e4f1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52472ca81ca4832" /><Relationship Type="http://schemas.openxmlformats.org/officeDocument/2006/relationships/notesSlide" Target="/ppt/notesSlides/notesSlide5.xml" Id="R98adbeddadb940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8a7a25bdb23483f" /><Relationship Type="http://schemas.openxmlformats.org/officeDocument/2006/relationships/notesSlide" Target="/ppt/notesSlides/notesSlide6.xml" Id="R5782e3b233dc49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fd211b8287a4a59" /><Relationship Type="http://schemas.openxmlformats.org/officeDocument/2006/relationships/notesSlide" Target="/ppt/notesSlides/notesSlide7.xml" Id="Re24af006640b44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1cdb8b594984b5d" /><Relationship Type="http://schemas.openxmlformats.org/officeDocument/2006/relationships/notesSlide" Target="/ppt/notesSlides/notesSlide8.xml" Id="R228d7b8bc13049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5a8ca06ac5494d" /><Relationship Type="http://schemas.openxmlformats.org/officeDocument/2006/relationships/notesSlide" Target="/ppt/notesSlides/notesSlide9.xml" Id="R0bf261c0e14046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7e55879b3864f0f" /><Relationship Type="http://schemas.openxmlformats.org/officeDocument/2006/relationships/notesSlide" Target="/ppt/notesSlides/notesSlide10.xml" Id="R81fbc94366d245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bd53a6b544d4c98" /><Relationship Type="http://schemas.openxmlformats.org/officeDocument/2006/relationships/notesSlide" Target="/ppt/notesSlides/notesSlide11.xml" Id="Ra3f5afa675cd42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44df17884744ed" /><Relationship Type="http://schemas.openxmlformats.org/officeDocument/2006/relationships/notesSlide" Target="/ppt/notesSlides/notesSlide12.xml" Id="R313146b1d0a94879"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6370CD4D-0435-46A7-BCAF-58BA8A8EBBC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ourse-title">
            <a:extLst xmlns:a="http://schemas.openxmlformats.org/drawingml/2006/main">
              <a:ext uri="{FF2B5EF4-FFF2-40B4-BE49-F238E27FC236}">
                <a16:creationId xmlns:a16="http://schemas.microsoft.com/office/drawing/2014/main" id="{00D0117C-F719-406B-B662-B28E49CB1C62}"/>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30C4437E-7A33-4460-AA49-AF261F91EA0D}"/>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08</a:t>
            </a:r>
          </a:p>
        </p:txBody>
      </p:sp>
      <p:sp>
        <p:nvSpPr>
          <p:cNvPr id="4" name="deck-title">
            <a:extLst xmlns:a="http://schemas.openxmlformats.org/drawingml/2006/main">
              <a:ext uri="{FF2B5EF4-FFF2-40B4-BE49-F238E27FC236}">
                <a16:creationId xmlns:a16="http://schemas.microsoft.com/office/drawing/2014/main" id="{ED452DC6-B16C-4724-97FF-BDBAD7CD0548}"/>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Multi-Agent Systems</a:t>
            </a:r>
          </a:p>
        </p:txBody>
      </p:sp>
      <p:sp>
        <p:nvSpPr>
          <p:cNvPr id="5" name="deck-thesis">
            <a:extLst xmlns:a="http://schemas.openxmlformats.org/drawingml/2006/main">
              <a:ext uri="{FF2B5EF4-FFF2-40B4-BE49-F238E27FC236}">
                <a16:creationId xmlns:a16="http://schemas.microsoft.com/office/drawing/2014/main" id="{908785DB-CF20-4F11-B55B-483B77FA7F6E}"/>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Multiple agents add specialization, modularity, parallelism, and context division only when coordination costs are explicitly designed.</a:t>
            </a:r>
          </a:p>
        </p:txBody>
      </p:sp>
      <p:sp>
        <p:nvSpPr>
          <p:cNvPr id="6" name="title-marker">
            <a:extLst xmlns:a="http://schemas.openxmlformats.org/drawingml/2006/main">
              <a:ext uri="{FF2B5EF4-FFF2-40B4-BE49-F238E27FC236}">
                <a16:creationId xmlns:a16="http://schemas.microsoft.com/office/drawing/2014/main" id="{CF7EDD1F-E9A8-47CB-AA04-B571DC7C3769}"/>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7" name="title-marker-text">
            <a:extLst xmlns:a="http://schemas.openxmlformats.org/drawingml/2006/main">
              <a:ext uri="{FF2B5EF4-FFF2-40B4-BE49-F238E27FC236}">
                <a16:creationId xmlns:a16="http://schemas.microsoft.com/office/drawing/2014/main" id="{AD21A6FC-55F9-49E1-AE6B-4A8D33B3CA9E}"/>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3132699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656AF2A5-F568-45E1-9C0E-1738EDAD9493}"/>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90A549BB-F78B-4B2E-A58B-3EDB33A23BBD}"/>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08</a:t>
            </a:r>
          </a:p>
        </p:txBody>
      </p:sp>
      <p:sp>
        <p:nvSpPr>
          <p:cNvPr id="3" name="slide-number">
            <a:extLst xmlns:a="http://schemas.openxmlformats.org/drawingml/2006/main">
              <a:ext uri="{FF2B5EF4-FFF2-40B4-BE49-F238E27FC236}">
                <a16:creationId xmlns:a16="http://schemas.microsoft.com/office/drawing/2014/main" id="{D004580A-5259-4803-B2DC-CEE89391A23C}"/>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E01B773B-9E9D-4E3F-840E-45E9539FB7EB}"/>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objectives-title">
            <a:extLst xmlns:a="http://schemas.openxmlformats.org/drawingml/2006/main">
              <a:ext uri="{FF2B5EF4-FFF2-40B4-BE49-F238E27FC236}">
                <a16:creationId xmlns:a16="http://schemas.microsoft.com/office/drawing/2014/main" id="{59632A6D-446A-4F5B-8460-B188DF32E2DD}"/>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BE7AB2DD-35E1-4AFA-B473-6B9FE28ED69A}"/>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8725CE3F-B0F5-438E-828F-95EE13E7A446}"/>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Decide when multiple agents help</a:t>
            </a:r>
          </a:p>
        </p:txBody>
      </p:sp>
      <p:sp>
        <p:nvSpPr>
          <p:cNvPr id="8" name="objective-number-2">
            <a:extLst xmlns:a="http://schemas.openxmlformats.org/drawingml/2006/main">
              <a:ext uri="{FF2B5EF4-FFF2-40B4-BE49-F238E27FC236}">
                <a16:creationId xmlns:a16="http://schemas.microsoft.com/office/drawing/2014/main" id="{B3530C0A-F838-4332-92B2-6862C001820C}"/>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7E05762A-0D91-4CC1-88B2-45DA671AFB4B}"/>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Design roles, communication, and coordination</a:t>
            </a:r>
          </a:p>
        </p:txBody>
      </p:sp>
      <p:sp>
        <p:nvSpPr>
          <p:cNvPr id="10" name="objective-number-3">
            <a:extLst xmlns:a="http://schemas.openxmlformats.org/drawingml/2006/main">
              <a:ext uri="{FF2B5EF4-FFF2-40B4-BE49-F238E27FC236}">
                <a16:creationId xmlns:a16="http://schemas.microsoft.com/office/drawing/2014/main" id="{45BDB1F6-FE8E-4E93-9644-1E2AE2359474}"/>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8EE5C770-A01A-41A2-B53F-7360EE3F7911}"/>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Compare centralized, decentralized, and hierarchical topologies</a:t>
            </a:r>
          </a:p>
        </p:txBody>
      </p:sp>
      <p:sp>
        <p:nvSpPr>
          <p:cNvPr id="12" name="objective-number-4">
            <a:extLst xmlns:a="http://schemas.openxmlformats.org/drawingml/2006/main">
              <a:ext uri="{FF2B5EF4-FFF2-40B4-BE49-F238E27FC236}">
                <a16:creationId xmlns:a16="http://schemas.microsoft.com/office/drawing/2014/main" id="{6EC55A1A-E7A0-4D90-81E7-C290F3268743}"/>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6E3F60EC-9F09-40C2-AAD4-157926AC00D0}"/>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Bound multi-agent cost and termination</a:t>
            </a:r>
          </a:p>
        </p:txBody>
      </p:sp>
    </p:spTree>
    <p:extLst>
      <p:ext uri="{BB962C8B-B14F-4D97-AF65-F5344CB8AC3E}">
        <p14:creationId xmlns:p14="http://schemas.microsoft.com/office/powerpoint/2010/main" val="18013035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B1826F75-9422-415B-B83C-58D13BE7C5CF}"/>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19F7ACBE-8A1D-4102-A389-7EB50AC550D1}"/>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08</a:t>
            </a:r>
          </a:p>
        </p:txBody>
      </p:sp>
      <p:sp>
        <p:nvSpPr>
          <p:cNvPr id="3" name="slide-number">
            <a:extLst xmlns:a="http://schemas.openxmlformats.org/drawingml/2006/main">
              <a:ext uri="{FF2B5EF4-FFF2-40B4-BE49-F238E27FC236}">
                <a16:creationId xmlns:a16="http://schemas.microsoft.com/office/drawing/2014/main" id="{0E51C8CF-68D1-40C9-BC1E-7720F21C8ECA}"/>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C9940D03-DA14-464B-8760-C4E480B8F1A6}"/>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D81E7ACF-2710-4194-AA0F-D933002A8A17}"/>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More agents are useful only for separable work</a:t>
            </a:r>
          </a:p>
        </p:txBody>
      </p:sp>
      <p:sp>
        <p:nvSpPr>
          <p:cNvPr id="6" name="section-explanation">
            <a:extLst xmlns:a="http://schemas.openxmlformats.org/drawingml/2006/main">
              <a:ext uri="{FF2B5EF4-FFF2-40B4-BE49-F238E27FC236}">
                <a16:creationId xmlns:a16="http://schemas.microsoft.com/office/drawing/2014/main" id="{64F6F324-A819-4281-BACF-C7ED541A0591}"/>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 focused role, prompt, tool set, and context can outperform one overloaded agent. Multiple agents also allow modular testing, parallel tasks, and divided context. These gains disappear when work is tightly coupled or one well-equipped agent already succeeds.</a:t>
            </a:r>
          </a:p>
        </p:txBody>
      </p:sp>
      <p:sp>
        <p:nvSpPr>
          <p:cNvPr id="7" name="column-rule">
            <a:extLst xmlns:a="http://schemas.openxmlformats.org/drawingml/2006/main">
              <a:ext uri="{FF2B5EF4-FFF2-40B4-BE49-F238E27FC236}">
                <a16:creationId xmlns:a16="http://schemas.microsoft.com/office/drawing/2014/main" id="{748BCEEE-4843-4913-908D-5D1001AC7F1B}"/>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997A37C0-DDA2-4E9A-816A-10ABFF89B553}"/>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Specialization narrows behavior and tool choice.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Modularity makes agents independently replaceable.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Parallelism reduces time only for independent subtasks.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Context division keeps each working set relevant.</a:t>
            </a:r>
          </a:p>
        </p:txBody>
      </p:sp>
    </p:spTree>
    <p:extLst>
      <p:ext uri="{BB962C8B-B14F-4D97-AF65-F5344CB8AC3E}">
        <p14:creationId xmlns:p14="http://schemas.microsoft.com/office/powerpoint/2010/main" val="651118270"/>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2A7477EE-32F1-4F79-9743-8F3BD50CA211}"/>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B4913774-2AD1-42B8-8CB3-59CB96542E69}"/>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08</a:t>
            </a:r>
          </a:p>
        </p:txBody>
      </p:sp>
      <p:sp>
        <p:nvSpPr>
          <p:cNvPr id="3" name="slide-number">
            <a:extLst xmlns:a="http://schemas.openxmlformats.org/drawingml/2006/main">
              <a:ext uri="{FF2B5EF4-FFF2-40B4-BE49-F238E27FC236}">
                <a16:creationId xmlns:a16="http://schemas.microsoft.com/office/drawing/2014/main" id="{7F33D214-6755-4754-BE68-5CA1E5D93015}"/>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6FEAB430-3FD8-4247-9D3F-22668D6A71FD}"/>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5BAAB0A4-B582-4954-9693-7BE18E285857}"/>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Coordination is the price of specialization</a:t>
            </a:r>
          </a:p>
        </p:txBody>
      </p:sp>
      <p:sp>
        <p:nvSpPr>
          <p:cNvPr id="6" name="section-explanation">
            <a:extLst xmlns:a="http://schemas.openxmlformats.org/drawingml/2006/main">
              <a:ext uri="{FF2B5EF4-FFF2-40B4-BE49-F238E27FC236}">
                <a16:creationId xmlns:a16="http://schemas.microsoft.com/office/drawing/2014/main" id="{47F68A3F-976D-48EB-BBF6-2BD6513DF4F5}"/>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Each agent adds model calls and communication. Errors can propagate through handoffs, disagreement needs resolution, and someone must decide when the team is done. Multi-agent designs are harder to trace and secure.</a:t>
            </a:r>
          </a:p>
        </p:txBody>
      </p:sp>
      <p:sp>
        <p:nvSpPr>
          <p:cNvPr id="7" name="point-band-1">
            <a:extLst xmlns:a="http://schemas.openxmlformats.org/drawingml/2006/main">
              <a:ext uri="{FF2B5EF4-FFF2-40B4-BE49-F238E27FC236}">
                <a16:creationId xmlns:a16="http://schemas.microsoft.com/office/drawing/2014/main" id="{81BD4548-F212-4396-8C29-E88396255C6F}"/>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point-1">
            <a:extLst xmlns:a="http://schemas.openxmlformats.org/drawingml/2006/main">
              <a:ext uri="{FF2B5EF4-FFF2-40B4-BE49-F238E27FC236}">
                <a16:creationId xmlns:a16="http://schemas.microsoft.com/office/drawing/2014/main" id="{88A0002E-E870-49F9-9D32-146969F07408}"/>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Cost grows with agents, turns, and coordination rounds.</a:t>
            </a:r>
          </a:p>
        </p:txBody>
      </p:sp>
      <p:sp>
        <p:nvSpPr>
          <p:cNvPr id="9" name="point-band-2">
            <a:extLst xmlns:a="http://schemas.openxmlformats.org/drawingml/2006/main">
              <a:ext uri="{FF2B5EF4-FFF2-40B4-BE49-F238E27FC236}">
                <a16:creationId xmlns:a16="http://schemas.microsoft.com/office/drawing/2014/main" id="{54C746E7-0958-4D7A-8633-018EBD61A8F1}"/>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0" name="point-2">
            <a:extLst xmlns:a="http://schemas.openxmlformats.org/drawingml/2006/main">
              <a:ext uri="{FF2B5EF4-FFF2-40B4-BE49-F238E27FC236}">
                <a16:creationId xmlns:a16="http://schemas.microsoft.com/office/drawing/2014/main" id="{148CC490-CFEE-4C74-B6AD-1A28BB0E58D8}"/>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Messages consume context and can carry errors or injections.</a:t>
            </a:r>
          </a:p>
        </p:txBody>
      </p:sp>
      <p:sp>
        <p:nvSpPr>
          <p:cNvPr id="11" name="point-band-3">
            <a:extLst xmlns:a="http://schemas.openxmlformats.org/drawingml/2006/main">
              <a:ext uri="{FF2B5EF4-FFF2-40B4-BE49-F238E27FC236}">
                <a16:creationId xmlns:a16="http://schemas.microsoft.com/office/drawing/2014/main" id="{A11E74C8-6A57-45E4-A669-9B32E00E0199}"/>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2" name="point-3">
            <a:extLst xmlns:a="http://schemas.openxmlformats.org/drawingml/2006/main">
              <a:ext uri="{FF2B5EF4-FFF2-40B4-BE49-F238E27FC236}">
                <a16:creationId xmlns:a16="http://schemas.microsoft.com/office/drawing/2014/main" id="{1CC8CEDE-73A0-42FF-A4F6-767826DB7202}"/>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Termination needs shared budgets and a clear owner.</a:t>
            </a:r>
          </a:p>
        </p:txBody>
      </p:sp>
      <p:sp>
        <p:nvSpPr>
          <p:cNvPr id="13" name="point-band-4">
            <a:extLst xmlns:a="http://schemas.openxmlformats.org/drawingml/2006/main">
              <a:ext uri="{FF2B5EF4-FFF2-40B4-BE49-F238E27FC236}">
                <a16:creationId xmlns:a16="http://schemas.microsoft.com/office/drawing/2014/main" id="{6FF7E07E-8633-43A1-AB28-04331658605E}"/>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4" name="point-4">
            <a:extLst xmlns:a="http://schemas.openxmlformats.org/drawingml/2006/main">
              <a:ext uri="{FF2B5EF4-FFF2-40B4-BE49-F238E27FC236}">
                <a16:creationId xmlns:a16="http://schemas.microsoft.com/office/drawing/2014/main" id="{DC31745D-3FDC-4963-BB46-0DCD998D21E3}"/>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Start with a single agent and add roles for measured reasons.</a:t>
            </a:r>
          </a:p>
        </p:txBody>
      </p:sp>
    </p:spTree>
    <p:extLst>
      <p:ext uri="{BB962C8B-B14F-4D97-AF65-F5344CB8AC3E}">
        <p14:creationId xmlns:p14="http://schemas.microsoft.com/office/powerpoint/2010/main" val="9701306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23EA9AEB-8BBB-4C62-8A9B-85DCD2F78779}"/>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FF606378-214E-479C-8E61-60C7B610710B}"/>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08</a:t>
            </a:r>
          </a:p>
        </p:txBody>
      </p:sp>
      <p:sp>
        <p:nvSpPr>
          <p:cNvPr id="3" name="slide-number">
            <a:extLst xmlns:a="http://schemas.openxmlformats.org/drawingml/2006/main">
              <a:ext uri="{FF2B5EF4-FFF2-40B4-BE49-F238E27FC236}">
                <a16:creationId xmlns:a16="http://schemas.microsoft.com/office/drawing/2014/main" id="{4E89263A-11F1-4401-896B-6EDC38421492}"/>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C69AD8C3-5F71-44B7-87D8-0704CEA5279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8DB44349-90D2-4BC0-80D1-8085304E2539}"/>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Design collaboration along four dimensions</a:t>
            </a:r>
          </a:p>
        </p:txBody>
      </p:sp>
      <p:sp>
        <p:nvSpPr>
          <p:cNvPr id="6" name="section-explanation">
            <a:extLst xmlns:a="http://schemas.openxmlformats.org/drawingml/2006/main">
              <a:ext uri="{FF2B5EF4-FFF2-40B4-BE49-F238E27FC236}">
                <a16:creationId xmlns:a16="http://schemas.microsoft.com/office/drawing/2014/main" id="{C9C17180-4093-4014-A3C5-BFDED46E100F}"/>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Roles define responsibility; communication defines information exchange; coordination selects the next actor and completion rule; evolution determines whether agents adapt through feedback or reflection.</a:t>
            </a:r>
          </a:p>
        </p:txBody>
      </p:sp>
      <p:sp>
        <p:nvSpPr>
          <p:cNvPr id="7" name="column-rule">
            <a:extLst xmlns:a="http://schemas.openxmlformats.org/drawingml/2006/main">
              <a:ext uri="{FF2B5EF4-FFF2-40B4-BE49-F238E27FC236}">
                <a16:creationId xmlns:a16="http://schemas.microsoft.com/office/drawing/2014/main" id="{8683AEBB-BD2D-47A3-BA6E-7E0500954ABB}"/>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69688233-1849-4666-904F-987F944DEA06}"/>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Give roles distinct objectives and tool scopes.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Choose shared state or explicit messages deliberately.</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Define handoff contracts and synthesis ownership.</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Keep adaptation separate from uncontrolled drift.</a:t>
            </a:r>
          </a:p>
        </p:txBody>
      </p:sp>
    </p:spTree>
    <p:extLst>
      <p:ext uri="{BB962C8B-B14F-4D97-AF65-F5344CB8AC3E}">
        <p14:creationId xmlns:p14="http://schemas.microsoft.com/office/powerpoint/2010/main" val="1290246311"/>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37D463EA-0881-443C-80A0-BB05FA7FBFA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ECECB9BF-3D0D-4C4A-B05C-710E3F27160E}"/>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08</a:t>
            </a:r>
          </a:p>
        </p:txBody>
      </p:sp>
      <p:sp>
        <p:nvSpPr>
          <p:cNvPr id="3" name="slide-number">
            <a:extLst xmlns:a="http://schemas.openxmlformats.org/drawingml/2006/main">
              <a:ext uri="{FF2B5EF4-FFF2-40B4-BE49-F238E27FC236}">
                <a16:creationId xmlns:a16="http://schemas.microsoft.com/office/drawing/2014/main" id="{7089E732-CB6A-494E-AD01-CC5541C57D5C}"/>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BC2DF845-04AB-48B8-A882-02B95774123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D96ACDF6-87B9-4E35-80B6-E1C1705F6614}"/>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 runtime supplies identity, lifecycle, and delivery</a:t>
            </a:r>
          </a:p>
        </p:txBody>
      </p:sp>
      <p:sp>
        <p:nvSpPr>
          <p:cNvPr id="6" name="section-explanation">
            <a:extLst xmlns:a="http://schemas.openxmlformats.org/drawingml/2006/main">
              <a:ext uri="{FF2B5EF4-FFF2-40B4-BE49-F238E27FC236}">
                <a16:creationId xmlns:a16="http://schemas.microsoft.com/office/drawing/2014/main" id="{60EBFAB6-AB1D-4FFC-AB58-A724EF7920E7}"/>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The application sits on a runtime that creates and retires agent instances, uniquely addresses them, and routes messages. Standalone runtimes are simpler; distributed runtimes add process, machine, language, isolation, and operations concerns.</a:t>
            </a:r>
          </a:p>
        </p:txBody>
      </p:sp>
      <p:sp>
        <p:nvSpPr>
          <p:cNvPr id="7" name="point-band-1">
            <a:extLst xmlns:a="http://schemas.openxmlformats.org/drawingml/2006/main">
              <a:ext uri="{FF2B5EF4-FFF2-40B4-BE49-F238E27FC236}">
                <a16:creationId xmlns:a16="http://schemas.microsoft.com/office/drawing/2014/main" id="{7CE58FEF-4C8A-4939-B820-0E23FB36EB78}"/>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point-1">
            <a:extLst xmlns:a="http://schemas.openxmlformats.org/drawingml/2006/main">
              <a:ext uri="{FF2B5EF4-FFF2-40B4-BE49-F238E27FC236}">
                <a16:creationId xmlns:a16="http://schemas.microsoft.com/office/drawing/2014/main" id="{278E3853-D5C0-45C8-BD06-25F906A12654}"/>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Use one process for development and simple applications.</a:t>
            </a:r>
          </a:p>
        </p:txBody>
      </p:sp>
      <p:sp>
        <p:nvSpPr>
          <p:cNvPr id="9" name="point-band-2">
            <a:extLst xmlns:a="http://schemas.openxmlformats.org/drawingml/2006/main">
              <a:ext uri="{FF2B5EF4-FFF2-40B4-BE49-F238E27FC236}">
                <a16:creationId xmlns:a16="http://schemas.microsoft.com/office/drawing/2014/main" id="{0CA2F327-3532-4C61-9E87-3D2430E78BBD}"/>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0" name="point-2">
            <a:extLst xmlns:a="http://schemas.openxmlformats.org/drawingml/2006/main">
              <a:ext uri="{FF2B5EF4-FFF2-40B4-BE49-F238E27FC236}">
                <a16:creationId xmlns:a16="http://schemas.microsoft.com/office/drawing/2014/main" id="{DA4C8234-76FF-46C4-8811-F031274AE384}"/>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Distribute only for scale, isolation, or polyglot requirements.</a:t>
            </a:r>
          </a:p>
        </p:txBody>
      </p:sp>
      <p:sp>
        <p:nvSpPr>
          <p:cNvPr id="11" name="point-band-3">
            <a:extLst xmlns:a="http://schemas.openxmlformats.org/drawingml/2006/main">
              <a:ext uri="{FF2B5EF4-FFF2-40B4-BE49-F238E27FC236}">
                <a16:creationId xmlns:a16="http://schemas.microsoft.com/office/drawing/2014/main" id="{F331C5E6-7EE1-4A55-9E0D-F8B5079A2245}"/>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2" name="point-3">
            <a:extLst xmlns:a="http://schemas.openxmlformats.org/drawingml/2006/main">
              <a:ext uri="{FF2B5EF4-FFF2-40B4-BE49-F238E27FC236}">
                <a16:creationId xmlns:a16="http://schemas.microsoft.com/office/drawing/2014/main" id="{8EE4254F-6898-4D93-9070-F8019A5E51C9}"/>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Persist state intentionally across instance lifecycles.</a:t>
            </a:r>
          </a:p>
        </p:txBody>
      </p:sp>
    </p:spTree>
    <p:extLst>
      <p:ext uri="{BB962C8B-B14F-4D97-AF65-F5344CB8AC3E}">
        <p14:creationId xmlns:p14="http://schemas.microsoft.com/office/powerpoint/2010/main" val="134534765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0A185BB9-78BF-42FE-ADD6-5C56342B2F8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243F4512-82A6-45B7-BB70-616F86122C46}"/>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08</a:t>
            </a:r>
          </a:p>
        </p:txBody>
      </p:sp>
      <p:sp>
        <p:nvSpPr>
          <p:cNvPr id="3" name="slide-number">
            <a:extLst xmlns:a="http://schemas.openxmlformats.org/drawingml/2006/main">
              <a:ext uri="{FF2B5EF4-FFF2-40B4-BE49-F238E27FC236}">
                <a16:creationId xmlns:a16="http://schemas.microsoft.com/office/drawing/2014/main" id="{7DEB19A8-085B-46C2-BB34-1142A7CA709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523D475F-DD32-4388-8CE6-E77672DD86B9}"/>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12E8C68A-D5B2-4BE0-B1E9-42D7B00A0D75}"/>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Communication can be shared-state or message-based</a:t>
            </a:r>
          </a:p>
        </p:txBody>
      </p:sp>
      <p:sp>
        <p:nvSpPr>
          <p:cNvPr id="6" name="section-explanation">
            <a:extLst xmlns:a="http://schemas.openxmlformats.org/drawingml/2006/main">
              <a:ext uri="{FF2B5EF4-FFF2-40B4-BE49-F238E27FC236}">
                <a16:creationId xmlns:a16="http://schemas.microsoft.com/office/drawing/2014/main" id="{FCEC8167-A527-4AEA-B530-01A5BB9B512C}"/>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 blackboard lets agents read and update common state. Direct messaging targets a specific agent. Publish-subscribe decouples publishers from subscribers through topics. Topic scope is also a security boundary.</a:t>
            </a:r>
          </a:p>
        </p:txBody>
      </p:sp>
      <p:sp>
        <p:nvSpPr>
          <p:cNvPr id="7" name="column-rule">
            <a:extLst xmlns:a="http://schemas.openxmlformats.org/drawingml/2006/main">
              <a:ext uri="{FF2B5EF4-FFF2-40B4-BE49-F238E27FC236}">
                <a16:creationId xmlns:a16="http://schemas.microsoft.com/office/drawing/2014/main" id="{EE2FE00E-50EE-422A-A07F-5C337D147C20}"/>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67BE0D6B-EFC9-4627-8229-78097091BB50}"/>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Shared state simplifies synthesis but can create coupling.</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Direct messaging makes ownership explicit.</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Pub-sub supports fan-out and looser coupling.</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Partition topics by user, session, or tenant to prevent leakage.</a:t>
            </a:r>
          </a:p>
        </p:txBody>
      </p:sp>
    </p:spTree>
    <p:extLst>
      <p:ext uri="{BB962C8B-B14F-4D97-AF65-F5344CB8AC3E}">
        <p14:creationId xmlns:p14="http://schemas.microsoft.com/office/powerpoint/2010/main" val="1861963235"/>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22B728DC-6E7B-4C37-B233-3117EB505EA0}"/>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375C3998-031A-4AD2-917D-CC4F64F1D8B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08</a:t>
            </a:r>
          </a:p>
        </p:txBody>
      </p:sp>
      <p:sp>
        <p:nvSpPr>
          <p:cNvPr id="3" name="slide-number">
            <a:extLst xmlns:a="http://schemas.openxmlformats.org/drawingml/2006/main">
              <a:ext uri="{FF2B5EF4-FFF2-40B4-BE49-F238E27FC236}">
                <a16:creationId xmlns:a16="http://schemas.microsoft.com/office/drawing/2014/main" id="{CBBC9EB3-AC12-4543-871A-92EB128203AA}"/>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18A3C06A-D5FF-4879-A289-FE8808A3A219}"/>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2A2B4C75-56B3-4962-9E06-D95095935427}"/>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Topology determines control and failure shape</a:t>
            </a:r>
          </a:p>
        </p:txBody>
      </p:sp>
      <p:sp>
        <p:nvSpPr>
          <p:cNvPr id="6" name="section-explanation">
            <a:extLst xmlns:a="http://schemas.openxmlformats.org/drawingml/2006/main">
              <a:ext uri="{FF2B5EF4-FFF2-40B4-BE49-F238E27FC236}">
                <a16:creationId xmlns:a16="http://schemas.microsoft.com/office/drawing/2014/main" id="{3D26141A-02AF-479A-8171-ED58F22BF713}"/>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 centralized supervisor decomposes, routes, and synthesizes with clear accountability but becomes a bottleneck. Peer-to-peer systems remove the single boss but are harder to control. Hierarchies compose teams at scale while multiplying coordination layers.</a:t>
            </a:r>
          </a:p>
        </p:txBody>
      </p:sp>
      <p:sp>
        <p:nvSpPr>
          <p:cNvPr id="7" name="point-band-1">
            <a:extLst xmlns:a="http://schemas.openxmlformats.org/drawingml/2006/main">
              <a:ext uri="{FF2B5EF4-FFF2-40B4-BE49-F238E27FC236}">
                <a16:creationId xmlns:a16="http://schemas.microsoft.com/office/drawing/2014/main" id="{5016FF44-C211-45FA-9B42-D85F870327C8}"/>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point-1">
            <a:extLst xmlns:a="http://schemas.openxmlformats.org/drawingml/2006/main">
              <a:ext uri="{FF2B5EF4-FFF2-40B4-BE49-F238E27FC236}">
                <a16:creationId xmlns:a16="http://schemas.microsoft.com/office/drawing/2014/main" id="{23C50433-E621-41B8-9592-D7C82760CD23}"/>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Supervisors behave like LLM routers over shared state.</a:t>
            </a:r>
          </a:p>
        </p:txBody>
      </p:sp>
      <p:sp>
        <p:nvSpPr>
          <p:cNvPr id="9" name="point-band-2">
            <a:extLst xmlns:a="http://schemas.openxmlformats.org/drawingml/2006/main">
              <a:ext uri="{FF2B5EF4-FFF2-40B4-BE49-F238E27FC236}">
                <a16:creationId xmlns:a16="http://schemas.microsoft.com/office/drawing/2014/main" id="{3F80C9DA-91BE-478B-AC63-4C0909BAFB32}"/>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0" name="point-2">
            <a:extLst xmlns:a="http://schemas.openxmlformats.org/drawingml/2006/main">
              <a:ext uri="{FF2B5EF4-FFF2-40B4-BE49-F238E27FC236}">
                <a16:creationId xmlns:a16="http://schemas.microsoft.com/office/drawing/2014/main" id="{26F1E555-2BB4-4723-A6DF-1A0652C89088}"/>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Peers need negotiation, consensus, and termination rules.</a:t>
            </a:r>
          </a:p>
        </p:txBody>
      </p:sp>
      <p:sp>
        <p:nvSpPr>
          <p:cNvPr id="11" name="point-band-3">
            <a:extLst xmlns:a="http://schemas.openxmlformats.org/drawingml/2006/main">
              <a:ext uri="{FF2B5EF4-FFF2-40B4-BE49-F238E27FC236}">
                <a16:creationId xmlns:a16="http://schemas.microsoft.com/office/drawing/2014/main" id="{BAD1CF2D-76E5-47E4-A49E-3698E0D6A4EF}"/>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2" name="point-3">
            <a:extLst xmlns:a="http://schemas.openxmlformats.org/drawingml/2006/main">
              <a:ext uri="{FF2B5EF4-FFF2-40B4-BE49-F238E27FC236}">
                <a16:creationId xmlns:a16="http://schemas.microsoft.com/office/drawing/2014/main" id="{DE8D5FEA-09D0-480F-8CF5-7D2F96A3178B}"/>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Hierarchies need bounded delegation at every level.</a:t>
            </a:r>
          </a:p>
        </p:txBody>
      </p:sp>
      <p:sp>
        <p:nvSpPr>
          <p:cNvPr id="13" name="point-band-4">
            <a:extLst xmlns:a="http://schemas.openxmlformats.org/drawingml/2006/main">
              <a:ext uri="{FF2B5EF4-FFF2-40B4-BE49-F238E27FC236}">
                <a16:creationId xmlns:a16="http://schemas.microsoft.com/office/drawing/2014/main" id="{7B424F6A-561D-406A-9A2A-E79732AB63C8}"/>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4" name="point-4">
            <a:extLst xmlns:a="http://schemas.openxmlformats.org/drawingml/2006/main">
              <a:ext uri="{FF2B5EF4-FFF2-40B4-BE49-F238E27FC236}">
                <a16:creationId xmlns:a16="http://schemas.microsoft.com/office/drawing/2014/main" id="{82A058E6-A81A-42CC-A252-CF4E72E320A6}"/>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Measure handoffs, agent-specific failures, and total call budget.</a:t>
            </a:r>
          </a:p>
        </p:txBody>
      </p:sp>
    </p:spTree>
    <p:extLst>
      <p:ext uri="{BB962C8B-B14F-4D97-AF65-F5344CB8AC3E}">
        <p14:creationId xmlns:p14="http://schemas.microsoft.com/office/powerpoint/2010/main" val="20718926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BB95B21D-3E5F-47AA-B5AE-37F76612AF01}"/>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AB34AB66-DEF7-4B11-A1B6-67EF0E234585}"/>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07  /  08</a:t>
            </a:r>
          </a:p>
        </p:txBody>
      </p:sp>
      <p:sp>
        <p:nvSpPr>
          <p:cNvPr id="3" name="slide-number">
            <a:extLst xmlns:a="http://schemas.openxmlformats.org/drawingml/2006/main">
              <a:ext uri="{FF2B5EF4-FFF2-40B4-BE49-F238E27FC236}">
                <a16:creationId xmlns:a16="http://schemas.microsoft.com/office/drawing/2014/main" id="{2FC39BB9-A72E-49BB-AF5C-1697BC797D4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1C77361B-7906-46AE-BC33-D72014B99781}"/>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section-title">
            <a:extLst xmlns:a="http://schemas.openxmlformats.org/drawingml/2006/main">
              <a:ext uri="{FF2B5EF4-FFF2-40B4-BE49-F238E27FC236}">
                <a16:creationId xmlns:a16="http://schemas.microsoft.com/office/drawing/2014/main" id="{F9F68691-13B3-42CB-9CC9-15C985CA02BC}"/>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Shared evidence matters more than agreement</a:t>
            </a:r>
          </a:p>
        </p:txBody>
      </p:sp>
      <p:sp>
        <p:nvSpPr>
          <p:cNvPr id="6" name="section-explanation">
            <a:extLst xmlns:a="http://schemas.openxmlformats.org/drawingml/2006/main">
              <a:ext uri="{FF2B5EF4-FFF2-40B4-BE49-F238E27FC236}">
                <a16:creationId xmlns:a16="http://schemas.microsoft.com/office/drawing/2014/main" id="{443F9372-7301-453B-9952-934CC8DB20F9}"/>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Anthropic's multi-agent experiments include information-sharing failures and conflicting objectives. For a classroom comparison, keep task scope and budget explicit. Agreement between agents does not establish independent evidence.</a:t>
            </a:r>
          </a:p>
        </p:txBody>
      </p:sp>
      <p:sp>
        <p:nvSpPr>
          <p:cNvPr id="7" name="column-rule">
            <a:extLst xmlns:a="http://schemas.openxmlformats.org/drawingml/2006/main">
              <a:ext uri="{FF2B5EF4-FFF2-40B4-BE49-F238E27FC236}">
                <a16:creationId xmlns:a16="http://schemas.microsoft.com/office/drawing/2014/main" id="{E77B0EC2-6BC1-4CD5-85E3-0F86D78FD6F2}"/>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7EA1568F-B2EA-4585-96D6-28FBA8979C18}"/>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Inspect which facts each role receives.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Test a misleading cue shared across agents.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Give one component responsibility for synthesis and termination.</a:t>
            </a:r>
          </a:p>
        </p:txBody>
      </p:sp>
    </p:spTree>
    <p:extLst>
      <p:ext uri="{BB962C8B-B14F-4D97-AF65-F5344CB8AC3E}">
        <p14:creationId xmlns:p14="http://schemas.microsoft.com/office/powerpoint/2010/main" val="31874663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A058A978-1919-4F1A-9809-AA6543BB470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2A43AD7E-3A27-457A-8836-B6F8F08E01BE}"/>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08</a:t>
            </a:r>
          </a:p>
        </p:txBody>
      </p:sp>
      <p:sp>
        <p:nvSpPr>
          <p:cNvPr id="3" name="slide-number">
            <a:extLst xmlns:a="http://schemas.openxmlformats.org/drawingml/2006/main">
              <a:ext uri="{FF2B5EF4-FFF2-40B4-BE49-F238E27FC236}">
                <a16:creationId xmlns:a16="http://schemas.microsoft.com/office/drawing/2014/main" id="{399BD5EF-C958-4E14-897B-E1C6D41EC292}"/>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D8EB878C-C8DF-4211-B9A3-79A3DC353D72}"/>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exam-title">
            <a:extLst xmlns:a="http://schemas.openxmlformats.org/drawingml/2006/main">
              <a:ext uri="{FF2B5EF4-FFF2-40B4-BE49-F238E27FC236}">
                <a16:creationId xmlns:a16="http://schemas.microsoft.com/office/drawing/2014/main" id="{9998204E-FC24-4B7B-899F-75885508DD25}"/>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85A0257A-EEB0-4DE7-A3CC-D7E0DE2A0181}"/>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30C06514-14B3-4130-9523-DE0D86CBFB7B}"/>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List four benefits and four costs of multi-agent systems.</a:t>
            </a:r>
          </a:p>
        </p:txBody>
      </p:sp>
      <p:sp>
        <p:nvSpPr>
          <p:cNvPr id="8" name="exam-number-2">
            <a:extLst xmlns:a="http://schemas.openxmlformats.org/drawingml/2006/main">
              <a:ext uri="{FF2B5EF4-FFF2-40B4-BE49-F238E27FC236}">
                <a16:creationId xmlns:a16="http://schemas.microsoft.com/office/drawing/2014/main" id="{A2441847-50BD-46BF-9CE1-04F9DE23BAF1}"/>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910329F2-6938-4A82-8DC8-90A8D429F1E8}"/>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are the four dimensions of collaboration?</a:t>
            </a:r>
          </a:p>
        </p:txBody>
      </p:sp>
      <p:sp>
        <p:nvSpPr>
          <p:cNvPr id="10" name="exam-number-3">
            <a:extLst xmlns:a="http://schemas.openxmlformats.org/drawingml/2006/main">
              <a:ext uri="{FF2B5EF4-FFF2-40B4-BE49-F238E27FC236}">
                <a16:creationId xmlns:a16="http://schemas.microsoft.com/office/drawing/2014/main" id="{C97E04CD-5D4C-4DC5-A907-F68808AE9F29}"/>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0882812A-ABA0-45B2-BA70-FE8742146B3D}"/>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shared state, direct messaging, and publish-subscribe.</a:t>
            </a:r>
          </a:p>
        </p:txBody>
      </p:sp>
      <p:sp>
        <p:nvSpPr>
          <p:cNvPr id="12" name="exam-number-4">
            <a:extLst xmlns:a="http://schemas.openxmlformats.org/drawingml/2006/main">
              <a:ext uri="{FF2B5EF4-FFF2-40B4-BE49-F238E27FC236}">
                <a16:creationId xmlns:a16="http://schemas.microsoft.com/office/drawing/2014/main" id="{460A6267-6719-4175-BBD6-336C2E2F5F36}"/>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64166ACD-816E-4FE9-A724-38DD1984E558}"/>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When is a distributed runtime justified?</a:t>
            </a:r>
          </a:p>
        </p:txBody>
      </p:sp>
      <p:sp>
        <p:nvSpPr>
          <p:cNvPr id="14" name="exam-number-5">
            <a:extLst xmlns:a="http://schemas.openxmlformats.org/drawingml/2006/main">
              <a:ext uri="{FF2B5EF4-FFF2-40B4-BE49-F238E27FC236}">
                <a16:creationId xmlns:a16="http://schemas.microsoft.com/office/drawing/2014/main" id="{09CBF46F-4180-4AA4-85A9-1C23A8911C4B}"/>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7015AD75-7DB9-4832-B366-F7370F1BF8F5}"/>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centralized, decentralized, and hierarchical topologies.</a:t>
            </a:r>
          </a:p>
        </p:txBody>
      </p:sp>
      <p:sp>
        <p:nvSpPr>
          <p:cNvPr id="16" name="exam-number-6">
            <a:extLst xmlns:a="http://schemas.openxmlformats.org/drawingml/2006/main">
              <a:ext uri="{FF2B5EF4-FFF2-40B4-BE49-F238E27FC236}">
                <a16:creationId xmlns:a16="http://schemas.microsoft.com/office/drawing/2014/main" id="{9316A91E-30F1-4548-8EB6-E1F7AEAF835C}"/>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5E699ABB-DF62-43AD-ADC2-6AF6E89EBA98}"/>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can a team agree on an incorrect answer even when its members sample separately?</a:t>
            </a:r>
          </a:p>
        </p:txBody>
      </p:sp>
    </p:spTree>
    <p:extLst>
      <p:ext uri="{BB962C8B-B14F-4D97-AF65-F5344CB8AC3E}">
        <p14:creationId xmlns:p14="http://schemas.microsoft.com/office/powerpoint/2010/main" val="262460876"/>
      </p:ext>
    </p:extLst>
  </p:cSld>
</p:sld>
</file>

<file path=ppt/slides/slide1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3DA26801-CEC7-4FC6-9A1A-0C424551151F}"/>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A7109CB4-E0EC-49AF-8CAB-004DE46F3B1C}"/>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08</a:t>
            </a:r>
          </a:p>
        </p:txBody>
      </p:sp>
      <p:sp>
        <p:nvSpPr>
          <p:cNvPr id="3" name="slide-number">
            <a:extLst xmlns:a="http://schemas.openxmlformats.org/drawingml/2006/main">
              <a:ext uri="{FF2B5EF4-FFF2-40B4-BE49-F238E27FC236}">
                <a16:creationId xmlns:a16="http://schemas.microsoft.com/office/drawing/2014/main" id="{F6B02BBF-AE59-4AA5-B6DF-439D34ABFE7C}"/>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11</a:t>
            </a:r>
          </a:p>
        </p:txBody>
      </p:sp>
      <p:sp>
        <p:nvSpPr>
          <p:cNvPr id="4" name="chapter-footer">
            <a:extLst xmlns:a="http://schemas.openxmlformats.org/drawingml/2006/main">
              <a:ext uri="{FF2B5EF4-FFF2-40B4-BE49-F238E27FC236}">
                <a16:creationId xmlns:a16="http://schemas.microsoft.com/office/drawing/2014/main" id="{BB20207D-A8A9-4647-899E-D5DDCC7E8F54}"/>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closing-title">
            <a:extLst xmlns:a="http://schemas.openxmlformats.org/drawingml/2006/main">
              <a:ext uri="{FF2B5EF4-FFF2-40B4-BE49-F238E27FC236}">
                <a16:creationId xmlns:a16="http://schemas.microsoft.com/office/drawing/2014/main" id="{2A29872A-DBA0-4526-8A6D-AA233458E710}"/>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6C6FAE3B-1731-41A2-BFC4-AB13BF26762B}"/>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AD20BE5F-A3D5-4C50-BA9C-FA4DA7E0E86A}"/>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Use multiple agents for genuine specialization or parallelism.</a:t>
            </a:r>
          </a:p>
        </p:txBody>
      </p:sp>
      <p:sp>
        <p:nvSpPr>
          <p:cNvPr id="8" name="takeaway-number-2">
            <a:extLst xmlns:a="http://schemas.openxmlformats.org/drawingml/2006/main">
              <a:ext uri="{FF2B5EF4-FFF2-40B4-BE49-F238E27FC236}">
                <a16:creationId xmlns:a16="http://schemas.microsoft.com/office/drawing/2014/main" id="{D1350882-2FF5-497D-9A15-5314CC27EBF8}"/>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1BE906A5-2B16-4762-8669-8BCD23737A2F}"/>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A runtime provides identity, lifecycle, and messaging.</a:t>
            </a:r>
          </a:p>
        </p:txBody>
      </p:sp>
      <p:sp>
        <p:nvSpPr>
          <p:cNvPr id="10" name="takeaway-number-3">
            <a:extLst xmlns:a="http://schemas.openxmlformats.org/drawingml/2006/main">
              <a:ext uri="{FF2B5EF4-FFF2-40B4-BE49-F238E27FC236}">
                <a16:creationId xmlns:a16="http://schemas.microsoft.com/office/drawing/2014/main" id="{C99BFA3C-48D9-4B27-A87A-EBC90C4974E8}"/>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DD99A074-3ECD-4868-93AD-7E86998CA9C6}"/>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Communication and topology determine security and debugging complexity.</a:t>
            </a:r>
          </a:p>
        </p:txBody>
      </p:sp>
      <p:sp>
        <p:nvSpPr>
          <p:cNvPr id="12" name="takeaway-number-4">
            <a:extLst xmlns:a="http://schemas.openxmlformats.org/drawingml/2006/main">
              <a:ext uri="{FF2B5EF4-FFF2-40B4-BE49-F238E27FC236}">
                <a16:creationId xmlns:a16="http://schemas.microsoft.com/office/drawing/2014/main" id="{33AD3749-6FE2-4F63-B466-A603F1FF8515}"/>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E09845F4-AC6B-404A-8E52-B8CA01C15939}"/>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Every team needs an owner of synthesis, budget, and completion.</a:t>
            </a:r>
          </a:p>
        </p:txBody>
      </p:sp>
    </p:spTree>
    <p:extLst>
      <p:ext uri="{BB962C8B-B14F-4D97-AF65-F5344CB8AC3E}">
        <p14:creationId xmlns:p14="http://schemas.microsoft.com/office/powerpoint/2010/main" val="19397623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ccent-line">
            <a:extLst xmlns:a="http://schemas.openxmlformats.org/drawingml/2006/main">
              <a:ext uri="{FF2B5EF4-FFF2-40B4-BE49-F238E27FC236}">
                <a16:creationId xmlns:a16="http://schemas.microsoft.com/office/drawing/2014/main" id="{AAF9EFFD-B930-47F2-BE9B-72F23AD16FB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DF37A20A-96FD-4B78-9BBF-4729078AF1A8}"/>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PRACTICE AND READING  /  08</a:t>
            </a:r>
          </a:p>
        </p:txBody>
      </p:sp>
      <p:sp>
        <p:nvSpPr>
          <p:cNvPr id="3" name="slide-number">
            <a:extLst xmlns:a="http://schemas.openxmlformats.org/drawingml/2006/main">
              <a:ext uri="{FF2B5EF4-FFF2-40B4-BE49-F238E27FC236}">
                <a16:creationId xmlns:a16="http://schemas.microsoft.com/office/drawing/2014/main" id="{08DA7E91-BD07-4BBB-8687-DEC228469414}"/>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12</a:t>
            </a:r>
          </a:p>
        </p:txBody>
      </p:sp>
      <p:sp>
        <p:nvSpPr>
          <p:cNvPr id="4" name="chapter-footer">
            <a:extLst xmlns:a="http://schemas.openxmlformats.org/drawingml/2006/main">
              <a:ext uri="{FF2B5EF4-FFF2-40B4-BE49-F238E27FC236}">
                <a16:creationId xmlns:a16="http://schemas.microsoft.com/office/drawing/2014/main" id="{21562DE9-686A-48B8-BA1D-2B465F96DB6D}"/>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Systems</a:t>
            </a:r>
          </a:p>
        </p:txBody>
      </p:sp>
      <p:sp>
        <p:nvSpPr>
          <p:cNvPr id="5" name="practice-title">
            <a:extLst xmlns:a="http://schemas.openxmlformats.org/drawingml/2006/main">
              <a:ext uri="{FF2B5EF4-FFF2-40B4-BE49-F238E27FC236}">
                <a16:creationId xmlns:a16="http://schemas.microsoft.com/office/drawing/2014/main" id="{93C67123-2BBE-4EA0-BCBA-7E1143F0DC6E}"/>
              </a:ext>
            </a:extLst>
          </p:cNvPr>
          <p:cNvSpPr>
            <a:spLocks xmlns:a="http://schemas.openxmlformats.org/drawingml/2006/main" noGrp="1"/>
          </p:cNvSpPr>
          <p:nvPr/>
        </p:nvSpPr>
        <p:spPr>
          <a:xfrm xmlns:a="http://schemas.openxmlformats.org/drawingml/2006/main">
            <a:off x="390525" y="1000125"/>
            <a:ext cx="11144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Evidence to submit</a:t>
            </a:r>
          </a:p>
        </p:txBody>
      </p:sp>
      <p:sp>
        <p:nvSpPr>
          <p:cNvPr id="6" name="practice-task">
            <a:extLst xmlns:a="http://schemas.openxmlformats.org/drawingml/2006/main">
              <a:ext uri="{FF2B5EF4-FFF2-40B4-BE49-F238E27FC236}">
                <a16:creationId xmlns:a16="http://schemas.microsoft.com/office/drawing/2014/main" id="{CDFD40B5-DAA6-457E-BFBE-2EC2E7C26F30}"/>
              </a:ext>
            </a:extLst>
          </p:cNvPr>
          <p:cNvSpPr>
            <a:spLocks xmlns:a="http://schemas.openxmlformats.org/drawingml/2006/main" noGrp="1"/>
          </p:cNvSpPr>
          <p:nvPr/>
        </p:nvSpPr>
        <p:spPr>
          <a:xfrm xmlns:a="http://schemas.openxmlformats.org/drawingml/2006/main">
            <a:off x="390525" y="2000250"/>
            <a:ext cx="10953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0">
                <a:solidFill>
                  <a:srgbClr val="111111"/>
                </a:solidFill>
                <a:latin typeface="Helvetica Neue"/>
                <a:ea typeface="Helvetica Neue"/>
                <a:cs typeface="Helvetica Neue"/>
              </a:defRPr>
            </a:pPr>
            <a:r>
              <a:rPr sz="1950" b="0">
                <a:solidFill>
                  <a:srgbClr val="111111"/>
                </a:solidFill>
                <a:latin typeface="Helvetica Neue"/>
                <a:ea typeface="Helvetica Neue"/>
                <a:cs typeface="Helvetica Neue"/>
              </a:rPr>
              <a:t>Complete Lab 7. Compare a single agent, an objective reviewer, and an optional model reviewer. Add one case where every role sees the same misleading cue.</a:t>
            </a:r>
          </a:p>
        </p:txBody>
      </p:sp>
      <p:sp>
        <p:nvSpPr>
          <p:cNvPr id="7" name="practice-check">
            <a:extLst xmlns:a="http://schemas.openxmlformats.org/drawingml/2006/main">
              <a:ext uri="{FF2B5EF4-FFF2-40B4-BE49-F238E27FC236}">
                <a16:creationId xmlns:a16="http://schemas.microsoft.com/office/drawing/2014/main" id="{8B0FCDA0-5115-4DC0-B4FA-E230FD46AAE8}"/>
              </a:ext>
            </a:extLst>
          </p:cNvPr>
          <p:cNvSpPr>
            <a:spLocks xmlns:a="http://schemas.openxmlformats.org/drawingml/2006/main" noGrp="1"/>
          </p:cNvSpPr>
          <p:nvPr/>
        </p:nvSpPr>
        <p:spPr>
          <a:xfrm xmlns:a="http://schemas.openxmlformats.org/drawingml/2006/main">
            <a:off x="390525" y="3381375"/>
            <a:ext cx="10953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5B5B57"/>
                </a:solidFill>
                <a:latin typeface="Helvetica Neue"/>
                <a:ea typeface="Helvetica Neue"/>
                <a:cs typeface="Helvetica Neue"/>
              </a:defRPr>
            </a:pPr>
            <a:r>
              <a:rPr sz="1800" b="0">
                <a:solidFill>
                  <a:srgbClr val="5B5B57"/>
                </a:solidFill>
                <a:latin typeface="Helvetica Neue"/>
                <a:ea typeface="Helvetica Neue"/>
                <a:cs typeface="Helvetica Neue"/>
              </a:rPr>
              <a:t>Report extra requests and shared errors. Explain any scope or information advantage before comparing outcomes.</a:t>
            </a:r>
          </a:p>
        </p:txBody>
      </p:sp>
      <p:sp>
        <p:nvSpPr>
          <p:cNvPr id="8" name="practice-readings">
            <a:extLst xmlns:a="http://schemas.openxmlformats.org/drawingml/2006/main">
              <a:ext uri="{FF2B5EF4-FFF2-40B4-BE49-F238E27FC236}">
                <a16:creationId xmlns:a16="http://schemas.microsoft.com/office/drawing/2014/main" id="{AEDFC4B3-E360-4A64-8C6B-448DB292D269}"/>
              </a:ext>
            </a:extLst>
          </p:cNvPr>
          <p:cNvSpPr>
            <a:spLocks xmlns:a="http://schemas.openxmlformats.org/drawingml/2006/main" noGrp="1"/>
          </p:cNvSpPr>
          <p:nvPr/>
        </p:nvSpPr>
        <p:spPr>
          <a:xfrm xmlns:a="http://schemas.openxmlformats.org/drawingml/2006/main">
            <a:off x="390525" y="4667250"/>
            <a:ext cx="10953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R1  Patterns and problems in emerging multiagent systems</a:t>
            </a:r>
          </a:p>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S2  OpenAI Agents SDK model integration</a:t>
            </a:r>
          </a:p>
        </p:txBody>
      </p:sp>
      <p:sp>
        <p:nvSpPr>
          <p:cNvPr id="9" name="practice-lab">
            <a:extLst xmlns:a="http://schemas.openxmlformats.org/drawingml/2006/main">
              <a:ext uri="{FF2B5EF4-FFF2-40B4-BE49-F238E27FC236}">
                <a16:creationId xmlns:a16="http://schemas.microsoft.com/office/drawing/2014/main" id="{084E78F8-C9F8-46B9-8FF2-EC572C104D5C}"/>
              </a:ext>
            </a:extLst>
          </p:cNvPr>
          <p:cNvSpPr>
            <a:spLocks xmlns:a="http://schemas.openxmlformats.org/drawingml/2006/main" noGrp="1"/>
          </p:cNvSpPr>
          <p:nvPr/>
        </p:nvSpPr>
        <p:spPr>
          <a:xfrm xmlns:a="http://schemas.openxmlformats.org/drawingml/2006/main">
            <a:off x="390525" y="5857875"/>
            <a:ext cx="1095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defRPr sz="1275" b="0">
                <a:solidFill>
                  <a:srgbClr val="5B5B57"/>
                </a:solidFill>
                <a:latin typeface="Helvetica Neue"/>
                <a:ea typeface="Helvetica Neue"/>
                <a:cs typeface="Helvetica Neue"/>
              </a:defRPr>
            </a:pPr>
            <a:r>
              <a:rPr sz="1275" b="0">
                <a:solidFill>
                  <a:srgbClr val="5B5B57"/>
                </a:solidFill>
                <a:latin typeface="Helvetica Neue"/>
                <a:ea typeface="Helvetica Neue"/>
                <a:cs typeface="Helvetica Neue"/>
              </a:rPr>
              <a:t>labs/07_agents_sdk_evaluation.ipynb</a:t>
            </a:r>
          </a:p>
        </p:txBody>
      </p:sp>
    </p:spTree>
    <p:extLst>
      <p:ext uri="{BB962C8B-B14F-4D97-AF65-F5344CB8AC3E}">
        <p14:creationId xmlns:p14="http://schemas.microsoft.com/office/powerpoint/2010/main" val="723978925"/>
      </p:ext>
    </p:extLst>
  </p:cSld>
</p:sld>
</file>

<file path=ppt/theme/theme1.xml><?xml version="1.0" encoding="utf-8"?>
<a:theme xmlns:a="http://schemas.openxmlformats.org/drawingml/2006/main" name="Course">
  <a:themeElements>
    <a:clrScheme name="Cours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ours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
  <lastModifiedBy/>
  <dc:title>08-multi-agent-systems</dc:title>
  <dcterms:created xsi:type="dcterms:W3CDTF">2026-09-09T16:56:48.1220000Z</dcterms:created>
  <dcterms:modified xsi:type="dcterms:W3CDTF">2026-09-09T16:56:48.1220000Z</dcterms:modified>
</coreProperties>
</file>