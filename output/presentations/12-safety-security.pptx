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c8916ecfd84f38" /><Relationship Type="http://schemas.openxmlformats.org/officeDocument/2006/relationships/extended-properties" Target="/docProps/app.xml" Id="Ra2b091f724524fa1" /><Relationship Type="http://schemas.openxmlformats.org/officeDocument/2006/relationships/officeDocument" Target="/ppt/presentation.xml" Id="R15b56dd9239240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a0da209e1417c"/>
  </p:sldMasterIdLst>
  <p:notesMasterIdLst>
    <p:notesMasterId xmlns:r="http://schemas.openxmlformats.org/officeDocument/2006/relationships" r:id="R36dcf76de7364fa9"/>
  </p:notesMasterIdLst>
  <p:sldIdLst>
    <p:sldId xmlns:r="http://schemas.openxmlformats.org/officeDocument/2006/relationships" id="256" r:id="Re803833f496844bf"/>
    <p:sldId xmlns:r="http://schemas.openxmlformats.org/officeDocument/2006/relationships" id="257" r:id="R7e82e9207c894deb"/>
    <p:sldId xmlns:r="http://schemas.openxmlformats.org/officeDocument/2006/relationships" id="258" r:id="Rc21ef5a39d564b9f"/>
    <p:sldId xmlns:r="http://schemas.openxmlformats.org/officeDocument/2006/relationships" id="259" r:id="Reb5e42b54034446f"/>
    <p:sldId xmlns:r="http://schemas.openxmlformats.org/officeDocument/2006/relationships" id="260" r:id="Rd54e620bbd22490f"/>
    <p:sldId xmlns:r="http://schemas.openxmlformats.org/officeDocument/2006/relationships" id="261" r:id="R7df34bbcf42949d2"/>
    <p:sldId xmlns:r="http://schemas.openxmlformats.org/officeDocument/2006/relationships" id="262" r:id="Re42b0c53070d4505"/>
    <p:sldId xmlns:r="http://schemas.openxmlformats.org/officeDocument/2006/relationships" id="263" r:id="R1fe2ab0b17304449"/>
    <p:sldId xmlns:r="http://schemas.openxmlformats.org/officeDocument/2006/relationships" id="264" r:id="Rd700635fd0f940a5"/>
    <p:sldId xmlns:r="http://schemas.openxmlformats.org/officeDocument/2006/relationships" id="265" r:id="R250a754750e04fec"/>
    <p:sldId xmlns:r="http://schemas.openxmlformats.org/officeDocument/2006/relationships" id="266" r:id="R813834d9639d4272"/>
    <p:sldId xmlns:r="http://schemas.openxmlformats.org/officeDocument/2006/relationships" id="267" r:id="Rc6d8fda968fa45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f1aed012bc4807" /><Relationship Type="http://schemas.openxmlformats.org/officeDocument/2006/relationships/slideMaster" Target="/ppt/slideMasters/slideMaster1.xml" Id="R974a0da209e1417c" /><Relationship Type="http://schemas.openxmlformats.org/officeDocument/2006/relationships/notesMaster" Target="/ppt/notesMasters/notesMaster1.xml" Id="R36dcf76de7364fa9" /><Relationship Type="http://schemas.openxmlformats.org/officeDocument/2006/relationships/presProps" Target="/ppt/presProps.xml" Id="Rd97de4d3f4d74dbd" /><Relationship Type="http://schemas.openxmlformats.org/officeDocument/2006/relationships/tableStyles" Target="/ppt/tableStyles.xml" Id="R63d31d423e0a4eb4" /><Relationship Type="http://schemas.openxmlformats.org/officeDocument/2006/relationships/slide" Target="/ppt/slides/slide1.xml" Id="Re803833f496844bf" /><Relationship Type="http://schemas.openxmlformats.org/officeDocument/2006/relationships/slide" Target="/ppt/slides/slide2.xml" Id="R7e82e9207c894deb" /><Relationship Type="http://schemas.openxmlformats.org/officeDocument/2006/relationships/slide" Target="/ppt/slides/slide3.xml" Id="Rc21ef5a39d564b9f" /><Relationship Type="http://schemas.openxmlformats.org/officeDocument/2006/relationships/slide" Target="/ppt/slides/slide4.xml" Id="Reb5e42b54034446f" /><Relationship Type="http://schemas.openxmlformats.org/officeDocument/2006/relationships/slide" Target="/ppt/slides/slide5.xml" Id="Rd54e620bbd22490f" /><Relationship Type="http://schemas.openxmlformats.org/officeDocument/2006/relationships/slide" Target="/ppt/slides/slide6.xml" Id="R7df34bbcf42949d2" /><Relationship Type="http://schemas.openxmlformats.org/officeDocument/2006/relationships/slide" Target="/ppt/slides/slide7.xml" Id="Re42b0c53070d4505" /><Relationship Type="http://schemas.openxmlformats.org/officeDocument/2006/relationships/slide" Target="/ppt/slides/slide8.xml" Id="R1fe2ab0b17304449" /><Relationship Type="http://schemas.openxmlformats.org/officeDocument/2006/relationships/slide" Target="/ppt/slides/slide9.xml" Id="Rd700635fd0f940a5" /><Relationship Type="http://schemas.openxmlformats.org/officeDocument/2006/relationships/slide" Target="/ppt/slides/slide10.xml" Id="R250a754750e04fec" /><Relationship Type="http://schemas.openxmlformats.org/officeDocument/2006/relationships/slide" Target="/ppt/slides/slide11.xml" Id="R813834d9639d4272" /><Relationship Type="http://schemas.openxmlformats.org/officeDocument/2006/relationships/slide" Target="/ppt/slides/slide12.xml" Id="Rc6d8fda968fa45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d0238e13824f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3f2ee482cc4a87" /><Relationship Type="http://schemas.openxmlformats.org/officeDocument/2006/relationships/notesMaster" Target="/ppt/notesMasters/notesMaster1.xml" Id="Rb65b27d6ac3444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bb7c3b13644415" /><Relationship Type="http://schemas.openxmlformats.org/officeDocument/2006/relationships/notesMaster" Target="/ppt/notesMasters/notesMaster1.xml" Id="R92fbdf58a7a241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1bdb8834e843b4" /><Relationship Type="http://schemas.openxmlformats.org/officeDocument/2006/relationships/notesMaster" Target="/ppt/notesMasters/notesMaster1.xml" Id="R7fba71c4148f4c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bd4ad56123465f" /><Relationship Type="http://schemas.openxmlformats.org/officeDocument/2006/relationships/notesMaster" Target="/ppt/notesMasters/notesMaster1.xml" Id="R729f6c1598184d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f013892c3b46e4" /><Relationship Type="http://schemas.openxmlformats.org/officeDocument/2006/relationships/notesMaster" Target="/ppt/notesMasters/notesMaster1.xml" Id="R42e906d37ed743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128ffa79c543ef" /><Relationship Type="http://schemas.openxmlformats.org/officeDocument/2006/relationships/notesMaster" Target="/ppt/notesMasters/notesMaster1.xml" Id="Rcc944ce05eb94c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841ab9de8c4355" /><Relationship Type="http://schemas.openxmlformats.org/officeDocument/2006/relationships/notesMaster" Target="/ppt/notesMasters/notesMaster1.xml" Id="Rd60a987261ec42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82e37085324acd" /><Relationship Type="http://schemas.openxmlformats.org/officeDocument/2006/relationships/notesMaster" Target="/ppt/notesMasters/notesMaster1.xml" Id="Rc3ccfe161e7f4a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6042dc2df541a5" /><Relationship Type="http://schemas.openxmlformats.org/officeDocument/2006/relationships/notesMaster" Target="/ppt/notesMasters/notesMaster1.xml" Id="R0bc03be4bc9e43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e2f437043c4f3f" /><Relationship Type="http://schemas.openxmlformats.org/officeDocument/2006/relationships/notesMaster" Target="/ppt/notesMasters/notesMaster1.xml" Id="Rfac92160828746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6621747bf14e98" /><Relationship Type="http://schemas.openxmlformats.org/officeDocument/2006/relationships/notesMaster" Target="/ppt/notesMasters/notesMaster1.xml" Id="R15578ea6bdcb41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c769e628554838" /><Relationship Type="http://schemas.openxmlformats.org/officeDocument/2006/relationships/notesMaster" Target="/ppt/notesMasters/notesMaster1.xml" Id="Re60082e641e746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chapter thesis and connect it to the previous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objectives as an advance organizer and as a checklist after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as retrieval practice. Ask for an answer that defines, compares, traces, and evaluates.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four durable ideas and linking forward to the next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 the submitted evidence with the stated acceptance check. Reading links and limitations follow.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12-safety-security.pdf</a:t>
            </a:r>
          </a:p>
          <a:p xmlns:a="http://schemas.openxmlformats.org/drawingml/2006/main">
            <a:r>
              <a:t>- P1: GPT-Red: Automated Red Teaming via Self-Play at Scale. OpenAI technical paper, 2026-07-15. https://cdn.openai.com/pdf/gpt-red-automated-red-teaming-via-self-play-at-scale.pdf Self-play and held-out adversarial evaluation. Classroom policy checks do not reproduce this training.</a:t>
            </a:r>
          </a:p>
          <a:p xmlns:a="http://schemas.openxmlformats.org/drawingml/2006/main">
            <a:r>
              <a:t>- S3: LangGraph interrupts. LangChain documentation, accessed, 2026-09-09. https://docs.langchain.com/oss/python/langgraph/interrupts Resume restarts the interrupted node. Put effects after approval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Complete Lab 8. Submit one valid request, one injection-shaped proposal, and one replay with changed arguments. Identify the trusted reviewer channel.</a:t>
            </a:r>
          </a:p>
          <a:p xmlns:a="http://schemas.openxmlformats.org/drawingml/2006/main">
            <a:r>
              <a:t>Acceptance: Rejected actions create no ledger entry. A retry with the same ID cannot duplicate the effect, and changed payload reuse fails.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2f84e14884f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dfd1eb8c7b4b5c" /><Relationship Type="http://schemas.openxmlformats.org/officeDocument/2006/relationships/slideLayout" Target="/ppt/slideLayouts/slideLayout1.xml" Id="Rce167f40a31e4b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167f40a31e4b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6bd1066d04c6c" /><Relationship Type="http://schemas.openxmlformats.org/officeDocument/2006/relationships/notesSlide" Target="/ppt/notesSlides/notesSlide1.xml" Id="R43e535450b6141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bc4c18e7e49bb" /><Relationship Type="http://schemas.openxmlformats.org/officeDocument/2006/relationships/notesSlide" Target="/ppt/notesSlides/notesSlide2.xml" Id="R9b962ad30eea4c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829a55f614762" /><Relationship Type="http://schemas.openxmlformats.org/officeDocument/2006/relationships/notesSlide" Target="/ppt/notesSlides/notesSlide3.xml" Id="R1ec0ce5b106943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14d97432e4d5f" /><Relationship Type="http://schemas.openxmlformats.org/officeDocument/2006/relationships/notesSlide" Target="/ppt/notesSlides/notesSlide4.xml" Id="R2d317d2e555749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f5f6bc6f743d8" /><Relationship Type="http://schemas.openxmlformats.org/officeDocument/2006/relationships/notesSlide" Target="/ppt/notesSlides/notesSlide5.xml" Id="R4a56722223e944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63f9d065645a3" /><Relationship Type="http://schemas.openxmlformats.org/officeDocument/2006/relationships/notesSlide" Target="/ppt/notesSlides/notesSlide6.xml" Id="Rd0c37835568b4a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7516c8c3549b9" /><Relationship Type="http://schemas.openxmlformats.org/officeDocument/2006/relationships/notesSlide" Target="/ppt/notesSlides/notesSlide7.xml" Id="R5a5ea344ea1844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3b5fac56a4dc6" /><Relationship Type="http://schemas.openxmlformats.org/officeDocument/2006/relationships/notesSlide" Target="/ppt/notesSlides/notesSlide8.xml" Id="Ra160b08e0e0046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008ce8246410c" /><Relationship Type="http://schemas.openxmlformats.org/officeDocument/2006/relationships/notesSlide" Target="/ppt/notesSlides/notesSlide9.xml" Id="R7f65afec84a346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ffb1d38a64144" /><Relationship Type="http://schemas.openxmlformats.org/officeDocument/2006/relationships/notesSlide" Target="/ppt/notesSlides/notesSlide10.xml" Id="R09d30a55f6ab4f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8e8537a0142d9" /><Relationship Type="http://schemas.openxmlformats.org/officeDocument/2006/relationships/notesSlide" Target="/ppt/notesSlides/notesSlide11.xml" Id="Ref837f5d513345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1d8a2b51f4008" /><Relationship Type="http://schemas.openxmlformats.org/officeDocument/2006/relationships/notesSlide" Target="/ppt/notesSlides/notesSlide12.xml" Id="Ra7583a57b40847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A44853-19EF-4FA1-9EE0-286617FE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ourse-title">
            <a:extLst xmlns:a="http://schemas.openxmlformats.org/drawingml/2006/main">
              <a:ext uri="{FF2B5EF4-FFF2-40B4-BE49-F238E27FC236}">
                <a16:creationId xmlns:a16="http://schemas.microsoft.com/office/drawing/2014/main" id="{05728E24-8364-443D-BA9B-34B7CC6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AGENTIC AI</a:t>
            </a:r>
          </a:p>
        </p:txBody>
      </p:sp>
      <p:sp>
        <p:nvSpPr>
          <p:cNvPr id="3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D8D3A878-5DFC-4C9D-83F6-2CF4E3F6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19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BE79B6AC-E220-46EF-AF6B-7F026A1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858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deck-thesis">
            <a:extLst xmlns:a="http://schemas.openxmlformats.org/drawingml/2006/main">
              <a:ext uri="{FF2B5EF4-FFF2-40B4-BE49-F238E27FC236}">
                <a16:creationId xmlns:a16="http://schemas.microsoft.com/office/drawing/2014/main" id="{5E8FDBDD-6932-43D0-9B22-203B06DB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524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Action amplifies model errors and attacks, so safety must be enforced through defense-in-depth at the model-runtime boundary and throughout the lifecycle.</a:t>
            </a:r>
          </a:p>
        </p:txBody>
      </p:sp>
      <p:sp>
        <p:nvSpPr>
          <p:cNvPr id="6" name="title-marker">
            <a:extLst xmlns:a="http://schemas.openxmlformats.org/drawingml/2006/main">
              <a:ext uri="{FF2B5EF4-FFF2-40B4-BE49-F238E27FC236}">
                <a16:creationId xmlns:a16="http://schemas.microsoft.com/office/drawing/2014/main" id="{341D4A5C-B4DF-46AC-B362-A5AC86A0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010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7" name="title-marker-text">
            <a:extLst xmlns:a="http://schemas.openxmlformats.org/drawingml/2006/main">
              <a:ext uri="{FF2B5EF4-FFF2-40B4-BE49-F238E27FC236}">
                <a16:creationId xmlns:a16="http://schemas.microsoft.com/office/drawing/2014/main" id="{8BD954F8-8ACD-4DD4-AA09-1977B22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62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STUDY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DECK</a:t>
            </a:r>
          </a:p>
        </p:txBody>
      </p:sp>
    </p:spTree>
    <p:extLst>
      <p:ext uri="{BB962C8B-B14F-4D97-AF65-F5344CB8AC3E}">
        <p14:creationId xmlns:p14="http://schemas.microsoft.com/office/powerpoint/2010/main" val="1927400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3B630F9-F89D-4FF8-807B-B2B1A0AE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49838E2F-7EE6-45E0-B908-E37BCE4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LEARNING MAP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866EDB-ACF7-4A3F-A6B7-3E4AF47D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A5231DD8-EB41-4F41-A559-2F81EE79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objectives-title">
            <a:extLst xmlns:a="http://schemas.openxmlformats.org/drawingml/2006/main">
              <a:ext uri="{FF2B5EF4-FFF2-40B4-BE49-F238E27FC236}">
                <a16:creationId xmlns:a16="http://schemas.microsoft.com/office/drawing/2014/main" id="{EBBD9C43-E7C0-436C-9036-A951A36E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By the end, you should be able to...</a:t>
            </a:r>
          </a:p>
        </p:txBody>
      </p:sp>
      <p:sp>
        <p:nvSpPr>
          <p:cNvPr id="6" name="objective-number-1">
            <a:extLst xmlns:a="http://schemas.openxmlformats.org/drawingml/2006/main">
              <a:ext uri="{FF2B5EF4-FFF2-40B4-BE49-F238E27FC236}">
                <a16:creationId xmlns:a16="http://schemas.microsoft.com/office/drawing/2014/main" id="{B7C35448-050E-4B06-9BAE-F1703CC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objective-1">
            <a:extLst xmlns:a="http://schemas.openxmlformats.org/drawingml/2006/main">
              <a:ext uri="{FF2B5EF4-FFF2-40B4-BE49-F238E27FC236}">
                <a16:creationId xmlns:a16="http://schemas.microsoft.com/office/drawing/2014/main" id="{15B00D5D-9B5A-41DA-862F-E54A3BFA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Separate adversarial security from responsible-AI harms</a:t>
            </a:r>
          </a:p>
        </p:txBody>
      </p:sp>
      <p:sp>
        <p:nvSpPr>
          <p:cNvPr id="8" name="objective-number-2">
            <a:extLst xmlns:a="http://schemas.openxmlformats.org/drawingml/2006/main">
              <a:ext uri="{FF2B5EF4-FFF2-40B4-BE49-F238E27FC236}">
                <a16:creationId xmlns:a16="http://schemas.microsoft.com/office/drawing/2014/main" id="{EACD9172-E11E-40CC-A8E7-3ED812B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objective-2">
            <a:extLst xmlns:a="http://schemas.openxmlformats.org/drawingml/2006/main">
              <a:ext uri="{FF2B5EF4-FFF2-40B4-BE49-F238E27FC236}">
                <a16:creationId xmlns:a16="http://schemas.microsoft.com/office/drawing/2014/main" id="{034F40D3-82D3-4E5E-AEBD-1A4A0ED9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Explain prompt injection and excessive agency</a:t>
            </a:r>
          </a:p>
        </p:txBody>
      </p:sp>
      <p:sp>
        <p:nvSpPr>
          <p:cNvPr id="10" name="objective-number-3">
            <a:extLst xmlns:a="http://schemas.openxmlformats.org/drawingml/2006/main">
              <a:ext uri="{FF2B5EF4-FFF2-40B4-BE49-F238E27FC236}">
                <a16:creationId xmlns:a16="http://schemas.microsoft.com/office/drawing/2014/main" id="{3EE06209-862B-4B43-8F15-8BBD1AC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objective-3">
            <a:extLst xmlns:a="http://schemas.openxmlformats.org/drawingml/2006/main">
              <a:ext uri="{FF2B5EF4-FFF2-40B4-BE49-F238E27FC236}">
                <a16:creationId xmlns:a16="http://schemas.microsoft.com/office/drawing/2014/main" id="{0DC2A9F8-037E-414A-AB6A-DBE561AC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Apply defense-in-depth</a:t>
            </a:r>
          </a:p>
        </p:txBody>
      </p:sp>
      <p:sp>
        <p:nvSpPr>
          <p:cNvPr id="12" name="objective-number-4">
            <a:extLst xmlns:a="http://schemas.openxmlformats.org/drawingml/2006/main">
              <a:ext uri="{FF2B5EF4-FFF2-40B4-BE49-F238E27FC236}">
                <a16:creationId xmlns:a16="http://schemas.microsoft.com/office/drawing/2014/main" id="{855CB8A4-9551-4103-B34F-BB7E5795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objective-4">
            <a:extLst xmlns:a="http://schemas.openxmlformats.org/drawingml/2006/main">
              <a:ext uri="{FF2B5EF4-FFF2-40B4-BE49-F238E27FC236}">
                <a16:creationId xmlns:a16="http://schemas.microsoft.com/office/drawing/2014/main" id="{A7248AB5-05C6-4D36-A2F2-82107F3A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runtime guardrails and safety evaluation</a:t>
            </a:r>
          </a:p>
        </p:txBody>
      </p:sp>
    </p:spTree>
    <p:extLst>
      <p:ext uri="{BB962C8B-B14F-4D97-AF65-F5344CB8AC3E}">
        <p14:creationId xmlns:p14="http://schemas.microsoft.com/office/powerpoint/2010/main" val="1570770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225AC6B9-CCAF-4662-9D55-A5E23549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4298C018-5AB1-476C-BF92-58D61751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01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D247155-5553-44C3-8B32-2A453B3D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FC915A59-EDDF-4361-B869-BCB23EDD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C3635BE-5CA6-4D1B-AF1D-51C7EDF1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Tools change the threat model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BD6FA885-14B5-4CB1-9DFA-6FB68B51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 model that only produces text has limited direct effect; an agent can send messages, execute code, modify files, or make transactions. Autonomy may remove per-step review, and untrusted web pages, documents, emails, and tool results enter the same context as instructions.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8431C7FF-0FD9-48AB-A82A-59F6264C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DA992FED-BD43-4CBF-9DF2-AFACA062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The model proposes; the runtime authorizes.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Real-world effects require stronger controls than content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Consequential actions need explicit policy and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928634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6F9FA5A-97AF-47DD-BF34-7C61886A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C29ADD4E-ADEF-4018-AFC9-CB0CB4A9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02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6002298-48CE-4679-A019-FC5397F1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0CAFD198-31DF-428D-BC97-E7D07981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703750D-99E4-4DDD-9A47-6AF0509B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Security and responsible AI overlap but are distinct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AF2C35D3-708E-4B1D-ADDB-89E9AC24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Security addresses adversaries exploiting the agent through prompt injection, tool misuse, data exfiltration, memory poisoning, and excessive agency. Responsible AI addresses harmful, biased, toxic, false, or otherwise unsafe outputs.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712BB8A9-E829-469D-BF7E-64C71099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77985EBD-B2D2-4B10-9222-AAE57432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Least privilege and sandboxing reduce adversarial impact.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239AF6DA-8552-4995-81F1-FE820991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7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0C0EC702-26FF-4661-93F6-4AD4652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7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Alignment and content filters reduce harmful output.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D7AB2343-A2E4-4012-A386-F4F58C69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7C9727D8-1EB9-45CF-98A5-F7FB4E35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jailbreak can connect the two categories.</a:t>
            </a:r>
          </a:p>
        </p:txBody>
      </p:sp>
    </p:spTree>
    <p:extLst>
      <p:ext uri="{BB962C8B-B14F-4D97-AF65-F5344CB8AC3E}">
        <p14:creationId xmlns:p14="http://schemas.microsoft.com/office/powerpoint/2010/main" val="606822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B785ACAD-AB6A-43D7-B873-2CA42EA9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F8DF1650-8CA5-4E44-946C-0912D328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03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1F1078-68CA-40EA-B7F7-32C466BB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87FA87A4-3888-4861-B092-0573F0F4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A2AED8D-ABD4-447D-8652-8DB83F6B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 injection exploits the shared instruction-data channel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DF21AB83-A518-4622-AF84-7DC71282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Direct injection is supplied by a user. Indirect injection is hidden in content the agent retrieves. Because instructions and data enter the same context, the model may follow malicious text as if it were authorized guidance.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015C2690-1222-474E-8E8D-99DF9475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EC3F852A-C71C-48B5-9657-8B1338F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Indirect attacks require only control of content the agent reads.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Tool results must never automatically become trusted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There is no complete prompt-only fix.</a:t>
            </a:r>
          </a:p>
        </p:txBody>
      </p:sp>
    </p:spTree>
    <p:extLst>
      <p:ext uri="{BB962C8B-B14F-4D97-AF65-F5344CB8AC3E}">
        <p14:creationId xmlns:p14="http://schemas.microsoft.com/office/powerpoint/2010/main" val="1744078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078D5223-31B5-473C-885B-F7BB725F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78E3AB8E-22C6-41F1-8EA6-E008B06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04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25ABCE1-4FEC-4C64-9AB3-FA2E280C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5F225A58-8DBB-4980-88FD-F99911F4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65D0A10-F3C3-48B8-9B66-0E0BF24D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Excessive agency amplifies every successful exploit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50FE2F6A-4F26-4B01-90E6-23B14DE6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 injected instruction inherits the agent's available tools and credentials. Too many tools, broad scopes, persistent secrets, and unreviewed autonomy increase maximum harm.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D04D028B-6547-43A9-A5BF-91CC8261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490D74B2-B8E1-4F39-A8F2-4EC60459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Grant minimum tools and scopes.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5E767CE5-24EF-4828-B619-2A52C146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ECF09C66-5D3A-4DC1-BC64-128666B3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Default to read-only and short-lived credentials.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25774F82-0238-4EBF-9A63-C0E32DB6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80D8D8BD-B208-42B8-B3FD-27A7D196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Bound actions, time, spend, and network access.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370321E1-8816-4103-9B7B-FEE76DDD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82F9956B-5625-4DE2-AC69-735A7C09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Require confirmation for destructive or irreversible operations.</a:t>
            </a:r>
          </a:p>
        </p:txBody>
      </p:sp>
    </p:spTree>
    <p:extLst>
      <p:ext uri="{BB962C8B-B14F-4D97-AF65-F5344CB8AC3E}">
        <p14:creationId xmlns:p14="http://schemas.microsoft.com/office/powerpoint/2010/main" val="589504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1EA7EBFA-8056-496C-88B7-33727DAB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BBF0670D-8238-4A7C-9D07-BB9239D7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05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3684C2C-36DE-49CD-B11B-D7AF742F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54816AF5-6EE7-42C0-BC4F-4F81909B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90FB9C0E-4E61-49B9-B532-B4F81A09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Defense-in-depth must be structural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50B983B7-100D-4B9C-A9E2-A18C6B37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Input validation, untrusted-content quarantine, tool-call policy, sandboxing, output filtering, monitoring, and human approval provide independent layers. A guardrail prompt or guardrail model can be fooled and therefore cannot be the sole defense.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7A2B9D3D-DD4A-4835-AC60-6AF9BE1E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6B9C2BA8-7DDA-4039-8F91-C803040E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Validate before the model and again before tool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Separate trusted control data from retrieved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Sanitize tool output before execution or rendering.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  Log and detect abnormal trajectories.</a:t>
            </a:r>
          </a:p>
        </p:txBody>
      </p:sp>
    </p:spTree>
    <p:extLst>
      <p:ext uri="{BB962C8B-B14F-4D97-AF65-F5344CB8AC3E}">
        <p14:creationId xmlns:p14="http://schemas.microsoft.com/office/powerpoint/2010/main" val="1496581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B2614B87-6343-42CB-8151-29C4EF4A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EF309EA-2AF3-41F7-85D4-9274D25D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06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281E81E-32EB-498C-BAA0-F8A96673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0543DB7B-22C5-4E5A-A1DC-DC538A9E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DEF9DA43-F4B9-4D6A-9E5B-B92FB3D6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8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Responsible output needs training-time and runtime controls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8281F0B1-379B-4987-96FF-2A18B4EA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Bias and toxicity can originate in web-scale training data; alignment methods such as RLHF and DPO shape preferred behavior. Runtime classifiers and guardrails screen inputs and outputs. Hallucination requires grounding, citations, abstention, and verification.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7B8AE621-72B9-4F16-A3CD-E978DC7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9FB818AB-4AC9-4E9C-942C-D1CA66CC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Measure toxicity and bias rather than assuming alignment solved them.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A8EC65A2-56DE-47A9-AE06-80AAA1B3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07F33813-39F5-4186-BEC7-C5CBB137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RAG and tools for factual grounding.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3FD45443-DA3B-44D1-AA49-88D909B2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C4B01F9D-5DBD-4B5D-AD95-61F08A81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Apply safety controls across MCP servers and A2A delegation.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35CB1DF3-723F-4169-A185-B321B33D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0C73C488-4BFE-48F9-9635-23B2AE0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Include injection and disallowed-action cases in evaluation.</a:t>
            </a:r>
          </a:p>
        </p:txBody>
      </p:sp>
    </p:spTree>
    <p:extLst>
      <p:ext uri="{BB962C8B-B14F-4D97-AF65-F5344CB8AC3E}">
        <p14:creationId xmlns:p14="http://schemas.microsoft.com/office/powerpoint/2010/main" val="15018896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1F045F2D-B52C-47D3-9090-E2692D20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0295D543-50A2-475C-AE17-A822A2B5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07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E18B608-4910-4DBF-A801-22379515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38ABB931-CD1F-4E21-8ED8-DF6335DC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3B331170-3F12-4B10-9978-964A799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Security tests distinguish proposals from effects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C9719E49-FB1F-40F1-9DE0-0F57F22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 malicious proposal and a successful unauthorized effect are different outcomes. GPT-Red motivates evaluating held-out attacks, while this course tests a small application policy. Passing these fixtures does not establish general prompt-injection robustness.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1DEDBA23-2F19-436C-946B-01348D85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1E1516D8-8440-4A75-ADB1-4554870A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Bind approval to the exact proposed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Measure false rejection on benign requests.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Retain held-out adversarial cases.</a:t>
            </a:r>
          </a:p>
        </p:txBody>
      </p:sp>
    </p:spTree>
    <p:extLst>
      <p:ext uri="{BB962C8B-B14F-4D97-AF65-F5344CB8AC3E}">
        <p14:creationId xmlns:p14="http://schemas.microsoft.com/office/powerpoint/2010/main" val="8117824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line">
            <a:extLst xmlns:a="http://schemas.openxmlformats.org/drawingml/2006/main">
              <a:ext uri="{FF2B5EF4-FFF2-40B4-BE49-F238E27FC236}">
                <a16:creationId xmlns:a16="http://schemas.microsoft.com/office/drawing/2014/main" id="{E88AD15E-6E1F-47A9-8CC9-AFB52ED0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B90C0401-FB42-47B3-88DA-2FF5DEF1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EXAM CHECK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988EC0-FD27-4737-ADF7-1C2FE9FB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9ADD2FAF-4F85-4E1A-88DE-7C3B75EB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exam-title">
            <a:extLst xmlns:a="http://schemas.openxmlformats.org/drawingml/2006/main">
              <a:ext uri="{FF2B5EF4-FFF2-40B4-BE49-F238E27FC236}">
                <a16:creationId xmlns:a16="http://schemas.microsoft.com/office/drawing/2014/main" id="{EF8A5501-107E-4583-93D9-712263DC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810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 you answer these without notes?</a:t>
            </a:r>
          </a:p>
        </p:txBody>
      </p:sp>
      <p:sp>
        <p:nvSpPr>
          <p:cNvPr id="6" name="exam-number-1">
            <a:extLst xmlns:a="http://schemas.openxmlformats.org/drawingml/2006/main">
              <a:ext uri="{FF2B5EF4-FFF2-40B4-BE49-F238E27FC236}">
                <a16:creationId xmlns:a16="http://schemas.microsoft.com/office/drawing/2014/main" id="{D3447F27-E91E-429F-AC2E-A40E423D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exam-question-1">
            <a:extLst xmlns:a="http://schemas.openxmlformats.org/drawingml/2006/main">
              <a:ext uri="{FF2B5EF4-FFF2-40B4-BE49-F238E27FC236}">
                <a16:creationId xmlns:a16="http://schemas.microsoft.com/office/drawing/2014/main" id="{DD707F0F-1036-40FB-98B8-D938122F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does agent action raise the stakes compared with a chatbot?</a:t>
            </a:r>
          </a:p>
        </p:txBody>
      </p:sp>
      <p:sp>
        <p:nvSpPr>
          <p:cNvPr id="8" name="exam-number-2">
            <a:extLst xmlns:a="http://schemas.openxmlformats.org/drawingml/2006/main">
              <a:ext uri="{FF2B5EF4-FFF2-40B4-BE49-F238E27FC236}">
                <a16:creationId xmlns:a16="http://schemas.microsoft.com/office/drawing/2014/main" id="{CA8879FD-2B9E-42A0-80F0-4B9910F6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exam-question-2">
            <a:extLst xmlns:a="http://schemas.openxmlformats.org/drawingml/2006/main">
              <a:ext uri="{FF2B5EF4-FFF2-40B4-BE49-F238E27FC236}">
                <a16:creationId xmlns:a16="http://schemas.microsoft.com/office/drawing/2014/main" id="{1AB13D3F-0DF9-4FB5-AEE1-4949D449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Differentiate security risks and responsible-AI harms.</a:t>
            </a:r>
          </a:p>
        </p:txBody>
      </p:sp>
      <p:sp>
        <p:nvSpPr>
          <p:cNvPr id="10" name="exam-number-3">
            <a:extLst xmlns:a="http://schemas.openxmlformats.org/drawingml/2006/main">
              <a:ext uri="{FF2B5EF4-FFF2-40B4-BE49-F238E27FC236}">
                <a16:creationId xmlns:a16="http://schemas.microsoft.com/office/drawing/2014/main" id="{AC4A0172-D1E4-4C45-9396-6EA0569A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exam-question-3">
            <a:extLst xmlns:a="http://schemas.openxmlformats.org/drawingml/2006/main">
              <a:ext uri="{FF2B5EF4-FFF2-40B4-BE49-F238E27FC236}">
                <a16:creationId xmlns:a16="http://schemas.microsoft.com/office/drawing/2014/main" id="{0C936DE9-23CC-47B6-9707-2C88248B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Compare direct and indirect prompt injection.</a:t>
            </a:r>
          </a:p>
        </p:txBody>
      </p:sp>
      <p:sp>
        <p:nvSpPr>
          <p:cNvPr id="12" name="exam-number-4">
            <a:extLst xmlns:a="http://schemas.openxmlformats.org/drawingml/2006/main">
              <a:ext uri="{FF2B5EF4-FFF2-40B4-BE49-F238E27FC236}">
                <a16:creationId xmlns:a16="http://schemas.microsoft.com/office/drawing/2014/main" id="{E8070A72-8C4A-4D85-A165-A3F63E1F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exam-question-4">
            <a:extLst xmlns:a="http://schemas.openxmlformats.org/drawingml/2006/main">
              <a:ext uri="{FF2B5EF4-FFF2-40B4-BE49-F238E27FC236}">
                <a16:creationId xmlns:a16="http://schemas.microsoft.com/office/drawing/2014/main" id="{A0F31D60-84D1-484E-B5EC-CBE5CA5A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is excessive agency and how is it mitigated?</a:t>
            </a:r>
          </a:p>
        </p:txBody>
      </p:sp>
      <p:sp>
        <p:nvSpPr>
          <p:cNvPr id="14" name="exam-number-5">
            <a:extLst xmlns:a="http://schemas.openxmlformats.org/drawingml/2006/main">
              <a:ext uri="{FF2B5EF4-FFF2-40B4-BE49-F238E27FC236}">
                <a16:creationId xmlns:a16="http://schemas.microsoft.com/office/drawing/2014/main" id="{3A4A89D2-679E-46A7-A7DA-5405CF48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exam-question-5">
            <a:extLst xmlns:a="http://schemas.openxmlformats.org/drawingml/2006/main">
              <a:ext uri="{FF2B5EF4-FFF2-40B4-BE49-F238E27FC236}">
                <a16:creationId xmlns:a16="http://schemas.microsoft.com/office/drawing/2014/main" id="{5AE88412-F270-4284-A6B7-BF234ED3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a defense-in-depth stack for a tool-using agent.</a:t>
            </a:r>
          </a:p>
        </p:txBody>
      </p:sp>
      <p:sp>
        <p:nvSpPr>
          <p:cNvPr id="16" name="exam-number-6">
            <a:extLst xmlns:a="http://schemas.openxmlformats.org/drawingml/2006/main">
              <a:ext uri="{FF2B5EF4-FFF2-40B4-BE49-F238E27FC236}">
                <a16:creationId xmlns:a16="http://schemas.microsoft.com/office/drawing/2014/main" id="{73EB39A7-4A86-48A8-BE44-262BDBEA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7" name="exam-question-6">
            <a:extLst xmlns:a="http://schemas.openxmlformats.org/drawingml/2006/main">
              <a:ext uri="{FF2B5EF4-FFF2-40B4-BE49-F238E27FC236}">
                <a16:creationId xmlns:a16="http://schemas.microsoft.com/office/drawing/2014/main" id="{C890701C-E10F-4881-9C56-7EB90848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should a security report score model proposals and executed effects separately?</a:t>
            </a:r>
          </a:p>
        </p:txBody>
      </p:sp>
    </p:spTree>
    <p:extLst>
      <p:ext uri="{BB962C8B-B14F-4D97-AF65-F5344CB8AC3E}">
        <p14:creationId xmlns:p14="http://schemas.microsoft.com/office/powerpoint/2010/main" val="12005622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9BC37D49-CE48-4A1F-A84F-302938C6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3D3E0D1C-9BCB-4CAD-8B61-F43B2F3D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CHAPTER SYNTHESIS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6F3FD1-178F-4257-A347-180EC8C4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D5A0883E-09A2-4A26-B1FE-44428C76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C4065CF-CB33-4ABD-B7B3-6937071D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477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must remain after the details fade</a:t>
            </a:r>
          </a:p>
        </p:txBody>
      </p:sp>
      <p:sp>
        <p:nvSpPr>
          <p:cNvPr id="6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CADBA53E-EA52-4477-9FFC-CABC3356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akeaway-1">
            <a:extLst xmlns:a="http://schemas.openxmlformats.org/drawingml/2006/main">
              <a:ext uri="{FF2B5EF4-FFF2-40B4-BE49-F238E27FC236}">
                <a16:creationId xmlns:a16="http://schemas.microsoft.com/office/drawing/2014/main" id="{26085327-264E-464E-951D-C3575163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Action moves safety enforcement into code and infrastructure.</a:t>
            </a:r>
          </a:p>
        </p:txBody>
      </p:sp>
      <p:sp>
        <p:nvSpPr>
          <p:cNvPr id="8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CE8A6B5D-78DB-40E8-B878-83CCBA79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99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akeaway-2">
            <a:extLst xmlns:a="http://schemas.openxmlformats.org/drawingml/2006/main">
              <a:ext uri="{FF2B5EF4-FFF2-40B4-BE49-F238E27FC236}">
                <a16:creationId xmlns:a16="http://schemas.microsoft.com/office/drawing/2014/main" id="{CA84D31D-C7D4-4A59-9257-D70CDB7A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 injection cannot be solved by a stronger prompt alone.</a:t>
            </a:r>
          </a:p>
        </p:txBody>
      </p:sp>
      <p:sp>
        <p:nvSpPr>
          <p:cNvPr id="10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E587191A-B1DD-45C4-9B84-6014693A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862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takeaway-3">
            <a:extLst xmlns:a="http://schemas.openxmlformats.org/drawingml/2006/main">
              <a:ext uri="{FF2B5EF4-FFF2-40B4-BE49-F238E27FC236}">
                <a16:creationId xmlns:a16="http://schemas.microsoft.com/office/drawing/2014/main" id="{4658B4FE-4B87-4AA5-8504-653E2E72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671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Least privilege limits blast radius.</a:t>
            </a:r>
          </a:p>
        </p:txBody>
      </p:sp>
      <p:sp>
        <p:nvSpPr>
          <p:cNvPr id="12" name="takeaway-number-4">
            <a:extLst xmlns:a="http://schemas.openxmlformats.org/drawingml/2006/main">
              <a:ext uri="{FF2B5EF4-FFF2-40B4-BE49-F238E27FC236}">
                <a16:creationId xmlns:a16="http://schemas.microsoft.com/office/drawing/2014/main" id="{CCFD879C-16EC-44E1-87E5-72B8C704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625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takeaway-4">
            <a:extLst xmlns:a="http://schemas.openxmlformats.org/drawingml/2006/main">
              <a:ext uri="{FF2B5EF4-FFF2-40B4-BE49-F238E27FC236}">
                <a16:creationId xmlns:a16="http://schemas.microsoft.com/office/drawing/2014/main" id="{3F869411-B93B-495F-8D1F-651B8099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434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Security, responsible AI, evaluation, and observability must work together.</a:t>
            </a:r>
          </a:p>
        </p:txBody>
      </p:sp>
    </p:spTree>
    <p:extLst>
      <p:ext uri="{BB962C8B-B14F-4D97-AF65-F5344CB8AC3E}">
        <p14:creationId xmlns:p14="http://schemas.microsoft.com/office/powerpoint/2010/main" val="973589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-line">
            <a:extLst xmlns:a="http://schemas.openxmlformats.org/drawingml/2006/main">
              <a:ext uri="{FF2B5EF4-FFF2-40B4-BE49-F238E27FC236}">
                <a16:creationId xmlns:a16="http://schemas.microsoft.com/office/drawing/2014/main" id="{02DAA72A-5B7B-4126-B6FC-B7D0769B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F9CBEEDF-8AAE-4454-8A6E-32759A6E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PRACTICE AND READING  /  12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57A782-45BB-41CE-BD26-BDEA811D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D7FEE08B-BC9E-4823-BFC8-1C6CC5D2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Safety and Security</a:t>
            </a:r>
          </a:p>
        </p:txBody>
      </p:sp>
      <p:sp>
        <p:nvSpPr>
          <p:cNvPr id="5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F7036E37-E8D5-42B2-84FC-88852DF1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Evidence to submit</a:t>
            </a:r>
          </a:p>
        </p:txBody>
      </p:sp>
      <p:sp>
        <p:nvSpPr>
          <p:cNvPr id="6" name="practice-task">
            <a:extLst xmlns:a="http://schemas.openxmlformats.org/drawingml/2006/main">
              <a:ext uri="{FF2B5EF4-FFF2-40B4-BE49-F238E27FC236}">
                <a16:creationId xmlns:a16="http://schemas.microsoft.com/office/drawing/2014/main" id="{75A5C701-491D-4BA1-9B8B-58BDE44E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00250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Complete Lab 8. Submit one valid request, one injection-shaped proposal, and one replay with changed arguments. Identify the trusted reviewer channel.</a:t>
            </a:r>
          </a:p>
        </p:txBody>
      </p:sp>
      <p:sp>
        <p:nvSpPr>
          <p:cNvPr id="7" name="practice-check">
            <a:extLst xmlns:a="http://schemas.openxmlformats.org/drawingml/2006/main">
              <a:ext uri="{FF2B5EF4-FFF2-40B4-BE49-F238E27FC236}">
                <a16:creationId xmlns:a16="http://schemas.microsoft.com/office/drawing/2014/main" id="{3D6B0F7A-7610-4C39-9173-D0B9936F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81375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Rejected actions create no ledger entry. A retry with the same ID cannot duplicate the effect, and changed payload reuse fails.</a:t>
            </a:r>
          </a:p>
        </p:txBody>
      </p:sp>
      <p:sp>
        <p:nvSpPr>
          <p:cNvPr id="8" name="practice-readings">
            <a:extLst xmlns:a="http://schemas.openxmlformats.org/drawingml/2006/main">
              <a:ext uri="{FF2B5EF4-FFF2-40B4-BE49-F238E27FC236}">
                <a16:creationId xmlns:a16="http://schemas.microsoft.com/office/drawing/2014/main" id="{7BA221E6-E445-44D1-A92E-2049EC26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P1  GPT-Red: Automated Red Teaming via Self-Play at Scale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S3  LangGraph interrupts</a:t>
            </a:r>
          </a:p>
        </p:txBody>
      </p:sp>
      <p:sp>
        <p:nvSpPr>
          <p:cNvPr id="9" name="practice-lab">
            <a:extLst xmlns:a="http://schemas.openxmlformats.org/drawingml/2006/main">
              <a:ext uri="{FF2B5EF4-FFF2-40B4-BE49-F238E27FC236}">
                <a16:creationId xmlns:a16="http://schemas.microsoft.com/office/drawing/2014/main" id="{0D93C910-5A75-437F-8EA8-0CC64298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578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labs/08_langgraph_approval_security.ipynb</a:t>
            </a:r>
          </a:p>
        </p:txBody>
      </p:sp>
    </p:spTree>
    <p:extLst>
      <p:ext uri="{BB962C8B-B14F-4D97-AF65-F5344CB8AC3E}">
        <p14:creationId xmlns:p14="http://schemas.microsoft.com/office/powerpoint/2010/main" val="1761595459"/>
      </p:ext>
    </p:extLst>
  </p:cSld>
</p:sld>
</file>

<file path=ppt/theme/theme1.xml><?xml version="1.0" encoding="utf-8"?>
<a:theme xmlns:a="http://schemas.openxmlformats.org/drawingml/2006/main" name="Course">
  <a:themeElements>
    <a:clrScheme name="Cou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12-safety-security</dc:title>
  <dcterms:created xsi:type="dcterms:W3CDTF">2026-09-09T16:56:55.3930000Z</dcterms:created>
  <dcterms:modified xsi:type="dcterms:W3CDTF">2026-09-09T16:56:55.3930000Z</dcterms:modified>
</coreProperties>
</file>