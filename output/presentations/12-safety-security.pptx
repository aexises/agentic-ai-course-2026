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eb57a611ce4325" /><Relationship Type="http://schemas.openxmlformats.org/officeDocument/2006/relationships/extended-properties" Target="/docProps/app.xml" Id="Re4747f9ca24d42c0" /><Relationship Type="http://schemas.openxmlformats.org/officeDocument/2006/relationships/officeDocument" Target="/ppt/presentation.xml" Id="R59dd35ccd42448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949d4e1156f4bee"/>
  </p:sldMasterIdLst>
  <p:notesMasterIdLst>
    <p:notesMasterId xmlns:r="http://schemas.openxmlformats.org/officeDocument/2006/relationships" r:id="R8f224d0294d54019"/>
  </p:notesMasterIdLst>
  <p:sldIdLst>
    <p:sldId xmlns:r="http://schemas.openxmlformats.org/officeDocument/2006/relationships" id="256" r:id="R207c36e775664a6b"/>
    <p:sldId xmlns:r="http://schemas.openxmlformats.org/officeDocument/2006/relationships" id="257" r:id="R52ecc2a6e1b54769"/>
    <p:sldId xmlns:r="http://schemas.openxmlformats.org/officeDocument/2006/relationships" id="258" r:id="R1f3bc343c8304ae4"/>
    <p:sldId xmlns:r="http://schemas.openxmlformats.org/officeDocument/2006/relationships" id="259" r:id="Ra32b2fe5e0a544bc"/>
    <p:sldId xmlns:r="http://schemas.openxmlformats.org/officeDocument/2006/relationships" id="260" r:id="R15b0f1c099d346e7"/>
    <p:sldId xmlns:r="http://schemas.openxmlformats.org/officeDocument/2006/relationships" id="261" r:id="R8c24732c7b9a4e2c"/>
    <p:sldId xmlns:r="http://schemas.openxmlformats.org/officeDocument/2006/relationships" id="262" r:id="R21cf300da83541cc"/>
    <p:sldId xmlns:r="http://schemas.openxmlformats.org/officeDocument/2006/relationships" id="263" r:id="R6c237ffb03f245de"/>
    <p:sldId xmlns:r="http://schemas.openxmlformats.org/officeDocument/2006/relationships" id="264" r:id="Re04cf3db36af4d79"/>
    <p:sldId xmlns:r="http://schemas.openxmlformats.org/officeDocument/2006/relationships" id="265" r:id="R851b6602f37f435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247bd8416d4101" /><Relationship Type="http://schemas.openxmlformats.org/officeDocument/2006/relationships/slideMaster" Target="/ppt/slideMasters/slideMaster1.xml" Id="R0949d4e1156f4bee" /><Relationship Type="http://schemas.openxmlformats.org/officeDocument/2006/relationships/notesMaster" Target="/ppt/notesMasters/notesMaster1.xml" Id="R8f224d0294d54019" /><Relationship Type="http://schemas.openxmlformats.org/officeDocument/2006/relationships/presProps" Target="/ppt/presProps.xml" Id="Re80659dbb8bf4592" /><Relationship Type="http://schemas.openxmlformats.org/officeDocument/2006/relationships/tableStyles" Target="/ppt/tableStyles.xml" Id="Rb9e60a9ca9cd447c" /><Relationship Type="http://schemas.openxmlformats.org/officeDocument/2006/relationships/slide" Target="/ppt/slides/slide1.xml" Id="R207c36e775664a6b" /><Relationship Type="http://schemas.openxmlformats.org/officeDocument/2006/relationships/slide" Target="/ppt/slides/slide2.xml" Id="R52ecc2a6e1b54769" /><Relationship Type="http://schemas.openxmlformats.org/officeDocument/2006/relationships/slide" Target="/ppt/slides/slide3.xml" Id="R1f3bc343c8304ae4" /><Relationship Type="http://schemas.openxmlformats.org/officeDocument/2006/relationships/slide" Target="/ppt/slides/slide4.xml" Id="Ra32b2fe5e0a544bc" /><Relationship Type="http://schemas.openxmlformats.org/officeDocument/2006/relationships/slide" Target="/ppt/slides/slide5.xml" Id="R15b0f1c099d346e7" /><Relationship Type="http://schemas.openxmlformats.org/officeDocument/2006/relationships/slide" Target="/ppt/slides/slide6.xml" Id="R8c24732c7b9a4e2c" /><Relationship Type="http://schemas.openxmlformats.org/officeDocument/2006/relationships/slide" Target="/ppt/slides/slide7.xml" Id="R21cf300da83541cc" /><Relationship Type="http://schemas.openxmlformats.org/officeDocument/2006/relationships/slide" Target="/ppt/slides/slide8.xml" Id="R6c237ffb03f245de" /><Relationship Type="http://schemas.openxmlformats.org/officeDocument/2006/relationships/slide" Target="/ppt/slides/slide9.xml" Id="Re04cf3db36af4d79" /><Relationship Type="http://schemas.openxmlformats.org/officeDocument/2006/relationships/slide" Target="/ppt/slides/slide10.xml" Id="R851b6602f37f43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e0840e4c6b45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6c18c466f24333" /><Relationship Type="http://schemas.openxmlformats.org/officeDocument/2006/relationships/notesMaster" Target="/ppt/notesMasters/notesMaster1.xml" Id="R514d2b98b6904d6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9102a2031046cb" /><Relationship Type="http://schemas.openxmlformats.org/officeDocument/2006/relationships/notesMaster" Target="/ppt/notesMasters/notesMaster1.xml" Id="Rcb25ab09c02242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01dd7f206749e8" /><Relationship Type="http://schemas.openxmlformats.org/officeDocument/2006/relationships/notesMaster" Target="/ppt/notesMasters/notesMaster1.xml" Id="R618cce950a0549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e45863c1af4bb6" /><Relationship Type="http://schemas.openxmlformats.org/officeDocument/2006/relationships/notesMaster" Target="/ppt/notesMasters/notesMaster1.xml" Id="R581365c2ed2246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704b2078d441cf" /><Relationship Type="http://schemas.openxmlformats.org/officeDocument/2006/relationships/notesMaster" Target="/ppt/notesMasters/notesMaster1.xml" Id="R09053cdbfad5482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2c05893c8e4ab6" /><Relationship Type="http://schemas.openxmlformats.org/officeDocument/2006/relationships/notesMaster" Target="/ppt/notesMasters/notesMaster1.xml" Id="Ra4d3c068fea0468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cfe862ec414f19" /><Relationship Type="http://schemas.openxmlformats.org/officeDocument/2006/relationships/notesMaster" Target="/ppt/notesMasters/notesMaster1.xml" Id="Rfac2827d2e4548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2d0d7d92c984db1" /><Relationship Type="http://schemas.openxmlformats.org/officeDocument/2006/relationships/notesMaster" Target="/ppt/notesMasters/notesMaster1.xml" Id="Ra90caf6c17b841e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a2769acc9b640ba" /><Relationship Type="http://schemas.openxmlformats.org/officeDocument/2006/relationships/notesMaster" Target="/ppt/notesMasters/notesMaster1.xml" Id="Rff46bb651ef34e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8989d6973f44a4b" /><Relationship Type="http://schemas.openxmlformats.org/officeDocument/2006/relationships/notesMaster" Target="/ppt/notesMasters/notesMaster1.xml" Id="R9e2c21454ef440d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chapter thesis and connect it to the previous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these objectives as an advance organizer and as a checklist after the deck.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claim first, then use the numbered points as evidence and design consequences.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central statement, then connect the lower points as a single mental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as retrieval practice. Ask for an answer that defines, compares, traces, and evaluates.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restating the four durable ideas and linking forward to the next chapter.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Supplied source presentation: 12-safety-security.pdf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ed14c4cc2f4b1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9d761c574049db" /><Relationship Type="http://schemas.openxmlformats.org/officeDocument/2006/relationships/slideLayout" Target="/ppt/slideLayouts/slideLayout1.xml" Id="R9bf2247b975b4be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f2247b975b4be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59baea1c749bd" /><Relationship Type="http://schemas.openxmlformats.org/officeDocument/2006/relationships/notesSlide" Target="/ppt/notesSlides/notesSlide1.xml" Id="Re5c0b6f0f12840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da1b33c4ef4314" /><Relationship Type="http://schemas.openxmlformats.org/officeDocument/2006/relationships/notesSlide" Target="/ppt/notesSlides/notesSlide2.xml" Id="R062a7857746343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157105d4d74e1e" /><Relationship Type="http://schemas.openxmlformats.org/officeDocument/2006/relationships/notesSlide" Target="/ppt/notesSlides/notesSlide3.xml" Id="R7e35de97a98b411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bcdb678dc4e97" /><Relationship Type="http://schemas.openxmlformats.org/officeDocument/2006/relationships/notesSlide" Target="/ppt/notesSlides/notesSlide4.xml" Id="R3d9e24aad2bb45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83e0c8eb240d5" /><Relationship Type="http://schemas.openxmlformats.org/officeDocument/2006/relationships/notesSlide" Target="/ppt/notesSlides/notesSlide5.xml" Id="Rcf9f0b9b06a14b0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12318116644d78" /><Relationship Type="http://schemas.openxmlformats.org/officeDocument/2006/relationships/notesSlide" Target="/ppt/notesSlides/notesSlide6.xml" Id="Rbaaca5a12e4747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f32284dfc42cc" /><Relationship Type="http://schemas.openxmlformats.org/officeDocument/2006/relationships/notesSlide" Target="/ppt/notesSlides/notesSlide7.xml" Id="R0ffc91bdd8c647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4c07a0ad24e8a" /><Relationship Type="http://schemas.openxmlformats.org/officeDocument/2006/relationships/notesSlide" Target="/ppt/notesSlides/notesSlide8.xml" Id="Ra964b458362646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d576a9a6f4568" /><Relationship Type="http://schemas.openxmlformats.org/officeDocument/2006/relationships/notesSlide" Target="/ppt/notesSlides/notesSlide9.xml" Id="Rd9725e43aa20454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1ba982f0d4010" /><Relationship Type="http://schemas.openxmlformats.org/officeDocument/2006/relationships/notesSlide" Target="/ppt/notesSlides/notesSlide10.xml" Id="R12c1031aeb924b4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accent">
            <a:extLst xmlns:a="http://schemas.openxmlformats.org/drawingml/2006/main">
              <a:ext uri="{FF2B5EF4-FFF2-40B4-BE49-F238E27FC236}">
                <a16:creationId xmlns:a16="http://schemas.microsoft.com/office/drawing/2014/main" id="{EAC34868-47CB-405F-968A-1AFEB0B0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ourse-title">
            <a:extLst xmlns:a="http://schemas.openxmlformats.org/drawingml/2006/main">
              <a:ext uri="{FF2B5EF4-FFF2-40B4-BE49-F238E27FC236}">
                <a16:creationId xmlns:a16="http://schemas.microsoft.com/office/drawing/2014/main" id="{0BBAB58D-D8C2-4848-AB3D-1983B26A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AGENTIC AI</a:t>
            </a:r>
          </a:p>
        </p:txBody>
      </p:sp>
      <p:sp>
        <p:nvSpPr>
          <p:cNvPr id="3" name="chapter-number">
            <a:extLst xmlns:a="http://schemas.openxmlformats.org/drawingml/2006/main">
              <a:ext uri="{FF2B5EF4-FFF2-40B4-BE49-F238E27FC236}">
                <a16:creationId xmlns:a16="http://schemas.microsoft.com/office/drawing/2014/main" id="{B33B42E4-B5FB-4814-B639-4DCBCDC5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61950"/>
            <a:ext cx="1676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deck-title">
            <a:extLst xmlns:a="http://schemas.openxmlformats.org/drawingml/2006/main">
              <a:ext uri="{FF2B5EF4-FFF2-40B4-BE49-F238E27FC236}">
                <a16:creationId xmlns:a16="http://schemas.microsoft.com/office/drawing/2014/main" id="{2DC201F0-C45C-4ABF-A0A0-C0077C20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524000"/>
            <a:ext cx="985837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deck-thesis">
            <a:extLst xmlns:a="http://schemas.openxmlformats.org/drawingml/2006/main">
              <a:ext uri="{FF2B5EF4-FFF2-40B4-BE49-F238E27FC236}">
                <a16:creationId xmlns:a16="http://schemas.microsoft.com/office/drawing/2014/main" id="{A56F65CD-CF5E-429D-8222-3B2B468A1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10100"/>
            <a:ext cx="852487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Action amplifies model errors and attacks, so safety must be enforced through defense-in-depth at the model-runtime boundary and throughout the lifecycle.</a:t>
            </a:r>
          </a:p>
        </p:txBody>
      </p:sp>
      <p:sp>
        <p:nvSpPr>
          <p:cNvPr id="6" name="title-marker">
            <a:extLst xmlns:a="http://schemas.openxmlformats.org/drawingml/2006/main">
              <a:ext uri="{FF2B5EF4-FFF2-40B4-BE49-F238E27FC236}">
                <a16:creationId xmlns:a16="http://schemas.microsoft.com/office/drawing/2014/main" id="{A7D1CF64-2C36-479E-AB6E-89447D1C5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10100"/>
            <a:ext cx="22669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7" name="title-marker-text">
            <a:extLst xmlns:a="http://schemas.openxmlformats.org/drawingml/2006/main">
              <a:ext uri="{FF2B5EF4-FFF2-40B4-BE49-F238E27FC236}">
                <a16:creationId xmlns:a16="http://schemas.microsoft.com/office/drawing/2014/main" id="{F5AF5C8E-9D0C-44AD-BF94-724116F53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4762500"/>
            <a:ext cx="1809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STUDY</a:t>
            </a:r>
          </a:p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DECK</a:t>
            </a:r>
          </a:p>
        </p:txBody>
      </p:sp>
    </p:spTree>
    <p:extLst>
      <p:ext uri="{BB962C8B-B14F-4D97-AF65-F5344CB8AC3E}">
        <p14:creationId xmlns:p14="http://schemas.microsoft.com/office/powerpoint/2010/main" val="19711475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51383E65-7F2C-48EA-9183-814D3E40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55C193E-64D7-4568-978A-27905F1C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LEARNING MAP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6CB772-3681-49A3-81A4-929EE53C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F0482B3C-B60C-453E-AF38-D51ECC9CA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objectives-title">
            <a:extLst xmlns:a="http://schemas.openxmlformats.org/drawingml/2006/main">
              <a:ext uri="{FF2B5EF4-FFF2-40B4-BE49-F238E27FC236}">
                <a16:creationId xmlns:a16="http://schemas.microsoft.com/office/drawing/2014/main" id="{669B7FCB-B18E-41C8-821A-5CCF9F14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90600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By the end, you should be able to...</a:t>
            </a:r>
          </a:p>
        </p:txBody>
      </p:sp>
      <p:sp>
        <p:nvSpPr>
          <p:cNvPr id="6" name="objective-number-1">
            <a:extLst xmlns:a="http://schemas.openxmlformats.org/drawingml/2006/main">
              <a:ext uri="{FF2B5EF4-FFF2-40B4-BE49-F238E27FC236}">
                <a16:creationId xmlns:a16="http://schemas.microsoft.com/office/drawing/2014/main" id="{21A3A2EC-07A3-45D0-8254-2778EC5F4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364BFBA-EAAA-44EE-8668-F9A5D0F2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Separate adversarial security from responsible-AI harms</a:t>
            </a:r>
          </a:p>
        </p:txBody>
      </p:sp>
      <p:sp>
        <p:nvSpPr>
          <p:cNvPr id="8" name="objective-number-2">
            <a:extLst xmlns:a="http://schemas.openxmlformats.org/drawingml/2006/main">
              <a:ext uri="{FF2B5EF4-FFF2-40B4-BE49-F238E27FC236}">
                <a16:creationId xmlns:a16="http://schemas.microsoft.com/office/drawing/2014/main" id="{000C0E70-8C43-4A9B-8781-B5F7BA16F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objective-2">
            <a:extLst xmlns:a="http://schemas.openxmlformats.org/drawingml/2006/main">
              <a:ext uri="{FF2B5EF4-FFF2-40B4-BE49-F238E27FC236}">
                <a16:creationId xmlns:a16="http://schemas.microsoft.com/office/drawing/2014/main" id="{7CE37CF0-F7D7-49B9-9FC1-C80FC809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Explain prompt injection and excessive agency</a:t>
            </a:r>
          </a:p>
        </p:txBody>
      </p:sp>
      <p:sp>
        <p:nvSpPr>
          <p:cNvPr id="10" name="objective-number-3">
            <a:extLst xmlns:a="http://schemas.openxmlformats.org/drawingml/2006/main">
              <a:ext uri="{FF2B5EF4-FFF2-40B4-BE49-F238E27FC236}">
                <a16:creationId xmlns:a16="http://schemas.microsoft.com/office/drawing/2014/main" id="{9C0032CA-316E-40B3-9FCB-B4DC03F1D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objective-3">
            <a:extLst xmlns:a="http://schemas.openxmlformats.org/drawingml/2006/main">
              <a:ext uri="{FF2B5EF4-FFF2-40B4-BE49-F238E27FC236}">
                <a16:creationId xmlns:a16="http://schemas.microsoft.com/office/drawing/2014/main" id="{D7C098BF-9A86-467C-827B-22C57D57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Apply defense-in-depth</a:t>
            </a:r>
          </a:p>
        </p:txBody>
      </p:sp>
      <p:sp>
        <p:nvSpPr>
          <p:cNvPr id="12" name="objective-number-4">
            <a:extLst xmlns:a="http://schemas.openxmlformats.org/drawingml/2006/main">
              <a:ext uri="{FF2B5EF4-FFF2-40B4-BE49-F238E27FC236}">
                <a16:creationId xmlns:a16="http://schemas.microsoft.com/office/drawing/2014/main" id="{2829F83A-5A12-462D-96ED-0C210C0DA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200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objective-4">
            <a:extLst xmlns:a="http://schemas.openxmlformats.org/drawingml/2006/main">
              <a:ext uri="{FF2B5EF4-FFF2-40B4-BE49-F238E27FC236}">
                <a16:creationId xmlns:a16="http://schemas.microsoft.com/office/drawing/2014/main" id="{ABEAAF3F-C0A1-4E7B-85C4-EC9A01540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143250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Design runtime guardrails and safety evaluation</a:t>
            </a:r>
          </a:p>
        </p:txBody>
      </p:sp>
    </p:spTree>
    <p:extLst>
      <p:ext uri="{BB962C8B-B14F-4D97-AF65-F5344CB8AC3E}">
        <p14:creationId xmlns:p14="http://schemas.microsoft.com/office/powerpoint/2010/main" val="5955968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2FB1E5DA-1DE0-44A2-8C24-267B29D7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F7F16B9-9C26-45FD-A0B1-084972AC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01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62EE10D-9CB6-45E9-B12A-5845451D5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E647F113-49A2-4629-AB14-D2567EA67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9B88B46F-3D74-4A5B-8631-C07BB9850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Tools change the threat model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29AB4474-131E-4A0E-9789-B676B57B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A model that only produces text has limited direct effect; an agent can send messages, execute code, modify files, or make transactions. Autonomy may remove per-step review, and untrusted web pages, documents, emails, and tool results enter the same context as instructions.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D1BF49F2-B684-421C-B6D6-447F6125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F67211E4-D132-4099-AD98-9E1D37ED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The model proposes; the runtime authorizes.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Real-world effects require stronger controls than content generation.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Consequential actions need explicit policy and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0327812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A6C5944-CB4B-47CD-AC6D-5DB13352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EF01C7FE-5049-412F-98AE-BBB7F60FF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02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5B8585A1-349F-46FA-814B-D53068D4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7E7C9A24-8D6A-496F-913C-8B149B4F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DC78B8D7-1A2B-4A20-9CA0-3755F786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Security and responsible AI overlap but are distinct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9B4D4F3D-9C2D-4E88-9697-0A74D79B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Security addresses adversaries exploiting the agent through prompt injection, tool misuse, data exfiltration, memory poisoning, and excessive agency. Responsible AI addresses harmful, biased, toxic, false, or otherwise unsafe outputs.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F21A4E06-539D-4A54-8B75-502E922C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16764B65-CB43-42E5-B7BD-B8800AB8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Least privilege and sandboxing reduce adversarial impact.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DC653FE1-5136-428C-A008-7D9DC67A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6C32594B-89ED-4B72-8B1E-CC60751F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57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Alignment and content filters reduce harmful output.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652114E5-7931-4FFF-843E-34838E1A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048125"/>
            <a:ext cx="34353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6320433A-EB5A-4FD2-B405-95680E6B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625" y="4324350"/>
            <a:ext cx="34353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 jailbreak can connect the two categories.</a:t>
            </a:r>
          </a:p>
        </p:txBody>
      </p:sp>
    </p:spTree>
    <p:extLst>
      <p:ext uri="{BB962C8B-B14F-4D97-AF65-F5344CB8AC3E}">
        <p14:creationId xmlns:p14="http://schemas.microsoft.com/office/powerpoint/2010/main" val="21031574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9812493-7EA8-4C79-9D93-AF33EE379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AFEACC4D-2ABD-42FA-A286-6CF73940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03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F8A141B9-120C-425A-AA21-003775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C8A9082E-E2E8-4C62-AF27-B5616712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6EEFD74B-1401-4A85-B820-CE6F7B05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556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injection exploits the shared instruction-data channel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1B5CCB30-8EAD-4384-B892-033295C1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Direct injection is supplied by a user. Indirect injection is hidden in content the agent retrieves. Because instructions and data enter the same context, the model may follow malicious text as if it were authorized guidance.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BC95651F-81E2-4B1A-B44C-3BF8A073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F645AB02-06C7-4987-888E-790803E1D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Indirect attacks require only control of content the agent reads.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Tool results must never automatically become trusted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There is no complete prompt-only fix.</a:t>
            </a:r>
          </a:p>
        </p:txBody>
      </p:sp>
    </p:spTree>
    <p:extLst>
      <p:ext uri="{BB962C8B-B14F-4D97-AF65-F5344CB8AC3E}">
        <p14:creationId xmlns:p14="http://schemas.microsoft.com/office/powerpoint/2010/main" val="7703694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B9BDC283-33DB-414E-AEA8-2C4FFFFC0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95252702-D525-4DE8-BEE7-F3FDDDD55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04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2B6F665-004B-484A-8CCD-B4C8F8CD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A8339303-AAD4-4904-96D8-128E9C48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B08D93DB-7AA4-404A-A8CC-40FD93B35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Excessive agency amplifies every successful exploit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E671F744-E55A-4443-93CD-43895CBA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An injected instruction inherits the agent's available tools and credentials. Too many tools, broad scopes, persistent secrets, and unreviewed autonomy increase maximum harm.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D8E0E9B4-82CA-4E67-ADCB-2F879D1A6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890A1B48-01AF-40A5-99E2-E273DE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Grant minimum tools and scopes.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A14C8CF2-7B70-437D-9431-3D60C9E3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ECE96476-54EC-4E42-A900-421B6BAD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Default to read-only and short-lived credentials.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84830839-D667-42DE-95FF-6F83EBDF2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6055CCE8-801C-4DCA-A2E3-F10E592B1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Bound actions, time, spend, and network access.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B9D20111-6EE4-4C84-9CCA-1F32010AA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162F318C-5409-4FBB-9329-DBE288919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Require confirmation for destructive or irreversible operations.</a:t>
            </a:r>
          </a:p>
        </p:txBody>
      </p:sp>
    </p:spTree>
    <p:extLst>
      <p:ext uri="{BB962C8B-B14F-4D97-AF65-F5344CB8AC3E}">
        <p14:creationId xmlns:p14="http://schemas.microsoft.com/office/powerpoint/2010/main" val="81190828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ccent-line">
            <a:extLst xmlns:a="http://schemas.openxmlformats.org/drawingml/2006/main">
              <a:ext uri="{FF2B5EF4-FFF2-40B4-BE49-F238E27FC236}">
                <a16:creationId xmlns:a16="http://schemas.microsoft.com/office/drawing/2014/main" id="{3E5DE213-3582-4F46-89E2-7E97653B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24E56B25-DF9A-4EEB-B68D-F5CA59E4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05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27DB078-66D3-48B0-9AB7-808CA64B2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947BEC41-DA3C-4FB3-A211-C4698B18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B490DF4-3365-4599-A60D-55278616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71550"/>
            <a:ext cx="111442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Defense-in-depth must be structural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619C3EC2-5509-46FA-AFAD-4A8ECC361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4524375" cy="2905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Input validation, untrusted-content quarantine, tool-call policy, sandboxing, output filtering, monitoring, and human approval provide independent layers. A guardrail prompt or guardrail model can be fooled and therefore cannot be the sole defense.</a:t>
            </a:r>
          </a:p>
        </p:txBody>
      </p:sp>
      <p:sp>
        <p:nvSpPr>
          <p:cNvPr id="7" name="column-rule">
            <a:extLst xmlns:a="http://schemas.openxmlformats.org/drawingml/2006/main">
              <a:ext uri="{FF2B5EF4-FFF2-40B4-BE49-F238E27FC236}">
                <a16:creationId xmlns:a16="http://schemas.microsoft.com/office/drawing/2014/main" id="{9AE88D44-7C2D-44D6-B43B-D3A161E16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343150"/>
            <a:ext cx="47625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section-points">
            <a:extLst xmlns:a="http://schemas.openxmlformats.org/drawingml/2006/main">
              <a:ext uri="{FF2B5EF4-FFF2-40B4-BE49-F238E27FC236}">
                <a16:creationId xmlns:a16="http://schemas.microsoft.com/office/drawing/2014/main" id="{3C92CC7E-6994-4F85-A6AE-DF0660F31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43150"/>
            <a:ext cx="5572125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01  Validate before the model and again before tool execution.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02  Separate trusted control data from retrieved content.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03  Sanitize tool output before execution or rendering.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04  Log and detect abnormal trajectories.</a:t>
            </a:r>
          </a:p>
        </p:txBody>
      </p:sp>
    </p:spTree>
    <p:extLst>
      <p:ext uri="{BB962C8B-B14F-4D97-AF65-F5344CB8AC3E}">
        <p14:creationId xmlns:p14="http://schemas.microsoft.com/office/powerpoint/2010/main" val="10355423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cent-line">
            <a:extLst xmlns:a="http://schemas.openxmlformats.org/drawingml/2006/main">
              <a:ext uri="{FF2B5EF4-FFF2-40B4-BE49-F238E27FC236}">
                <a16:creationId xmlns:a16="http://schemas.microsoft.com/office/drawing/2014/main" id="{4BE00236-3F1B-46DE-9630-D0C98FCC7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6F2F7126-E442-427E-9254-5790BE3C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CORE IDEA 06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FCC1F01-8C18-45CC-BDAA-FAD41BA8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C2001743-6A0A-49FA-B3B9-5FF7E5A4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section-title">
            <a:extLst xmlns:a="http://schemas.openxmlformats.org/drawingml/2006/main">
              <a:ext uri="{FF2B5EF4-FFF2-40B4-BE49-F238E27FC236}">
                <a16:creationId xmlns:a16="http://schemas.microsoft.com/office/drawing/2014/main" id="{0E17653F-13E4-4F29-A252-0250818A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00125"/>
            <a:ext cx="11144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9081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0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Responsible output needs training-time and runtime controls</a:t>
            </a:r>
          </a:p>
        </p:txBody>
      </p:sp>
      <p:sp>
        <p:nvSpPr>
          <p:cNvPr id="6" name="section-explanation">
            <a:extLst xmlns:a="http://schemas.openxmlformats.org/drawingml/2006/main">
              <a:ext uri="{FF2B5EF4-FFF2-40B4-BE49-F238E27FC236}">
                <a16:creationId xmlns:a16="http://schemas.microsoft.com/office/drawing/2014/main" id="{210E945B-DAE9-41EB-916A-FF4D85CF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43125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Bias and toxicity can originate in web-scale training data; alignment methods such as RLHF and DPO shape preferred behavior. Runtime classifiers and guardrails screen inputs and outputs. Hallucination requires grounding, citations, abstention, and verification.</a:t>
            </a:r>
          </a:p>
        </p:txBody>
      </p:sp>
      <p:sp>
        <p:nvSpPr>
          <p:cNvPr id="7" name="point-band-1">
            <a:extLst xmlns:a="http://schemas.openxmlformats.org/drawingml/2006/main">
              <a:ext uri="{FF2B5EF4-FFF2-40B4-BE49-F238E27FC236}">
                <a16:creationId xmlns:a16="http://schemas.microsoft.com/office/drawing/2014/main" id="{70DFF5F7-9B21-451B-BDFA-DD2A6F72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8" name="point-1">
            <a:extLst xmlns:a="http://schemas.openxmlformats.org/drawingml/2006/main">
              <a:ext uri="{FF2B5EF4-FFF2-40B4-BE49-F238E27FC236}">
                <a16:creationId xmlns:a16="http://schemas.microsoft.com/office/drawing/2014/main" id="{F1B7A4E0-BF60-4F5A-ACDB-7D11F8C1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Measure toxicity and bias rather than assuming alignment solved them.</a:t>
            </a:r>
          </a:p>
        </p:txBody>
      </p:sp>
      <p:sp>
        <p:nvSpPr>
          <p:cNvPr id="9" name="point-band-2">
            <a:extLst xmlns:a="http://schemas.openxmlformats.org/drawingml/2006/main">
              <a:ext uri="{FF2B5EF4-FFF2-40B4-BE49-F238E27FC236}">
                <a16:creationId xmlns:a16="http://schemas.microsoft.com/office/drawing/2014/main" id="{9EC97490-2C81-49CE-A5D8-8311A7F79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0" name="point-2">
            <a:extLst xmlns:a="http://schemas.openxmlformats.org/drawingml/2006/main">
              <a:ext uri="{FF2B5EF4-FFF2-40B4-BE49-F238E27FC236}">
                <a16:creationId xmlns:a16="http://schemas.microsoft.com/office/drawing/2014/main" id="{71128A16-1C4B-473E-A8B3-03107B9C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Use RAG and tools for factual grounding.</a:t>
            </a:r>
          </a:p>
        </p:txBody>
      </p:sp>
      <p:sp>
        <p:nvSpPr>
          <p:cNvPr id="11" name="point-band-3">
            <a:extLst xmlns:a="http://schemas.openxmlformats.org/drawingml/2006/main">
              <a:ext uri="{FF2B5EF4-FFF2-40B4-BE49-F238E27FC236}">
                <a16:creationId xmlns:a16="http://schemas.microsoft.com/office/drawing/2014/main" id="{81AC98E5-C3C9-4B77-B5C5-6AF1A0FB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2" name="point-3">
            <a:extLst xmlns:a="http://schemas.openxmlformats.org/drawingml/2006/main">
              <a:ext uri="{FF2B5EF4-FFF2-40B4-BE49-F238E27FC236}">
                <a16:creationId xmlns:a16="http://schemas.microsoft.com/office/drawing/2014/main" id="{6C93D891-1063-4373-9A36-CE16E116E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Apply safety controls across MCP servers and A2A delegation.</a:t>
            </a:r>
          </a:p>
        </p:txBody>
      </p:sp>
      <p:sp>
        <p:nvSpPr>
          <p:cNvPr id="13" name="point-band-4">
            <a:extLst xmlns:a="http://schemas.openxmlformats.org/drawingml/2006/main">
              <a:ext uri="{FF2B5EF4-FFF2-40B4-BE49-F238E27FC236}">
                <a16:creationId xmlns:a16="http://schemas.microsoft.com/office/drawing/2014/main" id="{4FA86DA0-C2C5-44FB-8008-3D1BE88E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048125"/>
            <a:ext cx="2509838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14" name="point-4">
            <a:extLst xmlns:a="http://schemas.openxmlformats.org/drawingml/2006/main">
              <a:ext uri="{FF2B5EF4-FFF2-40B4-BE49-F238E27FC236}">
                <a16:creationId xmlns:a16="http://schemas.microsoft.com/office/drawing/2014/main" id="{14B048A3-A881-4415-8F2A-D3E8B970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4324350"/>
            <a:ext cx="2509838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Include injection and disallowed-action cases in evaluation.</a:t>
            </a:r>
          </a:p>
        </p:txBody>
      </p:sp>
    </p:spTree>
    <p:extLst>
      <p:ext uri="{BB962C8B-B14F-4D97-AF65-F5344CB8AC3E}">
        <p14:creationId xmlns:p14="http://schemas.microsoft.com/office/powerpoint/2010/main" val="123747674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cent-line">
            <a:extLst xmlns:a="http://schemas.openxmlformats.org/drawingml/2006/main">
              <a:ext uri="{FF2B5EF4-FFF2-40B4-BE49-F238E27FC236}">
                <a16:creationId xmlns:a16="http://schemas.microsoft.com/office/drawing/2014/main" id="{96C22441-8EEE-4087-9F59-4E65E876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1E811296-5BAC-40E2-A448-442A7A36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EXAM CHECK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273B2290-B12F-4A41-BCDB-75FC3043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AF86FA8F-B8AB-4F91-91A5-2075A8F58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exam-title">
            <a:extLst xmlns:a="http://schemas.openxmlformats.org/drawingml/2006/main">
              <a:ext uri="{FF2B5EF4-FFF2-40B4-BE49-F238E27FC236}">
                <a16:creationId xmlns:a16="http://schemas.microsoft.com/office/drawing/2014/main" id="{C42D1D26-C04D-4C45-A81D-61441E26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81075"/>
            <a:ext cx="1066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Can you answer these without notes?</a:t>
            </a:r>
          </a:p>
        </p:txBody>
      </p:sp>
      <p:sp>
        <p:nvSpPr>
          <p:cNvPr id="6" name="exam-number-1">
            <a:extLst xmlns:a="http://schemas.openxmlformats.org/drawingml/2006/main">
              <a:ext uri="{FF2B5EF4-FFF2-40B4-BE49-F238E27FC236}">
                <a16:creationId xmlns:a16="http://schemas.microsoft.com/office/drawing/2014/main" id="{09438F82-5F55-4DE0-85E4-B586C18F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exam-question-1">
            <a:extLst xmlns:a="http://schemas.openxmlformats.org/drawingml/2006/main">
              <a:ext uri="{FF2B5EF4-FFF2-40B4-BE49-F238E27FC236}">
                <a16:creationId xmlns:a16="http://schemas.microsoft.com/office/drawing/2014/main" id="{C84D2F7E-F9C8-4B84-B338-939E69C8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Why does agent action raise the stakes compared with a chatbot?</a:t>
            </a:r>
          </a:p>
        </p:txBody>
      </p:sp>
      <p:sp>
        <p:nvSpPr>
          <p:cNvPr id="8" name="exam-number-2">
            <a:extLst xmlns:a="http://schemas.openxmlformats.org/drawingml/2006/main">
              <a:ext uri="{FF2B5EF4-FFF2-40B4-BE49-F238E27FC236}">
                <a16:creationId xmlns:a16="http://schemas.microsoft.com/office/drawing/2014/main" id="{6291F542-02FE-42AC-B7A0-C6AA5FC62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383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exam-question-2">
            <a:extLst xmlns:a="http://schemas.openxmlformats.org/drawingml/2006/main">
              <a:ext uri="{FF2B5EF4-FFF2-40B4-BE49-F238E27FC236}">
                <a16:creationId xmlns:a16="http://schemas.microsoft.com/office/drawing/2014/main" id="{B3CEB98F-657D-478A-8557-E65DE25C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2383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Differentiate security risks and responsible-AI harms.</a:t>
            </a:r>
          </a:p>
        </p:txBody>
      </p:sp>
      <p:sp>
        <p:nvSpPr>
          <p:cNvPr id="10" name="exam-number-3">
            <a:extLst xmlns:a="http://schemas.openxmlformats.org/drawingml/2006/main">
              <a:ext uri="{FF2B5EF4-FFF2-40B4-BE49-F238E27FC236}">
                <a16:creationId xmlns:a16="http://schemas.microsoft.com/office/drawing/2014/main" id="{236A9CB3-475F-41D3-988A-C2BE9E0D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exam-question-3">
            <a:extLst xmlns:a="http://schemas.openxmlformats.org/drawingml/2006/main">
              <a:ext uri="{FF2B5EF4-FFF2-40B4-BE49-F238E27FC236}">
                <a16:creationId xmlns:a16="http://schemas.microsoft.com/office/drawing/2014/main" id="{2CC6A180-D634-40FE-A813-6A9959FC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Compare direct and indirect prompt injection.</a:t>
            </a:r>
          </a:p>
        </p:txBody>
      </p:sp>
      <p:sp>
        <p:nvSpPr>
          <p:cNvPr id="12" name="exam-number-4">
            <a:extLst xmlns:a="http://schemas.openxmlformats.org/drawingml/2006/main">
              <a:ext uri="{FF2B5EF4-FFF2-40B4-BE49-F238E27FC236}">
                <a16:creationId xmlns:a16="http://schemas.microsoft.com/office/drawing/2014/main" id="{218A455E-2424-4256-A911-D78A6375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956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exam-question-4">
            <a:extLst xmlns:a="http://schemas.openxmlformats.org/drawingml/2006/main">
              <a:ext uri="{FF2B5EF4-FFF2-40B4-BE49-F238E27FC236}">
                <a16:creationId xmlns:a16="http://schemas.microsoft.com/office/drawing/2014/main" id="{301BE8A7-2613-4C4F-AAA5-AC815794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956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is excessive agency and how is it mitigated?</a:t>
            </a:r>
          </a:p>
        </p:txBody>
      </p:sp>
      <p:sp>
        <p:nvSpPr>
          <p:cNvPr id="14" name="exam-number-5">
            <a:extLst xmlns:a="http://schemas.openxmlformats.org/drawingml/2006/main">
              <a:ext uri="{FF2B5EF4-FFF2-40B4-BE49-F238E27FC236}">
                <a16:creationId xmlns:a16="http://schemas.microsoft.com/office/drawing/2014/main" id="{18498594-1604-40F8-A822-265D6F1A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15" name="exam-question-5">
            <a:extLst xmlns:a="http://schemas.openxmlformats.org/drawingml/2006/main">
              <a:ext uri="{FF2B5EF4-FFF2-40B4-BE49-F238E27FC236}">
                <a16:creationId xmlns:a16="http://schemas.microsoft.com/office/drawing/2014/main" id="{8AC5865F-16FD-4F84-8E38-BDD7A479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Design a defense-in-depth stack for a tool-using agent.</a:t>
            </a:r>
          </a:p>
        </p:txBody>
      </p:sp>
      <p:sp>
        <p:nvSpPr>
          <p:cNvPr id="16" name="exam-number-6">
            <a:extLst xmlns:a="http://schemas.openxmlformats.org/drawingml/2006/main">
              <a:ext uri="{FF2B5EF4-FFF2-40B4-BE49-F238E27FC236}">
                <a16:creationId xmlns:a16="http://schemas.microsoft.com/office/drawing/2014/main" id="{0BEE48E3-9B64-4F5B-98B8-A65B965BA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52975"/>
            <a:ext cx="590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17" name="exam-question-6">
            <a:extLst xmlns:a="http://schemas.openxmlformats.org/drawingml/2006/main">
              <a:ext uri="{FF2B5EF4-FFF2-40B4-BE49-F238E27FC236}">
                <a16:creationId xmlns:a16="http://schemas.microsoft.com/office/drawing/2014/main" id="{C106B5F1-4E2E-4CE5-A65F-345A9972F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752975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How should hallucination and toxic output be mitigated and tested?</a:t>
            </a:r>
          </a:p>
        </p:txBody>
      </p:sp>
    </p:spTree>
    <p:extLst>
      <p:ext uri="{BB962C8B-B14F-4D97-AF65-F5344CB8AC3E}">
        <p14:creationId xmlns:p14="http://schemas.microsoft.com/office/powerpoint/2010/main" val="32508308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7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cent-line">
            <a:extLst xmlns:a="http://schemas.openxmlformats.org/drawingml/2006/main">
              <a:ext uri="{FF2B5EF4-FFF2-40B4-BE49-F238E27FC236}">
                <a16:creationId xmlns:a16="http://schemas.microsoft.com/office/drawing/2014/main" id="{D422151D-3E0A-40EF-83E1-94FCC4873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4800"/>
            <a:ext cx="114109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A1FF"/>
          </a:solidFill>
          <a:ln xmlns:a="http://schemas.openxmlformats.org/drawingml/2006/main" w="0">
            <a:solidFill>
              <a:srgbClr val="C4A1FF"/>
            </a:solidFill>
            <a:prstDash val="solid"/>
          </a:ln>
        </p:spPr>
      </p:sp>
      <p:sp>
        <p:nvSpPr>
          <p:cNvPr id="2" name="chapter-label">
            <a:extLst xmlns:a="http://schemas.openxmlformats.org/drawingml/2006/main">
              <a:ext uri="{FF2B5EF4-FFF2-40B4-BE49-F238E27FC236}">
                <a16:creationId xmlns:a16="http://schemas.microsoft.com/office/drawing/2014/main" id="{F7728947-358A-4181-B0A5-B7443F7E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66725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CHAPTER SYNTHESIS  /  12</a:t>
            </a:r>
          </a:p>
        </p:txBody>
      </p:sp>
      <p:sp>
        <p:nvSpPr>
          <p:cNvPr id="3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2DFA4F4-CB94-4EA4-8738-B46CDC82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4" name="chapter-footer">
            <a:extLst xmlns:a="http://schemas.openxmlformats.org/drawingml/2006/main">
              <a:ext uri="{FF2B5EF4-FFF2-40B4-BE49-F238E27FC236}">
                <a16:creationId xmlns:a16="http://schemas.microsoft.com/office/drawing/2014/main" id="{8EC9B8E8-AE6A-4271-9361-340383F8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8650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B5B57"/>
                </a:solidFill>
                <a:latin typeface="Helvetica Neue"/>
                <a:ea typeface="Helvetica Neue"/>
                <a:cs typeface="Helvetica Neue"/>
              </a:rPr>
              <a:t>Safety and Security</a:t>
            </a:r>
          </a:p>
        </p:txBody>
      </p:sp>
      <p:sp>
        <p:nvSpPr>
          <p:cNvPr id="5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B701A4F5-AA8A-4F07-8980-DE06012F3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047750"/>
            <a:ext cx="10287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What must remain after the details fade</a:t>
            </a:r>
          </a:p>
        </p:txBody>
      </p:sp>
      <p:sp>
        <p:nvSpPr>
          <p:cNvPr id="6" name="takeaway-number-1">
            <a:extLst xmlns:a="http://schemas.openxmlformats.org/drawingml/2006/main">
              <a:ext uri="{FF2B5EF4-FFF2-40B4-BE49-F238E27FC236}">
                <a16:creationId xmlns:a16="http://schemas.microsoft.com/office/drawing/2014/main" id="{B158D060-75EB-4EEC-A0E6-6E305ED21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336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7" name="takeaway-1">
            <a:extLst xmlns:a="http://schemas.openxmlformats.org/drawingml/2006/main">
              <a:ext uri="{FF2B5EF4-FFF2-40B4-BE49-F238E27FC236}">
                <a16:creationId xmlns:a16="http://schemas.microsoft.com/office/drawing/2014/main" id="{35F8FC3B-30D6-4F17-B849-D8B85136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3145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Action moves safety enforcement into code and infrastructure.</a:t>
            </a:r>
          </a:p>
        </p:txBody>
      </p:sp>
      <p:sp>
        <p:nvSpPr>
          <p:cNvPr id="8" name="takeaway-number-2">
            <a:extLst xmlns:a="http://schemas.openxmlformats.org/drawingml/2006/main">
              <a:ext uri="{FF2B5EF4-FFF2-40B4-BE49-F238E27FC236}">
                <a16:creationId xmlns:a16="http://schemas.microsoft.com/office/drawing/2014/main" id="{39557B8B-384E-402E-A2A0-70F19492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99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akeaway-2">
            <a:extLst xmlns:a="http://schemas.openxmlformats.org/drawingml/2006/main">
              <a:ext uri="{FF2B5EF4-FFF2-40B4-BE49-F238E27FC236}">
                <a16:creationId xmlns:a16="http://schemas.microsoft.com/office/drawing/2014/main" id="{C1228EB1-E5A0-4301-A87C-F8275042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908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Prompt injection cannot be solved by a stronger prompt alone.</a:t>
            </a:r>
          </a:p>
        </p:txBody>
      </p:sp>
      <p:sp>
        <p:nvSpPr>
          <p:cNvPr id="10" name="takeaway-number-3">
            <a:extLst xmlns:a="http://schemas.openxmlformats.org/drawingml/2006/main">
              <a:ext uri="{FF2B5EF4-FFF2-40B4-BE49-F238E27FC236}">
                <a16:creationId xmlns:a16="http://schemas.microsoft.com/office/drawing/2014/main" id="{14322785-B2FE-4D0D-8E58-58BC217F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0862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1" name="takeaway-3">
            <a:extLst xmlns:a="http://schemas.openxmlformats.org/drawingml/2006/main">
              <a:ext uri="{FF2B5EF4-FFF2-40B4-BE49-F238E27FC236}">
                <a16:creationId xmlns:a16="http://schemas.microsoft.com/office/drawing/2014/main" id="{75FFE8A1-D138-4B9A-A688-9218FCF20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671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Least privilege limits blast radius.</a:t>
            </a:r>
          </a:p>
        </p:txBody>
      </p:sp>
      <p:sp>
        <p:nvSpPr>
          <p:cNvPr id="12" name="takeaway-number-4">
            <a:extLst xmlns:a="http://schemas.openxmlformats.org/drawingml/2006/main">
              <a:ext uri="{FF2B5EF4-FFF2-40B4-BE49-F238E27FC236}">
                <a16:creationId xmlns:a16="http://schemas.microsoft.com/office/drawing/2014/main" id="{B48A00E1-3799-4CBB-98BA-4F3535ACD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962525"/>
            <a:ext cx="704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C4A1F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3" name="takeaway-4">
            <a:extLst xmlns:a="http://schemas.openxmlformats.org/drawingml/2006/main">
              <a:ext uri="{FF2B5EF4-FFF2-40B4-BE49-F238E27FC236}">
                <a16:creationId xmlns:a16="http://schemas.microsoft.com/office/drawing/2014/main" id="{BB0648FE-0A80-4F9D-A8E0-6227EA125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9434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Security, responsible AI, evaluation, and observability must work together.</a:t>
            </a:r>
          </a:p>
        </p:txBody>
      </p:sp>
    </p:spTree>
    <p:extLst>
      <p:ext uri="{BB962C8B-B14F-4D97-AF65-F5344CB8AC3E}">
        <p14:creationId xmlns:p14="http://schemas.microsoft.com/office/powerpoint/2010/main" val="87349858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2026-07-27T18:05:41.4710000Z</dcterms:created>
  <dcterms:modified xsi:type="dcterms:W3CDTF">2026-07-27T18:05:41.4710000Z</dcterms:modified>
</coreProperties>
</file>