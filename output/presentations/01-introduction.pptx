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6953bbe1964f61" /><Relationship Type="http://schemas.openxmlformats.org/officeDocument/2006/relationships/extended-properties" Target="/docProps/app.xml" Id="R2783c611fd1c40c1" /><Relationship Type="http://schemas.openxmlformats.org/officeDocument/2006/relationships/officeDocument" Target="/ppt/presentation.xml" Id="Rb036651102804c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3ab90428e4486"/>
  </p:sldMasterIdLst>
  <p:notesMasterIdLst>
    <p:notesMasterId xmlns:r="http://schemas.openxmlformats.org/officeDocument/2006/relationships" r:id="R971489de992b471b"/>
  </p:notesMasterIdLst>
  <p:sldIdLst>
    <p:sldId xmlns:r="http://schemas.openxmlformats.org/officeDocument/2006/relationships" id="256" r:id="Rf6a3304ec2484e99"/>
    <p:sldId xmlns:r="http://schemas.openxmlformats.org/officeDocument/2006/relationships" id="257" r:id="R583ac9cce1514f72"/>
    <p:sldId xmlns:r="http://schemas.openxmlformats.org/officeDocument/2006/relationships" id="258" r:id="R0dfbd5e732744d18"/>
    <p:sldId xmlns:r="http://schemas.openxmlformats.org/officeDocument/2006/relationships" id="259" r:id="R8e9a994e20934c15"/>
    <p:sldId xmlns:r="http://schemas.openxmlformats.org/officeDocument/2006/relationships" id="260" r:id="R1a06107fb3d0442f"/>
    <p:sldId xmlns:r="http://schemas.openxmlformats.org/officeDocument/2006/relationships" id="261" r:id="Rdc23304d070f4ee0"/>
    <p:sldId xmlns:r="http://schemas.openxmlformats.org/officeDocument/2006/relationships" id="262" r:id="R1074b7c174f34c2f"/>
    <p:sldId xmlns:r="http://schemas.openxmlformats.org/officeDocument/2006/relationships" id="263" r:id="R5ae5a22f819d4e0c"/>
    <p:sldId xmlns:r="http://schemas.openxmlformats.org/officeDocument/2006/relationships" id="264" r:id="Rad2b36f98f5d48bc"/>
    <p:sldId xmlns:r="http://schemas.openxmlformats.org/officeDocument/2006/relationships" id="265" r:id="Rfd56fc99bed048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8243b24ba74572" /><Relationship Type="http://schemas.openxmlformats.org/officeDocument/2006/relationships/slideMaster" Target="/ppt/slideMasters/slideMaster1.xml" Id="R75d3ab90428e4486" /><Relationship Type="http://schemas.openxmlformats.org/officeDocument/2006/relationships/notesMaster" Target="/ppt/notesMasters/notesMaster1.xml" Id="R971489de992b471b" /><Relationship Type="http://schemas.openxmlformats.org/officeDocument/2006/relationships/presProps" Target="/ppt/presProps.xml" Id="R88821e1c162a4868" /><Relationship Type="http://schemas.openxmlformats.org/officeDocument/2006/relationships/tableStyles" Target="/ppt/tableStyles.xml" Id="Rb543796bac6b4f90" /><Relationship Type="http://schemas.openxmlformats.org/officeDocument/2006/relationships/slide" Target="/ppt/slides/slide1.xml" Id="Rf6a3304ec2484e99" /><Relationship Type="http://schemas.openxmlformats.org/officeDocument/2006/relationships/slide" Target="/ppt/slides/slide2.xml" Id="R583ac9cce1514f72" /><Relationship Type="http://schemas.openxmlformats.org/officeDocument/2006/relationships/slide" Target="/ppt/slides/slide3.xml" Id="R0dfbd5e732744d18" /><Relationship Type="http://schemas.openxmlformats.org/officeDocument/2006/relationships/slide" Target="/ppt/slides/slide4.xml" Id="R8e9a994e20934c15" /><Relationship Type="http://schemas.openxmlformats.org/officeDocument/2006/relationships/slide" Target="/ppt/slides/slide5.xml" Id="R1a06107fb3d0442f" /><Relationship Type="http://schemas.openxmlformats.org/officeDocument/2006/relationships/slide" Target="/ppt/slides/slide6.xml" Id="Rdc23304d070f4ee0" /><Relationship Type="http://schemas.openxmlformats.org/officeDocument/2006/relationships/slide" Target="/ppt/slides/slide7.xml" Id="R1074b7c174f34c2f" /><Relationship Type="http://schemas.openxmlformats.org/officeDocument/2006/relationships/slide" Target="/ppt/slides/slide8.xml" Id="R5ae5a22f819d4e0c" /><Relationship Type="http://schemas.openxmlformats.org/officeDocument/2006/relationships/slide" Target="/ppt/slides/slide9.xml" Id="Rad2b36f98f5d48bc" /><Relationship Type="http://schemas.openxmlformats.org/officeDocument/2006/relationships/slide" Target="/ppt/slides/slide10.xml" Id="Rfd56fc99bed048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79434708b741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efbd5adf6a4001" /><Relationship Type="http://schemas.openxmlformats.org/officeDocument/2006/relationships/notesMaster" Target="/ppt/notesMasters/notesMaster1.xml" Id="R46ce8af3908745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9d7a8db41b432d" /><Relationship Type="http://schemas.openxmlformats.org/officeDocument/2006/relationships/notesMaster" Target="/ppt/notesMasters/notesMaster1.xml" Id="R24c4f128647f4e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02c3bb53f0453f" /><Relationship Type="http://schemas.openxmlformats.org/officeDocument/2006/relationships/notesMaster" Target="/ppt/notesMasters/notesMaster1.xml" Id="R59da18a86e3448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998db93af249cb" /><Relationship Type="http://schemas.openxmlformats.org/officeDocument/2006/relationships/notesMaster" Target="/ppt/notesMasters/notesMaster1.xml" Id="Rb42ac4cb316d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9d5f24290744bf" /><Relationship Type="http://schemas.openxmlformats.org/officeDocument/2006/relationships/notesMaster" Target="/ppt/notesMasters/notesMaster1.xml" Id="Rb36d2d1f463f4b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6b8af48a674234" /><Relationship Type="http://schemas.openxmlformats.org/officeDocument/2006/relationships/notesMaster" Target="/ppt/notesMasters/notesMaster1.xml" Id="R93ce4514d1f74b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bedffa479a41a9" /><Relationship Type="http://schemas.openxmlformats.org/officeDocument/2006/relationships/notesMaster" Target="/ppt/notesMasters/notesMaster1.xml" Id="R73453aab8f7e40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9e6bced8104401" /><Relationship Type="http://schemas.openxmlformats.org/officeDocument/2006/relationships/notesMaster" Target="/ppt/notesMasters/notesMaster1.xml" Id="R295d077ae83f4a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2eebf37216450b" /><Relationship Type="http://schemas.openxmlformats.org/officeDocument/2006/relationships/notesMaster" Target="/ppt/notesMasters/notesMaster1.xml" Id="Rbd94651b9d6846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0fd153d5e14e97" /><Relationship Type="http://schemas.openxmlformats.org/officeDocument/2006/relationships/notesMaster" Target="/ppt/notesMasters/notesMaster1.xml" Id="Rd0743156524d4d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chapter thesis and connect it to the previous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01-introduction.pdf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objectives as an advance organizer and as a checklist after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01-introduction.pdf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01-introduction.pdf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01-introduction.pdf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01-introduction.pdf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01-introduction.pdf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01-introduction.pdf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01-introduction.pdf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as retrieval practice. Ask for an answer that defines, compares, traces, and evaluates.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01-introduction.pdf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four durable ideas and linking forward to the next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01-introduction.pdf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03a650e764e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acddec87664579" /><Relationship Type="http://schemas.openxmlformats.org/officeDocument/2006/relationships/slideLayout" Target="/ppt/slideLayouts/slideLayout1.xml" Id="R38a1136c791345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a1136c791345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4e5d3b8e8467a" /><Relationship Type="http://schemas.openxmlformats.org/officeDocument/2006/relationships/notesSlide" Target="/ppt/notesSlides/notesSlide1.xml" Id="R7f4f27e078da4b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63189164045f9" /><Relationship Type="http://schemas.openxmlformats.org/officeDocument/2006/relationships/notesSlide" Target="/ppt/notesSlides/notesSlide2.xml" Id="R61be8c30086a47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eb390209f47a6" /><Relationship Type="http://schemas.openxmlformats.org/officeDocument/2006/relationships/notesSlide" Target="/ppt/notesSlides/notesSlide3.xml" Id="R778e83c4805d4c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1c8f292ab4d42" /><Relationship Type="http://schemas.openxmlformats.org/officeDocument/2006/relationships/notesSlide" Target="/ppt/notesSlides/notesSlide4.xml" Id="R1741c0b6203c48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cd05143834193" /><Relationship Type="http://schemas.openxmlformats.org/officeDocument/2006/relationships/notesSlide" Target="/ppt/notesSlides/notesSlide5.xml" Id="Ra7d6ad34ee154f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4426542d447a6" /><Relationship Type="http://schemas.openxmlformats.org/officeDocument/2006/relationships/notesSlide" Target="/ppt/notesSlides/notesSlide6.xml" Id="R5afa8709e6494c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776ad6fe4416a" /><Relationship Type="http://schemas.openxmlformats.org/officeDocument/2006/relationships/notesSlide" Target="/ppt/notesSlides/notesSlide7.xml" Id="R9b661f67a66947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4c2c8dc1a4c75" /><Relationship Type="http://schemas.openxmlformats.org/officeDocument/2006/relationships/notesSlide" Target="/ppt/notesSlides/notesSlide8.xml" Id="Rd2f58c0137d541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e840f6d9a4ffb" /><Relationship Type="http://schemas.openxmlformats.org/officeDocument/2006/relationships/notesSlide" Target="/ppt/notesSlides/notesSlide9.xml" Id="R0e4c91a8640948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667b40fa046b3" /><Relationship Type="http://schemas.openxmlformats.org/officeDocument/2006/relationships/notesSlide" Target="/ppt/notesSlides/notesSlide10.xml" Id="R409c942a412245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540DDA7-0850-4006-856F-7FDC00E9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ourse-title">
            <a:extLst xmlns:a="http://schemas.openxmlformats.org/drawingml/2006/main">
              <a:ext uri="{FF2B5EF4-FFF2-40B4-BE49-F238E27FC236}">
                <a16:creationId xmlns:a16="http://schemas.microsoft.com/office/drawing/2014/main" id="{1656617E-C188-4B98-8D0A-26BF2EA7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AGENTIC AI</a:t>
            </a:r>
          </a:p>
        </p:txBody>
      </p:sp>
      <p:sp>
        <p:nvSpPr>
          <p:cNvPr id="3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CA38835F-EF95-42D4-A9A0-DB558663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19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CA42DB0C-ED51-4E68-97F6-7382FAD7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9858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From Language Models to Agents</a:t>
            </a:r>
          </a:p>
        </p:txBody>
      </p:sp>
      <p:sp>
        <p:nvSpPr>
          <p:cNvPr id="5" name="deck-thesis">
            <a:extLst xmlns:a="http://schemas.openxmlformats.org/drawingml/2006/main">
              <a:ext uri="{FF2B5EF4-FFF2-40B4-BE49-F238E27FC236}">
                <a16:creationId xmlns:a16="http://schemas.microsoft.com/office/drawing/2014/main" id="{34D09455-83F7-4A30-A91F-04FCB75F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8524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Agency appears when an LLM is placed inside a bounded loop with tools, memory, and control logic.</a:t>
            </a:r>
          </a:p>
        </p:txBody>
      </p:sp>
      <p:sp>
        <p:nvSpPr>
          <p:cNvPr id="6" name="title-marker">
            <a:extLst xmlns:a="http://schemas.openxmlformats.org/drawingml/2006/main">
              <a:ext uri="{FF2B5EF4-FFF2-40B4-BE49-F238E27FC236}">
                <a16:creationId xmlns:a16="http://schemas.microsoft.com/office/drawing/2014/main" id="{B6BC9F12-A562-4853-A4A8-39FAFD61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010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7" name="title-marker-text">
            <a:extLst xmlns:a="http://schemas.openxmlformats.org/drawingml/2006/main">
              <a:ext uri="{FF2B5EF4-FFF2-40B4-BE49-F238E27FC236}">
                <a16:creationId xmlns:a16="http://schemas.microsoft.com/office/drawing/2014/main" id="{E65082A9-38B1-4F60-BB66-D70F9446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62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STUDY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DECK</a:t>
            </a:r>
          </a:p>
        </p:txBody>
      </p:sp>
    </p:spTree>
    <p:extLst>
      <p:ext uri="{BB962C8B-B14F-4D97-AF65-F5344CB8AC3E}">
        <p14:creationId xmlns:p14="http://schemas.microsoft.com/office/powerpoint/2010/main" val="299658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line">
            <a:extLst xmlns:a="http://schemas.openxmlformats.org/drawingml/2006/main">
              <a:ext uri="{FF2B5EF4-FFF2-40B4-BE49-F238E27FC236}">
                <a16:creationId xmlns:a16="http://schemas.microsoft.com/office/drawing/2014/main" id="{6E833D30-0114-4D66-84FA-FD06E11D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8A303128-DCF2-4064-A1A1-1EE4443F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LEARNING MAP  /  01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C3AC19C-1D9A-4E7E-8AC6-1574EFCC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E84A5B5A-BC88-48F6-A518-02629BB5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From Language Models to Agents</a:t>
            </a:r>
          </a:p>
        </p:txBody>
      </p:sp>
      <p:sp>
        <p:nvSpPr>
          <p:cNvPr id="5" name="objectives-title">
            <a:extLst xmlns:a="http://schemas.openxmlformats.org/drawingml/2006/main">
              <a:ext uri="{FF2B5EF4-FFF2-40B4-BE49-F238E27FC236}">
                <a16:creationId xmlns:a16="http://schemas.microsoft.com/office/drawing/2014/main" id="{2B7A0E77-0DD7-47FD-AF62-6DAB42E7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By the end, you should be able to...</a:t>
            </a:r>
          </a:p>
        </p:txBody>
      </p:sp>
      <p:sp>
        <p:nvSpPr>
          <p:cNvPr id="6" name="objective-number-1">
            <a:extLst xmlns:a="http://schemas.openxmlformats.org/drawingml/2006/main">
              <a:ext uri="{FF2B5EF4-FFF2-40B4-BE49-F238E27FC236}">
                <a16:creationId xmlns:a16="http://schemas.microsoft.com/office/drawing/2014/main" id="{9EECD35F-E27C-472D-A71E-1C1C5BD1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objective-1">
            <a:extLst xmlns:a="http://schemas.openxmlformats.org/drawingml/2006/main">
              <a:ext uri="{FF2B5EF4-FFF2-40B4-BE49-F238E27FC236}">
                <a16:creationId xmlns:a16="http://schemas.microsoft.com/office/drawing/2014/main" id="{13E7C792-81B6-42F2-A830-6D151AB6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Define classical and LLM-based agents</a:t>
            </a:r>
          </a:p>
        </p:txBody>
      </p:sp>
      <p:sp>
        <p:nvSpPr>
          <p:cNvPr id="8" name="objective-number-2">
            <a:extLst xmlns:a="http://schemas.openxmlformats.org/drawingml/2006/main">
              <a:ext uri="{FF2B5EF4-FFF2-40B4-BE49-F238E27FC236}">
                <a16:creationId xmlns:a16="http://schemas.microsoft.com/office/drawing/2014/main" id="{F2D0C7E7-A031-4E00-8E8D-9A81BA4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objective-2">
            <a:extLst xmlns:a="http://schemas.openxmlformats.org/drawingml/2006/main">
              <a:ext uri="{FF2B5EF4-FFF2-40B4-BE49-F238E27FC236}">
                <a16:creationId xmlns:a16="http://schemas.microsoft.com/office/drawing/2014/main" id="{8265B2DC-ECFA-497D-8B73-F621651B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Distinguish chatbots, workflows, and agents</a:t>
            </a:r>
          </a:p>
        </p:txBody>
      </p:sp>
      <p:sp>
        <p:nvSpPr>
          <p:cNvPr id="10" name="objective-number-3">
            <a:extLst xmlns:a="http://schemas.openxmlformats.org/drawingml/2006/main">
              <a:ext uri="{FF2B5EF4-FFF2-40B4-BE49-F238E27FC236}">
                <a16:creationId xmlns:a16="http://schemas.microsoft.com/office/drawing/2014/main" id="{1C3F5D7F-22EC-46D4-A085-A829B179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objective-3">
            <a:extLst xmlns:a="http://schemas.openxmlformats.org/drawingml/2006/main">
              <a:ext uri="{FF2B5EF4-FFF2-40B4-BE49-F238E27FC236}">
                <a16:creationId xmlns:a16="http://schemas.microsoft.com/office/drawing/2014/main" id="{D5A09AEA-EAA6-4117-8D2D-A983B107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Explain the perceive-reason-act loop</a:t>
            </a:r>
          </a:p>
        </p:txBody>
      </p:sp>
      <p:sp>
        <p:nvSpPr>
          <p:cNvPr id="12" name="objective-number-4">
            <a:extLst xmlns:a="http://schemas.openxmlformats.org/drawingml/2006/main">
              <a:ext uri="{FF2B5EF4-FFF2-40B4-BE49-F238E27FC236}">
                <a16:creationId xmlns:a16="http://schemas.microsoft.com/office/drawing/2014/main" id="{5DCB4615-EFD3-49C4-B9AB-83838656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objective-4">
            <a:extLst xmlns:a="http://schemas.openxmlformats.org/drawingml/2006/main">
              <a:ext uri="{FF2B5EF4-FFF2-40B4-BE49-F238E27FC236}">
                <a16:creationId xmlns:a16="http://schemas.microsoft.com/office/drawing/2014/main" id="{0E2DD856-35C1-4831-8C4B-C2EEE1B0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Choose the least autonomy that solves a task</a:t>
            </a:r>
          </a:p>
        </p:txBody>
      </p:sp>
    </p:spTree>
    <p:extLst>
      <p:ext uri="{BB962C8B-B14F-4D97-AF65-F5344CB8AC3E}">
        <p14:creationId xmlns:p14="http://schemas.microsoft.com/office/powerpoint/2010/main" val="1405184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D8996347-51C2-4681-92DF-3C4FB9EA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160B06C6-955F-463B-B970-33459BA6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01  /  01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0C7FF8-682D-482B-8A2E-0EEA93D7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CC0E292E-CDEE-4DB2-8084-6D7184F2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From Language Models to Agents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180675B-F5A2-415C-AD62-E2C82F31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composition changed, not the model paradigm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D8D148B3-E1B2-44DC-9EAA-32066540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 classifier maps text to a label and a chatbot maps conversation to a reply. An agent maps a goal to a sequence of actions in an environment and chooses those actions as the task unfolds. The practical shift is the composition LLM + tools + loop + memory.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D71EEABD-7A59-4A7C-B7E6-75F64E00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CC6D84C2-5A62-4C38-8BC0-9454AA71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Instruction following and function calling make outputs executable.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Explicit reasoning helps choose and order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Context and retrieval carry task state and external evidence.</a:t>
            </a:r>
          </a:p>
        </p:txBody>
      </p:sp>
    </p:spTree>
    <p:extLst>
      <p:ext uri="{BB962C8B-B14F-4D97-AF65-F5344CB8AC3E}">
        <p14:creationId xmlns:p14="http://schemas.microsoft.com/office/powerpoint/2010/main" val="20088914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77C02E24-2590-4DF3-B33B-7AEFB9DB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81A6B6C4-2AA0-4A75-9422-37C8F384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02  /  01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F5D9735-3A8F-4991-80E8-380E0397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220937F9-18A4-4ED8-9185-AFCD2564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From Language Models to Agents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88D0AD94-393E-459D-AB81-5196F8E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Classical agency still supplies the core definition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29001317-1176-4D42-8959-2EDC95D3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0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 agent perceives an environment through sensors and acts through actuators. A rational agent selects actions expected to maximize a performance measure given its percepts and knowledge. LLM agents replace a hand-written or learned policy with in-context natural-language reasoning.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ED903AC3-C951-4EAF-AABC-A5B95456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B60320D0-777C-4450-A6DB-C626C768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Properties: autonomy, reactivity, pro-activeness, social ability.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C97D9954-E157-4322-B740-7571E8DB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57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82F0EBDC-FACC-4AC1-98A3-E731CEFB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57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Hard environments are partially observable, stochastic, dynamic, and sequential.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FE387899-0239-4949-9279-761B2415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35434DDC-0EEF-4616-85E2-8CEF74BE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LLM agents gain generality but inherit reliability, cost, and evaluation problems.</a:t>
            </a:r>
          </a:p>
        </p:txBody>
      </p:sp>
    </p:spTree>
    <p:extLst>
      <p:ext uri="{BB962C8B-B14F-4D97-AF65-F5344CB8AC3E}">
        <p14:creationId xmlns:p14="http://schemas.microsoft.com/office/powerpoint/2010/main" val="2055741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4FF53A23-7834-4A60-A2E9-B8298567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0A396143-4E26-4941-8CA5-60B7EB2C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03  /  01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6B9DA10-3A84-411F-9F13-5CAE9455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07D4921F-BEA3-4A2E-BC3C-A9F0E041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From Language Models to Agents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5846AE8-A386-4DBF-BBAB-20A8AA98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Four components recur in every implementation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9787E240-CCDC-4B64-A49C-68296813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The profile defines identity, constraints, tools, and output protocol. Memory supplies short- and long-term state. Planning turns goals into steps. Action exposes controlled effects through tools. Frameworks mainly differ in how they wire and persist these parts.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FD34D090-CAA7-4AF4-98ED-389AF20A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03EE2726-B6DC-477F-844E-0B573F81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Profile is the behavioral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Memory is information re-supplied to a stateless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Planning selects the next step or an explicit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  Action is mediated by a validating runtime.</a:t>
            </a:r>
          </a:p>
        </p:txBody>
      </p:sp>
    </p:spTree>
    <p:extLst>
      <p:ext uri="{BB962C8B-B14F-4D97-AF65-F5344CB8AC3E}">
        <p14:creationId xmlns:p14="http://schemas.microsoft.com/office/powerpoint/2010/main" val="489277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CC9E5924-84D7-4900-93B8-2DF7497A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9D836D92-88CF-4DFE-B2F2-3572EFFE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04  /  01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42AE2A1-FF7F-40BE-81A0-19C27020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F5CF8C45-CD1F-4B3C-B046-9BD13603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From Language Models to Agents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0524100-C382-43AE-8F5A-5C406092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Agency is a loop, not a single forward pass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A1887A2B-4902-483B-9C4D-6EA315A1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agent observes the goal and environment, reasons about the next step, acts through a tool, receives a new observation, and repeats until completion or a budget limit. The loop turns model output into state-changing behavior.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753406EE-C6BF-4612-9506-2CFF2A77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66CCF369-74DA-4820-BCDE-031B6B8E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Observe: user goal, tool results, environment state.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67083A04-4F98-43F4-96D8-78B7D879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5A38A88B-F861-4AD2-BA73-A0DCFAE1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Reason: choose the next action from current evidence.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07028D3A-2730-4D0B-8AAB-58E59928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8399EF9F-527D-4A5C-B629-E34AB546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Act: request a tool call through the runtime.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2EBE89E8-72DD-456B-B9AF-E362A4F9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DE1E5717-6FCA-4A25-A4A5-AC699F16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Stop: final answer, step cap, cost cap, time cap, or human escalation.</a:t>
            </a:r>
          </a:p>
        </p:txBody>
      </p:sp>
    </p:spTree>
    <p:extLst>
      <p:ext uri="{BB962C8B-B14F-4D97-AF65-F5344CB8AC3E}">
        <p14:creationId xmlns:p14="http://schemas.microsoft.com/office/powerpoint/2010/main" val="747398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B591E8B7-14AD-453D-8ED9-8CC1F462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E65E0CC0-E84F-479E-A189-4C1B2334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05  /  01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C6F3C7-5090-4CD9-A7CB-943B5F96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C9F48120-BD32-4ACC-A4AD-22FEAB2A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From Language Models to Agents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9EC9D73-F587-46DE-8BED-D03BCD8F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Control flow separates chatbots, workflows, and agents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843F0D15-CEB5-4D0E-A0D1-5760EB9E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 chatbot produces a reply without actions. A workflow follows code-defined paths that may contain LLM calls and tools. An agent lets the model dynamically direct process and tool use. This is a spectrum rather than a binary label.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853D85E9-553B-4E10-8F5D-69DEBFFD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8DD4E0C5-20AC-47F8-8385-4B9B373C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Workflows are more predictable, testable, and economical.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Agents are more flexible when the correct path cannot be written in advance.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Moving toward autonomy raises variance, latency, cost, and safety surface.</a:t>
            </a:r>
          </a:p>
        </p:txBody>
      </p:sp>
    </p:spTree>
    <p:extLst>
      <p:ext uri="{BB962C8B-B14F-4D97-AF65-F5344CB8AC3E}">
        <p14:creationId xmlns:p14="http://schemas.microsoft.com/office/powerpoint/2010/main" val="12600327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036C316B-CD02-43FA-A758-A7FA11D7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D091AC13-8087-4BEE-A59C-62408FF3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06  /  01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B3A1F3-9597-40B3-8C33-DDBB5D15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81911AD4-2277-4DA4-9DDB-13314FFD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From Language Models to Agents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423A094-69AC-468B-9D54-722A28EB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engineering rule is minimum sufficient autonomy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CB17B023-D960-4C9D-81CE-8D5E0D7A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Start with a single call or fixed workflow and add model-directed decisions only when the task requires them. Narrow scope, explicit evaluation, and human checkpoints are more reliable than an open-ended agent that can do anything.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36CFC3A0-F47D-46EF-A9E6-C6FA873C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551ABCAF-8CAE-4F3C-A613-5B160001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execution-grounded tasks where success can be checked.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AC54C0C2-13C0-4C10-B9D9-7F0EC058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57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5BB482EB-0604-4B95-A740-0E519E1A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57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Bound long horizons because errors compound.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27649BA8-2378-4381-8FC8-E85E9BAD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D825178C-23D4-41DD-84B6-279E44B2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Treat the production agent as a stack: model, tools, state, orchestration, eval, and guardrails.</a:t>
            </a:r>
          </a:p>
        </p:txBody>
      </p:sp>
    </p:spTree>
    <p:extLst>
      <p:ext uri="{BB962C8B-B14F-4D97-AF65-F5344CB8AC3E}">
        <p14:creationId xmlns:p14="http://schemas.microsoft.com/office/powerpoint/2010/main" val="17267840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line">
            <a:extLst xmlns:a="http://schemas.openxmlformats.org/drawingml/2006/main">
              <a:ext uri="{FF2B5EF4-FFF2-40B4-BE49-F238E27FC236}">
                <a16:creationId xmlns:a16="http://schemas.microsoft.com/office/drawing/2014/main" id="{DA6093BF-E932-4F21-9D65-A065F1F1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258E7CE9-C3CE-4F25-9412-1FAFF237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EXAM CHECK  /  01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BD2B1F-B61D-46F9-BDB6-66040AA3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BA6238D1-D01B-42F8-8FDD-DD98DC30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From Language Models to Agents</a:t>
            </a:r>
          </a:p>
        </p:txBody>
      </p:sp>
      <p:sp>
        <p:nvSpPr>
          <p:cNvPr id="5" name="exam-title">
            <a:extLst xmlns:a="http://schemas.openxmlformats.org/drawingml/2006/main">
              <a:ext uri="{FF2B5EF4-FFF2-40B4-BE49-F238E27FC236}">
                <a16:creationId xmlns:a16="http://schemas.microsoft.com/office/drawing/2014/main" id="{99AB2D39-6D31-4BFF-81A1-C3056A4F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810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 you answer these without notes?</a:t>
            </a:r>
          </a:p>
        </p:txBody>
      </p:sp>
      <p:sp>
        <p:nvSpPr>
          <p:cNvPr id="6" name="exam-number-1">
            <a:extLst xmlns:a="http://schemas.openxmlformats.org/drawingml/2006/main">
              <a:ext uri="{FF2B5EF4-FFF2-40B4-BE49-F238E27FC236}">
                <a16:creationId xmlns:a16="http://schemas.microsoft.com/office/drawing/2014/main" id="{16535402-24BC-45EA-BD7D-2C842FAB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383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exam-question-1">
            <a:extLst xmlns:a="http://schemas.openxmlformats.org/drawingml/2006/main">
              <a:ext uri="{FF2B5EF4-FFF2-40B4-BE49-F238E27FC236}">
                <a16:creationId xmlns:a16="http://schemas.microsoft.com/office/drawing/2014/main" id="{4FDC8979-D5E9-4B86-B418-48196B52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383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Give the classical definition of an agent and reframe it for an LLM system.</a:t>
            </a:r>
          </a:p>
        </p:txBody>
      </p:sp>
      <p:sp>
        <p:nvSpPr>
          <p:cNvPr id="8" name="exam-number-2">
            <a:extLst xmlns:a="http://schemas.openxmlformats.org/drawingml/2006/main">
              <a:ext uri="{FF2B5EF4-FFF2-40B4-BE49-F238E27FC236}">
                <a16:creationId xmlns:a16="http://schemas.microsoft.com/office/drawing/2014/main" id="{0B7EBA06-C846-4279-A7CF-1590A2DE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exam-question-2">
            <a:extLst xmlns:a="http://schemas.openxmlformats.org/drawingml/2006/main">
              <a:ext uri="{FF2B5EF4-FFF2-40B4-BE49-F238E27FC236}">
                <a16:creationId xmlns:a16="http://schemas.microsoft.com/office/drawing/2014/main" id="{D0DD2FFB-03F5-4137-8E30-D47B3891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is an agent a composition rather than a new model paradigm?</a:t>
            </a:r>
          </a:p>
        </p:txBody>
      </p:sp>
      <p:sp>
        <p:nvSpPr>
          <p:cNvPr id="10" name="exam-number-3">
            <a:extLst xmlns:a="http://schemas.openxmlformats.org/drawingml/2006/main">
              <a:ext uri="{FF2B5EF4-FFF2-40B4-BE49-F238E27FC236}">
                <a16:creationId xmlns:a16="http://schemas.microsoft.com/office/drawing/2014/main" id="{4B7E20D3-225F-408F-ABE1-F1449B12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95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exam-question-3">
            <a:extLst xmlns:a="http://schemas.openxmlformats.org/drawingml/2006/main">
              <a:ext uri="{FF2B5EF4-FFF2-40B4-BE49-F238E27FC236}">
                <a16:creationId xmlns:a16="http://schemas.microsoft.com/office/drawing/2014/main" id="{B9741B49-D12E-49AC-AF4A-CD578EA6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956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Compare chatbot, workflow, and agent by control flow and tool use.</a:t>
            </a:r>
          </a:p>
        </p:txBody>
      </p:sp>
      <p:sp>
        <p:nvSpPr>
          <p:cNvPr id="12" name="exam-number-4">
            <a:extLst xmlns:a="http://schemas.openxmlformats.org/drawingml/2006/main">
              <a:ext uri="{FF2B5EF4-FFF2-40B4-BE49-F238E27FC236}">
                <a16:creationId xmlns:a16="http://schemas.microsoft.com/office/drawing/2014/main" id="{42D8FD84-7CAC-4D73-9965-0A696D20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exam-question-4">
            <a:extLst xmlns:a="http://schemas.openxmlformats.org/drawingml/2006/main">
              <a:ext uri="{FF2B5EF4-FFF2-40B4-BE49-F238E27FC236}">
                <a16:creationId xmlns:a16="http://schemas.microsoft.com/office/drawing/2014/main" id="{33A57883-1AFB-40C8-8F78-CF73E1DE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956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Name the four agent components and the responsibility of each.</a:t>
            </a:r>
          </a:p>
        </p:txBody>
      </p:sp>
      <p:sp>
        <p:nvSpPr>
          <p:cNvPr id="14" name="exam-number-5">
            <a:extLst xmlns:a="http://schemas.openxmlformats.org/drawingml/2006/main">
              <a:ext uri="{FF2B5EF4-FFF2-40B4-BE49-F238E27FC236}">
                <a16:creationId xmlns:a16="http://schemas.microsoft.com/office/drawing/2014/main" id="{4A19004B-E3AE-430D-A43C-7F55961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52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exam-question-5">
            <a:extLst xmlns:a="http://schemas.openxmlformats.org/drawingml/2006/main">
              <a:ext uri="{FF2B5EF4-FFF2-40B4-BE49-F238E27FC236}">
                <a16:creationId xmlns:a16="http://schemas.microsoft.com/office/drawing/2014/main" id="{2F0F735C-DD32-47CD-803F-F6582E5A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are typical LLM-agent environments difficult?</a:t>
            </a:r>
          </a:p>
        </p:txBody>
      </p:sp>
      <p:sp>
        <p:nvSpPr>
          <p:cNvPr id="16" name="exam-number-6">
            <a:extLst xmlns:a="http://schemas.openxmlformats.org/drawingml/2006/main">
              <a:ext uri="{FF2B5EF4-FFF2-40B4-BE49-F238E27FC236}">
                <a16:creationId xmlns:a16="http://schemas.microsoft.com/office/drawing/2014/main" id="{8E493865-8763-4E84-982F-583C16F2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7" name="exam-question-6">
            <a:extLst xmlns:a="http://schemas.openxmlformats.org/drawingml/2006/main">
              <a:ext uri="{FF2B5EF4-FFF2-40B4-BE49-F238E27FC236}">
                <a16:creationId xmlns:a16="http://schemas.microsoft.com/office/drawing/2014/main" id="{57FF8F4C-5EB2-4E6A-B668-A2D3AC66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529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Explain the principle of minimum sufficient autonomy.</a:t>
            </a:r>
          </a:p>
        </p:txBody>
      </p:sp>
    </p:spTree>
    <p:extLst>
      <p:ext uri="{BB962C8B-B14F-4D97-AF65-F5344CB8AC3E}">
        <p14:creationId xmlns:p14="http://schemas.microsoft.com/office/powerpoint/2010/main" val="844387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line">
            <a:extLst xmlns:a="http://schemas.openxmlformats.org/drawingml/2006/main">
              <a:ext uri="{FF2B5EF4-FFF2-40B4-BE49-F238E27FC236}">
                <a16:creationId xmlns:a16="http://schemas.microsoft.com/office/drawing/2014/main" id="{3B25849C-8A06-4BDC-9D08-52BEAECE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54621A7B-9543-4638-B3AD-5AEEBB68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CHAPTER SYNTHESIS  /  01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B0DBDF5-8B52-4331-ABD7-52EA5904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73F925FE-B410-4ADE-92B5-97BCE1DB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From Language Models to Agents</a:t>
            </a:r>
          </a:p>
        </p:txBody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8CFEC99D-4555-4168-9BDA-7A73F19D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477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must remain after the details fade</a:t>
            </a:r>
          </a:p>
        </p:txBody>
      </p:sp>
      <p:sp>
        <p:nvSpPr>
          <p:cNvPr id="6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ED058F33-97A3-47CA-AB50-D438EBDD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akeaway-1">
            <a:extLst xmlns:a="http://schemas.openxmlformats.org/drawingml/2006/main">
              <a:ext uri="{FF2B5EF4-FFF2-40B4-BE49-F238E27FC236}">
                <a16:creationId xmlns:a16="http://schemas.microsoft.com/office/drawing/2014/main" id="{7551CFC0-2F97-4DB7-BCE2-B40C345E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145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Agent = LLM reasoning core + tools + loop + memory.</a:t>
            </a:r>
          </a:p>
        </p:txBody>
      </p:sp>
      <p:sp>
        <p:nvSpPr>
          <p:cNvPr id="8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84EE5CAD-5800-411E-8FC8-EB15A199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99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akeaway-2">
            <a:extLst xmlns:a="http://schemas.openxmlformats.org/drawingml/2006/main">
              <a:ext uri="{FF2B5EF4-FFF2-40B4-BE49-F238E27FC236}">
                <a16:creationId xmlns:a16="http://schemas.microsoft.com/office/drawing/2014/main" id="{E90D5358-EDD7-4B4B-9BC1-C0A2920F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Profile, memory, planning, and action are the reusable anatomy.</a:t>
            </a:r>
          </a:p>
        </p:txBody>
      </p:sp>
      <p:sp>
        <p:nvSpPr>
          <p:cNvPr id="10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41A4D38B-3CD6-4230-9B5F-FE5D7F80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862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takeaway-3">
            <a:extLst xmlns:a="http://schemas.openxmlformats.org/drawingml/2006/main">
              <a:ext uri="{FF2B5EF4-FFF2-40B4-BE49-F238E27FC236}">
                <a16:creationId xmlns:a16="http://schemas.microsoft.com/office/drawing/2014/main" id="{2D230207-CD43-4335-94D6-47F87482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671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Autonomy is a design variable; choose the leftmost workable point.</a:t>
            </a:r>
          </a:p>
        </p:txBody>
      </p:sp>
      <p:sp>
        <p:nvSpPr>
          <p:cNvPr id="12" name="takeaway-number-4">
            <a:extLst xmlns:a="http://schemas.openxmlformats.org/drawingml/2006/main">
              <a:ext uri="{FF2B5EF4-FFF2-40B4-BE49-F238E27FC236}">
                <a16:creationId xmlns:a16="http://schemas.microsoft.com/office/drawing/2014/main" id="{C8528898-9381-400F-B7D5-CCC93430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625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takeaway-4">
            <a:extLst xmlns:a="http://schemas.openxmlformats.org/drawingml/2006/main">
              <a:ext uri="{FF2B5EF4-FFF2-40B4-BE49-F238E27FC236}">
                <a16:creationId xmlns:a16="http://schemas.microsoft.com/office/drawing/2014/main" id="{C357806B-09E7-47A7-81EE-A7817208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434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Reliability comes from the system around the model.</a:t>
            </a:r>
          </a:p>
        </p:txBody>
      </p:sp>
    </p:spTree>
    <p:extLst>
      <p:ext uri="{BB962C8B-B14F-4D97-AF65-F5344CB8AC3E}">
        <p14:creationId xmlns:p14="http://schemas.microsoft.com/office/powerpoint/2010/main" val="1638005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2026-07-27T18:05:21.8460000Z</dcterms:created>
  <dcterms:modified xsi:type="dcterms:W3CDTF">2026-07-27T18:05:21.8460000Z</dcterms:modified>
</coreProperties>
</file>