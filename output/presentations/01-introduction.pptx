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6130d65ddba456b" /><Relationship Type="http://schemas.openxmlformats.org/officeDocument/2006/relationships/extended-properties" Target="/docProps/app.xml" Id="Rfad71fa3fc924476" /><Relationship Type="http://schemas.openxmlformats.org/officeDocument/2006/relationships/officeDocument" Target="/ppt/presentation.xml" Id="Rde1955e32286417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96de5c804c34823"/>
  </p:sldMasterIdLst>
  <p:notesMasterIdLst>
    <p:notesMasterId xmlns:r="http://schemas.openxmlformats.org/officeDocument/2006/relationships" r:id="R367161026abd4269"/>
  </p:notesMasterIdLst>
  <p:sldIdLst>
    <p:sldId xmlns:r="http://schemas.openxmlformats.org/officeDocument/2006/relationships" id="256" r:id="R3fb3164ba94c437e"/>
    <p:sldId xmlns:r="http://schemas.openxmlformats.org/officeDocument/2006/relationships" id="257" r:id="R8c843bfb65cd4b98"/>
    <p:sldId xmlns:r="http://schemas.openxmlformats.org/officeDocument/2006/relationships" id="258" r:id="Rf5a504d40fb74a13"/>
    <p:sldId xmlns:r="http://schemas.openxmlformats.org/officeDocument/2006/relationships" id="259" r:id="R280bac3c075f4ff6"/>
    <p:sldId xmlns:r="http://schemas.openxmlformats.org/officeDocument/2006/relationships" id="260" r:id="R8da2c49cb6974a25"/>
    <p:sldId xmlns:r="http://schemas.openxmlformats.org/officeDocument/2006/relationships" id="261" r:id="R0a7142ffebfb474a"/>
    <p:sldId xmlns:r="http://schemas.openxmlformats.org/officeDocument/2006/relationships" id="262" r:id="Rb057ca3d45e74e46"/>
    <p:sldId xmlns:r="http://schemas.openxmlformats.org/officeDocument/2006/relationships" id="263" r:id="R3a8087ea9c894e01"/>
    <p:sldId xmlns:r="http://schemas.openxmlformats.org/officeDocument/2006/relationships" id="264" r:id="R88321377a92847c8"/>
    <p:sldId xmlns:r="http://schemas.openxmlformats.org/officeDocument/2006/relationships" id="265" r:id="Reaa20ffe23864f68"/>
    <p:sldId xmlns:r="http://schemas.openxmlformats.org/officeDocument/2006/relationships" id="266" r:id="Rb97c7a0a971243ac"/>
    <p:sldId xmlns:r="http://schemas.openxmlformats.org/officeDocument/2006/relationships" id="267" r:id="Rc5b73afed50b40d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8c417ea1961431a" /><Relationship Type="http://schemas.openxmlformats.org/officeDocument/2006/relationships/slideMaster" Target="/ppt/slideMasters/slideMaster1.xml" Id="Ra96de5c804c34823" /><Relationship Type="http://schemas.openxmlformats.org/officeDocument/2006/relationships/notesMaster" Target="/ppt/notesMasters/notesMaster1.xml" Id="R367161026abd4269" /><Relationship Type="http://schemas.openxmlformats.org/officeDocument/2006/relationships/presProps" Target="/ppt/presProps.xml" Id="R0ccb1c1890fd4345" /><Relationship Type="http://schemas.openxmlformats.org/officeDocument/2006/relationships/tableStyles" Target="/ppt/tableStyles.xml" Id="Re5017f2dda5643c7" /><Relationship Type="http://schemas.openxmlformats.org/officeDocument/2006/relationships/slide" Target="/ppt/slides/slide1.xml" Id="R3fb3164ba94c437e" /><Relationship Type="http://schemas.openxmlformats.org/officeDocument/2006/relationships/slide" Target="/ppt/slides/slide2.xml" Id="R8c843bfb65cd4b98" /><Relationship Type="http://schemas.openxmlformats.org/officeDocument/2006/relationships/slide" Target="/ppt/slides/slide3.xml" Id="Rf5a504d40fb74a13" /><Relationship Type="http://schemas.openxmlformats.org/officeDocument/2006/relationships/slide" Target="/ppt/slides/slide4.xml" Id="R280bac3c075f4ff6" /><Relationship Type="http://schemas.openxmlformats.org/officeDocument/2006/relationships/slide" Target="/ppt/slides/slide5.xml" Id="R8da2c49cb6974a25" /><Relationship Type="http://schemas.openxmlformats.org/officeDocument/2006/relationships/slide" Target="/ppt/slides/slide6.xml" Id="R0a7142ffebfb474a" /><Relationship Type="http://schemas.openxmlformats.org/officeDocument/2006/relationships/slide" Target="/ppt/slides/slide7.xml" Id="Rb057ca3d45e74e46" /><Relationship Type="http://schemas.openxmlformats.org/officeDocument/2006/relationships/slide" Target="/ppt/slides/slide8.xml" Id="R3a8087ea9c894e01" /><Relationship Type="http://schemas.openxmlformats.org/officeDocument/2006/relationships/slide" Target="/ppt/slides/slide9.xml" Id="R88321377a92847c8" /><Relationship Type="http://schemas.openxmlformats.org/officeDocument/2006/relationships/slide" Target="/ppt/slides/slide10.xml" Id="Reaa20ffe23864f68" /><Relationship Type="http://schemas.openxmlformats.org/officeDocument/2006/relationships/slide" Target="/ppt/slides/slide11.xml" Id="Rb97c7a0a971243ac" /><Relationship Type="http://schemas.openxmlformats.org/officeDocument/2006/relationships/slide" Target="/ppt/slides/slide12.xml" Id="Rc5b73afed50b40d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3db69e3498243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ce51581ea6d47e2" /><Relationship Type="http://schemas.openxmlformats.org/officeDocument/2006/relationships/notesMaster" Target="/ppt/notesMasters/notesMaster1.xml" Id="Rfa2ca56d563b497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07beaa4e4414715" /><Relationship Type="http://schemas.openxmlformats.org/officeDocument/2006/relationships/notesMaster" Target="/ppt/notesMasters/notesMaster1.xml" Id="Rc242341c802a463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124dc92a74a43c8" /><Relationship Type="http://schemas.openxmlformats.org/officeDocument/2006/relationships/notesMaster" Target="/ppt/notesMasters/notesMaster1.xml" Id="Ra22040a707fa486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daa2b2632d8410d" /><Relationship Type="http://schemas.openxmlformats.org/officeDocument/2006/relationships/notesMaster" Target="/ppt/notesMasters/notesMaster1.xml" Id="Rf74a1ec31d8d49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2f00a51ac3433a" /><Relationship Type="http://schemas.openxmlformats.org/officeDocument/2006/relationships/notesMaster" Target="/ppt/notesMasters/notesMaster1.xml" Id="R9907762b4bf8456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ed15c879bc641cb" /><Relationship Type="http://schemas.openxmlformats.org/officeDocument/2006/relationships/notesMaster" Target="/ppt/notesMasters/notesMaster1.xml" Id="R7501482403b840b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38ad3f7801d4e3a" /><Relationship Type="http://schemas.openxmlformats.org/officeDocument/2006/relationships/notesMaster" Target="/ppt/notesMasters/notesMaster1.xml" Id="R168d0f4ef501458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39c6a908dbb4943" /><Relationship Type="http://schemas.openxmlformats.org/officeDocument/2006/relationships/notesMaster" Target="/ppt/notesMasters/notesMaster1.xml" Id="R28e14001c03248d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313d19ee0b4287" /><Relationship Type="http://schemas.openxmlformats.org/officeDocument/2006/relationships/notesMaster" Target="/ppt/notesMasters/notesMaster1.xml" Id="Rbca57ced8a6a48e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6427507aeda4d93" /><Relationship Type="http://schemas.openxmlformats.org/officeDocument/2006/relationships/notesMaster" Target="/ppt/notesMasters/notesMaster1.xml" Id="R9bb07eca1ebe485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14bbaf997344251" /><Relationship Type="http://schemas.openxmlformats.org/officeDocument/2006/relationships/notesMaster" Target="/ppt/notesMasters/notesMaster1.xml" Id="R5d252d3ad5ec405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0b6ed1c84354623" /><Relationship Type="http://schemas.openxmlformats.org/officeDocument/2006/relationships/notesMaster" Target="/ppt/notesMasters/notesMaster1.xml" Id="Rd41809664fc9491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chapter thesis and connect it to the previous chapter.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01-introduction.pdf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Choose a catalog lookup or arithmetic task. Write six cases, including empty input and an unknown item. Define a pass condition and a call limit. Explain what dynamic decision, if any, needs a model.</a:t>
            </a:r>
          </a:p>
          <a:p xmlns:a="http://schemas.openxmlformats.org/drawingml/2006/main">
            <a:r>
              <a:t>Acceptance: Submit the cases and an architecture choice before running a model. Credit follows the evidence, including a decision to keep a fixed workflow.</a:t>
            </a:r>
          </a:p>
          <a:p xmlns:a="http://schemas.openxmlformats.org/drawingml/2006/main">
            <a:r>
              <a:t>Lab: labs/05_gemini_bounded_tools.ipynb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these objectives as an advance organizer and as a checklist after the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01-introduction.pdf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Choose a catalog lookup or arithmetic task. Write six cases, including empty input and an unknown item. Define a pass condition and a call limit. Explain what dynamic decision, if any, needs a model.</a:t>
            </a:r>
          </a:p>
          <a:p xmlns:a="http://schemas.openxmlformats.org/drawingml/2006/main">
            <a:r>
              <a:t>Acceptance: Submit the cases and an architecture choice before running a model. Credit follows the evidence, including a decision to keep a fixed workflow.</a:t>
            </a:r>
          </a:p>
          <a:p xmlns:a="http://schemas.openxmlformats.org/drawingml/2006/main">
            <a:r>
              <a:t>Lab: labs/05_gemini_bounded_tools.ipynb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claim first, then use the numbered points as evidence and design consequences.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01-introduction.pdf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Choose a catalog lookup or arithmetic task. Write six cases, including empty input and an unknown item. Define a pass condition and a call limit. Explain what dynamic decision, if any, needs a model.</a:t>
            </a:r>
          </a:p>
          <a:p xmlns:a="http://schemas.openxmlformats.org/drawingml/2006/main">
            <a:r>
              <a:t>Acceptance: Submit the cases and an architecture choice before running a model. Credit follows the evidence, including a decision to keep a fixed workflow.</a:t>
            </a:r>
          </a:p>
          <a:p xmlns:a="http://schemas.openxmlformats.org/drawingml/2006/main">
            <a:r>
              <a:t>Lab: labs/05_gemini_bounded_tools.ipynb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the central statement, then connect the lower points as a single mental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01-introduction.pdf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Choose a catalog lookup or arithmetic task. Write six cases, including empty input and an unknown item. Define a pass condition and a call limit. Explain what dynamic decision, if any, needs a model.</a:t>
            </a:r>
          </a:p>
          <a:p xmlns:a="http://schemas.openxmlformats.org/drawingml/2006/main">
            <a:r>
              <a:t>Acceptance: Submit the cases and an architecture choice before running a model. Credit follows the evidence, including a decision to keep a fixed workflow.</a:t>
            </a:r>
          </a:p>
          <a:p xmlns:a="http://schemas.openxmlformats.org/drawingml/2006/main">
            <a:r>
              <a:t>Lab: labs/05_gemini_bounded_tools.ipynb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claim first, then use the numbered points as evidence and design consequences.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01-introduction.pdf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Choose a catalog lookup or arithmetic task. Write six cases, including empty input and an unknown item. Define a pass condition and a call limit. Explain what dynamic decision, if any, needs a model.</a:t>
            </a:r>
          </a:p>
          <a:p xmlns:a="http://schemas.openxmlformats.org/drawingml/2006/main">
            <a:r>
              <a:t>Acceptance: Submit the cases and an architecture choice before running a model. Credit follows the evidence, including a decision to keep a fixed workflow.</a:t>
            </a:r>
          </a:p>
          <a:p xmlns:a="http://schemas.openxmlformats.org/drawingml/2006/main">
            <a:r>
              <a:t>Lab: labs/05_gemini_bounded_tools.ipynb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the central statement, then connect the lower points as a single mental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01-introduction.pdf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Choose a catalog lookup or arithmetic task. Write six cases, including empty input and an unknown item. Define a pass condition and a call limit. Explain what dynamic decision, if any, needs a model.</a:t>
            </a:r>
          </a:p>
          <a:p xmlns:a="http://schemas.openxmlformats.org/drawingml/2006/main">
            <a:r>
              <a:t>Acceptance: Submit the cases and an architecture choice before running a model. Credit follows the evidence, including a decision to keep a fixed workflow.</a:t>
            </a:r>
          </a:p>
          <a:p xmlns:a="http://schemas.openxmlformats.org/drawingml/2006/main">
            <a:r>
              <a:t>Lab: labs/05_gemini_bounded_tools.ipynb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claim first, then use the numbered points as evidence and design consequences.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01-introduction.pdf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Choose a catalog lookup or arithmetic task. Write six cases, including empty input and an unknown item. Define a pass condition and a call limit. Explain what dynamic decision, if any, needs a model.</a:t>
            </a:r>
          </a:p>
          <a:p xmlns:a="http://schemas.openxmlformats.org/drawingml/2006/main">
            <a:r>
              <a:t>Acceptance: Submit the cases and an architecture choice before running a model. Credit follows the evidence, including a decision to keep a fixed workflow.</a:t>
            </a:r>
          </a:p>
          <a:p xmlns:a="http://schemas.openxmlformats.org/drawingml/2006/main">
            <a:r>
              <a:t>Lab: labs/05_gemini_bounded_tools.ipynb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the central statement, then connect the lower points as a single mental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01-introduction.pdf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Choose a catalog lookup or arithmetic task. Write six cases, including empty input and an unknown item. Define a pass condition and a call limit. Explain what dynamic decision, if any, needs a model.</a:t>
            </a:r>
          </a:p>
          <a:p xmlns:a="http://schemas.openxmlformats.org/drawingml/2006/main">
            <a:r>
              <a:t>Acceptance: Submit the cases and an architecture choice before running a model. Credit follows the evidence, including a decision to keep a fixed workflow.</a:t>
            </a:r>
          </a:p>
          <a:p xmlns:a="http://schemas.openxmlformats.org/drawingml/2006/main">
            <a:r>
              <a:t>Lab: labs/05_gemini_bounded_tools.ipynb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claim first, then use the numbered points as evidence and design consequences.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01-introduction.pdf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Choose a catalog lookup or arithmetic task. Write six cases, including empty input and an unknown item. Define a pass condition and a call limit. Explain what dynamic decision, if any, needs a model.</a:t>
            </a:r>
          </a:p>
          <a:p xmlns:a="http://schemas.openxmlformats.org/drawingml/2006/main">
            <a:r>
              <a:t>Acceptance: Submit the cases and an architecture choice before running a model. Credit follows the evidence, including a decision to keep a fixed workflow.</a:t>
            </a:r>
          </a:p>
          <a:p xmlns:a="http://schemas.openxmlformats.org/drawingml/2006/main">
            <a:r>
              <a:t>Lab: labs/05_gemini_bounded_tools.ipynb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as retrieval practice. Ask for an answer that defines, compares, traces, and evaluates.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01-introduction.pdf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Choose a catalog lookup or arithmetic task. Write six cases, including empty input and an unknown item. Define a pass condition and a call limit. Explain what dynamic decision, if any, needs a model.</a:t>
            </a:r>
          </a:p>
          <a:p xmlns:a="http://schemas.openxmlformats.org/drawingml/2006/main">
            <a:r>
              <a:t>Acceptance: Submit the cases and an architecture choice before running a model. Credit follows the evidence, including a decision to keep a fixed workflow.</a:t>
            </a:r>
          </a:p>
          <a:p xmlns:a="http://schemas.openxmlformats.org/drawingml/2006/main">
            <a:r>
              <a:t>Lab: labs/05_gemini_bounded_tools.ipynb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restating the four durable ideas and linking forward to the next chapter.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01-introduction.pdf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Choose a catalog lookup or arithmetic task. Write six cases, including empty input and an unknown item. Define a pass condition and a call limit. Explain what dynamic decision, if any, needs a model.</a:t>
            </a:r>
          </a:p>
          <a:p xmlns:a="http://schemas.openxmlformats.org/drawingml/2006/main">
            <a:r>
              <a:t>Acceptance: Submit the cases and an architecture choice before running a model. Credit follows the evidence, including a decision to keep a fixed workflow.</a:t>
            </a:r>
          </a:p>
          <a:p xmlns:a="http://schemas.openxmlformats.org/drawingml/2006/main">
            <a:r>
              <a:t>Lab: labs/05_gemini_bounded_tools.ipynb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Assess the submitted evidence with the stated acceptance check. Reading links and limitations follow.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Edition: 2026-09-09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source presentation: 01-introduction.pdf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[Assessed practice]</a:t>
            </a:r>
          </a:p>
          <a:p xmlns:a="http://schemas.openxmlformats.org/drawingml/2006/main">
            <a:r>
              <a:t>Choose a catalog lookup or arithmetic task. Write six cases, including empty input and an unknown item. Define a pass condition and a call limit. Explain what dynamic decision, if any, needs a model.</a:t>
            </a:r>
          </a:p>
          <a:p xmlns:a="http://schemas.openxmlformats.org/drawingml/2006/main">
            <a:r>
              <a:t>Acceptance: Submit the cases and an architecture choice before running a model. Credit follows the evidence, including a decision to keep a fixed workflow.</a:t>
            </a:r>
          </a:p>
          <a:p xmlns:a="http://schemas.openxmlformats.org/drawingml/2006/main">
            <a:r>
              <a:t>Lab: labs/05_gemini_bounded_tools.ipynb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dab550e7df434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6a42cf61c6e4d82" /><Relationship Type="http://schemas.openxmlformats.org/officeDocument/2006/relationships/slideLayout" Target="/ppt/slideLayouts/slideLayout1.xml" Id="R7f1e869b1c9845d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1e869b1c9845d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17384fff564c13" /><Relationship Type="http://schemas.openxmlformats.org/officeDocument/2006/relationships/notesSlide" Target="/ppt/notesSlides/notesSlide1.xml" Id="R4604efb5b33c4d1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b5afbce58c4656" /><Relationship Type="http://schemas.openxmlformats.org/officeDocument/2006/relationships/notesSlide" Target="/ppt/notesSlides/notesSlide2.xml" Id="Rfa2654db29714a7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5552840e624bab" /><Relationship Type="http://schemas.openxmlformats.org/officeDocument/2006/relationships/notesSlide" Target="/ppt/notesSlides/notesSlide3.xml" Id="R77e0f246d82144b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6add7791244ace" /><Relationship Type="http://schemas.openxmlformats.org/officeDocument/2006/relationships/notesSlide" Target="/ppt/notesSlides/notesSlide4.xml" Id="R56995634f1864eb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ee11848d7a44fe" /><Relationship Type="http://schemas.openxmlformats.org/officeDocument/2006/relationships/notesSlide" Target="/ppt/notesSlides/notesSlide5.xml" Id="R8890a1d4cc1143d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123b7906694d03" /><Relationship Type="http://schemas.openxmlformats.org/officeDocument/2006/relationships/notesSlide" Target="/ppt/notesSlides/notesSlide6.xml" Id="Re2def4faf3b843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6ab8f29e9943b8" /><Relationship Type="http://schemas.openxmlformats.org/officeDocument/2006/relationships/notesSlide" Target="/ppt/notesSlides/notesSlide7.xml" Id="Rba4ea95d32ae454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3cdeb8ba1b4bc6" /><Relationship Type="http://schemas.openxmlformats.org/officeDocument/2006/relationships/notesSlide" Target="/ppt/notesSlides/notesSlide8.xml" Id="R91241e28580d45e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8cd024568440bb" /><Relationship Type="http://schemas.openxmlformats.org/officeDocument/2006/relationships/notesSlide" Target="/ppt/notesSlides/notesSlide9.xml" Id="R4b38312b22ce485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ffb7cfdb054bf8" /><Relationship Type="http://schemas.openxmlformats.org/officeDocument/2006/relationships/notesSlide" Target="/ppt/notesSlides/notesSlide10.xml" Id="R43a373cf2cf646b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23e46e5c7444a6" /><Relationship Type="http://schemas.openxmlformats.org/officeDocument/2006/relationships/notesSlide" Target="/ppt/notesSlides/notesSlide11.xml" Id="R8aef73ffeecc4b1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8995daf0774658" /><Relationship Type="http://schemas.openxmlformats.org/officeDocument/2006/relationships/notesSlide" Target="/ppt/notesSlides/notesSlide12.xml" Id="Ra2411f502cb1422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FDE712B7-98F0-47EF-9A04-4F707C3BB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ourse-title">
            <a:extLst xmlns:a="http://schemas.openxmlformats.org/drawingml/2006/main">
              <a:ext uri="{FF2B5EF4-FFF2-40B4-BE49-F238E27FC236}">
                <a16:creationId xmlns:a16="http://schemas.microsoft.com/office/drawing/2014/main" id="{C6D5D8ED-01D6-4FC2-8683-93BC8DAD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AGENTIC AI</a:t>
            </a:r>
          </a:p>
        </p:txBody>
      </p:sp>
      <p:sp>
        <p:nvSpPr>
          <p:cNvPr id="3" name="chapter-number">
            <a:extLst xmlns:a="http://schemas.openxmlformats.org/drawingml/2006/main">
              <a:ext uri="{FF2B5EF4-FFF2-40B4-BE49-F238E27FC236}">
                <a16:creationId xmlns:a16="http://schemas.microsoft.com/office/drawing/2014/main" id="{DECEAF0D-E204-4D64-A9A1-6CFBBF57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619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4" name="deck-title">
            <a:extLst xmlns:a="http://schemas.openxmlformats.org/drawingml/2006/main">
              <a:ext uri="{FF2B5EF4-FFF2-40B4-BE49-F238E27FC236}">
                <a16:creationId xmlns:a16="http://schemas.microsoft.com/office/drawing/2014/main" id="{B87267A4-BB1D-45D4-801D-29BA74C9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985837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From Language Models to Agents</a:t>
            </a:r>
          </a:p>
        </p:txBody>
      </p:sp>
      <p:sp>
        <p:nvSpPr>
          <p:cNvPr id="5" name="deck-thesis">
            <a:extLst xmlns:a="http://schemas.openxmlformats.org/drawingml/2006/main">
              <a:ext uri="{FF2B5EF4-FFF2-40B4-BE49-F238E27FC236}">
                <a16:creationId xmlns:a16="http://schemas.microsoft.com/office/drawing/2014/main" id="{50FBDC0F-A6B8-480F-813B-BA3E7E5CB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10100"/>
            <a:ext cx="852487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Agency appears when an LLM is placed inside a bounded loop with tools, memory, and control logic.</a:t>
            </a:r>
          </a:p>
        </p:txBody>
      </p:sp>
      <p:sp>
        <p:nvSpPr>
          <p:cNvPr id="6" name="title-marker">
            <a:extLst xmlns:a="http://schemas.openxmlformats.org/drawingml/2006/main">
              <a:ext uri="{FF2B5EF4-FFF2-40B4-BE49-F238E27FC236}">
                <a16:creationId xmlns:a16="http://schemas.microsoft.com/office/drawing/2014/main" id="{E20BFF32-B3BF-4A1A-8F65-D937045D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10100"/>
            <a:ext cx="22669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7" name="title-marker-text">
            <a:extLst xmlns:a="http://schemas.openxmlformats.org/drawingml/2006/main">
              <a:ext uri="{FF2B5EF4-FFF2-40B4-BE49-F238E27FC236}">
                <a16:creationId xmlns:a16="http://schemas.microsoft.com/office/drawing/2014/main" id="{A68E46C1-0AF4-4C6F-8F17-CC13E4AD3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762500"/>
            <a:ext cx="1809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STUDY</a:t>
            </a:r>
          </a:p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DECK</a:t>
            </a:r>
          </a:p>
        </p:txBody>
      </p:sp>
    </p:spTree>
    <p:extLst>
      <p:ext uri="{BB962C8B-B14F-4D97-AF65-F5344CB8AC3E}">
        <p14:creationId xmlns:p14="http://schemas.microsoft.com/office/powerpoint/2010/main" val="12807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cent-line">
            <a:extLst xmlns:a="http://schemas.openxmlformats.org/drawingml/2006/main">
              <a:ext uri="{FF2B5EF4-FFF2-40B4-BE49-F238E27FC236}">
                <a16:creationId xmlns:a16="http://schemas.microsoft.com/office/drawing/2014/main" id="{8672CCFB-2EDE-49DB-B7FD-CFE1EE227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CE8519CB-1C87-4080-A9F4-1C7BB6113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LEARNING MAP  /  01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081F373-A09D-4B85-8B09-04E069578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BCD55A34-EC44-4D07-9E2B-7A050A48D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From Language Models to Agents</a:t>
            </a:r>
          </a:p>
        </p:txBody>
      </p:sp>
      <p:sp>
        <p:nvSpPr>
          <p:cNvPr id="5" name="objectives-title">
            <a:extLst xmlns:a="http://schemas.openxmlformats.org/drawingml/2006/main">
              <a:ext uri="{FF2B5EF4-FFF2-40B4-BE49-F238E27FC236}">
                <a16:creationId xmlns:a16="http://schemas.microsoft.com/office/drawing/2014/main" id="{027746E1-E628-48F3-8962-F44E22BE4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906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By the end, you should be able to...</a:t>
            </a:r>
          </a:p>
        </p:txBody>
      </p:sp>
      <p:sp>
        <p:nvSpPr>
          <p:cNvPr id="6" name="objective-number-1">
            <a:extLst xmlns:a="http://schemas.openxmlformats.org/drawingml/2006/main">
              <a:ext uri="{FF2B5EF4-FFF2-40B4-BE49-F238E27FC236}">
                <a16:creationId xmlns:a16="http://schemas.microsoft.com/office/drawing/2014/main" id="{58DD7CD4-3DB6-4D9C-A513-F2E3AB6D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objective-1">
            <a:extLst xmlns:a="http://schemas.openxmlformats.org/drawingml/2006/main">
              <a:ext uri="{FF2B5EF4-FFF2-40B4-BE49-F238E27FC236}">
                <a16:creationId xmlns:a16="http://schemas.microsoft.com/office/drawing/2014/main" id="{98CD2E3D-7AE3-4C5D-931D-66201289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Define classical and LLM-based agents</a:t>
            </a:r>
          </a:p>
        </p:txBody>
      </p:sp>
      <p:sp>
        <p:nvSpPr>
          <p:cNvPr id="8" name="objective-number-2">
            <a:extLst xmlns:a="http://schemas.openxmlformats.org/drawingml/2006/main">
              <a:ext uri="{FF2B5EF4-FFF2-40B4-BE49-F238E27FC236}">
                <a16:creationId xmlns:a16="http://schemas.microsoft.com/office/drawing/2014/main" id="{866354DB-5FAF-48DE-87E4-A55846CC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objective-2">
            <a:extLst xmlns:a="http://schemas.openxmlformats.org/drawingml/2006/main">
              <a:ext uri="{FF2B5EF4-FFF2-40B4-BE49-F238E27FC236}">
                <a16:creationId xmlns:a16="http://schemas.microsoft.com/office/drawing/2014/main" id="{9A828E24-8D4A-4241-A42C-D4147D9C7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Distinguish chatbots, workflows, and agents</a:t>
            </a:r>
          </a:p>
        </p:txBody>
      </p:sp>
      <p:sp>
        <p:nvSpPr>
          <p:cNvPr id="10" name="objective-number-3">
            <a:extLst xmlns:a="http://schemas.openxmlformats.org/drawingml/2006/main">
              <a:ext uri="{FF2B5EF4-FFF2-40B4-BE49-F238E27FC236}">
                <a16:creationId xmlns:a16="http://schemas.microsoft.com/office/drawing/2014/main" id="{B6D0E170-197A-4867-ACE9-F6E817D4F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1" name="objective-3">
            <a:extLst xmlns:a="http://schemas.openxmlformats.org/drawingml/2006/main">
              <a:ext uri="{FF2B5EF4-FFF2-40B4-BE49-F238E27FC236}">
                <a16:creationId xmlns:a16="http://schemas.microsoft.com/office/drawing/2014/main" id="{922EF6BA-3C5A-410F-BFBD-41B86C5DD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Explain the perceive-reason-act loop</a:t>
            </a:r>
          </a:p>
        </p:txBody>
      </p:sp>
      <p:sp>
        <p:nvSpPr>
          <p:cNvPr id="12" name="objective-number-4">
            <a:extLst xmlns:a="http://schemas.openxmlformats.org/drawingml/2006/main">
              <a:ext uri="{FF2B5EF4-FFF2-40B4-BE49-F238E27FC236}">
                <a16:creationId xmlns:a16="http://schemas.microsoft.com/office/drawing/2014/main" id="{1BE06282-DDCE-4FDD-A34E-86BB1716E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3" name="objective-4">
            <a:extLst xmlns:a="http://schemas.openxmlformats.org/drawingml/2006/main">
              <a:ext uri="{FF2B5EF4-FFF2-40B4-BE49-F238E27FC236}">
                <a16:creationId xmlns:a16="http://schemas.microsoft.com/office/drawing/2014/main" id="{91EE6AEA-BEF5-4FFB-B699-30960268F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Choose the least autonomy that solves a task</a:t>
            </a:r>
          </a:p>
        </p:txBody>
      </p:sp>
    </p:spTree>
    <p:extLst>
      <p:ext uri="{BB962C8B-B14F-4D97-AF65-F5344CB8AC3E}">
        <p14:creationId xmlns:p14="http://schemas.microsoft.com/office/powerpoint/2010/main" val="1890911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ccent-line">
            <a:extLst xmlns:a="http://schemas.openxmlformats.org/drawingml/2006/main">
              <a:ext uri="{FF2B5EF4-FFF2-40B4-BE49-F238E27FC236}">
                <a16:creationId xmlns:a16="http://schemas.microsoft.com/office/drawing/2014/main" id="{115473D9-71DE-4671-95E7-4582AD24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CE7C3313-2AD2-403A-A39C-14AC15BC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01  /  01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26DABD6-72FC-4CED-9CAE-C5633BC0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ECC9BECE-45F6-49BF-A12F-B29BFED6D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From Language Models to Agents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BEBE8068-9F89-4DBB-96F5-1E437B73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71550"/>
            <a:ext cx="11144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composition changed, not the model paradigm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8DE2DECE-8E0A-4728-83E8-E8F8767B7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4524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 classifier maps text to a label and a chatbot maps conversation to a reply. An agent maps a goal to a sequence of actions in an environment and chooses those actions as the task unfolds. The practical shift is the composition LLM + tools + loop + memory.</a:t>
            </a:r>
          </a:p>
        </p:txBody>
      </p:sp>
      <p:sp>
        <p:nvSpPr>
          <p:cNvPr id="7" name="column-rule">
            <a:extLst xmlns:a="http://schemas.openxmlformats.org/drawingml/2006/main">
              <a:ext uri="{FF2B5EF4-FFF2-40B4-BE49-F238E27FC236}">
                <a16:creationId xmlns:a16="http://schemas.microsoft.com/office/drawing/2014/main" id="{0D2E2194-B73A-4AE6-8C6F-D7E7DB18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47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8" name="section-points">
            <a:extLst xmlns:a="http://schemas.openxmlformats.org/drawingml/2006/main">
              <a:ext uri="{FF2B5EF4-FFF2-40B4-BE49-F238E27FC236}">
                <a16:creationId xmlns:a16="http://schemas.microsoft.com/office/drawing/2014/main" id="{65ABC375-5196-4FF7-97B1-EBE5F3EC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43150"/>
            <a:ext cx="557212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01  Instruction following and function calling make outputs executable.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02  Explicit reasoning helps choose and order actions.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03  Context and retrieval carry task state and external evidence.</a:t>
            </a:r>
          </a:p>
        </p:txBody>
      </p:sp>
    </p:spTree>
    <p:extLst>
      <p:ext uri="{BB962C8B-B14F-4D97-AF65-F5344CB8AC3E}">
        <p14:creationId xmlns:p14="http://schemas.microsoft.com/office/powerpoint/2010/main" val="12663473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accent-line">
            <a:extLst xmlns:a="http://schemas.openxmlformats.org/drawingml/2006/main">
              <a:ext uri="{FF2B5EF4-FFF2-40B4-BE49-F238E27FC236}">
                <a16:creationId xmlns:a16="http://schemas.microsoft.com/office/drawing/2014/main" id="{4CC9F207-599F-4003-B0CA-FE520E1D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121EF838-8F3E-44E9-A01C-FB18608D5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02  /  01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5421C022-C74C-4F51-8DC7-DBD05199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0ECE4AAA-5CCA-456F-8B4D-3EA0A4647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From Language Models to Agents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773DAE01-35B8-4CD7-B88F-D95B930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00125"/>
            <a:ext cx="11144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Classical agency still supplies the core definition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1F160EE9-7CDE-4187-9032-7D67DC52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9009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An agent perceives an environment through sensors and acts through actuators. A rational agent selects actions expected to maximize a performance measure given its percepts and knowledge. LLM agents replace a hand-written or learned policy with in-context natural-language reasoning.</a:t>
            </a:r>
          </a:p>
        </p:txBody>
      </p:sp>
      <p:sp>
        <p:nvSpPr>
          <p:cNvPr id="7" name="point-band-1">
            <a:extLst xmlns:a="http://schemas.openxmlformats.org/drawingml/2006/main">
              <a:ext uri="{FF2B5EF4-FFF2-40B4-BE49-F238E27FC236}">
                <a16:creationId xmlns:a16="http://schemas.microsoft.com/office/drawing/2014/main" id="{C1ECCE2F-5139-4ED4-9FC2-17E4815A9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48125"/>
            <a:ext cx="3435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8" name="point-1">
            <a:extLst xmlns:a="http://schemas.openxmlformats.org/drawingml/2006/main">
              <a:ext uri="{FF2B5EF4-FFF2-40B4-BE49-F238E27FC236}">
                <a16:creationId xmlns:a16="http://schemas.microsoft.com/office/drawing/2014/main" id="{F1A3937A-649F-412F-B00E-A851411ED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24350"/>
            <a:ext cx="34353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Properties: autonomy, reactivity, pro-activeness, social ability.</a:t>
            </a:r>
          </a:p>
        </p:txBody>
      </p:sp>
      <p:sp>
        <p:nvSpPr>
          <p:cNvPr id="9" name="point-band-2">
            <a:extLst xmlns:a="http://schemas.openxmlformats.org/drawingml/2006/main">
              <a:ext uri="{FF2B5EF4-FFF2-40B4-BE49-F238E27FC236}">
                <a16:creationId xmlns:a16="http://schemas.microsoft.com/office/drawing/2014/main" id="{0DAB9EBF-7E5C-44FF-93E4-099B3FCA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575" y="4048125"/>
            <a:ext cx="3435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10" name="point-2">
            <a:extLst xmlns:a="http://schemas.openxmlformats.org/drawingml/2006/main">
              <a:ext uri="{FF2B5EF4-FFF2-40B4-BE49-F238E27FC236}">
                <a16:creationId xmlns:a16="http://schemas.microsoft.com/office/drawing/2014/main" id="{EA41464C-6EDB-4376-98B4-14469CD1F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575" y="4324350"/>
            <a:ext cx="34353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Hard environments are partially observable, stochastic, dynamic, and sequential.</a:t>
            </a:r>
          </a:p>
        </p:txBody>
      </p:sp>
      <p:sp>
        <p:nvSpPr>
          <p:cNvPr id="11" name="point-band-3">
            <a:extLst xmlns:a="http://schemas.openxmlformats.org/drawingml/2006/main">
              <a:ext uri="{FF2B5EF4-FFF2-40B4-BE49-F238E27FC236}">
                <a16:creationId xmlns:a16="http://schemas.microsoft.com/office/drawing/2014/main" id="{0F5FB6F2-0CFD-48E4-901E-C19E3546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4048125"/>
            <a:ext cx="3435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12" name="point-3">
            <a:extLst xmlns:a="http://schemas.openxmlformats.org/drawingml/2006/main">
              <a:ext uri="{FF2B5EF4-FFF2-40B4-BE49-F238E27FC236}">
                <a16:creationId xmlns:a16="http://schemas.microsoft.com/office/drawing/2014/main" id="{829AE7F6-9B46-4FB7-B471-ED057398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4324350"/>
            <a:ext cx="34353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LLM agents gain generality but inherit reliability, cost, and evaluation problems.</a:t>
            </a:r>
          </a:p>
        </p:txBody>
      </p:sp>
    </p:spTree>
    <p:extLst>
      <p:ext uri="{BB962C8B-B14F-4D97-AF65-F5344CB8AC3E}">
        <p14:creationId xmlns:p14="http://schemas.microsoft.com/office/powerpoint/2010/main" val="5553778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ccent-line">
            <a:extLst xmlns:a="http://schemas.openxmlformats.org/drawingml/2006/main">
              <a:ext uri="{FF2B5EF4-FFF2-40B4-BE49-F238E27FC236}">
                <a16:creationId xmlns:a16="http://schemas.microsoft.com/office/drawing/2014/main" id="{90740C86-A01F-4EF3-8F9E-EE3013C9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788DD537-AF2B-40FC-8735-6ABD79997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03  /  01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6E243D1-E8D6-4CB6-A92F-096E2FB3F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B3D35FA5-68F1-4ECD-8E3A-EEB3E59E5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From Language Models to Agents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0687F012-3AA4-47C2-8E95-92E44BC3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71550"/>
            <a:ext cx="11144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Four components recur in every implementation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E3402C59-F470-4516-AE09-4FBB3FE34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4524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The profile defines identity, constraints, tools, and output protocol. Memory supplies short- and long-term state. Planning turns goals into steps. Action exposes controlled effects through tools. Frameworks mainly differ in how they wire and persist these parts.</a:t>
            </a:r>
          </a:p>
        </p:txBody>
      </p:sp>
      <p:sp>
        <p:nvSpPr>
          <p:cNvPr id="7" name="column-rule">
            <a:extLst xmlns:a="http://schemas.openxmlformats.org/drawingml/2006/main">
              <a:ext uri="{FF2B5EF4-FFF2-40B4-BE49-F238E27FC236}">
                <a16:creationId xmlns:a16="http://schemas.microsoft.com/office/drawing/2014/main" id="{5EF06DDA-D625-4B3E-815E-C758C7BE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47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8" name="section-points">
            <a:extLst xmlns:a="http://schemas.openxmlformats.org/drawingml/2006/main">
              <a:ext uri="{FF2B5EF4-FFF2-40B4-BE49-F238E27FC236}">
                <a16:creationId xmlns:a16="http://schemas.microsoft.com/office/drawing/2014/main" id="{5FB76FC2-DC7C-4FAA-A656-56AE92FE5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43150"/>
            <a:ext cx="557212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01  Profile is the behavioral contract.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02  Memory is information re-supplied to a stateless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03  Planning selects the next step or an explicit plan.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04  Action is mediated by a validating runtime.</a:t>
            </a:r>
          </a:p>
        </p:txBody>
      </p:sp>
    </p:spTree>
    <p:extLst>
      <p:ext uri="{BB962C8B-B14F-4D97-AF65-F5344CB8AC3E}">
        <p14:creationId xmlns:p14="http://schemas.microsoft.com/office/powerpoint/2010/main" val="2347268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cent-line">
            <a:extLst xmlns:a="http://schemas.openxmlformats.org/drawingml/2006/main">
              <a:ext uri="{FF2B5EF4-FFF2-40B4-BE49-F238E27FC236}">
                <a16:creationId xmlns:a16="http://schemas.microsoft.com/office/drawing/2014/main" id="{24A15110-D7FA-42DC-8AE1-08FCC52C5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7D17CC5B-438A-4958-95C6-CA01076C3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04  /  01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9D31DFB-42BC-4A18-88F9-2E11B09F7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EC6E23C1-0B3F-44D3-B4AD-F680BF17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From Language Models to Agents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D1B81C12-2D35-4E36-B986-81924B8F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00125"/>
            <a:ext cx="11144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Agency is a loop, not a single forward pass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649ACF60-2D6E-4DB4-8FA5-01A2FBD7C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agent observes the goal and environment, reasons about the next step, acts through a tool, receives a new observation, and repeats until completion or a budget limit. The loop turns model output into state-changing behavior.</a:t>
            </a:r>
          </a:p>
        </p:txBody>
      </p:sp>
      <p:sp>
        <p:nvSpPr>
          <p:cNvPr id="7" name="point-band-1">
            <a:extLst xmlns:a="http://schemas.openxmlformats.org/drawingml/2006/main">
              <a:ext uri="{FF2B5EF4-FFF2-40B4-BE49-F238E27FC236}">
                <a16:creationId xmlns:a16="http://schemas.microsoft.com/office/drawing/2014/main" id="{77F78D4E-2EDD-42CC-9C8B-E93F5915B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8" name="point-1">
            <a:extLst xmlns:a="http://schemas.openxmlformats.org/drawingml/2006/main">
              <a:ext uri="{FF2B5EF4-FFF2-40B4-BE49-F238E27FC236}">
                <a16:creationId xmlns:a16="http://schemas.microsoft.com/office/drawing/2014/main" id="{06CA7C97-BBF9-4A59-BB1B-CFDDEB78D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Observe: user goal, tool results, environment state.</a:t>
            </a:r>
          </a:p>
        </p:txBody>
      </p:sp>
      <p:sp>
        <p:nvSpPr>
          <p:cNvPr id="9" name="point-band-2">
            <a:extLst xmlns:a="http://schemas.openxmlformats.org/drawingml/2006/main">
              <a:ext uri="{FF2B5EF4-FFF2-40B4-BE49-F238E27FC236}">
                <a16:creationId xmlns:a16="http://schemas.microsoft.com/office/drawing/2014/main" id="{F608C378-E534-4D1C-9901-F438BE62A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10" name="point-2">
            <a:extLst xmlns:a="http://schemas.openxmlformats.org/drawingml/2006/main">
              <a:ext uri="{FF2B5EF4-FFF2-40B4-BE49-F238E27FC236}">
                <a16:creationId xmlns:a16="http://schemas.microsoft.com/office/drawing/2014/main" id="{3B584728-F03D-4958-8334-DE3A2D16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Reason: choose the next action from current evidence.</a:t>
            </a:r>
          </a:p>
        </p:txBody>
      </p:sp>
      <p:sp>
        <p:nvSpPr>
          <p:cNvPr id="11" name="point-band-3">
            <a:extLst xmlns:a="http://schemas.openxmlformats.org/drawingml/2006/main">
              <a:ext uri="{FF2B5EF4-FFF2-40B4-BE49-F238E27FC236}">
                <a16:creationId xmlns:a16="http://schemas.microsoft.com/office/drawing/2014/main" id="{DD77FF7E-F4D5-48C4-B37F-5B8B56CE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12" name="point-3">
            <a:extLst xmlns:a="http://schemas.openxmlformats.org/drawingml/2006/main">
              <a:ext uri="{FF2B5EF4-FFF2-40B4-BE49-F238E27FC236}">
                <a16:creationId xmlns:a16="http://schemas.microsoft.com/office/drawing/2014/main" id="{92ADFE26-6272-4DB9-9343-85595613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Act: request a tool call through the runtime.</a:t>
            </a:r>
          </a:p>
        </p:txBody>
      </p:sp>
      <p:sp>
        <p:nvSpPr>
          <p:cNvPr id="13" name="point-band-4">
            <a:extLst xmlns:a="http://schemas.openxmlformats.org/drawingml/2006/main">
              <a:ext uri="{FF2B5EF4-FFF2-40B4-BE49-F238E27FC236}">
                <a16:creationId xmlns:a16="http://schemas.microsoft.com/office/drawing/2014/main" id="{1CC58F50-E197-49BB-9A37-8921E401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14" name="point-4">
            <a:extLst xmlns:a="http://schemas.openxmlformats.org/drawingml/2006/main">
              <a:ext uri="{FF2B5EF4-FFF2-40B4-BE49-F238E27FC236}">
                <a16:creationId xmlns:a16="http://schemas.microsoft.com/office/drawing/2014/main" id="{0F535658-168A-49A6-8961-E15AF122F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Stop: final answer, step cap, cost cap, time cap, or human escalation.</a:t>
            </a:r>
          </a:p>
        </p:txBody>
      </p:sp>
    </p:spTree>
    <p:extLst>
      <p:ext uri="{BB962C8B-B14F-4D97-AF65-F5344CB8AC3E}">
        <p14:creationId xmlns:p14="http://schemas.microsoft.com/office/powerpoint/2010/main" val="101888848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ccent-line">
            <a:extLst xmlns:a="http://schemas.openxmlformats.org/drawingml/2006/main">
              <a:ext uri="{FF2B5EF4-FFF2-40B4-BE49-F238E27FC236}">
                <a16:creationId xmlns:a16="http://schemas.microsoft.com/office/drawing/2014/main" id="{81EF20E8-018E-458D-9CE5-2AD34573B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ACA4E9EA-9A69-463C-87D4-19FCE99A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05  /  01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95612A7-03C4-4E5A-AF06-1C434A40F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8502E11E-9889-4CDB-9394-893C1C531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From Language Models to Agents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5F9EC1D4-F8C3-46BE-99F3-DAB0C42F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71550"/>
            <a:ext cx="11144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Control flow separates chatbots, workflows, and agents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D88645B7-EFC4-4032-A847-FA67925C6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4524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 chatbot produces a reply without actions. A workflow follows code-defined paths that may contain LLM calls and tools. An agent lets the model dynamically direct process and tool use. This is a spectrum rather than a binary label.</a:t>
            </a:r>
          </a:p>
        </p:txBody>
      </p:sp>
      <p:sp>
        <p:nvSpPr>
          <p:cNvPr id="7" name="column-rule">
            <a:extLst xmlns:a="http://schemas.openxmlformats.org/drawingml/2006/main">
              <a:ext uri="{FF2B5EF4-FFF2-40B4-BE49-F238E27FC236}">
                <a16:creationId xmlns:a16="http://schemas.microsoft.com/office/drawing/2014/main" id="{CD983365-50AA-4396-9291-D66106F3C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47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8" name="section-points">
            <a:extLst xmlns:a="http://schemas.openxmlformats.org/drawingml/2006/main">
              <a:ext uri="{FF2B5EF4-FFF2-40B4-BE49-F238E27FC236}">
                <a16:creationId xmlns:a16="http://schemas.microsoft.com/office/drawing/2014/main" id="{CEDFD974-2EA4-48D3-8E3F-24D67A2F9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43150"/>
            <a:ext cx="557212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01  Workflows are more predictable, testable, and economical.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02  Agents are more flexible when the correct path cannot be written in advance.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03  Moving toward autonomy raises variance, latency, cost, and safety surface.</a:t>
            </a:r>
          </a:p>
        </p:txBody>
      </p:sp>
    </p:spTree>
    <p:extLst>
      <p:ext uri="{BB962C8B-B14F-4D97-AF65-F5344CB8AC3E}">
        <p14:creationId xmlns:p14="http://schemas.microsoft.com/office/powerpoint/2010/main" val="14978341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accent-line">
            <a:extLst xmlns:a="http://schemas.openxmlformats.org/drawingml/2006/main">
              <a:ext uri="{FF2B5EF4-FFF2-40B4-BE49-F238E27FC236}">
                <a16:creationId xmlns:a16="http://schemas.microsoft.com/office/drawing/2014/main" id="{0A298B57-3241-46D7-9FE8-B2CA1F097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4C2E0BE0-6A6A-42B1-8A21-B062A5845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06  /  01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11A8CD8-23E2-4A47-B4BE-985D4FBE3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E73D3A44-26AE-4BDC-9D57-C6A1734C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From Language Models to Agents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75D152B2-1220-44CC-AC29-712D75BF0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00125"/>
            <a:ext cx="11144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The engineering rule is minimum sufficient autonomy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B7FBF999-9157-415C-8909-D96F6289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Start with a single call or fixed workflow and add model-directed decisions only when the task requires them. Narrow scope, explicit evaluation, and human checkpoints are more reliable than an open-ended agent that can do anything.</a:t>
            </a:r>
          </a:p>
        </p:txBody>
      </p:sp>
      <p:sp>
        <p:nvSpPr>
          <p:cNvPr id="7" name="point-band-1">
            <a:extLst xmlns:a="http://schemas.openxmlformats.org/drawingml/2006/main">
              <a:ext uri="{FF2B5EF4-FFF2-40B4-BE49-F238E27FC236}">
                <a16:creationId xmlns:a16="http://schemas.microsoft.com/office/drawing/2014/main" id="{15A6C5B3-C101-438D-9F27-B883B2C96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48125"/>
            <a:ext cx="3435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8" name="point-1">
            <a:extLst xmlns:a="http://schemas.openxmlformats.org/drawingml/2006/main">
              <a:ext uri="{FF2B5EF4-FFF2-40B4-BE49-F238E27FC236}">
                <a16:creationId xmlns:a16="http://schemas.microsoft.com/office/drawing/2014/main" id="{77A5E2BA-3638-4EB5-AB91-B46D1315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24350"/>
            <a:ext cx="34353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Use execution-grounded tasks where success can be checked.</a:t>
            </a:r>
          </a:p>
        </p:txBody>
      </p:sp>
      <p:sp>
        <p:nvSpPr>
          <p:cNvPr id="9" name="point-band-2">
            <a:extLst xmlns:a="http://schemas.openxmlformats.org/drawingml/2006/main">
              <a:ext uri="{FF2B5EF4-FFF2-40B4-BE49-F238E27FC236}">
                <a16:creationId xmlns:a16="http://schemas.microsoft.com/office/drawing/2014/main" id="{E6344858-371B-4B76-8332-70B92A593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575" y="4048125"/>
            <a:ext cx="3435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10" name="point-2">
            <a:extLst xmlns:a="http://schemas.openxmlformats.org/drawingml/2006/main">
              <a:ext uri="{FF2B5EF4-FFF2-40B4-BE49-F238E27FC236}">
                <a16:creationId xmlns:a16="http://schemas.microsoft.com/office/drawing/2014/main" id="{4B83B280-5F00-4F15-A857-8C5FFDD30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575" y="4324350"/>
            <a:ext cx="34353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Bound long horizons because errors compound.</a:t>
            </a:r>
          </a:p>
        </p:txBody>
      </p:sp>
      <p:sp>
        <p:nvSpPr>
          <p:cNvPr id="11" name="point-band-3">
            <a:extLst xmlns:a="http://schemas.openxmlformats.org/drawingml/2006/main">
              <a:ext uri="{FF2B5EF4-FFF2-40B4-BE49-F238E27FC236}">
                <a16:creationId xmlns:a16="http://schemas.microsoft.com/office/drawing/2014/main" id="{686E75A0-D771-475C-AAB2-E5D11A91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4048125"/>
            <a:ext cx="3435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12" name="point-3">
            <a:extLst xmlns:a="http://schemas.openxmlformats.org/drawingml/2006/main">
              <a:ext uri="{FF2B5EF4-FFF2-40B4-BE49-F238E27FC236}">
                <a16:creationId xmlns:a16="http://schemas.microsoft.com/office/drawing/2014/main" id="{FDEDF016-D2C5-4B43-B8DB-D29EEB8DC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4324350"/>
            <a:ext cx="34353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Treat the production agent as a stack: model, tools, state, orchestration, eval, and guardrails.</a:t>
            </a:r>
          </a:p>
        </p:txBody>
      </p:sp>
    </p:spTree>
    <p:extLst>
      <p:ext uri="{BB962C8B-B14F-4D97-AF65-F5344CB8AC3E}">
        <p14:creationId xmlns:p14="http://schemas.microsoft.com/office/powerpoint/2010/main" val="153948156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ccent-line">
            <a:extLst xmlns:a="http://schemas.openxmlformats.org/drawingml/2006/main">
              <a:ext uri="{FF2B5EF4-FFF2-40B4-BE49-F238E27FC236}">
                <a16:creationId xmlns:a16="http://schemas.microsoft.com/office/drawing/2014/main" id="{D2672CB3-DDE5-4D1A-9D1F-0222CE373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41E7C06D-572E-48D8-8FFE-95D87CE3C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07  /  01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F9BD22A-85A5-4ED5-B1D1-4B7414023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8C2DF01C-651E-4A1B-8049-3AAF546E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From Language Models to Agents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8831EDFC-6304-4BDE-B806-F1E32381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71550"/>
            <a:ext cx="11144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baseline makes autonomy a testable choice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7291E2AE-C486-40BC-B3EB-80978879B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4524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Choose a small task with observable success before building an agent. Compare a fixed workflow with a model-directed loop on the same inputs. Treat the decision to add autonomy as an engineering hypothesis.</a:t>
            </a:r>
          </a:p>
        </p:txBody>
      </p:sp>
      <p:sp>
        <p:nvSpPr>
          <p:cNvPr id="7" name="column-rule">
            <a:extLst xmlns:a="http://schemas.openxmlformats.org/drawingml/2006/main">
              <a:ext uri="{FF2B5EF4-FFF2-40B4-BE49-F238E27FC236}">
                <a16:creationId xmlns:a16="http://schemas.microsoft.com/office/drawing/2014/main" id="{1E3C2A57-9912-4170-AD8B-C2340BCD6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47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8" name="section-points">
            <a:extLst xmlns:a="http://schemas.openxmlformats.org/drawingml/2006/main">
              <a:ext uri="{FF2B5EF4-FFF2-40B4-BE49-F238E27FC236}">
                <a16:creationId xmlns:a16="http://schemas.microsoft.com/office/drawing/2014/main" id="{03C2B0D0-3E66-4007-93A3-E916AEABD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43150"/>
            <a:ext cx="557212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01  Write expected outputs before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02  Keep task inputs and resource limits comparable.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03  Retain the simpler design when it meets the requirements.</a:t>
            </a:r>
          </a:p>
        </p:txBody>
      </p:sp>
    </p:spTree>
    <p:extLst>
      <p:ext uri="{BB962C8B-B14F-4D97-AF65-F5344CB8AC3E}">
        <p14:creationId xmlns:p14="http://schemas.microsoft.com/office/powerpoint/2010/main" val="134776960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cent-line">
            <a:extLst xmlns:a="http://schemas.openxmlformats.org/drawingml/2006/main">
              <a:ext uri="{FF2B5EF4-FFF2-40B4-BE49-F238E27FC236}">
                <a16:creationId xmlns:a16="http://schemas.microsoft.com/office/drawing/2014/main" id="{C8A32405-19B1-4525-B22B-C97AD64F3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985B5F21-2514-4B8C-AF61-B80934CA7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EXAM CHECK  /  01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C32B1E9-FFBC-4619-BB96-D2BE1FE55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0F9F1768-3493-4F4C-96E7-C38F269E6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From Language Models to Agents</a:t>
            </a:r>
          </a:p>
        </p:txBody>
      </p:sp>
      <p:sp>
        <p:nvSpPr>
          <p:cNvPr id="5" name="exam-title">
            <a:extLst xmlns:a="http://schemas.openxmlformats.org/drawingml/2006/main">
              <a:ext uri="{FF2B5EF4-FFF2-40B4-BE49-F238E27FC236}">
                <a16:creationId xmlns:a16="http://schemas.microsoft.com/office/drawing/2014/main" id="{EC191E53-F537-439C-90EE-BD2854034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81075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 you answer these without notes?</a:t>
            </a:r>
          </a:p>
        </p:txBody>
      </p:sp>
      <p:sp>
        <p:nvSpPr>
          <p:cNvPr id="6" name="exam-number-1">
            <a:extLst xmlns:a="http://schemas.openxmlformats.org/drawingml/2006/main">
              <a:ext uri="{FF2B5EF4-FFF2-40B4-BE49-F238E27FC236}">
                <a16:creationId xmlns:a16="http://schemas.microsoft.com/office/drawing/2014/main" id="{83D46B02-483A-4CBA-8126-11166D322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2383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exam-question-1">
            <a:extLst xmlns:a="http://schemas.openxmlformats.org/drawingml/2006/main">
              <a:ext uri="{FF2B5EF4-FFF2-40B4-BE49-F238E27FC236}">
                <a16:creationId xmlns:a16="http://schemas.microsoft.com/office/drawing/2014/main" id="{16040E7B-51F3-467A-8768-E259E6ED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2383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Give the classical definition of an agent and reframe it for an LLM system.</a:t>
            </a:r>
          </a:p>
        </p:txBody>
      </p:sp>
      <p:sp>
        <p:nvSpPr>
          <p:cNvPr id="8" name="exam-number-2">
            <a:extLst xmlns:a="http://schemas.openxmlformats.org/drawingml/2006/main">
              <a:ext uri="{FF2B5EF4-FFF2-40B4-BE49-F238E27FC236}">
                <a16:creationId xmlns:a16="http://schemas.microsoft.com/office/drawing/2014/main" id="{7AB760A6-F610-4C16-83C8-F9C23F126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exam-question-2">
            <a:extLst xmlns:a="http://schemas.openxmlformats.org/drawingml/2006/main">
              <a:ext uri="{FF2B5EF4-FFF2-40B4-BE49-F238E27FC236}">
                <a16:creationId xmlns:a16="http://schemas.microsoft.com/office/drawing/2014/main" id="{85552C38-F542-4D56-B2F5-A0545128A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383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Why is an agent a composition rather than a new model paradigm?</a:t>
            </a:r>
          </a:p>
        </p:txBody>
      </p:sp>
      <p:sp>
        <p:nvSpPr>
          <p:cNvPr id="10" name="exam-number-3">
            <a:extLst xmlns:a="http://schemas.openxmlformats.org/drawingml/2006/main">
              <a:ext uri="{FF2B5EF4-FFF2-40B4-BE49-F238E27FC236}">
                <a16:creationId xmlns:a16="http://schemas.microsoft.com/office/drawing/2014/main" id="{2ACC8C37-6B9E-499B-B765-AA8A13EA3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956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1" name="exam-question-3">
            <a:extLst xmlns:a="http://schemas.openxmlformats.org/drawingml/2006/main">
              <a:ext uri="{FF2B5EF4-FFF2-40B4-BE49-F238E27FC236}">
                <a16:creationId xmlns:a16="http://schemas.microsoft.com/office/drawing/2014/main" id="{E5FEAA19-2B17-49A1-B529-17952D47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4956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Compare chatbot, workflow, and agent by control flow and tool use.</a:t>
            </a:r>
          </a:p>
        </p:txBody>
      </p:sp>
      <p:sp>
        <p:nvSpPr>
          <p:cNvPr id="12" name="exam-number-4">
            <a:extLst xmlns:a="http://schemas.openxmlformats.org/drawingml/2006/main">
              <a:ext uri="{FF2B5EF4-FFF2-40B4-BE49-F238E27FC236}">
                <a16:creationId xmlns:a16="http://schemas.microsoft.com/office/drawing/2014/main" id="{ED6CA76F-C76A-405B-9933-4A0E2D20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956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3" name="exam-question-4">
            <a:extLst xmlns:a="http://schemas.openxmlformats.org/drawingml/2006/main">
              <a:ext uri="{FF2B5EF4-FFF2-40B4-BE49-F238E27FC236}">
                <a16:creationId xmlns:a16="http://schemas.microsoft.com/office/drawing/2014/main" id="{B70F211F-CE91-44CC-A3BB-E0A15E7A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4956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Name the four agent components and the responsibility of each.</a:t>
            </a:r>
          </a:p>
        </p:txBody>
      </p:sp>
      <p:sp>
        <p:nvSpPr>
          <p:cNvPr id="14" name="exam-number-5">
            <a:extLst xmlns:a="http://schemas.openxmlformats.org/drawingml/2006/main">
              <a:ext uri="{FF2B5EF4-FFF2-40B4-BE49-F238E27FC236}">
                <a16:creationId xmlns:a16="http://schemas.microsoft.com/office/drawing/2014/main" id="{FD74DE14-CE36-41AA-96CD-99E6E4E5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7529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15" name="exam-question-5">
            <a:extLst xmlns:a="http://schemas.openxmlformats.org/drawingml/2006/main">
              <a:ext uri="{FF2B5EF4-FFF2-40B4-BE49-F238E27FC236}">
                <a16:creationId xmlns:a16="http://schemas.microsoft.com/office/drawing/2014/main" id="{D72EF7AA-3B3E-46E6-901A-3B5662307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7529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Why are typical LLM-agent environments difficult?</a:t>
            </a:r>
          </a:p>
        </p:txBody>
      </p:sp>
      <p:sp>
        <p:nvSpPr>
          <p:cNvPr id="16" name="exam-number-6">
            <a:extLst xmlns:a="http://schemas.openxmlformats.org/drawingml/2006/main">
              <a:ext uri="{FF2B5EF4-FFF2-40B4-BE49-F238E27FC236}">
                <a16:creationId xmlns:a16="http://schemas.microsoft.com/office/drawing/2014/main" id="{7C16618B-ECC2-407A-8683-0B7EDEEF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529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17" name="exam-question-6">
            <a:extLst xmlns:a="http://schemas.openxmlformats.org/drawingml/2006/main">
              <a:ext uri="{FF2B5EF4-FFF2-40B4-BE49-F238E27FC236}">
                <a16:creationId xmlns:a16="http://schemas.microsoft.com/office/drawing/2014/main" id="{4632CB83-2EC8-40D0-8E42-A9EC9AE2B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7529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How would you test whether a fixed workflow is sufficient for a task?</a:t>
            </a:r>
          </a:p>
        </p:txBody>
      </p:sp>
    </p:spTree>
    <p:extLst>
      <p:ext uri="{BB962C8B-B14F-4D97-AF65-F5344CB8AC3E}">
        <p14:creationId xmlns:p14="http://schemas.microsoft.com/office/powerpoint/2010/main" val="151025347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cent-line">
            <a:extLst xmlns:a="http://schemas.openxmlformats.org/drawingml/2006/main">
              <a:ext uri="{FF2B5EF4-FFF2-40B4-BE49-F238E27FC236}">
                <a16:creationId xmlns:a16="http://schemas.microsoft.com/office/drawing/2014/main" id="{5ABB4ED4-41AD-45EE-AACE-2DF7C4187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C5D91C7C-24A5-437D-A9F3-6E38B0795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CHAPTER SYNTHESIS  /  01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8DA77DD-AC4D-4D0F-8267-CCBDF42D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ECD988E6-225D-488C-8112-0A1950A9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From Language Models to Agents</a:t>
            </a:r>
          </a:p>
        </p:txBody>
      </p:sp>
      <p:sp>
        <p:nvSpPr>
          <p:cNvPr id="5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75B162D0-B3F6-4545-8BFD-CBB11795B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47750"/>
            <a:ext cx="10287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What must remain after the details fade</a:t>
            </a:r>
          </a:p>
        </p:txBody>
      </p:sp>
      <p:sp>
        <p:nvSpPr>
          <p:cNvPr id="6" name="takeaway-number-1">
            <a:extLst xmlns:a="http://schemas.openxmlformats.org/drawingml/2006/main">
              <a:ext uri="{FF2B5EF4-FFF2-40B4-BE49-F238E27FC236}">
                <a16:creationId xmlns:a16="http://schemas.microsoft.com/office/drawing/2014/main" id="{3FF33CEE-F266-46DB-ABD1-7E174B9F7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336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takeaway-1">
            <a:extLst xmlns:a="http://schemas.openxmlformats.org/drawingml/2006/main">
              <a:ext uri="{FF2B5EF4-FFF2-40B4-BE49-F238E27FC236}">
                <a16:creationId xmlns:a16="http://schemas.microsoft.com/office/drawing/2014/main" id="{05D72CC9-33E6-445E-96F1-C95171CB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145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Agent = LLM reasoning core + tools + loop + memory.</a:t>
            </a:r>
          </a:p>
        </p:txBody>
      </p:sp>
      <p:sp>
        <p:nvSpPr>
          <p:cNvPr id="8" name="takeaway-number-2">
            <a:extLst xmlns:a="http://schemas.openxmlformats.org/drawingml/2006/main">
              <a:ext uri="{FF2B5EF4-FFF2-40B4-BE49-F238E27FC236}">
                <a16:creationId xmlns:a16="http://schemas.microsoft.com/office/drawing/2014/main" id="{F3E8DCFD-EB41-4A87-8193-97EAA3F15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99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takeaway-2">
            <a:extLst xmlns:a="http://schemas.openxmlformats.org/drawingml/2006/main">
              <a:ext uri="{FF2B5EF4-FFF2-40B4-BE49-F238E27FC236}">
                <a16:creationId xmlns:a16="http://schemas.microsoft.com/office/drawing/2014/main" id="{351C1108-1680-43E4-83D1-151A6F7A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908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Profile, memory, planning, and action are the reusable anatomy.</a:t>
            </a:r>
          </a:p>
        </p:txBody>
      </p:sp>
      <p:sp>
        <p:nvSpPr>
          <p:cNvPr id="10" name="takeaway-number-3">
            <a:extLst xmlns:a="http://schemas.openxmlformats.org/drawingml/2006/main">
              <a:ext uri="{FF2B5EF4-FFF2-40B4-BE49-F238E27FC236}">
                <a16:creationId xmlns:a16="http://schemas.microsoft.com/office/drawing/2014/main" id="{51D87D46-CBE7-4BC7-9AF1-BAF294DA7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862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1" name="takeaway-3">
            <a:extLst xmlns:a="http://schemas.openxmlformats.org/drawingml/2006/main">
              <a:ext uri="{FF2B5EF4-FFF2-40B4-BE49-F238E27FC236}">
                <a16:creationId xmlns:a16="http://schemas.microsoft.com/office/drawing/2014/main" id="{8C982EC1-4E3D-421F-9337-FBC2B0B53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671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Autonomy is a design variable; choose the leftmost workable point.</a:t>
            </a:r>
          </a:p>
        </p:txBody>
      </p:sp>
      <p:sp>
        <p:nvSpPr>
          <p:cNvPr id="12" name="takeaway-number-4">
            <a:extLst xmlns:a="http://schemas.openxmlformats.org/drawingml/2006/main">
              <a:ext uri="{FF2B5EF4-FFF2-40B4-BE49-F238E27FC236}">
                <a16:creationId xmlns:a16="http://schemas.microsoft.com/office/drawing/2014/main" id="{7ABF4157-81B2-4E0D-947E-CBE914B2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9625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B9F15B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3" name="takeaway-4">
            <a:extLst xmlns:a="http://schemas.openxmlformats.org/drawingml/2006/main">
              <a:ext uri="{FF2B5EF4-FFF2-40B4-BE49-F238E27FC236}">
                <a16:creationId xmlns:a16="http://schemas.microsoft.com/office/drawing/2014/main" id="{3CDBF9D3-8CA0-43A5-A143-D1CD85AF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434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Reliability comes from the system around the model.</a:t>
            </a:r>
          </a:p>
        </p:txBody>
      </p:sp>
    </p:spTree>
    <p:extLst>
      <p:ext uri="{BB962C8B-B14F-4D97-AF65-F5344CB8AC3E}">
        <p14:creationId xmlns:p14="http://schemas.microsoft.com/office/powerpoint/2010/main" val="133570906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accent-line">
            <a:extLst xmlns:a="http://schemas.openxmlformats.org/drawingml/2006/main">
              <a:ext uri="{FF2B5EF4-FFF2-40B4-BE49-F238E27FC236}">
                <a16:creationId xmlns:a16="http://schemas.microsoft.com/office/drawing/2014/main" id="{F9DA4B89-6147-4EE9-88C0-91D7AC92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15B"/>
          </a:solidFill>
          <a:ln xmlns:a="http://schemas.openxmlformats.org/drawingml/2006/main" w="0">
            <a:solidFill>
              <a:srgbClr val="B9F15B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FD628A3A-D6A4-475C-8F36-6D45EBE0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PRACTICE AND READING  /  01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7009712B-C9EF-4B76-8C86-BA15198F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94B195B1-763E-4BCB-908B-BBE9AF32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From Language Models to Agents</a:t>
            </a:r>
          </a:p>
        </p:txBody>
      </p:sp>
      <p:sp>
        <p:nvSpPr>
          <p:cNvPr id="5" name="practice-title">
            <a:extLst xmlns:a="http://schemas.openxmlformats.org/drawingml/2006/main">
              <a:ext uri="{FF2B5EF4-FFF2-40B4-BE49-F238E27FC236}">
                <a16:creationId xmlns:a16="http://schemas.microsoft.com/office/drawing/2014/main" id="{AE101221-4CF8-419D-B524-B68B453F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00125"/>
            <a:ext cx="1114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Evidence to submit</a:t>
            </a:r>
          </a:p>
        </p:txBody>
      </p:sp>
      <p:sp>
        <p:nvSpPr>
          <p:cNvPr id="6" name="practice-task">
            <a:extLst xmlns:a="http://schemas.openxmlformats.org/drawingml/2006/main">
              <a:ext uri="{FF2B5EF4-FFF2-40B4-BE49-F238E27FC236}">
                <a16:creationId xmlns:a16="http://schemas.microsoft.com/office/drawing/2014/main" id="{35AAAEA3-7D49-4B1E-A930-128048D1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000250"/>
            <a:ext cx="1095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Choose a catalog lookup or arithmetic task. Write six cases, including empty input and an unknown item. Define a pass condition and a call limit. Explain what dynamic decision, if any, needs a model.</a:t>
            </a:r>
          </a:p>
        </p:txBody>
      </p:sp>
      <p:sp>
        <p:nvSpPr>
          <p:cNvPr id="7" name="practice-check">
            <a:extLst xmlns:a="http://schemas.openxmlformats.org/drawingml/2006/main">
              <a:ext uri="{FF2B5EF4-FFF2-40B4-BE49-F238E27FC236}">
                <a16:creationId xmlns:a16="http://schemas.microsoft.com/office/drawing/2014/main" id="{71AFF106-D2CD-4754-B031-5FD822BA8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81375"/>
            <a:ext cx="1095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Submit the cases and an architecture choice before running a model. Credit follows the evidence, including a decision to keep a fixed workflow.</a:t>
            </a:r>
          </a:p>
        </p:txBody>
      </p:sp>
      <p:sp>
        <p:nvSpPr>
          <p:cNvPr id="8" name="practice-readings">
            <a:extLst xmlns:a="http://schemas.openxmlformats.org/drawingml/2006/main">
              <a:ext uri="{FF2B5EF4-FFF2-40B4-BE49-F238E27FC236}">
                <a16:creationId xmlns:a16="http://schemas.microsoft.com/office/drawing/2014/main" id="{1246CB2B-9D02-40AA-BDC7-5DA1F275E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Reading: classroom baseline and acceptance tests</a:t>
            </a:r>
          </a:p>
        </p:txBody>
      </p:sp>
      <p:sp>
        <p:nvSpPr>
          <p:cNvPr id="9" name="practice-lab">
            <a:extLst xmlns:a="http://schemas.openxmlformats.org/drawingml/2006/main">
              <a:ext uri="{FF2B5EF4-FFF2-40B4-BE49-F238E27FC236}">
                <a16:creationId xmlns:a16="http://schemas.microsoft.com/office/drawing/2014/main" id="{5D9BC56A-3CA6-4226-BD39-17070983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857875"/>
            <a:ext cx="1095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labs/05_gemini_bounded_tools.ipynb</a:t>
            </a:r>
          </a:p>
        </p:txBody>
      </p:sp>
    </p:spTree>
    <p:extLst>
      <p:ext uri="{BB962C8B-B14F-4D97-AF65-F5344CB8AC3E}">
        <p14:creationId xmlns:p14="http://schemas.microsoft.com/office/powerpoint/2010/main" val="423174681"/>
      </p:ext>
    </p:extLst>
  </p:cSld>
</p:sld>
</file>

<file path=ppt/theme/theme1.xml><?xml version="1.0" encoding="utf-8"?>
<a:theme xmlns:a="http://schemas.openxmlformats.org/drawingml/2006/main" name="Course">
  <a:themeElements>
    <a:clrScheme name="Cours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ours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/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/>
  <lastModifiedBy/>
  <dc:title>01-introduction</dc:title>
  <dcterms:created xsi:type="dcterms:W3CDTF">2026-09-09T16:56:32.8720000Z</dcterms:created>
  <dcterms:modified xsi:type="dcterms:W3CDTF">2026-09-09T16:56:32.8720000Z</dcterms:modified>
</coreProperties>
</file>