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61bc2dcc1744af" /><Relationship Type="http://schemas.openxmlformats.org/officeDocument/2006/relationships/extended-properties" Target="/docProps/app.xml" Id="R007db710e13c40db" /><Relationship Type="http://schemas.openxmlformats.org/officeDocument/2006/relationships/officeDocument" Target="/ppt/presentation.xml" Id="R2c0d12ed25cd4f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6007588cf54b38"/>
  </p:sldMasterIdLst>
  <p:notesMasterIdLst>
    <p:notesMasterId xmlns:r="http://schemas.openxmlformats.org/officeDocument/2006/relationships" r:id="R3b54a2f252c14085"/>
  </p:notesMasterIdLst>
  <p:sldIdLst>
    <p:sldId xmlns:r="http://schemas.openxmlformats.org/officeDocument/2006/relationships" id="256" r:id="R629daa727a2742d6"/>
    <p:sldId xmlns:r="http://schemas.openxmlformats.org/officeDocument/2006/relationships" id="257" r:id="Rc6993e4dd6df4e2e"/>
    <p:sldId xmlns:r="http://schemas.openxmlformats.org/officeDocument/2006/relationships" id="258" r:id="R05dd2c803dea4a6e"/>
    <p:sldId xmlns:r="http://schemas.openxmlformats.org/officeDocument/2006/relationships" id="259" r:id="R61cfb5b89bcb4d89"/>
    <p:sldId xmlns:r="http://schemas.openxmlformats.org/officeDocument/2006/relationships" id="260" r:id="R66315555965f43e2"/>
    <p:sldId xmlns:r="http://schemas.openxmlformats.org/officeDocument/2006/relationships" id="261" r:id="Rb2c26bde32b1487d"/>
    <p:sldId xmlns:r="http://schemas.openxmlformats.org/officeDocument/2006/relationships" id="262" r:id="Rac6b4e0cbe194f38"/>
    <p:sldId xmlns:r="http://schemas.openxmlformats.org/officeDocument/2006/relationships" id="263" r:id="R4fa4e358f6d84b3b"/>
    <p:sldId xmlns:r="http://schemas.openxmlformats.org/officeDocument/2006/relationships" id="264" r:id="R6d4e576b212e42a4"/>
    <p:sldId xmlns:r="http://schemas.openxmlformats.org/officeDocument/2006/relationships" id="265" r:id="Rbe4a2780cb944547"/>
    <p:sldId xmlns:r="http://schemas.openxmlformats.org/officeDocument/2006/relationships" id="266" r:id="R48e91b7ff9c2454e"/>
    <p:sldId xmlns:r="http://schemas.openxmlformats.org/officeDocument/2006/relationships" id="267" r:id="R5a60efac25fe44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6cf3705a8f4c04" /><Relationship Type="http://schemas.openxmlformats.org/officeDocument/2006/relationships/slideMaster" Target="/ppt/slideMasters/slideMaster1.xml" Id="R876007588cf54b38" /><Relationship Type="http://schemas.openxmlformats.org/officeDocument/2006/relationships/notesMaster" Target="/ppt/notesMasters/notesMaster1.xml" Id="R3b54a2f252c14085" /><Relationship Type="http://schemas.openxmlformats.org/officeDocument/2006/relationships/presProps" Target="/ppt/presProps.xml" Id="R436b3bfc9ceb48fe" /><Relationship Type="http://schemas.openxmlformats.org/officeDocument/2006/relationships/tableStyles" Target="/ppt/tableStyles.xml" Id="Rc7a00c5150b5437a" /><Relationship Type="http://schemas.openxmlformats.org/officeDocument/2006/relationships/slide" Target="/ppt/slides/slide1.xml" Id="R629daa727a2742d6" /><Relationship Type="http://schemas.openxmlformats.org/officeDocument/2006/relationships/slide" Target="/ppt/slides/slide2.xml" Id="Rc6993e4dd6df4e2e" /><Relationship Type="http://schemas.openxmlformats.org/officeDocument/2006/relationships/slide" Target="/ppt/slides/slide3.xml" Id="R05dd2c803dea4a6e" /><Relationship Type="http://schemas.openxmlformats.org/officeDocument/2006/relationships/slide" Target="/ppt/slides/slide4.xml" Id="R61cfb5b89bcb4d89" /><Relationship Type="http://schemas.openxmlformats.org/officeDocument/2006/relationships/slide" Target="/ppt/slides/slide5.xml" Id="R66315555965f43e2" /><Relationship Type="http://schemas.openxmlformats.org/officeDocument/2006/relationships/slide" Target="/ppt/slides/slide6.xml" Id="Rb2c26bde32b1487d" /><Relationship Type="http://schemas.openxmlformats.org/officeDocument/2006/relationships/slide" Target="/ppt/slides/slide7.xml" Id="Rac6b4e0cbe194f38" /><Relationship Type="http://schemas.openxmlformats.org/officeDocument/2006/relationships/slide" Target="/ppt/slides/slide8.xml" Id="R4fa4e358f6d84b3b" /><Relationship Type="http://schemas.openxmlformats.org/officeDocument/2006/relationships/slide" Target="/ppt/slides/slide9.xml" Id="R6d4e576b212e42a4" /><Relationship Type="http://schemas.openxmlformats.org/officeDocument/2006/relationships/slide" Target="/ppt/slides/slide10.xml" Id="Rbe4a2780cb944547" /><Relationship Type="http://schemas.openxmlformats.org/officeDocument/2006/relationships/slide" Target="/ppt/slides/slide11.xml" Id="R48e91b7ff9c2454e" /><Relationship Type="http://schemas.openxmlformats.org/officeDocument/2006/relationships/slide" Target="/ppt/slides/slide12.xml" Id="R5a60efac25fe44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f346bdadf949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e6969d145e4dc0" /><Relationship Type="http://schemas.openxmlformats.org/officeDocument/2006/relationships/notesMaster" Target="/ppt/notesMasters/notesMaster1.xml" Id="Rd12bb26103fd4b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4f32eca7844d73" /><Relationship Type="http://schemas.openxmlformats.org/officeDocument/2006/relationships/notesMaster" Target="/ppt/notesMasters/notesMaster1.xml" Id="Rcc18bdb5004d47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ea3b59b4164b44" /><Relationship Type="http://schemas.openxmlformats.org/officeDocument/2006/relationships/notesMaster" Target="/ppt/notesMasters/notesMaster1.xml" Id="Rab7b6a5d18b24c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2c0d62c663476a" /><Relationship Type="http://schemas.openxmlformats.org/officeDocument/2006/relationships/notesMaster" Target="/ppt/notesMasters/notesMaster1.xml" Id="R6dbe3015b0f840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0921cab9144518" /><Relationship Type="http://schemas.openxmlformats.org/officeDocument/2006/relationships/notesMaster" Target="/ppt/notesMasters/notesMaster1.xml" Id="Rf70d3a050d4842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725a6c9d2446bc" /><Relationship Type="http://schemas.openxmlformats.org/officeDocument/2006/relationships/notesMaster" Target="/ppt/notesMasters/notesMaster1.xml" Id="Rdf51e59734ad4d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5b04c662db4c57" /><Relationship Type="http://schemas.openxmlformats.org/officeDocument/2006/relationships/notesMaster" Target="/ppt/notesMasters/notesMaster1.xml" Id="Raf5fe68c2f4547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255308afdd4260" /><Relationship Type="http://schemas.openxmlformats.org/officeDocument/2006/relationships/notesMaster" Target="/ppt/notesMasters/notesMaster1.xml" Id="Rdd7fd7848ea24b9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e8ee62e36b4262" /><Relationship Type="http://schemas.openxmlformats.org/officeDocument/2006/relationships/notesMaster" Target="/ppt/notesMasters/notesMaster1.xml" Id="Re86e0fdc15d943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0718582fd4e43ee" /><Relationship Type="http://schemas.openxmlformats.org/officeDocument/2006/relationships/notesMaster" Target="/ppt/notesMasters/notesMaster1.xml" Id="R12cfe1910b454f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07206ff9bd4261" /><Relationship Type="http://schemas.openxmlformats.org/officeDocument/2006/relationships/notesMaster" Target="/ppt/notesMasters/notesMaster1.xml" Id="R7f70ca76e01447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f8257067a8e40b7" /><Relationship Type="http://schemas.openxmlformats.org/officeDocument/2006/relationships/notesMaster" Target="/ppt/notesMasters/notesMaster1.xml" Id="R58aa9f005c404b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chapter thesis and connect it to the previous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objectives as an advance organizer and as a checklist after the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as retrieval practice. Ask for an answer that defines, compares, traces, and evaluates.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restating the four durable ideas and linking forward to the next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 the submitted evidence with the stated acceptance check. Reading links and limitations follow.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10-reasoning-planning.pdf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R1: Patterns and problems in emerging multiagent systems. Anthropic research post, 2026-08-13. https://www.anthropic.com/research/multiagent-systems Controlled coordination experiments. Compare scope and budgets before interpreting the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Use Lab 7's paired inputs to test a prediction about a misleading cue. Propose an equal-budget comparison with voting and identify a shared-error failure case.</a:t>
            </a:r>
          </a:p>
          <a:p xmlns:a="http://schemas.openxmlformats.org/drawingml/2006/main">
            <a:r>
              <a:t>Acceptance: Keep predictions, observations, and interpretations separate. State the limits of a small experiment.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785c6cc6d943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be525c86194244" /><Relationship Type="http://schemas.openxmlformats.org/officeDocument/2006/relationships/slideLayout" Target="/ppt/slideLayouts/slideLayout1.xml" Id="Rd0622ef29fb14f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622ef29fb14f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95c60a5ed4886" /><Relationship Type="http://schemas.openxmlformats.org/officeDocument/2006/relationships/notesSlide" Target="/ppt/notesSlides/notesSlide1.xml" Id="R7f2ab85d99374d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335e87029d4265" /><Relationship Type="http://schemas.openxmlformats.org/officeDocument/2006/relationships/notesSlide" Target="/ppt/notesSlides/notesSlide2.xml" Id="Rdedb2af7b77043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bcbb03c4e438c" /><Relationship Type="http://schemas.openxmlformats.org/officeDocument/2006/relationships/notesSlide" Target="/ppt/notesSlides/notesSlide3.xml" Id="R9a36d7f3f0184a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7632fd15094af2" /><Relationship Type="http://schemas.openxmlformats.org/officeDocument/2006/relationships/notesSlide" Target="/ppt/notesSlides/notesSlide4.xml" Id="R6d61b495a4cd46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e69de7a174fe1" /><Relationship Type="http://schemas.openxmlformats.org/officeDocument/2006/relationships/notesSlide" Target="/ppt/notesSlides/notesSlide5.xml" Id="Rcd4f9fef12e04f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3cbf89703491e" /><Relationship Type="http://schemas.openxmlformats.org/officeDocument/2006/relationships/notesSlide" Target="/ppt/notesSlides/notesSlide6.xml" Id="Rf31df383128743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ba67f239d4b2f" /><Relationship Type="http://schemas.openxmlformats.org/officeDocument/2006/relationships/notesSlide" Target="/ppt/notesSlides/notesSlide7.xml" Id="R7173c68b806c4e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66103354ea4320" /><Relationship Type="http://schemas.openxmlformats.org/officeDocument/2006/relationships/notesSlide" Target="/ppt/notesSlides/notesSlide8.xml" Id="R94473a5c63f947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b83f4dbe842bb" /><Relationship Type="http://schemas.openxmlformats.org/officeDocument/2006/relationships/notesSlide" Target="/ppt/notesSlides/notesSlide9.xml" Id="Rb1410c31f7a149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bf4052491486c" /><Relationship Type="http://schemas.openxmlformats.org/officeDocument/2006/relationships/notesSlide" Target="/ppt/notesSlides/notesSlide10.xml" Id="Re38c790d53014e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67189189b4db6" /><Relationship Type="http://schemas.openxmlformats.org/officeDocument/2006/relationships/notesSlide" Target="/ppt/notesSlides/notesSlide11.xml" Id="R1e49427d61b144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4d5bb8513e4487" /><Relationship Type="http://schemas.openxmlformats.org/officeDocument/2006/relationships/notesSlide" Target="/ppt/notesSlides/notesSlide12.xml" Id="R40e2c47184b5497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FFC48430-2A78-4A0D-A56D-70DADB29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ourse-title">
            <a:extLst xmlns:a="http://schemas.openxmlformats.org/drawingml/2006/main">
              <a:ext uri="{FF2B5EF4-FFF2-40B4-BE49-F238E27FC236}">
                <a16:creationId xmlns:a16="http://schemas.microsoft.com/office/drawing/2014/main" id="{ACCCBAEE-9966-42A4-AF41-1962951A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AGENTIC AI</a:t>
            </a:r>
          </a:p>
        </p:txBody>
      </p:sp>
      <p:sp>
        <p:nvSpPr>
          <p:cNvPr id="3" name="chapter-number">
            <a:extLst xmlns:a="http://schemas.openxmlformats.org/drawingml/2006/main">
              <a:ext uri="{FF2B5EF4-FFF2-40B4-BE49-F238E27FC236}">
                <a16:creationId xmlns:a16="http://schemas.microsoft.com/office/drawing/2014/main" id="{129196B9-71BF-4125-BECF-8EA87C76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619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D7FC1299-6F1B-4AC0-BF15-3900F4A1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98583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deck-thesis">
            <a:extLst xmlns:a="http://schemas.openxmlformats.org/drawingml/2006/main">
              <a:ext uri="{FF2B5EF4-FFF2-40B4-BE49-F238E27FC236}">
                <a16:creationId xmlns:a16="http://schemas.microsoft.com/office/drawing/2014/main" id="{13236BEE-BF8E-4C77-8980-82FDF48A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85248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Reasoning strategies trade inference compute for exploration, correction, or structure; the correct strategy depends on task difficulty and verifiability.</a:t>
            </a:r>
          </a:p>
        </p:txBody>
      </p:sp>
      <p:sp>
        <p:nvSpPr>
          <p:cNvPr id="6" name="title-marker">
            <a:extLst xmlns:a="http://schemas.openxmlformats.org/drawingml/2006/main">
              <a:ext uri="{FF2B5EF4-FFF2-40B4-BE49-F238E27FC236}">
                <a16:creationId xmlns:a16="http://schemas.microsoft.com/office/drawing/2014/main" id="{CF41F053-A9A5-48A8-8220-CD4DA5B4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10100"/>
            <a:ext cx="2266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7" name="title-marker-text">
            <a:extLst xmlns:a="http://schemas.openxmlformats.org/drawingml/2006/main">
              <a:ext uri="{FF2B5EF4-FFF2-40B4-BE49-F238E27FC236}">
                <a16:creationId xmlns:a16="http://schemas.microsoft.com/office/drawing/2014/main" id="{744FE535-3F9B-4CB0-827C-78BEB17C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762500"/>
            <a:ext cx="1809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STUDY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DECK</a:t>
            </a:r>
          </a:p>
        </p:txBody>
      </p:sp>
    </p:spTree>
    <p:extLst>
      <p:ext uri="{BB962C8B-B14F-4D97-AF65-F5344CB8AC3E}">
        <p14:creationId xmlns:p14="http://schemas.microsoft.com/office/powerpoint/2010/main" val="3423963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00274ADE-3946-4AC2-B957-FA0AE883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5EF9F754-33B1-4BD5-B3F7-DE2CFB44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LEARNING MAP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5C7A0CC-2754-4507-A23B-090312BE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41ECEA87-EE40-4C97-90D8-4C73D5C4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objectives-title">
            <a:extLst xmlns:a="http://schemas.openxmlformats.org/drawingml/2006/main">
              <a:ext uri="{FF2B5EF4-FFF2-40B4-BE49-F238E27FC236}">
                <a16:creationId xmlns:a16="http://schemas.microsoft.com/office/drawing/2014/main" id="{223BB5AA-06E5-45FF-A6A9-5720B31C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906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By the end, you should be able to...</a:t>
            </a:r>
          </a:p>
        </p:txBody>
      </p:sp>
      <p:sp>
        <p:nvSpPr>
          <p:cNvPr id="6" name="objective-number-1">
            <a:extLst xmlns:a="http://schemas.openxmlformats.org/drawingml/2006/main">
              <a:ext uri="{FF2B5EF4-FFF2-40B4-BE49-F238E27FC236}">
                <a16:creationId xmlns:a16="http://schemas.microsoft.com/office/drawing/2014/main" id="{C7044A16-7F9C-4A21-977F-7167757F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objective-1">
            <a:extLst xmlns:a="http://schemas.openxmlformats.org/drawingml/2006/main">
              <a:ext uri="{FF2B5EF4-FFF2-40B4-BE49-F238E27FC236}">
                <a16:creationId xmlns:a16="http://schemas.microsoft.com/office/drawing/2014/main" id="{CCD46B7E-C658-41DE-AB02-0E3E0266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Compare linear, sampled, searched, and reflective reasoning</a:t>
            </a:r>
          </a:p>
        </p:txBody>
      </p:sp>
      <p:sp>
        <p:nvSpPr>
          <p:cNvPr id="8" name="objective-number-2">
            <a:extLst xmlns:a="http://schemas.openxmlformats.org/drawingml/2006/main">
              <a:ext uri="{FF2B5EF4-FFF2-40B4-BE49-F238E27FC236}">
                <a16:creationId xmlns:a16="http://schemas.microsoft.com/office/drawing/2014/main" id="{707C1044-9141-4923-8175-ABF133AA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objective-2">
            <a:extLst xmlns:a="http://schemas.openxmlformats.org/drawingml/2006/main">
              <a:ext uri="{FF2B5EF4-FFF2-40B4-BE49-F238E27FC236}">
                <a16:creationId xmlns:a16="http://schemas.microsoft.com/office/drawing/2014/main" id="{641B4FE2-546A-4152-BF06-ED371FD9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Choose a planning strategy</a:t>
            </a:r>
          </a:p>
        </p:txBody>
      </p:sp>
      <p:sp>
        <p:nvSpPr>
          <p:cNvPr id="10" name="objective-number-3">
            <a:extLst xmlns:a="http://schemas.openxmlformats.org/drawingml/2006/main">
              <a:ext uri="{FF2B5EF4-FFF2-40B4-BE49-F238E27FC236}">
                <a16:creationId xmlns:a16="http://schemas.microsoft.com/office/drawing/2014/main" id="{310C431E-F5E9-4DED-86BB-D35DF7B0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objective-3">
            <a:extLst xmlns:a="http://schemas.openxmlformats.org/drawingml/2006/main">
              <a:ext uri="{FF2B5EF4-FFF2-40B4-BE49-F238E27FC236}">
                <a16:creationId xmlns:a16="http://schemas.microsoft.com/office/drawing/2014/main" id="{F290056F-C70F-4795-A527-3EC3F674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Explain test-time compute scaling</a:t>
            </a:r>
          </a:p>
        </p:txBody>
      </p:sp>
      <p:sp>
        <p:nvSpPr>
          <p:cNvPr id="12" name="objective-number-4">
            <a:extLst xmlns:a="http://schemas.openxmlformats.org/drawingml/2006/main">
              <a:ext uri="{FF2B5EF4-FFF2-40B4-BE49-F238E27FC236}">
                <a16:creationId xmlns:a16="http://schemas.microsoft.com/office/drawing/2014/main" id="{731A8033-74C4-413C-9312-50747EB0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objective-4">
            <a:extLst xmlns:a="http://schemas.openxmlformats.org/drawingml/2006/main">
              <a:ext uri="{FF2B5EF4-FFF2-40B4-BE49-F238E27FC236}">
                <a16:creationId xmlns:a16="http://schemas.microsoft.com/office/drawing/2014/main" id="{0AC4E4EB-8BB6-400C-9787-DA4E6F89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Recognize overthinking and faithfulness limits</a:t>
            </a:r>
          </a:p>
        </p:txBody>
      </p:sp>
    </p:spTree>
    <p:extLst>
      <p:ext uri="{BB962C8B-B14F-4D97-AF65-F5344CB8AC3E}">
        <p14:creationId xmlns:p14="http://schemas.microsoft.com/office/powerpoint/2010/main" val="3124407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E1519024-0ECE-4BA2-AB24-A5606B83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420DE41-EBB3-408A-A72F-0FEBECE0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01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1342DB1-6797-43E6-9F59-F1B3E0AB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ED368923-DB90-482F-91DF-402749C1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3403C8B3-363C-4B55-B177-C192E4A1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single chain is useful but commits early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87F0949E-F258-4A1A-8787-DE034338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Chain-of-thought provides one linear path. It can make intermediate work inspectable, but a greedy chain has no exploration or recovery and its verbalized explanation is not guaranteed to be a faithful record of internal computation.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7582BAFD-5919-4445-A778-BE58BC86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19E9A862-F9D7-4949-851B-F8D41F3B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Compare a direct baseline with explicit reasoning on the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Verify outputs externally where possible.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Do not treat stated reasoning as ground truth.</a:t>
            </a:r>
          </a:p>
        </p:txBody>
      </p:sp>
    </p:spTree>
    <p:extLst>
      <p:ext uri="{BB962C8B-B14F-4D97-AF65-F5344CB8AC3E}">
        <p14:creationId xmlns:p14="http://schemas.microsoft.com/office/powerpoint/2010/main" val="211740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cent-line">
            <a:extLst xmlns:a="http://schemas.openxmlformats.org/drawingml/2006/main">
              <a:ext uri="{FF2B5EF4-FFF2-40B4-BE49-F238E27FC236}">
                <a16:creationId xmlns:a16="http://schemas.microsoft.com/office/drawing/2014/main" id="{06F6EE5C-D06E-4680-8810-6379EDE6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2FE4268B-E2A0-446A-AA90-60FCF726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02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F330E36-D12C-43C6-B0E9-803055F4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2D09A4A6-3295-4EF1-B881-66C17E1E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E6A3AA59-62DA-4686-8A88-F3B21C6E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Self-consistency widens exploration by sampling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9A50427F-FBFE-4D8E-8B88-F7185EC1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Self-consistency samples multiple reasoning paths and aggregates their answers. Separately sampled outputs may share systematic errors. Measure whether voting improves the target task under a declared budget.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FA6CF38D-8C48-4FEB-B551-CB8868B5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74A048E2-F4BD-4BBF-B3CE-A4BFAF7C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Cost grows roughly with the number of samples.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BDFA5867-FE4B-463D-8564-F00A6786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410ECABD-ECED-4747-B96F-9AF1E907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Voting requires an answer that can be aggregated.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41E5E6AD-C271-4CBC-9415-2FAE76E9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CC518739-6C4D-40E3-93A5-ED95B12B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Measure shared errors rather than assuming independence.</a:t>
            </a:r>
          </a:p>
        </p:txBody>
      </p:sp>
    </p:spTree>
    <p:extLst>
      <p:ext uri="{BB962C8B-B14F-4D97-AF65-F5344CB8AC3E}">
        <p14:creationId xmlns:p14="http://schemas.microsoft.com/office/powerpoint/2010/main" val="19451588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DEA5CB12-9BD7-4339-9CA9-56E6935A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3903950-A087-49C4-8881-C1C57901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03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95E7C00-FEF5-4621-9E6D-8D9BAB64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83AC0EF7-03BE-420C-AEB0-AB2EA292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B49A0BDB-6025-4F52-A911-7C2CB0F4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Tree- and Graph-of-Thoughts add explicit search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74485312-9896-41A9-AB64-AAC9E78B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Tree-of-Thoughts generates candidate partial states, evaluates them, and expands promising branches using a search strategy, enabling lookahead and backtracking. Graph-of-Thoughts also merges and refines ideas rather than keeping a strict tree.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2BD24A49-19D3-4518-8B8A-BF994CEC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FC12A55E-DA44-4E96-B6F2-228451E7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Search needs a useful evaluator.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Branching can grow exponentially.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Graphs support aggregation and refinement loops.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04  Use search when alternatives and dead ends matter.</a:t>
            </a:r>
          </a:p>
        </p:txBody>
      </p:sp>
    </p:spTree>
    <p:extLst>
      <p:ext uri="{BB962C8B-B14F-4D97-AF65-F5344CB8AC3E}">
        <p14:creationId xmlns:p14="http://schemas.microsoft.com/office/powerpoint/2010/main" val="13070959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cent-line">
            <a:extLst xmlns:a="http://schemas.openxmlformats.org/drawingml/2006/main">
              <a:ext uri="{FF2B5EF4-FFF2-40B4-BE49-F238E27FC236}">
                <a16:creationId xmlns:a16="http://schemas.microsoft.com/office/drawing/2014/main" id="{DB2C4B12-A7E0-4D97-BD5B-E0B58658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3C4D97B-0E31-414C-B2B3-6D733999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04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7F8E27F-CC0A-4005-8D5B-BACF2E6A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0CF0AF52-0726-4495-8AEC-D4BB9112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F8959369-90E6-43D8-A516-CE823954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Reflection improves one path over time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CCE6045B-2D1D-4241-B07C-65E0B24B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Reflexion converts evaluation into a verbal lesson stored for another attempt. Self-Refine repeats critique and revision. Reflection deepens one trajectory, whereas search widens across trajectories.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78C2EB6B-1095-459B-B218-2C78E44E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13ECF2BF-3081-4F5A-B8AA-A78390E2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test or grounded critic makes reflection reliable.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924EC63A-FE25-49C9-8E8D-33B89BAB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F85B1D2A-50AC-4150-8420-60D44443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Vague self-critique can reinforce errors.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696BADA1-A55B-4471-A23A-FD1FC328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4D592B06-C4F9-4F15-B937-4D577337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Revision loops need quality and cost stops.</a:t>
            </a:r>
          </a:p>
        </p:txBody>
      </p:sp>
    </p:spTree>
    <p:extLst>
      <p:ext uri="{BB962C8B-B14F-4D97-AF65-F5344CB8AC3E}">
        <p14:creationId xmlns:p14="http://schemas.microsoft.com/office/powerpoint/2010/main" val="18206071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19E8156E-B4D7-4F83-9594-FF3D5EAF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74AC31E9-3E6F-4A60-84B5-60607BDB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05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986BC6A-8F34-4265-B054-F8A068A0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2E93BB3E-E2EB-4C7B-884C-0703A53C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12B512A5-43F7-45AE-BA57-C335B9C2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Planning changes when and how decisions are made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8E908AA0-DAAC-448C-9597-447DB536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ReAct decides step by step and suits short uncertain tasks. Plan-and-execute decomposes first and can reduce repeated planning on long tasks. Re-planning repairs a plan after new evidence. DAG planning runs independent steps in parallel.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5FA98996-68C7-45B1-946D-0CF8BA6A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1BC414DA-222D-4187-9017-2C72BA74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Reactive plans adapt but can be myopic.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Up-front plans add global structure but can become stale.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Parallel plans lower latency only when dependencies permit.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04  Every planner needs execution feedback.</a:t>
            </a:r>
          </a:p>
        </p:txBody>
      </p:sp>
    </p:spTree>
    <p:extLst>
      <p:ext uri="{BB962C8B-B14F-4D97-AF65-F5344CB8AC3E}">
        <p14:creationId xmlns:p14="http://schemas.microsoft.com/office/powerpoint/2010/main" val="3304344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A9E7A37C-FE47-430E-825A-A926D7A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B363DC3-A8E1-4CE4-8296-4A8AD3B7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06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8D22964-C727-47C3-B5C7-13E4CF87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B217672F-91B2-4F2B-883C-B9179CDA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22DAEAC0-5587-4CBF-9D86-034C8B3E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Reasoning models internalize deliberate inference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773B5DF3-EE01-4F96-8237-4CA12AEE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RL-trained reasoning models generate extended internal deliberation and spend test-time compute according to task difficulty. Strong models can serve as planners or orchestrators while cheaper models handle routine extraction, routing, and tool calls.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3AC0FD9B-E227-471B-8965-8DCBA7E1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1813D2AC-EB34-4C51-B111-8CA83BAC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More thinking raises latency and cost.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D4AF8E94-9BC9-4223-943E-3F5128E4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3B8DEBF8-4B55-46F8-8C1E-997D4128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Easy problems can suffer from overthinking.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FFFF1884-6529-4C75-9058-A0796C0A3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055E24AC-9EEF-4BD7-9557-52411B3E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Beyond a point, additional compute may reduce accuracy.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994984CC-ACCF-4DED-881B-E4327C10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F24D8290-166E-47AA-B457-272B8228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Escalate selectively instead of using maximum reasoning everywhere.</a:t>
            </a:r>
          </a:p>
        </p:txBody>
      </p:sp>
    </p:spTree>
    <p:extLst>
      <p:ext uri="{BB962C8B-B14F-4D97-AF65-F5344CB8AC3E}">
        <p14:creationId xmlns:p14="http://schemas.microsoft.com/office/powerpoint/2010/main" val="12035526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87C5E68B-088B-4BFE-AA8B-8B8BC792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39743073-1E6D-4E98-8024-7A2316EC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07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C40195A-5506-4156-A570-ECE26F52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EA4C0F5D-49F8-4C80-9FCF-BB2BD2FA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08A0B3ED-E27B-4FE0-B537-77F7231C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Reasoning strategies require controlled comparisons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DFBE8F92-8BDC-4F59-B4C7-7D4EB7B8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Compare a direct baseline with sampling or review under a declared resource budget. Separate samples can share systematic errors. Counterfactual prompt edits test a behavioral claim without establishing a complete account of internal computation.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0C989D95-DBF7-470A-BCB1-A9D72DCF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3F6F2D74-B295-436A-A2BF-AACC41E6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Choose a scorer before inspecting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Keep held-out cases out of prompt development.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Report when extra reasoning fails to help.</a:t>
            </a:r>
          </a:p>
        </p:txBody>
      </p:sp>
    </p:spTree>
    <p:extLst>
      <p:ext uri="{BB962C8B-B14F-4D97-AF65-F5344CB8AC3E}">
        <p14:creationId xmlns:p14="http://schemas.microsoft.com/office/powerpoint/2010/main" val="4472119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cent-line">
            <a:extLst xmlns:a="http://schemas.openxmlformats.org/drawingml/2006/main">
              <a:ext uri="{FF2B5EF4-FFF2-40B4-BE49-F238E27FC236}">
                <a16:creationId xmlns:a16="http://schemas.microsoft.com/office/drawing/2014/main" id="{732CDA59-BC79-4197-8EB6-177FA50C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39F347F-93A8-484D-98F0-E232D24F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EXAM CHECK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0C1B302-837A-429B-B7CD-A969CFEBF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D8A54CC4-CE3C-43BB-9D9B-9CA22F00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exam-title">
            <a:extLst xmlns:a="http://schemas.openxmlformats.org/drawingml/2006/main">
              <a:ext uri="{FF2B5EF4-FFF2-40B4-BE49-F238E27FC236}">
                <a16:creationId xmlns:a16="http://schemas.microsoft.com/office/drawing/2014/main" id="{1BF0E7D5-BE7A-4CE2-A9B4-4347F10F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81075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 you answer these without notes?</a:t>
            </a:r>
          </a:p>
        </p:txBody>
      </p:sp>
      <p:sp>
        <p:nvSpPr>
          <p:cNvPr id="6" name="exam-number-1">
            <a:extLst xmlns:a="http://schemas.openxmlformats.org/drawingml/2006/main">
              <a:ext uri="{FF2B5EF4-FFF2-40B4-BE49-F238E27FC236}">
                <a16:creationId xmlns:a16="http://schemas.microsoft.com/office/drawing/2014/main" id="{7F343BEC-35E8-4935-B698-D943786A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exam-question-1">
            <a:extLst xmlns:a="http://schemas.openxmlformats.org/drawingml/2006/main">
              <a:ext uri="{FF2B5EF4-FFF2-40B4-BE49-F238E27FC236}">
                <a16:creationId xmlns:a16="http://schemas.microsoft.com/office/drawing/2014/main" id="{88726562-8C59-433A-8312-C8F57BB3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Compare chain-of-thought and self-consistency.</a:t>
            </a:r>
          </a:p>
        </p:txBody>
      </p:sp>
      <p:sp>
        <p:nvSpPr>
          <p:cNvPr id="8" name="exam-number-2">
            <a:extLst xmlns:a="http://schemas.openxmlformats.org/drawingml/2006/main">
              <a:ext uri="{FF2B5EF4-FFF2-40B4-BE49-F238E27FC236}">
                <a16:creationId xmlns:a16="http://schemas.microsoft.com/office/drawing/2014/main" id="{5C6E3F58-E6FC-4A80-B4DE-8C0D2DB8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exam-question-2">
            <a:extLst xmlns:a="http://schemas.openxmlformats.org/drawingml/2006/main">
              <a:ext uri="{FF2B5EF4-FFF2-40B4-BE49-F238E27FC236}">
                <a16:creationId xmlns:a16="http://schemas.microsoft.com/office/drawing/2014/main" id="{449E079B-A23A-4CEB-B4BC-F139AE8B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are generate, evaluate, and search in Tree-of-Thoughts?</a:t>
            </a:r>
          </a:p>
        </p:txBody>
      </p:sp>
      <p:sp>
        <p:nvSpPr>
          <p:cNvPr id="10" name="exam-number-3">
            <a:extLst xmlns:a="http://schemas.openxmlformats.org/drawingml/2006/main">
              <a:ext uri="{FF2B5EF4-FFF2-40B4-BE49-F238E27FC236}">
                <a16:creationId xmlns:a16="http://schemas.microsoft.com/office/drawing/2014/main" id="{BFD4CE2C-0C9B-465B-BD74-3DCEEA95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exam-question-3">
            <a:extLst xmlns:a="http://schemas.openxmlformats.org/drawingml/2006/main">
              <a:ext uri="{FF2B5EF4-FFF2-40B4-BE49-F238E27FC236}">
                <a16:creationId xmlns:a16="http://schemas.microsoft.com/office/drawing/2014/main" id="{356EA76B-D5A2-4164-B3E8-304EAC32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How does Graph-of-Thoughts extend a tree?</a:t>
            </a:r>
          </a:p>
        </p:txBody>
      </p:sp>
      <p:sp>
        <p:nvSpPr>
          <p:cNvPr id="12" name="exam-number-4">
            <a:extLst xmlns:a="http://schemas.openxmlformats.org/drawingml/2006/main">
              <a:ext uri="{FF2B5EF4-FFF2-40B4-BE49-F238E27FC236}">
                <a16:creationId xmlns:a16="http://schemas.microsoft.com/office/drawing/2014/main" id="{82A73B6F-0ABF-4666-80A9-656BBA43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exam-question-4">
            <a:extLst xmlns:a="http://schemas.openxmlformats.org/drawingml/2006/main">
              <a:ext uri="{FF2B5EF4-FFF2-40B4-BE49-F238E27FC236}">
                <a16:creationId xmlns:a16="http://schemas.microsoft.com/office/drawing/2014/main" id="{A92F6609-8C59-4075-8C54-2EFDC4D7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Compare reflection with search.</a:t>
            </a:r>
          </a:p>
        </p:txBody>
      </p:sp>
      <p:sp>
        <p:nvSpPr>
          <p:cNvPr id="14" name="exam-number-5">
            <a:extLst xmlns:a="http://schemas.openxmlformats.org/drawingml/2006/main">
              <a:ext uri="{FF2B5EF4-FFF2-40B4-BE49-F238E27FC236}">
                <a16:creationId xmlns:a16="http://schemas.microsoft.com/office/drawing/2014/main" id="{0314770F-7764-4447-9902-10B12824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5" name="exam-question-5">
            <a:extLst xmlns:a="http://schemas.openxmlformats.org/drawingml/2006/main">
              <a:ext uri="{FF2B5EF4-FFF2-40B4-BE49-F238E27FC236}">
                <a16:creationId xmlns:a16="http://schemas.microsoft.com/office/drawing/2014/main" id="{C7BE2B83-36BB-4736-8B3F-E0FDD24E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When should an agent use ReAct, plan-and-execute, or parallel planning?</a:t>
            </a:r>
          </a:p>
        </p:txBody>
      </p:sp>
      <p:sp>
        <p:nvSpPr>
          <p:cNvPr id="16" name="exam-number-6">
            <a:extLst xmlns:a="http://schemas.openxmlformats.org/drawingml/2006/main">
              <a:ext uri="{FF2B5EF4-FFF2-40B4-BE49-F238E27FC236}">
                <a16:creationId xmlns:a16="http://schemas.microsoft.com/office/drawing/2014/main" id="{331F81E4-3074-4CB0-9401-9C16D560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17" name="exam-question-6">
            <a:extLst xmlns:a="http://schemas.openxmlformats.org/drawingml/2006/main">
              <a:ext uri="{FF2B5EF4-FFF2-40B4-BE49-F238E27FC236}">
                <a16:creationId xmlns:a16="http://schemas.microsoft.com/office/drawing/2014/main" id="{26E6E26D-CAA3-4A5C-9430-3334D20C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evidence would justify spending more inference on a reasoning strategy?</a:t>
            </a:r>
          </a:p>
        </p:txBody>
      </p:sp>
    </p:spTree>
    <p:extLst>
      <p:ext uri="{BB962C8B-B14F-4D97-AF65-F5344CB8AC3E}">
        <p14:creationId xmlns:p14="http://schemas.microsoft.com/office/powerpoint/2010/main" val="11135294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A7B77441-D1F8-4BAC-9147-04C4C0B1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665A91E-47AF-4B3B-8E74-C61BC162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CHAPTER SYNTHESIS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DB5F3F2-3A1A-4E7E-8E4D-6B2D33F4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E7E36917-70CE-40CC-9302-A4DDFF70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67F860BD-C95E-48B4-9896-0959374A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47750"/>
            <a:ext cx="1028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must remain after the details fade</a:t>
            </a:r>
          </a:p>
        </p:txBody>
      </p:sp>
      <p:sp>
        <p:nvSpPr>
          <p:cNvPr id="6" name="takeaway-number-1">
            <a:extLst xmlns:a="http://schemas.openxmlformats.org/drawingml/2006/main">
              <a:ext uri="{FF2B5EF4-FFF2-40B4-BE49-F238E27FC236}">
                <a16:creationId xmlns:a16="http://schemas.microsoft.com/office/drawing/2014/main" id="{CE609037-E2E9-4200-8588-CA0957B2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336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takeaway-1">
            <a:extLst xmlns:a="http://schemas.openxmlformats.org/drawingml/2006/main">
              <a:ext uri="{FF2B5EF4-FFF2-40B4-BE49-F238E27FC236}">
                <a16:creationId xmlns:a16="http://schemas.microsoft.com/office/drawing/2014/main" id="{DF948455-384F-4976-84B1-3366A750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145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Self-consistency samples; search branches; reflection revises.</a:t>
            </a:r>
          </a:p>
        </p:txBody>
      </p:sp>
      <p:sp>
        <p:nvSpPr>
          <p:cNvPr id="8" name="takeaway-number-2">
            <a:extLst xmlns:a="http://schemas.openxmlformats.org/drawingml/2006/main">
              <a:ext uri="{FF2B5EF4-FFF2-40B4-BE49-F238E27FC236}">
                <a16:creationId xmlns:a16="http://schemas.microsoft.com/office/drawing/2014/main" id="{B97A6F3A-BC67-4FA9-A46E-966A4F56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99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takeaway-2">
            <a:extLst xmlns:a="http://schemas.openxmlformats.org/drawingml/2006/main">
              <a:ext uri="{FF2B5EF4-FFF2-40B4-BE49-F238E27FC236}">
                <a16:creationId xmlns:a16="http://schemas.microsoft.com/office/drawing/2014/main" id="{BDDE0B27-3EF9-42E6-8027-D1177364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908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59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ReAct, plan-and-execute, re-planning, and DAG execution solve different control problems.</a:t>
            </a:r>
          </a:p>
        </p:txBody>
      </p:sp>
      <p:sp>
        <p:nvSpPr>
          <p:cNvPr id="10" name="takeaway-number-3">
            <a:extLst xmlns:a="http://schemas.openxmlformats.org/drawingml/2006/main">
              <a:ext uri="{FF2B5EF4-FFF2-40B4-BE49-F238E27FC236}">
                <a16:creationId xmlns:a16="http://schemas.microsoft.com/office/drawing/2014/main" id="{CC9DC1EB-5B4D-4CBE-B835-B5BB54F9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862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takeaway-3">
            <a:extLst xmlns:a="http://schemas.openxmlformats.org/drawingml/2006/main">
              <a:ext uri="{FF2B5EF4-FFF2-40B4-BE49-F238E27FC236}">
                <a16:creationId xmlns:a16="http://schemas.microsoft.com/office/drawing/2014/main" id="{80C60940-8335-4EC5-9B2C-A6428CE1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671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Reasoning compute should be allocated by difficulty.</a:t>
            </a:r>
          </a:p>
        </p:txBody>
      </p:sp>
      <p:sp>
        <p:nvSpPr>
          <p:cNvPr id="12" name="takeaway-number-4">
            <a:extLst xmlns:a="http://schemas.openxmlformats.org/drawingml/2006/main">
              <a:ext uri="{FF2B5EF4-FFF2-40B4-BE49-F238E27FC236}">
                <a16:creationId xmlns:a16="http://schemas.microsoft.com/office/drawing/2014/main" id="{392B9D4E-F302-4C68-BDFF-CF00EAF9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625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B45E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takeaway-4">
            <a:extLst xmlns:a="http://schemas.openxmlformats.org/drawingml/2006/main">
              <a:ext uri="{FF2B5EF4-FFF2-40B4-BE49-F238E27FC236}">
                <a16:creationId xmlns:a16="http://schemas.microsoft.com/office/drawing/2014/main" id="{2BAE2849-0F52-498C-89CC-1598C875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434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Verbal reasoning is a scaffold, not proof of correctness.</a:t>
            </a:r>
          </a:p>
        </p:txBody>
      </p:sp>
    </p:spTree>
    <p:extLst>
      <p:ext uri="{BB962C8B-B14F-4D97-AF65-F5344CB8AC3E}">
        <p14:creationId xmlns:p14="http://schemas.microsoft.com/office/powerpoint/2010/main" val="20782915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cent-line">
            <a:extLst xmlns:a="http://schemas.openxmlformats.org/drawingml/2006/main">
              <a:ext uri="{FF2B5EF4-FFF2-40B4-BE49-F238E27FC236}">
                <a16:creationId xmlns:a16="http://schemas.microsoft.com/office/drawing/2014/main" id="{651AAE61-A89B-4196-9B04-77B4E445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solidFill>
              <a:srgbClr val="FFB45E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1F6C9CFF-C4F8-4BC3-88FC-18573D2F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PRACTICE AND READING  /  10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675127D-6746-460A-AD10-87ECF030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E2DFF415-E8EC-47E8-955D-50431059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Advanced Reasoning and Planning</a:t>
            </a:r>
          </a:p>
        </p:txBody>
      </p:sp>
      <p:sp>
        <p:nvSpPr>
          <p:cNvPr id="5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F69C165C-DB3F-4387-9BD0-D6FE34C4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Evidence to submit</a:t>
            </a:r>
          </a:p>
        </p:txBody>
      </p:sp>
      <p:sp>
        <p:nvSpPr>
          <p:cNvPr id="6" name="practice-task">
            <a:extLst xmlns:a="http://schemas.openxmlformats.org/drawingml/2006/main">
              <a:ext uri="{FF2B5EF4-FFF2-40B4-BE49-F238E27FC236}">
                <a16:creationId xmlns:a16="http://schemas.microsoft.com/office/drawing/2014/main" id="{54EA0C45-FA83-44AD-A695-BC756B94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00250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Use Lab 7's paired inputs to test a prediction about a misleading cue. Propose an equal-budget comparison with voting and identify a shared-error failure case.</a:t>
            </a:r>
          </a:p>
        </p:txBody>
      </p:sp>
      <p:sp>
        <p:nvSpPr>
          <p:cNvPr id="7" name="practice-check">
            <a:extLst xmlns:a="http://schemas.openxmlformats.org/drawingml/2006/main">
              <a:ext uri="{FF2B5EF4-FFF2-40B4-BE49-F238E27FC236}">
                <a16:creationId xmlns:a16="http://schemas.microsoft.com/office/drawing/2014/main" id="{489892E3-7682-4E62-966D-354668C1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81375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Keep predictions, observations, and interpretations separate. State the limits of a small experiment.</a:t>
            </a:r>
          </a:p>
        </p:txBody>
      </p:sp>
      <p:sp>
        <p:nvSpPr>
          <p:cNvPr id="8" name="practice-readings">
            <a:extLst xmlns:a="http://schemas.openxmlformats.org/drawingml/2006/main">
              <a:ext uri="{FF2B5EF4-FFF2-40B4-BE49-F238E27FC236}">
                <a16:creationId xmlns:a16="http://schemas.microsoft.com/office/drawing/2014/main" id="{B4E8945B-98FF-48F2-934C-2A18AAC9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P3  Would this change your answer?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R1  Patterns and problems in emerging multiagent systems</a:t>
            </a:r>
          </a:p>
        </p:txBody>
      </p:sp>
      <p:sp>
        <p:nvSpPr>
          <p:cNvPr id="9" name="practice-lab">
            <a:extLst xmlns:a="http://schemas.openxmlformats.org/drawingml/2006/main">
              <a:ext uri="{FF2B5EF4-FFF2-40B4-BE49-F238E27FC236}">
                <a16:creationId xmlns:a16="http://schemas.microsoft.com/office/drawing/2014/main" id="{FD46FC48-53DF-4B14-B1BC-8F3F297D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857875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labs/07_agents_sdk_evaluation.ipynb</a:t>
            </a:r>
          </a:p>
        </p:txBody>
      </p:sp>
    </p:spTree>
    <p:extLst>
      <p:ext uri="{BB962C8B-B14F-4D97-AF65-F5344CB8AC3E}">
        <p14:creationId xmlns:p14="http://schemas.microsoft.com/office/powerpoint/2010/main" val="1377602518"/>
      </p:ext>
    </p:extLst>
  </p:cSld>
</p:sld>
</file>

<file path=ppt/theme/theme1.xml><?xml version="1.0" encoding="utf-8"?>
<a:theme xmlns:a="http://schemas.openxmlformats.org/drawingml/2006/main" name="Course">
  <a:themeElements>
    <a:clrScheme name="Cours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urs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/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/>
  <lastModifiedBy/>
  <dc:title>10-reasoning-planning</dc:title>
  <dcterms:created xsi:type="dcterms:W3CDTF">2026-09-09T16:56:51.8450000Z</dcterms:created>
  <dcterms:modified xsi:type="dcterms:W3CDTF">2026-09-09T16:56:51.8450000Z</dcterms:modified>
</coreProperties>
</file>