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d2ee706c0642ac" /><Relationship Type="http://schemas.openxmlformats.org/officeDocument/2006/relationships/extended-properties" Target="/docProps/app.xml" Id="R1313b381804d4cc4" /><Relationship Type="http://schemas.openxmlformats.org/officeDocument/2006/relationships/officeDocument" Target="/ppt/presentation.xml" Id="Rff852a89b6b8427a" /></Relationships>
</file>

<file path=ppt/presentation.xml><?xml version="1.0" encoding="utf-8"?>
<p:presentation xmlns:p="http://schemas.openxmlformats.org/presentationml/2006/main">
  <p:sldMasterIdLst>
    <p:sldMasterId xmlns:r="http://schemas.openxmlformats.org/officeDocument/2006/relationships" id="2147483648" r:id="R45ad394a302f43ec"/>
  </p:sldMasterIdLst>
  <p:notesMasterIdLst>
    <p:notesMasterId xmlns:r="http://schemas.openxmlformats.org/officeDocument/2006/relationships" r:id="R4e9cccf8bfb743e5"/>
  </p:notesMasterIdLst>
  <p:sldIdLst>
    <p:sldId xmlns:r="http://schemas.openxmlformats.org/officeDocument/2006/relationships" id="256" r:id="R4f91ca0132864361"/>
    <p:sldId xmlns:r="http://schemas.openxmlformats.org/officeDocument/2006/relationships" id="257" r:id="R7f5317db497a4995"/>
    <p:sldId xmlns:r="http://schemas.openxmlformats.org/officeDocument/2006/relationships" id="258" r:id="R1c70514ec21a41be"/>
    <p:sldId xmlns:r="http://schemas.openxmlformats.org/officeDocument/2006/relationships" id="259" r:id="R5b882c883ebe4207"/>
    <p:sldId xmlns:r="http://schemas.openxmlformats.org/officeDocument/2006/relationships" id="260" r:id="R1ba5bb46fd7b4c1f"/>
    <p:sldId xmlns:r="http://schemas.openxmlformats.org/officeDocument/2006/relationships" id="261" r:id="R5604f2ca81e147fc"/>
    <p:sldId xmlns:r="http://schemas.openxmlformats.org/officeDocument/2006/relationships" id="262" r:id="R92acec49f2594c71"/>
    <p:sldId xmlns:r="http://schemas.openxmlformats.org/officeDocument/2006/relationships" id="263" r:id="R38792787fbab486c"/>
    <p:sldId xmlns:r="http://schemas.openxmlformats.org/officeDocument/2006/relationships" id="264" r:id="Re632a9b18a254b1a"/>
    <p:sldId xmlns:r="http://schemas.openxmlformats.org/officeDocument/2006/relationships" id="265" r:id="Re4091c9456a844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cdd503234c45d6" /><Relationship Type="http://schemas.openxmlformats.org/officeDocument/2006/relationships/slideMaster" Target="/ppt/slideMasters/slideMaster1.xml" Id="R45ad394a302f43ec" /><Relationship Type="http://schemas.openxmlformats.org/officeDocument/2006/relationships/notesMaster" Target="/ppt/notesMasters/notesMaster1.xml" Id="R4e9cccf8bfb743e5" /><Relationship Type="http://schemas.openxmlformats.org/officeDocument/2006/relationships/presProps" Target="/ppt/presProps.xml" Id="Ra846637c0cf34f07" /><Relationship Type="http://schemas.openxmlformats.org/officeDocument/2006/relationships/tableStyles" Target="/ppt/tableStyles.xml" Id="R2b009aa6f1304e1e" /><Relationship Type="http://schemas.openxmlformats.org/officeDocument/2006/relationships/slide" Target="/ppt/slides/slide1.xml" Id="R4f91ca0132864361" /><Relationship Type="http://schemas.openxmlformats.org/officeDocument/2006/relationships/slide" Target="/ppt/slides/slide2.xml" Id="R7f5317db497a4995" /><Relationship Type="http://schemas.openxmlformats.org/officeDocument/2006/relationships/slide" Target="/ppt/slides/slide3.xml" Id="R1c70514ec21a41be" /><Relationship Type="http://schemas.openxmlformats.org/officeDocument/2006/relationships/slide" Target="/ppt/slides/slide4.xml" Id="R5b882c883ebe4207" /><Relationship Type="http://schemas.openxmlformats.org/officeDocument/2006/relationships/slide" Target="/ppt/slides/slide5.xml" Id="R1ba5bb46fd7b4c1f" /><Relationship Type="http://schemas.openxmlformats.org/officeDocument/2006/relationships/slide" Target="/ppt/slides/slide6.xml" Id="R5604f2ca81e147fc" /><Relationship Type="http://schemas.openxmlformats.org/officeDocument/2006/relationships/slide" Target="/ppt/slides/slide7.xml" Id="R92acec49f2594c71" /><Relationship Type="http://schemas.openxmlformats.org/officeDocument/2006/relationships/slide" Target="/ppt/slides/slide8.xml" Id="R38792787fbab486c" /><Relationship Type="http://schemas.openxmlformats.org/officeDocument/2006/relationships/slide" Target="/ppt/slides/slide9.xml" Id="Re632a9b18a254b1a" /><Relationship Type="http://schemas.openxmlformats.org/officeDocument/2006/relationships/slide" Target="/ppt/slides/slide10.xml" Id="Re4091c9456a844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8920525b0d41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1e9912b14a4ade" /><Relationship Type="http://schemas.openxmlformats.org/officeDocument/2006/relationships/notesMaster" Target="/ppt/notesMasters/notesMaster1.xml" Id="R39a9d6b1c0ad40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c5024da8a8472f" /><Relationship Type="http://schemas.openxmlformats.org/officeDocument/2006/relationships/notesMaster" Target="/ppt/notesMasters/notesMaster1.xml" Id="R6ad660b213e44d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444781d5cf4e5b" /><Relationship Type="http://schemas.openxmlformats.org/officeDocument/2006/relationships/notesMaster" Target="/ppt/notesMasters/notesMaster1.xml" Id="R5d005531ef6347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643c3a40684fec" /><Relationship Type="http://schemas.openxmlformats.org/officeDocument/2006/relationships/notesMaster" Target="/ppt/notesMasters/notesMaster1.xml" Id="Rdecce296cedc4c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4b3d9f97f04f94" /><Relationship Type="http://schemas.openxmlformats.org/officeDocument/2006/relationships/notesMaster" Target="/ppt/notesMasters/notesMaster1.xml" Id="Re8b515ac047e49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941d21b34c470f" /><Relationship Type="http://schemas.openxmlformats.org/officeDocument/2006/relationships/notesMaster" Target="/ppt/notesMasters/notesMaster1.xml" Id="Rf0924bac28b247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76aafd9a5e4521" /><Relationship Type="http://schemas.openxmlformats.org/officeDocument/2006/relationships/notesMaster" Target="/ppt/notesMasters/notesMaster1.xml" Id="R7dcc120c7ede4d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c9f1be70bc4c92" /><Relationship Type="http://schemas.openxmlformats.org/officeDocument/2006/relationships/notesMaster" Target="/ppt/notesMasters/notesMaster1.xml" Id="R5c59a6472f814c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c3b1b0309e416e" /><Relationship Type="http://schemas.openxmlformats.org/officeDocument/2006/relationships/notesMaster" Target="/ppt/notesMasters/notesMaster1.xml" Id="R2cbf40d7be3549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58f1f1236743e3" /><Relationship Type="http://schemas.openxmlformats.org/officeDocument/2006/relationships/notesMaster" Target="/ppt/notesMasters/notesMaster1.xml" Id="Rf0c5c307be3e49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chapter thesis and connect it to the previous chapter.</a:t>
            </a:r>
          </a:p>
          <a:p xmlns:a="http://schemas.openxmlformats.org/drawingml/2006/main">
            <a:r>
              <a:t/>
            </a:r>
          </a:p>
          <a:p xmlns:a="http://schemas.openxmlformats.org/drawingml/2006/main">
            <a:r>
              <a:t>[Sources]</a:t>
            </a:r>
          </a:p>
          <a:p xmlns:a="http://schemas.openxmlformats.org/drawingml/2006/main">
            <a:r>
              <a:t>- Supplied source presentation: 10-reasoning-planning.pdf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objectives as an advance organizer and as a checklist after the deck.</a:t>
            </a:r>
          </a:p>
          <a:p xmlns:a="http://schemas.openxmlformats.org/drawingml/2006/main">
            <a:r>
              <a:t/>
            </a:r>
          </a:p>
          <a:p xmlns:a="http://schemas.openxmlformats.org/drawingml/2006/main">
            <a:r>
              <a:t>[Sources]</a:t>
            </a:r>
          </a:p>
          <a:p xmlns:a="http://schemas.openxmlformats.org/drawingml/2006/main">
            <a:r>
              <a:t>- Supplied source presentation: 10-reasoning-planning.pdf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10-reasoning-planning.pdf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10-reasoning-planning.pdf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10-reasoning-planning.pdf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10-reasoning-planning.pdf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10-reasoning-planning.pdf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10-reasoning-planning.pdf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retrieval practice. Ask for an answer that defines, compares, traces, and evaluates.</a:t>
            </a:r>
          </a:p>
          <a:p xmlns:a="http://schemas.openxmlformats.org/drawingml/2006/main">
            <a:r>
              <a:t/>
            </a:r>
          </a:p>
          <a:p xmlns:a="http://schemas.openxmlformats.org/drawingml/2006/main">
            <a:r>
              <a:t>[Sources]</a:t>
            </a:r>
          </a:p>
          <a:p xmlns:a="http://schemas.openxmlformats.org/drawingml/2006/main">
            <a:r>
              <a:t>- Supplied source presentation: 10-reasoning-planning.pdf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four durable ideas and linking forward to the next chapter.</a:t>
            </a:r>
          </a:p>
          <a:p xmlns:a="http://schemas.openxmlformats.org/drawingml/2006/main">
            <a:r>
              <a:t/>
            </a:r>
          </a:p>
          <a:p xmlns:a="http://schemas.openxmlformats.org/drawingml/2006/main">
            <a:r>
              <a:t>[Sources]</a:t>
            </a:r>
          </a:p>
          <a:p xmlns:a="http://schemas.openxmlformats.org/drawingml/2006/main">
            <a:r>
              <a:t>- Supplied source presentation: 10-reasoning-planning.pdf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4fcc4d6ef645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99d5eb08c94347" /><Relationship Type="http://schemas.openxmlformats.org/officeDocument/2006/relationships/slideLayout" Target="/ppt/slideLayouts/slideLayout1.xml" Id="R736e786f9eb24b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6e786f9eb24b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966b51f2564494" /><Relationship Type="http://schemas.openxmlformats.org/officeDocument/2006/relationships/notesSlide" Target="/ppt/notesSlides/notesSlide1.xml" Id="Ra250ca3a64d44c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a51120737d419e" /><Relationship Type="http://schemas.openxmlformats.org/officeDocument/2006/relationships/notesSlide" Target="/ppt/notesSlides/notesSlide2.xml" Id="R7e8d0b8d46dd42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eae396c2bf4c3c" /><Relationship Type="http://schemas.openxmlformats.org/officeDocument/2006/relationships/notesSlide" Target="/ppt/notesSlides/notesSlide3.xml" Id="R4301f809736645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0564b06f4c4ff3" /><Relationship Type="http://schemas.openxmlformats.org/officeDocument/2006/relationships/notesSlide" Target="/ppt/notesSlides/notesSlide4.xml" Id="R1057c876f1684c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2201a299074110" /><Relationship Type="http://schemas.openxmlformats.org/officeDocument/2006/relationships/notesSlide" Target="/ppt/notesSlides/notesSlide5.xml" Id="Rc5a958486c3e47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b3b878004f4739" /><Relationship Type="http://schemas.openxmlformats.org/officeDocument/2006/relationships/notesSlide" Target="/ppt/notesSlides/notesSlide6.xml" Id="R9eed2420f1a14c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b6639ffca14c3a" /><Relationship Type="http://schemas.openxmlformats.org/officeDocument/2006/relationships/notesSlide" Target="/ppt/notesSlides/notesSlide7.xml" Id="R159f0bdcc28244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7e7f80a3364373" /><Relationship Type="http://schemas.openxmlformats.org/officeDocument/2006/relationships/notesSlide" Target="/ppt/notesSlides/notesSlide8.xml" Id="Rff914c6e661c47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541ff99171348f9" /><Relationship Type="http://schemas.openxmlformats.org/officeDocument/2006/relationships/notesSlide" Target="/ppt/notesSlides/notesSlide9.xml" Id="Rca83e2902b854b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91afc83dfe34903" /><Relationship Type="http://schemas.openxmlformats.org/officeDocument/2006/relationships/notesSlide" Target="/ppt/notesSlides/notesSlide10.xml" Id="Rde95286e02464dce"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itle-accent">
            <a:extLst xmlns:a="http://schemas.openxmlformats.org/drawingml/2006/main">
              <a:ext uri="{FF2B5EF4-FFF2-40B4-BE49-F238E27FC236}">
                <a16:creationId xmlns:a16="http://schemas.microsoft.com/office/drawing/2014/main" id="{3BB370DB-6D63-4F35-B595-EBD2FFFE930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ourse-title">
            <a:extLst xmlns:a="http://schemas.openxmlformats.org/drawingml/2006/main">
              <a:ext uri="{FF2B5EF4-FFF2-40B4-BE49-F238E27FC236}">
                <a16:creationId xmlns:a16="http://schemas.microsoft.com/office/drawing/2014/main" id="{AFFEC009-6214-4D4F-8306-46FC6273D3D4}"/>
              </a:ext>
            </a:extLst>
          </p:cNvPr>
          <p:cNvSpPr>
            <a:spLocks xmlns:a="http://schemas.openxmlformats.org/drawingml/2006/main" noGrp="1"/>
          </p:cNvSpPr>
          <p:nvPr/>
        </p:nvSpPr>
        <p:spPr>
          <a:xfrm xmlns:a="http://schemas.openxmlformats.org/drawingml/2006/main">
            <a:off x="400050" y="4000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5B5B57"/>
                </a:solidFill>
                <a:latin typeface="Helvetica Neue"/>
                <a:ea typeface="Helvetica Neue"/>
                <a:cs typeface="Helvetica Neue"/>
              </a:defRPr>
            </a:pPr>
            <a:r>
              <a:rPr sz="1650" b="1">
                <a:solidFill>
                  <a:srgbClr val="5B5B57"/>
                </a:solidFill>
                <a:latin typeface="Helvetica Neue"/>
                <a:ea typeface="Helvetica Neue"/>
                <a:cs typeface="Helvetica Neue"/>
              </a:rPr>
              <a:t>AGENTIC AI</a:t>
            </a:r>
          </a:p>
        </p:txBody>
      </p:sp>
      <p:sp>
        <p:nvSpPr>
          <p:cNvPr id="3" name="chapter-number">
            <a:extLst xmlns:a="http://schemas.openxmlformats.org/drawingml/2006/main">
              <a:ext uri="{FF2B5EF4-FFF2-40B4-BE49-F238E27FC236}">
                <a16:creationId xmlns:a16="http://schemas.microsoft.com/office/drawing/2014/main" id="{65EB9EF8-79A7-46D3-B0A0-FE0CACE54B79}"/>
              </a:ext>
            </a:extLst>
          </p:cNvPr>
          <p:cNvSpPr>
            <a:spLocks xmlns:a="http://schemas.openxmlformats.org/drawingml/2006/main" noGrp="1"/>
          </p:cNvSpPr>
          <p:nvPr/>
        </p:nvSpPr>
        <p:spPr>
          <a:xfrm xmlns:a="http://schemas.openxmlformats.org/drawingml/2006/main">
            <a:off x="10096500" y="3619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10</a:t>
            </a:r>
          </a:p>
        </p:txBody>
      </p:sp>
      <p:sp>
        <p:nvSpPr>
          <p:cNvPr id="4" name="deck-title">
            <a:extLst xmlns:a="http://schemas.openxmlformats.org/drawingml/2006/main">
              <a:ext uri="{FF2B5EF4-FFF2-40B4-BE49-F238E27FC236}">
                <a16:creationId xmlns:a16="http://schemas.microsoft.com/office/drawing/2014/main" id="{0108653F-AD57-4E17-BECD-04FA43A72861}"/>
              </a:ext>
            </a:extLst>
          </p:cNvPr>
          <p:cNvSpPr>
            <a:spLocks xmlns:a="http://schemas.openxmlformats.org/drawingml/2006/main" noGrp="1"/>
          </p:cNvSpPr>
          <p:nvPr/>
        </p:nvSpPr>
        <p:spPr>
          <a:xfrm xmlns:a="http://schemas.openxmlformats.org/drawingml/2006/main">
            <a:off x="400050" y="1524000"/>
            <a:ext cx="9858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Advanced Reasoning and Planning</a:t>
            </a:r>
          </a:p>
        </p:txBody>
      </p:sp>
      <p:sp>
        <p:nvSpPr>
          <p:cNvPr id="5" name="deck-thesis">
            <a:extLst xmlns:a="http://schemas.openxmlformats.org/drawingml/2006/main">
              <a:ext uri="{FF2B5EF4-FFF2-40B4-BE49-F238E27FC236}">
                <a16:creationId xmlns:a16="http://schemas.microsoft.com/office/drawing/2014/main" id="{B0FC7010-51B3-447F-85DA-FF9AD8CE70E0}"/>
              </a:ext>
            </a:extLst>
          </p:cNvPr>
          <p:cNvSpPr>
            <a:spLocks xmlns:a="http://schemas.openxmlformats.org/drawingml/2006/main" noGrp="1"/>
          </p:cNvSpPr>
          <p:nvPr/>
        </p:nvSpPr>
        <p:spPr>
          <a:xfrm xmlns:a="http://schemas.openxmlformats.org/drawingml/2006/main">
            <a:off x="400050" y="4610100"/>
            <a:ext cx="8524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0">
                <a:solidFill>
                  <a:srgbClr val="5B5B57"/>
                </a:solidFill>
                <a:latin typeface="Helvetica Neue"/>
                <a:ea typeface="Helvetica Neue"/>
                <a:cs typeface="Helvetica Neue"/>
              </a:defRPr>
            </a:pPr>
            <a:r>
              <a:rPr sz="2025" b="0">
                <a:solidFill>
                  <a:srgbClr val="5B5B57"/>
                </a:solidFill>
                <a:latin typeface="Helvetica Neue"/>
                <a:ea typeface="Helvetica Neue"/>
                <a:cs typeface="Helvetica Neue"/>
              </a:rPr>
              <a:t>Reasoning strategies trade inference compute for exploration, correction, or structure; the correct strategy depends on task difficulty and verifiability.</a:t>
            </a:r>
          </a:p>
        </p:txBody>
      </p:sp>
      <p:sp>
        <p:nvSpPr>
          <p:cNvPr id="6" name="title-marker">
            <a:extLst xmlns:a="http://schemas.openxmlformats.org/drawingml/2006/main">
              <a:ext uri="{FF2B5EF4-FFF2-40B4-BE49-F238E27FC236}">
                <a16:creationId xmlns:a16="http://schemas.microsoft.com/office/drawing/2014/main" id="{45199CD5-69AE-4C88-AD2F-3EF69611FC39}"/>
              </a:ext>
            </a:extLst>
          </p:cNvPr>
          <p:cNvSpPr>
            <a:spLocks xmlns:a="http://schemas.openxmlformats.org/drawingml/2006/main" noGrp="1"/>
          </p:cNvSpPr>
          <p:nvPr/>
        </p:nvSpPr>
        <p:spPr>
          <a:xfrm xmlns:a="http://schemas.openxmlformats.org/drawingml/2006/main">
            <a:off x="9525000" y="4610100"/>
            <a:ext cx="2266950" cy="11049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7" name="title-marker-text">
            <a:extLst xmlns:a="http://schemas.openxmlformats.org/drawingml/2006/main">
              <a:ext uri="{FF2B5EF4-FFF2-40B4-BE49-F238E27FC236}">
                <a16:creationId xmlns:a16="http://schemas.microsoft.com/office/drawing/2014/main" id="{31343D8E-CFBF-42FB-9B37-FD286BE2F0E0}"/>
              </a:ext>
            </a:extLst>
          </p:cNvPr>
          <p:cNvSpPr>
            <a:spLocks xmlns:a="http://schemas.openxmlformats.org/drawingml/2006/main" noGrp="1"/>
          </p:cNvSpPr>
          <p:nvPr/>
        </p:nvSpPr>
        <p:spPr>
          <a:xfrm xmlns:a="http://schemas.openxmlformats.org/drawingml/2006/main">
            <a:off x="9753600" y="476250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STUDY</a:t>
            </a:r>
          </a:p>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DECK</a:t>
            </a:r>
          </a:p>
        </p:txBody>
      </p:sp>
    </p:spTree>
    <p:extLst>
      <p:ext uri="{BB962C8B-B14F-4D97-AF65-F5344CB8AC3E}">
        <p14:creationId xmlns:p14="http://schemas.microsoft.com/office/powerpoint/2010/main" val="18854110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27CD6BCC-751F-48EB-B1AA-382FD784C96F}"/>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867C8439-8FB0-4DBE-87F0-87D89033986F}"/>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LEARNING MAP  /  10</a:t>
            </a:r>
          </a:p>
        </p:txBody>
      </p:sp>
      <p:sp>
        <p:nvSpPr>
          <p:cNvPr id="3" name="slide-number">
            <a:extLst xmlns:a="http://schemas.openxmlformats.org/drawingml/2006/main">
              <a:ext uri="{FF2B5EF4-FFF2-40B4-BE49-F238E27FC236}">
                <a16:creationId xmlns:a16="http://schemas.microsoft.com/office/drawing/2014/main" id="{CC2BA424-FDED-4C7B-B684-D4765AFC72E2}"/>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02</a:t>
            </a:r>
          </a:p>
        </p:txBody>
      </p:sp>
      <p:sp>
        <p:nvSpPr>
          <p:cNvPr id="4" name="chapter-footer">
            <a:extLst xmlns:a="http://schemas.openxmlformats.org/drawingml/2006/main">
              <a:ext uri="{FF2B5EF4-FFF2-40B4-BE49-F238E27FC236}">
                <a16:creationId xmlns:a16="http://schemas.microsoft.com/office/drawing/2014/main" id="{309E6B8F-3A7E-45BB-9ED1-6C802D01765B}"/>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Advanced Reasoning and Planning</a:t>
            </a:r>
          </a:p>
        </p:txBody>
      </p:sp>
      <p:sp>
        <p:nvSpPr>
          <p:cNvPr id="5" name="objectives-title">
            <a:extLst xmlns:a="http://schemas.openxmlformats.org/drawingml/2006/main">
              <a:ext uri="{FF2B5EF4-FFF2-40B4-BE49-F238E27FC236}">
                <a16:creationId xmlns:a16="http://schemas.microsoft.com/office/drawing/2014/main" id="{8B571CE5-FE02-4F04-AC8F-9C26AE3B2AA4}"/>
              </a:ext>
            </a:extLst>
          </p:cNvPr>
          <p:cNvSpPr>
            <a:spLocks xmlns:a="http://schemas.openxmlformats.org/drawingml/2006/main" noGrp="1"/>
          </p:cNvSpPr>
          <p:nvPr/>
        </p:nvSpPr>
        <p:spPr>
          <a:xfrm xmlns:a="http://schemas.openxmlformats.org/drawingml/2006/main">
            <a:off x="390525" y="9906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By the end, you should be able to...</a:t>
            </a:r>
          </a:p>
        </p:txBody>
      </p:sp>
      <p:sp>
        <p:nvSpPr>
          <p:cNvPr id="6" name="objective-number-1">
            <a:extLst xmlns:a="http://schemas.openxmlformats.org/drawingml/2006/main">
              <a:ext uri="{FF2B5EF4-FFF2-40B4-BE49-F238E27FC236}">
                <a16:creationId xmlns:a16="http://schemas.microsoft.com/office/drawing/2014/main" id="{DE17333A-BFDE-4F78-9B22-68108358264F}"/>
              </a:ext>
            </a:extLst>
          </p:cNvPr>
          <p:cNvSpPr>
            <a:spLocks xmlns:a="http://schemas.openxmlformats.org/drawingml/2006/main" noGrp="1"/>
          </p:cNvSpPr>
          <p:nvPr/>
        </p:nvSpPr>
        <p:spPr>
          <a:xfrm xmlns:a="http://schemas.openxmlformats.org/drawingml/2006/main">
            <a:off x="39052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01</a:t>
            </a:r>
          </a:p>
        </p:txBody>
      </p:sp>
      <p:sp>
        <p:nvSpPr>
          <p:cNvPr id="7" name="objective-1">
            <a:extLst xmlns:a="http://schemas.openxmlformats.org/drawingml/2006/main">
              <a:ext uri="{FF2B5EF4-FFF2-40B4-BE49-F238E27FC236}">
                <a16:creationId xmlns:a16="http://schemas.microsoft.com/office/drawing/2014/main" id="{EE211161-5C1D-4219-A259-77D19628E0C4}"/>
              </a:ext>
            </a:extLst>
          </p:cNvPr>
          <p:cNvSpPr>
            <a:spLocks xmlns:a="http://schemas.openxmlformats.org/drawingml/2006/main" noGrp="1"/>
          </p:cNvSpPr>
          <p:nvPr/>
        </p:nvSpPr>
        <p:spPr>
          <a:xfrm xmlns:a="http://schemas.openxmlformats.org/drawingml/2006/main">
            <a:off x="39052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Compare linear, sampled, searched, and reflective reasoning</a:t>
            </a:r>
          </a:p>
        </p:txBody>
      </p:sp>
      <p:sp>
        <p:nvSpPr>
          <p:cNvPr id="8" name="objective-number-2">
            <a:extLst xmlns:a="http://schemas.openxmlformats.org/drawingml/2006/main">
              <a:ext uri="{FF2B5EF4-FFF2-40B4-BE49-F238E27FC236}">
                <a16:creationId xmlns:a16="http://schemas.microsoft.com/office/drawing/2014/main" id="{5A1EC785-E056-4661-908A-F68D4D59004E}"/>
              </a:ext>
            </a:extLst>
          </p:cNvPr>
          <p:cNvSpPr>
            <a:spLocks xmlns:a="http://schemas.openxmlformats.org/drawingml/2006/main" noGrp="1"/>
          </p:cNvSpPr>
          <p:nvPr/>
        </p:nvSpPr>
        <p:spPr>
          <a:xfrm xmlns:a="http://schemas.openxmlformats.org/drawingml/2006/main">
            <a:off x="327660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02</a:t>
            </a:r>
          </a:p>
        </p:txBody>
      </p:sp>
      <p:sp>
        <p:nvSpPr>
          <p:cNvPr id="9" name="objective-2">
            <a:extLst xmlns:a="http://schemas.openxmlformats.org/drawingml/2006/main">
              <a:ext uri="{FF2B5EF4-FFF2-40B4-BE49-F238E27FC236}">
                <a16:creationId xmlns:a16="http://schemas.microsoft.com/office/drawing/2014/main" id="{BD0D9D92-4382-4032-9F06-7DC97C1CA64D}"/>
              </a:ext>
            </a:extLst>
          </p:cNvPr>
          <p:cNvSpPr>
            <a:spLocks xmlns:a="http://schemas.openxmlformats.org/drawingml/2006/main" noGrp="1"/>
          </p:cNvSpPr>
          <p:nvPr/>
        </p:nvSpPr>
        <p:spPr>
          <a:xfrm xmlns:a="http://schemas.openxmlformats.org/drawingml/2006/main">
            <a:off x="327660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Choose a planning strategy</a:t>
            </a:r>
          </a:p>
        </p:txBody>
      </p:sp>
      <p:sp>
        <p:nvSpPr>
          <p:cNvPr id="10" name="objective-number-3">
            <a:extLst xmlns:a="http://schemas.openxmlformats.org/drawingml/2006/main">
              <a:ext uri="{FF2B5EF4-FFF2-40B4-BE49-F238E27FC236}">
                <a16:creationId xmlns:a16="http://schemas.microsoft.com/office/drawing/2014/main" id="{40273B49-55F9-448B-ADBA-2BEF61534D2D}"/>
              </a:ext>
            </a:extLst>
          </p:cNvPr>
          <p:cNvSpPr>
            <a:spLocks xmlns:a="http://schemas.openxmlformats.org/drawingml/2006/main" noGrp="1"/>
          </p:cNvSpPr>
          <p:nvPr/>
        </p:nvSpPr>
        <p:spPr>
          <a:xfrm xmlns:a="http://schemas.openxmlformats.org/drawingml/2006/main">
            <a:off x="616267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03</a:t>
            </a:r>
          </a:p>
        </p:txBody>
      </p:sp>
      <p:sp>
        <p:nvSpPr>
          <p:cNvPr id="11" name="objective-3">
            <a:extLst xmlns:a="http://schemas.openxmlformats.org/drawingml/2006/main">
              <a:ext uri="{FF2B5EF4-FFF2-40B4-BE49-F238E27FC236}">
                <a16:creationId xmlns:a16="http://schemas.microsoft.com/office/drawing/2014/main" id="{637F2FF5-1392-4FE2-A661-941EE4CEA832}"/>
              </a:ext>
            </a:extLst>
          </p:cNvPr>
          <p:cNvSpPr>
            <a:spLocks xmlns:a="http://schemas.openxmlformats.org/drawingml/2006/main" noGrp="1"/>
          </p:cNvSpPr>
          <p:nvPr/>
        </p:nvSpPr>
        <p:spPr>
          <a:xfrm xmlns:a="http://schemas.openxmlformats.org/drawingml/2006/main">
            <a:off x="616267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Explain test-time compute scaling</a:t>
            </a:r>
          </a:p>
        </p:txBody>
      </p:sp>
      <p:sp>
        <p:nvSpPr>
          <p:cNvPr id="12" name="objective-number-4">
            <a:extLst xmlns:a="http://schemas.openxmlformats.org/drawingml/2006/main">
              <a:ext uri="{FF2B5EF4-FFF2-40B4-BE49-F238E27FC236}">
                <a16:creationId xmlns:a16="http://schemas.microsoft.com/office/drawing/2014/main" id="{8190ADAE-E6C1-43E9-99B8-E2A1D3559B1C}"/>
              </a:ext>
            </a:extLst>
          </p:cNvPr>
          <p:cNvSpPr>
            <a:spLocks xmlns:a="http://schemas.openxmlformats.org/drawingml/2006/main" noGrp="1"/>
          </p:cNvSpPr>
          <p:nvPr/>
        </p:nvSpPr>
        <p:spPr>
          <a:xfrm xmlns:a="http://schemas.openxmlformats.org/drawingml/2006/main">
            <a:off x="904875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04</a:t>
            </a:r>
          </a:p>
        </p:txBody>
      </p:sp>
      <p:sp>
        <p:nvSpPr>
          <p:cNvPr id="13" name="objective-4">
            <a:extLst xmlns:a="http://schemas.openxmlformats.org/drawingml/2006/main">
              <a:ext uri="{FF2B5EF4-FFF2-40B4-BE49-F238E27FC236}">
                <a16:creationId xmlns:a16="http://schemas.microsoft.com/office/drawing/2014/main" id="{E692730D-926F-4C78-B038-532F9DF6CA90}"/>
              </a:ext>
            </a:extLst>
          </p:cNvPr>
          <p:cNvSpPr>
            <a:spLocks xmlns:a="http://schemas.openxmlformats.org/drawingml/2006/main" noGrp="1"/>
          </p:cNvSpPr>
          <p:nvPr/>
        </p:nvSpPr>
        <p:spPr>
          <a:xfrm xmlns:a="http://schemas.openxmlformats.org/drawingml/2006/main">
            <a:off x="904875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Recognize overthinking and faithfulness limits</a:t>
            </a:r>
          </a:p>
        </p:txBody>
      </p:sp>
    </p:spTree>
    <p:extLst>
      <p:ext uri="{BB962C8B-B14F-4D97-AF65-F5344CB8AC3E}">
        <p14:creationId xmlns:p14="http://schemas.microsoft.com/office/powerpoint/2010/main" val="16817323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FB455502-D955-435C-A468-B5262425D932}"/>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F137D66C-D2F2-4B73-9A41-D37787472BD0}"/>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01  /  10</a:t>
            </a:r>
          </a:p>
        </p:txBody>
      </p:sp>
      <p:sp>
        <p:nvSpPr>
          <p:cNvPr id="3" name="slide-number">
            <a:extLst xmlns:a="http://schemas.openxmlformats.org/drawingml/2006/main">
              <a:ext uri="{FF2B5EF4-FFF2-40B4-BE49-F238E27FC236}">
                <a16:creationId xmlns:a16="http://schemas.microsoft.com/office/drawing/2014/main" id="{3CB62BB2-B780-4F5E-B001-858568210273}"/>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03</a:t>
            </a:r>
          </a:p>
        </p:txBody>
      </p:sp>
      <p:sp>
        <p:nvSpPr>
          <p:cNvPr id="4" name="chapter-footer">
            <a:extLst xmlns:a="http://schemas.openxmlformats.org/drawingml/2006/main">
              <a:ext uri="{FF2B5EF4-FFF2-40B4-BE49-F238E27FC236}">
                <a16:creationId xmlns:a16="http://schemas.microsoft.com/office/drawing/2014/main" id="{0BF10171-0FA6-4FB5-8B5F-E2CCFF3CDBA4}"/>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Advanced Reasoning and Planning</a:t>
            </a:r>
          </a:p>
        </p:txBody>
      </p:sp>
      <p:sp>
        <p:nvSpPr>
          <p:cNvPr id="5" name="section-title">
            <a:extLst xmlns:a="http://schemas.openxmlformats.org/drawingml/2006/main">
              <a:ext uri="{FF2B5EF4-FFF2-40B4-BE49-F238E27FC236}">
                <a16:creationId xmlns:a16="http://schemas.microsoft.com/office/drawing/2014/main" id="{7B95050A-0A77-4426-9585-6502C2B3A108}"/>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 single chain is useful but commits early</a:t>
            </a:r>
          </a:p>
        </p:txBody>
      </p:sp>
      <p:sp>
        <p:nvSpPr>
          <p:cNvPr id="6" name="section-explanation">
            <a:extLst xmlns:a="http://schemas.openxmlformats.org/drawingml/2006/main">
              <a:ext uri="{FF2B5EF4-FFF2-40B4-BE49-F238E27FC236}">
                <a16:creationId xmlns:a16="http://schemas.microsoft.com/office/drawing/2014/main" id="{51007145-53B4-4EF4-A434-007050EB3D7B}"/>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Chain-of-thought provides one linear path. It can make intermediate work inspectable, but a greedy chain has no exploration or recovery and its verbalized explanation is not guaranteed to be a faithful record of internal computation.</a:t>
            </a:r>
          </a:p>
        </p:txBody>
      </p:sp>
      <p:sp>
        <p:nvSpPr>
          <p:cNvPr id="7" name="column-rule">
            <a:extLst xmlns:a="http://schemas.openxmlformats.org/drawingml/2006/main">
              <a:ext uri="{FF2B5EF4-FFF2-40B4-BE49-F238E27FC236}">
                <a16:creationId xmlns:a16="http://schemas.microsoft.com/office/drawing/2014/main" id="{C4F16724-4700-42D4-A303-7D4D1E16D6DE}"/>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section-points">
            <a:extLst xmlns:a="http://schemas.openxmlformats.org/drawingml/2006/main">
              <a:ext uri="{FF2B5EF4-FFF2-40B4-BE49-F238E27FC236}">
                <a16:creationId xmlns:a16="http://schemas.microsoft.com/office/drawing/2014/main" id="{1094CD40-D4B3-4830-8E20-E8C7AE86C148}"/>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Use a single chain for ordinary multi-step tasks.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Verify outputs externally where possible.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Do not treat stated reasoning as ground truth.</a:t>
            </a:r>
          </a:p>
        </p:txBody>
      </p:sp>
    </p:spTree>
    <p:extLst>
      <p:ext uri="{BB962C8B-B14F-4D97-AF65-F5344CB8AC3E}">
        <p14:creationId xmlns:p14="http://schemas.microsoft.com/office/powerpoint/2010/main" val="1730090469"/>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accent-line">
            <a:extLst xmlns:a="http://schemas.openxmlformats.org/drawingml/2006/main">
              <a:ext uri="{FF2B5EF4-FFF2-40B4-BE49-F238E27FC236}">
                <a16:creationId xmlns:a16="http://schemas.microsoft.com/office/drawing/2014/main" id="{D7625D8E-0AC3-4919-AE2B-815D7431129A}"/>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19C322DD-5B6A-42EC-9FF6-85AC2BA32B20}"/>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02  /  10</a:t>
            </a:r>
          </a:p>
        </p:txBody>
      </p:sp>
      <p:sp>
        <p:nvSpPr>
          <p:cNvPr id="3" name="slide-number">
            <a:extLst xmlns:a="http://schemas.openxmlformats.org/drawingml/2006/main">
              <a:ext uri="{FF2B5EF4-FFF2-40B4-BE49-F238E27FC236}">
                <a16:creationId xmlns:a16="http://schemas.microsoft.com/office/drawing/2014/main" id="{E98462BE-AB02-4402-B0C9-63DB78BB0380}"/>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04</a:t>
            </a:r>
          </a:p>
        </p:txBody>
      </p:sp>
      <p:sp>
        <p:nvSpPr>
          <p:cNvPr id="4" name="chapter-footer">
            <a:extLst xmlns:a="http://schemas.openxmlformats.org/drawingml/2006/main">
              <a:ext uri="{FF2B5EF4-FFF2-40B4-BE49-F238E27FC236}">
                <a16:creationId xmlns:a16="http://schemas.microsoft.com/office/drawing/2014/main" id="{F97A9BB2-4B9E-4B49-8E1A-E9BEE26E892F}"/>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Advanced Reasoning and Planning</a:t>
            </a:r>
          </a:p>
        </p:txBody>
      </p:sp>
      <p:sp>
        <p:nvSpPr>
          <p:cNvPr id="5" name="section-title">
            <a:extLst xmlns:a="http://schemas.openxmlformats.org/drawingml/2006/main">
              <a:ext uri="{FF2B5EF4-FFF2-40B4-BE49-F238E27FC236}">
                <a16:creationId xmlns:a16="http://schemas.microsoft.com/office/drawing/2014/main" id="{E518BEB0-2B76-4F63-9683-E5EB364E0510}"/>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Self-consistency widens exploration by sampling</a:t>
            </a:r>
          </a:p>
        </p:txBody>
      </p:sp>
      <p:sp>
        <p:nvSpPr>
          <p:cNvPr id="6" name="section-explanation">
            <a:extLst xmlns:a="http://schemas.openxmlformats.org/drawingml/2006/main">
              <a:ext uri="{FF2B5EF4-FFF2-40B4-BE49-F238E27FC236}">
                <a16:creationId xmlns:a16="http://schemas.microsoft.com/office/drawing/2014/main" id="{F893E0BB-4087-427E-BE94-CD8EDD00857C}"/>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Generate several independent reasoning chains and take the majority answer. Different correct paths may converge on the same result while wrong paths are less likely to converge on one specific error.</a:t>
            </a:r>
          </a:p>
        </p:txBody>
      </p:sp>
      <p:sp>
        <p:nvSpPr>
          <p:cNvPr id="7" name="point-band-1">
            <a:extLst xmlns:a="http://schemas.openxmlformats.org/drawingml/2006/main">
              <a:ext uri="{FF2B5EF4-FFF2-40B4-BE49-F238E27FC236}">
                <a16:creationId xmlns:a16="http://schemas.microsoft.com/office/drawing/2014/main" id="{FB9CB786-0342-4C3E-BCD5-81ECA30EA07C}"/>
              </a:ext>
            </a:extLst>
          </p:cNvPr>
          <p:cNvSpPr>
            <a:spLocks xmlns:a="http://schemas.openxmlformats.org/drawingml/2006/main" noGrp="1"/>
          </p:cNvSpPr>
          <p:nvPr/>
        </p:nvSpPr>
        <p:spPr>
          <a:xfrm xmlns:a="http://schemas.openxmlformats.org/drawingml/2006/main">
            <a:off x="390525" y="4048125"/>
            <a:ext cx="3435350"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point-1">
            <a:extLst xmlns:a="http://schemas.openxmlformats.org/drawingml/2006/main">
              <a:ext uri="{FF2B5EF4-FFF2-40B4-BE49-F238E27FC236}">
                <a16:creationId xmlns:a16="http://schemas.microsoft.com/office/drawing/2014/main" id="{B15D1FED-EE3B-4641-A64A-107BF237C277}"/>
              </a:ext>
            </a:extLst>
          </p:cNvPr>
          <p:cNvSpPr>
            <a:spLocks xmlns:a="http://schemas.openxmlformats.org/drawingml/2006/main" noGrp="1"/>
          </p:cNvSpPr>
          <p:nvPr/>
        </p:nvSpPr>
        <p:spPr>
          <a:xfrm xmlns:a="http://schemas.openxmlformats.org/drawingml/2006/main">
            <a:off x="3905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Cost grows roughly with the number of samples.</a:t>
            </a:r>
          </a:p>
        </p:txBody>
      </p:sp>
      <p:sp>
        <p:nvSpPr>
          <p:cNvPr id="9" name="point-band-2">
            <a:extLst xmlns:a="http://schemas.openxmlformats.org/drawingml/2006/main">
              <a:ext uri="{FF2B5EF4-FFF2-40B4-BE49-F238E27FC236}">
                <a16:creationId xmlns:a16="http://schemas.microsoft.com/office/drawing/2014/main" id="{21C800CA-1B5F-4349-BCB2-5EE0ECF20223}"/>
              </a:ext>
            </a:extLst>
          </p:cNvPr>
          <p:cNvSpPr>
            <a:spLocks xmlns:a="http://schemas.openxmlformats.org/drawingml/2006/main" noGrp="1"/>
          </p:cNvSpPr>
          <p:nvPr/>
        </p:nvSpPr>
        <p:spPr>
          <a:xfrm xmlns:a="http://schemas.openxmlformats.org/drawingml/2006/main">
            <a:off x="4092575" y="4048125"/>
            <a:ext cx="3435350"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0" name="point-2">
            <a:extLst xmlns:a="http://schemas.openxmlformats.org/drawingml/2006/main">
              <a:ext uri="{FF2B5EF4-FFF2-40B4-BE49-F238E27FC236}">
                <a16:creationId xmlns:a16="http://schemas.microsoft.com/office/drawing/2014/main" id="{EFB9A79D-C09D-4A02-B981-A40AE70EA3D9}"/>
              </a:ext>
            </a:extLst>
          </p:cNvPr>
          <p:cNvSpPr>
            <a:spLocks xmlns:a="http://schemas.openxmlformats.org/drawingml/2006/main" noGrp="1"/>
          </p:cNvSpPr>
          <p:nvPr/>
        </p:nvSpPr>
        <p:spPr>
          <a:xfrm xmlns:a="http://schemas.openxmlformats.org/drawingml/2006/main">
            <a:off x="409257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Voting requires an answer that can be aggregated.</a:t>
            </a:r>
          </a:p>
        </p:txBody>
      </p:sp>
      <p:sp>
        <p:nvSpPr>
          <p:cNvPr id="11" name="point-band-3">
            <a:extLst xmlns:a="http://schemas.openxmlformats.org/drawingml/2006/main">
              <a:ext uri="{FF2B5EF4-FFF2-40B4-BE49-F238E27FC236}">
                <a16:creationId xmlns:a16="http://schemas.microsoft.com/office/drawing/2014/main" id="{BDFC63AE-A115-4126-A292-9C2D331FDB08}"/>
              </a:ext>
            </a:extLst>
          </p:cNvPr>
          <p:cNvSpPr>
            <a:spLocks xmlns:a="http://schemas.openxmlformats.org/drawingml/2006/main" noGrp="1"/>
          </p:cNvSpPr>
          <p:nvPr/>
        </p:nvSpPr>
        <p:spPr>
          <a:xfrm xmlns:a="http://schemas.openxmlformats.org/drawingml/2006/main">
            <a:off x="7794625" y="4048125"/>
            <a:ext cx="3435350"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2" name="point-3">
            <a:extLst xmlns:a="http://schemas.openxmlformats.org/drawingml/2006/main">
              <a:ext uri="{FF2B5EF4-FFF2-40B4-BE49-F238E27FC236}">
                <a16:creationId xmlns:a16="http://schemas.microsoft.com/office/drawing/2014/main" id="{5C1AE167-AE4D-4BC0-8B0C-1F52DA9358BF}"/>
              </a:ext>
            </a:extLst>
          </p:cNvPr>
          <p:cNvSpPr>
            <a:spLocks xmlns:a="http://schemas.openxmlformats.org/drawingml/2006/main" noGrp="1"/>
          </p:cNvSpPr>
          <p:nvPr/>
        </p:nvSpPr>
        <p:spPr>
          <a:xfrm xmlns:a="http://schemas.openxmlformats.org/drawingml/2006/main">
            <a:off x="77946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Independence and diversity are part of the value.</a:t>
            </a:r>
          </a:p>
        </p:txBody>
      </p:sp>
    </p:spTree>
    <p:extLst>
      <p:ext uri="{BB962C8B-B14F-4D97-AF65-F5344CB8AC3E}">
        <p14:creationId xmlns:p14="http://schemas.microsoft.com/office/powerpoint/2010/main" val="5069985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CE330976-D2D3-456F-9B16-88217FA8E5DA}"/>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33675A0F-9CAA-43A0-86D3-E31F140B27EE}"/>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03  /  10</a:t>
            </a:r>
          </a:p>
        </p:txBody>
      </p:sp>
      <p:sp>
        <p:nvSpPr>
          <p:cNvPr id="3" name="slide-number">
            <a:extLst xmlns:a="http://schemas.openxmlformats.org/drawingml/2006/main">
              <a:ext uri="{FF2B5EF4-FFF2-40B4-BE49-F238E27FC236}">
                <a16:creationId xmlns:a16="http://schemas.microsoft.com/office/drawing/2014/main" id="{6A5C61F1-0FAD-4BBB-8243-465B155EF3CE}"/>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05</a:t>
            </a:r>
          </a:p>
        </p:txBody>
      </p:sp>
      <p:sp>
        <p:nvSpPr>
          <p:cNvPr id="4" name="chapter-footer">
            <a:extLst xmlns:a="http://schemas.openxmlformats.org/drawingml/2006/main">
              <a:ext uri="{FF2B5EF4-FFF2-40B4-BE49-F238E27FC236}">
                <a16:creationId xmlns:a16="http://schemas.microsoft.com/office/drawing/2014/main" id="{771BFD49-5BBF-461F-A217-BC81ED19C72D}"/>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Advanced Reasoning and Planning</a:t>
            </a:r>
          </a:p>
        </p:txBody>
      </p:sp>
      <p:sp>
        <p:nvSpPr>
          <p:cNvPr id="5" name="section-title">
            <a:extLst xmlns:a="http://schemas.openxmlformats.org/drawingml/2006/main">
              <a:ext uri="{FF2B5EF4-FFF2-40B4-BE49-F238E27FC236}">
                <a16:creationId xmlns:a16="http://schemas.microsoft.com/office/drawing/2014/main" id="{9FE92AC7-F9CF-4DA8-9C2A-2412DEE3C1B7}"/>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Tree- and Graph-of-Thoughts add explicit search</a:t>
            </a:r>
          </a:p>
        </p:txBody>
      </p:sp>
      <p:sp>
        <p:nvSpPr>
          <p:cNvPr id="6" name="section-explanation">
            <a:extLst xmlns:a="http://schemas.openxmlformats.org/drawingml/2006/main">
              <a:ext uri="{FF2B5EF4-FFF2-40B4-BE49-F238E27FC236}">
                <a16:creationId xmlns:a16="http://schemas.microsoft.com/office/drawing/2014/main" id="{0BAE62BD-E4E4-4FD3-8B08-75F84D675470}"/>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Tree-of-Thoughts generates candidate partial states, evaluates them, and expands promising branches using a search strategy, enabling lookahead and backtracking. Graph-of-Thoughts also merges and refines ideas rather than keeping a strict tree.</a:t>
            </a:r>
          </a:p>
        </p:txBody>
      </p:sp>
      <p:sp>
        <p:nvSpPr>
          <p:cNvPr id="7" name="column-rule">
            <a:extLst xmlns:a="http://schemas.openxmlformats.org/drawingml/2006/main">
              <a:ext uri="{FF2B5EF4-FFF2-40B4-BE49-F238E27FC236}">
                <a16:creationId xmlns:a16="http://schemas.microsoft.com/office/drawing/2014/main" id="{1EB461EA-C926-48F3-9895-C034D779E6D7}"/>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section-points">
            <a:extLst xmlns:a="http://schemas.openxmlformats.org/drawingml/2006/main">
              <a:ext uri="{FF2B5EF4-FFF2-40B4-BE49-F238E27FC236}">
                <a16:creationId xmlns:a16="http://schemas.microsoft.com/office/drawing/2014/main" id="{98324FA6-0E4F-4563-A710-BA02B31272CF}"/>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Search needs a useful evaluator.</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Branching can grow exponentially.</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Graphs support aggregation and refinement loops.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Use search when alternatives and dead ends matter.</a:t>
            </a:r>
          </a:p>
        </p:txBody>
      </p:sp>
    </p:spTree>
    <p:extLst>
      <p:ext uri="{BB962C8B-B14F-4D97-AF65-F5344CB8AC3E}">
        <p14:creationId xmlns:p14="http://schemas.microsoft.com/office/powerpoint/2010/main" val="1900741135"/>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accent-line">
            <a:extLst xmlns:a="http://schemas.openxmlformats.org/drawingml/2006/main">
              <a:ext uri="{FF2B5EF4-FFF2-40B4-BE49-F238E27FC236}">
                <a16:creationId xmlns:a16="http://schemas.microsoft.com/office/drawing/2014/main" id="{1D880FAF-8D67-47B9-A95D-EF7A60E049F3}"/>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23CE7C6A-BFE8-4261-95AA-E5C8C24625D9}"/>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04  /  10</a:t>
            </a:r>
          </a:p>
        </p:txBody>
      </p:sp>
      <p:sp>
        <p:nvSpPr>
          <p:cNvPr id="3" name="slide-number">
            <a:extLst xmlns:a="http://schemas.openxmlformats.org/drawingml/2006/main">
              <a:ext uri="{FF2B5EF4-FFF2-40B4-BE49-F238E27FC236}">
                <a16:creationId xmlns:a16="http://schemas.microsoft.com/office/drawing/2014/main" id="{6E94E124-A854-4A9D-99CB-4E214DAE79D9}"/>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06</a:t>
            </a:r>
          </a:p>
        </p:txBody>
      </p:sp>
      <p:sp>
        <p:nvSpPr>
          <p:cNvPr id="4" name="chapter-footer">
            <a:extLst xmlns:a="http://schemas.openxmlformats.org/drawingml/2006/main">
              <a:ext uri="{FF2B5EF4-FFF2-40B4-BE49-F238E27FC236}">
                <a16:creationId xmlns:a16="http://schemas.microsoft.com/office/drawing/2014/main" id="{6F4C6C34-3316-49B1-8B02-4A0D8D190E28}"/>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Advanced Reasoning and Planning</a:t>
            </a:r>
          </a:p>
        </p:txBody>
      </p:sp>
      <p:sp>
        <p:nvSpPr>
          <p:cNvPr id="5" name="section-title">
            <a:extLst xmlns:a="http://schemas.openxmlformats.org/drawingml/2006/main">
              <a:ext uri="{FF2B5EF4-FFF2-40B4-BE49-F238E27FC236}">
                <a16:creationId xmlns:a16="http://schemas.microsoft.com/office/drawing/2014/main" id="{3C0C2E5B-0E48-429C-840B-FDDAB8CC0E60}"/>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Reflection improves one path over time</a:t>
            </a:r>
          </a:p>
        </p:txBody>
      </p:sp>
      <p:sp>
        <p:nvSpPr>
          <p:cNvPr id="6" name="section-explanation">
            <a:extLst xmlns:a="http://schemas.openxmlformats.org/drawingml/2006/main">
              <a:ext uri="{FF2B5EF4-FFF2-40B4-BE49-F238E27FC236}">
                <a16:creationId xmlns:a16="http://schemas.microsoft.com/office/drawing/2014/main" id="{3C112E2C-8415-486B-8C96-7F4184653FA7}"/>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Reflexion converts evaluation into a verbal lesson stored for another attempt. Self-Refine repeats critique and revision. Reflection deepens one trajectory, whereas search widens across trajectories.</a:t>
            </a:r>
          </a:p>
        </p:txBody>
      </p:sp>
      <p:sp>
        <p:nvSpPr>
          <p:cNvPr id="7" name="point-band-1">
            <a:extLst xmlns:a="http://schemas.openxmlformats.org/drawingml/2006/main">
              <a:ext uri="{FF2B5EF4-FFF2-40B4-BE49-F238E27FC236}">
                <a16:creationId xmlns:a16="http://schemas.microsoft.com/office/drawing/2014/main" id="{F6438DF7-83A8-4675-B4C6-1AA3ACAB1106}"/>
              </a:ext>
            </a:extLst>
          </p:cNvPr>
          <p:cNvSpPr>
            <a:spLocks xmlns:a="http://schemas.openxmlformats.org/drawingml/2006/main" noGrp="1"/>
          </p:cNvSpPr>
          <p:nvPr/>
        </p:nvSpPr>
        <p:spPr>
          <a:xfrm xmlns:a="http://schemas.openxmlformats.org/drawingml/2006/main">
            <a:off x="390525" y="4048125"/>
            <a:ext cx="3435350"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point-1">
            <a:extLst xmlns:a="http://schemas.openxmlformats.org/drawingml/2006/main">
              <a:ext uri="{FF2B5EF4-FFF2-40B4-BE49-F238E27FC236}">
                <a16:creationId xmlns:a16="http://schemas.microsoft.com/office/drawing/2014/main" id="{C426C43C-5F1C-49A9-81F5-318DCCA3BB40}"/>
              </a:ext>
            </a:extLst>
          </p:cNvPr>
          <p:cNvSpPr>
            <a:spLocks xmlns:a="http://schemas.openxmlformats.org/drawingml/2006/main" noGrp="1"/>
          </p:cNvSpPr>
          <p:nvPr/>
        </p:nvSpPr>
        <p:spPr>
          <a:xfrm xmlns:a="http://schemas.openxmlformats.org/drawingml/2006/main">
            <a:off x="3905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 test or grounded critic makes reflection reliable.</a:t>
            </a:r>
          </a:p>
        </p:txBody>
      </p:sp>
      <p:sp>
        <p:nvSpPr>
          <p:cNvPr id="9" name="point-band-2">
            <a:extLst xmlns:a="http://schemas.openxmlformats.org/drawingml/2006/main">
              <a:ext uri="{FF2B5EF4-FFF2-40B4-BE49-F238E27FC236}">
                <a16:creationId xmlns:a16="http://schemas.microsoft.com/office/drawing/2014/main" id="{942C0279-168E-4461-9478-133DD32C6448}"/>
              </a:ext>
            </a:extLst>
          </p:cNvPr>
          <p:cNvSpPr>
            <a:spLocks xmlns:a="http://schemas.openxmlformats.org/drawingml/2006/main" noGrp="1"/>
          </p:cNvSpPr>
          <p:nvPr/>
        </p:nvSpPr>
        <p:spPr>
          <a:xfrm xmlns:a="http://schemas.openxmlformats.org/drawingml/2006/main">
            <a:off x="4092575" y="4048125"/>
            <a:ext cx="3435350"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0" name="point-2">
            <a:extLst xmlns:a="http://schemas.openxmlformats.org/drawingml/2006/main">
              <a:ext uri="{FF2B5EF4-FFF2-40B4-BE49-F238E27FC236}">
                <a16:creationId xmlns:a16="http://schemas.microsoft.com/office/drawing/2014/main" id="{9C288A82-28F0-4FA8-978A-EDD10E174ED4}"/>
              </a:ext>
            </a:extLst>
          </p:cNvPr>
          <p:cNvSpPr>
            <a:spLocks xmlns:a="http://schemas.openxmlformats.org/drawingml/2006/main" noGrp="1"/>
          </p:cNvSpPr>
          <p:nvPr/>
        </p:nvSpPr>
        <p:spPr>
          <a:xfrm xmlns:a="http://schemas.openxmlformats.org/drawingml/2006/main">
            <a:off x="409257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Vague self-critique can reinforce errors.</a:t>
            </a:r>
          </a:p>
        </p:txBody>
      </p:sp>
      <p:sp>
        <p:nvSpPr>
          <p:cNvPr id="11" name="point-band-3">
            <a:extLst xmlns:a="http://schemas.openxmlformats.org/drawingml/2006/main">
              <a:ext uri="{FF2B5EF4-FFF2-40B4-BE49-F238E27FC236}">
                <a16:creationId xmlns:a16="http://schemas.microsoft.com/office/drawing/2014/main" id="{703D854D-02E5-4972-99E8-C9D9D814B60C}"/>
              </a:ext>
            </a:extLst>
          </p:cNvPr>
          <p:cNvSpPr>
            <a:spLocks xmlns:a="http://schemas.openxmlformats.org/drawingml/2006/main" noGrp="1"/>
          </p:cNvSpPr>
          <p:nvPr/>
        </p:nvSpPr>
        <p:spPr>
          <a:xfrm xmlns:a="http://schemas.openxmlformats.org/drawingml/2006/main">
            <a:off x="7794625" y="4048125"/>
            <a:ext cx="3435350"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2" name="point-3">
            <a:extLst xmlns:a="http://schemas.openxmlformats.org/drawingml/2006/main">
              <a:ext uri="{FF2B5EF4-FFF2-40B4-BE49-F238E27FC236}">
                <a16:creationId xmlns:a16="http://schemas.microsoft.com/office/drawing/2014/main" id="{B3956944-AD6D-41BF-A7EB-3F2CF3971DDF}"/>
              </a:ext>
            </a:extLst>
          </p:cNvPr>
          <p:cNvSpPr>
            <a:spLocks xmlns:a="http://schemas.openxmlformats.org/drawingml/2006/main" noGrp="1"/>
          </p:cNvSpPr>
          <p:nvPr/>
        </p:nvSpPr>
        <p:spPr>
          <a:xfrm xmlns:a="http://schemas.openxmlformats.org/drawingml/2006/main">
            <a:off x="77946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Revision loops need quality and cost stops.</a:t>
            </a:r>
          </a:p>
        </p:txBody>
      </p:sp>
    </p:spTree>
    <p:extLst>
      <p:ext uri="{BB962C8B-B14F-4D97-AF65-F5344CB8AC3E}">
        <p14:creationId xmlns:p14="http://schemas.microsoft.com/office/powerpoint/2010/main" val="2440368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739361D1-54ED-4CB0-B458-CDC8AD1CC4A9}"/>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0CA35128-1B21-48BE-B2B1-BD900911036C}"/>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05  /  10</a:t>
            </a:r>
          </a:p>
        </p:txBody>
      </p:sp>
      <p:sp>
        <p:nvSpPr>
          <p:cNvPr id="3" name="slide-number">
            <a:extLst xmlns:a="http://schemas.openxmlformats.org/drawingml/2006/main">
              <a:ext uri="{FF2B5EF4-FFF2-40B4-BE49-F238E27FC236}">
                <a16:creationId xmlns:a16="http://schemas.microsoft.com/office/drawing/2014/main" id="{C30403F9-56F7-4264-B725-50EF6895E34E}"/>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07</a:t>
            </a:r>
          </a:p>
        </p:txBody>
      </p:sp>
      <p:sp>
        <p:nvSpPr>
          <p:cNvPr id="4" name="chapter-footer">
            <a:extLst xmlns:a="http://schemas.openxmlformats.org/drawingml/2006/main">
              <a:ext uri="{FF2B5EF4-FFF2-40B4-BE49-F238E27FC236}">
                <a16:creationId xmlns:a16="http://schemas.microsoft.com/office/drawing/2014/main" id="{EAA82F8B-1378-45F2-9A4E-4F98610D52C1}"/>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Advanced Reasoning and Planning</a:t>
            </a:r>
          </a:p>
        </p:txBody>
      </p:sp>
      <p:sp>
        <p:nvSpPr>
          <p:cNvPr id="5" name="section-title">
            <a:extLst xmlns:a="http://schemas.openxmlformats.org/drawingml/2006/main">
              <a:ext uri="{FF2B5EF4-FFF2-40B4-BE49-F238E27FC236}">
                <a16:creationId xmlns:a16="http://schemas.microsoft.com/office/drawing/2014/main" id="{825DBE12-8CBC-4F17-9C22-B8CB7CC566D6}"/>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Planning changes when and how decisions are made</a:t>
            </a:r>
          </a:p>
        </p:txBody>
      </p:sp>
      <p:sp>
        <p:nvSpPr>
          <p:cNvPr id="6" name="section-explanation">
            <a:extLst xmlns:a="http://schemas.openxmlformats.org/drawingml/2006/main">
              <a:ext uri="{FF2B5EF4-FFF2-40B4-BE49-F238E27FC236}">
                <a16:creationId xmlns:a16="http://schemas.microsoft.com/office/drawing/2014/main" id="{BC31785E-DCD7-4FE2-817C-D7D9BCF9DB80}"/>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ReAct decides step by step and suits short uncertain tasks. Plan-and-execute decomposes first and can reduce repeated planning on long tasks. Re-planning repairs a plan after new evidence. DAG planning runs independent steps in parallel.</a:t>
            </a:r>
          </a:p>
        </p:txBody>
      </p:sp>
      <p:sp>
        <p:nvSpPr>
          <p:cNvPr id="7" name="column-rule">
            <a:extLst xmlns:a="http://schemas.openxmlformats.org/drawingml/2006/main">
              <a:ext uri="{FF2B5EF4-FFF2-40B4-BE49-F238E27FC236}">
                <a16:creationId xmlns:a16="http://schemas.microsoft.com/office/drawing/2014/main" id="{6952F010-C957-48B1-B7FE-3CAAA9D444AD}"/>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section-points">
            <a:extLst xmlns:a="http://schemas.openxmlformats.org/drawingml/2006/main">
              <a:ext uri="{FF2B5EF4-FFF2-40B4-BE49-F238E27FC236}">
                <a16:creationId xmlns:a16="http://schemas.microsoft.com/office/drawing/2014/main" id="{F6DDE110-07AD-45F2-A212-F315F5C3787B}"/>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Reactive plans adapt but can be myopic.</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Up-front plans add global structure but can become stale.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Parallel plans lower latency only when dependencies permit.</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Every planner needs execution feedback.</a:t>
            </a:r>
          </a:p>
        </p:txBody>
      </p:sp>
    </p:spTree>
    <p:extLst>
      <p:ext uri="{BB962C8B-B14F-4D97-AF65-F5344CB8AC3E}">
        <p14:creationId xmlns:p14="http://schemas.microsoft.com/office/powerpoint/2010/main" val="942602639"/>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1D63E6BB-7569-4EEB-A667-A69F65AE32F9}"/>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7BA0A3C4-698E-4EE7-8757-8F556E2505E5}"/>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06  /  10</a:t>
            </a:r>
          </a:p>
        </p:txBody>
      </p:sp>
      <p:sp>
        <p:nvSpPr>
          <p:cNvPr id="3" name="slide-number">
            <a:extLst xmlns:a="http://schemas.openxmlformats.org/drawingml/2006/main">
              <a:ext uri="{FF2B5EF4-FFF2-40B4-BE49-F238E27FC236}">
                <a16:creationId xmlns:a16="http://schemas.microsoft.com/office/drawing/2014/main" id="{32F7987A-761B-404F-A62B-E697786F367B}"/>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08</a:t>
            </a:r>
          </a:p>
        </p:txBody>
      </p:sp>
      <p:sp>
        <p:nvSpPr>
          <p:cNvPr id="4" name="chapter-footer">
            <a:extLst xmlns:a="http://schemas.openxmlformats.org/drawingml/2006/main">
              <a:ext uri="{FF2B5EF4-FFF2-40B4-BE49-F238E27FC236}">
                <a16:creationId xmlns:a16="http://schemas.microsoft.com/office/drawing/2014/main" id="{729A1C08-637B-4405-A7E3-77D9A987343A}"/>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Advanced Reasoning and Planning</a:t>
            </a:r>
          </a:p>
        </p:txBody>
      </p:sp>
      <p:sp>
        <p:nvSpPr>
          <p:cNvPr id="5" name="section-title">
            <a:extLst xmlns:a="http://schemas.openxmlformats.org/drawingml/2006/main">
              <a:ext uri="{FF2B5EF4-FFF2-40B4-BE49-F238E27FC236}">
                <a16:creationId xmlns:a16="http://schemas.microsoft.com/office/drawing/2014/main" id="{E0DDBE1B-F4F3-42E8-ABB9-45358544761C}"/>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Reasoning models internalize deliberate inference</a:t>
            </a:r>
          </a:p>
        </p:txBody>
      </p:sp>
      <p:sp>
        <p:nvSpPr>
          <p:cNvPr id="6" name="section-explanation">
            <a:extLst xmlns:a="http://schemas.openxmlformats.org/drawingml/2006/main">
              <a:ext uri="{FF2B5EF4-FFF2-40B4-BE49-F238E27FC236}">
                <a16:creationId xmlns:a16="http://schemas.microsoft.com/office/drawing/2014/main" id="{80161F7A-23AB-4720-B2F8-B3CBE749AAB4}"/>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RL-trained reasoning models generate extended internal deliberation and spend test-time compute according to task difficulty. Strong models can serve as planners or orchestrators while cheaper models handle routine extraction, routing, and tool calls.</a:t>
            </a:r>
          </a:p>
        </p:txBody>
      </p:sp>
      <p:sp>
        <p:nvSpPr>
          <p:cNvPr id="7" name="point-band-1">
            <a:extLst xmlns:a="http://schemas.openxmlformats.org/drawingml/2006/main">
              <a:ext uri="{FF2B5EF4-FFF2-40B4-BE49-F238E27FC236}">
                <a16:creationId xmlns:a16="http://schemas.microsoft.com/office/drawing/2014/main" id="{FF1269EF-DD23-47AF-93E3-157FA6B0066A}"/>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point-1">
            <a:extLst xmlns:a="http://schemas.openxmlformats.org/drawingml/2006/main">
              <a:ext uri="{FF2B5EF4-FFF2-40B4-BE49-F238E27FC236}">
                <a16:creationId xmlns:a16="http://schemas.microsoft.com/office/drawing/2014/main" id="{B3B2D0A6-3BF4-4479-92D2-2221F18FF397}"/>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More thinking raises latency and cost.</a:t>
            </a:r>
          </a:p>
        </p:txBody>
      </p:sp>
      <p:sp>
        <p:nvSpPr>
          <p:cNvPr id="9" name="point-band-2">
            <a:extLst xmlns:a="http://schemas.openxmlformats.org/drawingml/2006/main">
              <a:ext uri="{FF2B5EF4-FFF2-40B4-BE49-F238E27FC236}">
                <a16:creationId xmlns:a16="http://schemas.microsoft.com/office/drawing/2014/main" id="{0C5AB639-86EC-4E89-8667-D91BB6BB815E}"/>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0" name="point-2">
            <a:extLst xmlns:a="http://schemas.openxmlformats.org/drawingml/2006/main">
              <a:ext uri="{FF2B5EF4-FFF2-40B4-BE49-F238E27FC236}">
                <a16:creationId xmlns:a16="http://schemas.microsoft.com/office/drawing/2014/main" id="{56E2E9D6-4320-4F06-A252-6FD7AA0D7311}"/>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Easy problems can suffer from overthinking.</a:t>
            </a:r>
          </a:p>
        </p:txBody>
      </p:sp>
      <p:sp>
        <p:nvSpPr>
          <p:cNvPr id="11" name="point-band-3">
            <a:extLst xmlns:a="http://schemas.openxmlformats.org/drawingml/2006/main">
              <a:ext uri="{FF2B5EF4-FFF2-40B4-BE49-F238E27FC236}">
                <a16:creationId xmlns:a16="http://schemas.microsoft.com/office/drawing/2014/main" id="{F852339A-A391-4B83-B88B-CACF5A6B40B2}"/>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2" name="point-3">
            <a:extLst xmlns:a="http://schemas.openxmlformats.org/drawingml/2006/main">
              <a:ext uri="{FF2B5EF4-FFF2-40B4-BE49-F238E27FC236}">
                <a16:creationId xmlns:a16="http://schemas.microsoft.com/office/drawing/2014/main" id="{1ADB168C-1A35-4833-A798-0F530D1E55A8}"/>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Beyond a point, additional compute may reduce accuracy.</a:t>
            </a:r>
          </a:p>
        </p:txBody>
      </p:sp>
      <p:sp>
        <p:nvSpPr>
          <p:cNvPr id="13" name="point-band-4">
            <a:extLst xmlns:a="http://schemas.openxmlformats.org/drawingml/2006/main">
              <a:ext uri="{FF2B5EF4-FFF2-40B4-BE49-F238E27FC236}">
                <a16:creationId xmlns:a16="http://schemas.microsoft.com/office/drawing/2014/main" id="{4AD21E32-4194-4CA4-9F98-3FFDB4F4B216}"/>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4" name="point-4">
            <a:extLst xmlns:a="http://schemas.openxmlformats.org/drawingml/2006/main">
              <a:ext uri="{FF2B5EF4-FFF2-40B4-BE49-F238E27FC236}">
                <a16:creationId xmlns:a16="http://schemas.microsoft.com/office/drawing/2014/main" id="{3A0C1643-F7E6-4233-BD7C-4B6C8733E8F5}"/>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Escalate selectively instead of using maximum reasoning everywhere.</a:t>
            </a:r>
          </a:p>
        </p:txBody>
      </p:sp>
    </p:spTree>
    <p:extLst>
      <p:ext uri="{BB962C8B-B14F-4D97-AF65-F5344CB8AC3E}">
        <p14:creationId xmlns:p14="http://schemas.microsoft.com/office/powerpoint/2010/main" val="13143869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accent-line">
            <a:extLst xmlns:a="http://schemas.openxmlformats.org/drawingml/2006/main">
              <a:ext uri="{FF2B5EF4-FFF2-40B4-BE49-F238E27FC236}">
                <a16:creationId xmlns:a16="http://schemas.microsoft.com/office/drawing/2014/main" id="{68D486D1-5832-4533-988E-61E3E87CE73F}"/>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99F51DA1-AC16-4A5F-9DCF-FC7AA845EA85}"/>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EXAM CHECK  /  10</a:t>
            </a:r>
          </a:p>
        </p:txBody>
      </p:sp>
      <p:sp>
        <p:nvSpPr>
          <p:cNvPr id="3" name="slide-number">
            <a:extLst xmlns:a="http://schemas.openxmlformats.org/drawingml/2006/main">
              <a:ext uri="{FF2B5EF4-FFF2-40B4-BE49-F238E27FC236}">
                <a16:creationId xmlns:a16="http://schemas.microsoft.com/office/drawing/2014/main" id="{D28A319E-FA7E-420C-96D3-D5A79271EC5D}"/>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09</a:t>
            </a:r>
          </a:p>
        </p:txBody>
      </p:sp>
      <p:sp>
        <p:nvSpPr>
          <p:cNvPr id="4" name="chapter-footer">
            <a:extLst xmlns:a="http://schemas.openxmlformats.org/drawingml/2006/main">
              <a:ext uri="{FF2B5EF4-FFF2-40B4-BE49-F238E27FC236}">
                <a16:creationId xmlns:a16="http://schemas.microsoft.com/office/drawing/2014/main" id="{17B27A80-701C-4E0B-A636-067E7179500D}"/>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Advanced Reasoning and Planning</a:t>
            </a:r>
          </a:p>
        </p:txBody>
      </p:sp>
      <p:sp>
        <p:nvSpPr>
          <p:cNvPr id="5" name="exam-title">
            <a:extLst xmlns:a="http://schemas.openxmlformats.org/drawingml/2006/main">
              <a:ext uri="{FF2B5EF4-FFF2-40B4-BE49-F238E27FC236}">
                <a16:creationId xmlns:a16="http://schemas.microsoft.com/office/drawing/2014/main" id="{B0E25729-88AD-43D2-BA9C-3CFA22D0A555}"/>
              </a:ext>
            </a:extLst>
          </p:cNvPr>
          <p:cNvSpPr>
            <a:spLocks xmlns:a="http://schemas.openxmlformats.org/drawingml/2006/main" noGrp="1"/>
          </p:cNvSpPr>
          <p:nvPr/>
        </p:nvSpPr>
        <p:spPr>
          <a:xfrm xmlns:a="http://schemas.openxmlformats.org/drawingml/2006/main">
            <a:off x="390525" y="981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Can you answer these without notes?</a:t>
            </a:r>
          </a:p>
        </p:txBody>
      </p:sp>
      <p:sp>
        <p:nvSpPr>
          <p:cNvPr id="6" name="exam-number-1">
            <a:extLst xmlns:a="http://schemas.openxmlformats.org/drawingml/2006/main">
              <a:ext uri="{FF2B5EF4-FFF2-40B4-BE49-F238E27FC236}">
                <a16:creationId xmlns:a16="http://schemas.microsoft.com/office/drawing/2014/main" id="{65379092-F19B-44A2-A853-4B2E8DCB4E94}"/>
              </a:ext>
            </a:extLst>
          </p:cNvPr>
          <p:cNvSpPr>
            <a:spLocks xmlns:a="http://schemas.openxmlformats.org/drawingml/2006/main" noGrp="1"/>
          </p:cNvSpPr>
          <p:nvPr/>
        </p:nvSpPr>
        <p:spPr>
          <a:xfrm xmlns:a="http://schemas.openxmlformats.org/drawingml/2006/main">
            <a:off x="390525"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01</a:t>
            </a:r>
          </a:p>
        </p:txBody>
      </p:sp>
      <p:sp>
        <p:nvSpPr>
          <p:cNvPr id="7" name="exam-question-1">
            <a:extLst xmlns:a="http://schemas.openxmlformats.org/drawingml/2006/main">
              <a:ext uri="{FF2B5EF4-FFF2-40B4-BE49-F238E27FC236}">
                <a16:creationId xmlns:a16="http://schemas.microsoft.com/office/drawing/2014/main" id="{9DF6D6A0-F23B-4753-9143-E420545592D4}"/>
              </a:ext>
            </a:extLst>
          </p:cNvPr>
          <p:cNvSpPr>
            <a:spLocks xmlns:a="http://schemas.openxmlformats.org/drawingml/2006/main" noGrp="1"/>
          </p:cNvSpPr>
          <p:nvPr/>
        </p:nvSpPr>
        <p:spPr>
          <a:xfrm xmlns:a="http://schemas.openxmlformats.org/drawingml/2006/main">
            <a:off x="1076325"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Compare chain-of-thought and self-consistency.</a:t>
            </a:r>
          </a:p>
        </p:txBody>
      </p:sp>
      <p:sp>
        <p:nvSpPr>
          <p:cNvPr id="8" name="exam-number-2">
            <a:extLst xmlns:a="http://schemas.openxmlformats.org/drawingml/2006/main">
              <a:ext uri="{FF2B5EF4-FFF2-40B4-BE49-F238E27FC236}">
                <a16:creationId xmlns:a16="http://schemas.microsoft.com/office/drawing/2014/main" id="{2450F849-D995-49BB-BA71-7B7D729626E3}"/>
              </a:ext>
            </a:extLst>
          </p:cNvPr>
          <p:cNvSpPr>
            <a:spLocks xmlns:a="http://schemas.openxmlformats.org/drawingml/2006/main" noGrp="1"/>
          </p:cNvSpPr>
          <p:nvPr/>
        </p:nvSpPr>
        <p:spPr>
          <a:xfrm xmlns:a="http://schemas.openxmlformats.org/drawingml/2006/main">
            <a:off x="6191250"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02</a:t>
            </a:r>
          </a:p>
        </p:txBody>
      </p:sp>
      <p:sp>
        <p:nvSpPr>
          <p:cNvPr id="9" name="exam-question-2">
            <a:extLst xmlns:a="http://schemas.openxmlformats.org/drawingml/2006/main">
              <a:ext uri="{FF2B5EF4-FFF2-40B4-BE49-F238E27FC236}">
                <a16:creationId xmlns:a16="http://schemas.microsoft.com/office/drawing/2014/main" id="{D96347A4-9816-47C8-8743-5ED736D04FE6}"/>
              </a:ext>
            </a:extLst>
          </p:cNvPr>
          <p:cNvSpPr>
            <a:spLocks xmlns:a="http://schemas.openxmlformats.org/drawingml/2006/main" noGrp="1"/>
          </p:cNvSpPr>
          <p:nvPr/>
        </p:nvSpPr>
        <p:spPr>
          <a:xfrm xmlns:a="http://schemas.openxmlformats.org/drawingml/2006/main">
            <a:off x="6877050"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What are generate, evaluate, and search in Tree-of-Thoughts?</a:t>
            </a:r>
          </a:p>
        </p:txBody>
      </p:sp>
      <p:sp>
        <p:nvSpPr>
          <p:cNvPr id="10" name="exam-number-3">
            <a:extLst xmlns:a="http://schemas.openxmlformats.org/drawingml/2006/main">
              <a:ext uri="{FF2B5EF4-FFF2-40B4-BE49-F238E27FC236}">
                <a16:creationId xmlns:a16="http://schemas.microsoft.com/office/drawing/2014/main" id="{0B2F9F9A-05E5-414A-AD1F-1F95BE2C6B68}"/>
              </a:ext>
            </a:extLst>
          </p:cNvPr>
          <p:cNvSpPr>
            <a:spLocks xmlns:a="http://schemas.openxmlformats.org/drawingml/2006/main" noGrp="1"/>
          </p:cNvSpPr>
          <p:nvPr/>
        </p:nvSpPr>
        <p:spPr>
          <a:xfrm xmlns:a="http://schemas.openxmlformats.org/drawingml/2006/main">
            <a:off x="390525"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03</a:t>
            </a:r>
          </a:p>
        </p:txBody>
      </p:sp>
      <p:sp>
        <p:nvSpPr>
          <p:cNvPr id="11" name="exam-question-3">
            <a:extLst xmlns:a="http://schemas.openxmlformats.org/drawingml/2006/main">
              <a:ext uri="{FF2B5EF4-FFF2-40B4-BE49-F238E27FC236}">
                <a16:creationId xmlns:a16="http://schemas.microsoft.com/office/drawing/2014/main" id="{1E78E95C-2230-4AE6-B112-B5E0099E9839}"/>
              </a:ext>
            </a:extLst>
          </p:cNvPr>
          <p:cNvSpPr>
            <a:spLocks xmlns:a="http://schemas.openxmlformats.org/drawingml/2006/main" noGrp="1"/>
          </p:cNvSpPr>
          <p:nvPr/>
        </p:nvSpPr>
        <p:spPr>
          <a:xfrm xmlns:a="http://schemas.openxmlformats.org/drawingml/2006/main">
            <a:off x="1076325"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How does Graph-of-Thoughts extend a tree?</a:t>
            </a:r>
          </a:p>
        </p:txBody>
      </p:sp>
      <p:sp>
        <p:nvSpPr>
          <p:cNvPr id="12" name="exam-number-4">
            <a:extLst xmlns:a="http://schemas.openxmlformats.org/drawingml/2006/main">
              <a:ext uri="{FF2B5EF4-FFF2-40B4-BE49-F238E27FC236}">
                <a16:creationId xmlns:a16="http://schemas.microsoft.com/office/drawing/2014/main" id="{E1E1D6FF-1CF7-4D5F-A347-A4BC701C775A}"/>
              </a:ext>
            </a:extLst>
          </p:cNvPr>
          <p:cNvSpPr>
            <a:spLocks xmlns:a="http://schemas.openxmlformats.org/drawingml/2006/main" noGrp="1"/>
          </p:cNvSpPr>
          <p:nvPr/>
        </p:nvSpPr>
        <p:spPr>
          <a:xfrm xmlns:a="http://schemas.openxmlformats.org/drawingml/2006/main">
            <a:off x="6191250"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04</a:t>
            </a:r>
          </a:p>
        </p:txBody>
      </p:sp>
      <p:sp>
        <p:nvSpPr>
          <p:cNvPr id="13" name="exam-question-4">
            <a:extLst xmlns:a="http://schemas.openxmlformats.org/drawingml/2006/main">
              <a:ext uri="{FF2B5EF4-FFF2-40B4-BE49-F238E27FC236}">
                <a16:creationId xmlns:a16="http://schemas.microsoft.com/office/drawing/2014/main" id="{5ED05D75-9FDA-4690-9BA0-BD84A7BBBA0F}"/>
              </a:ext>
            </a:extLst>
          </p:cNvPr>
          <p:cNvSpPr>
            <a:spLocks xmlns:a="http://schemas.openxmlformats.org/drawingml/2006/main" noGrp="1"/>
          </p:cNvSpPr>
          <p:nvPr/>
        </p:nvSpPr>
        <p:spPr>
          <a:xfrm xmlns:a="http://schemas.openxmlformats.org/drawingml/2006/main">
            <a:off x="6877050"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Compare reflection with search.</a:t>
            </a:r>
          </a:p>
        </p:txBody>
      </p:sp>
      <p:sp>
        <p:nvSpPr>
          <p:cNvPr id="14" name="exam-number-5">
            <a:extLst xmlns:a="http://schemas.openxmlformats.org/drawingml/2006/main">
              <a:ext uri="{FF2B5EF4-FFF2-40B4-BE49-F238E27FC236}">
                <a16:creationId xmlns:a16="http://schemas.microsoft.com/office/drawing/2014/main" id="{C6C8CF3B-1A4E-4259-9BDE-572662B72916}"/>
              </a:ext>
            </a:extLst>
          </p:cNvPr>
          <p:cNvSpPr>
            <a:spLocks xmlns:a="http://schemas.openxmlformats.org/drawingml/2006/main" noGrp="1"/>
          </p:cNvSpPr>
          <p:nvPr/>
        </p:nvSpPr>
        <p:spPr>
          <a:xfrm xmlns:a="http://schemas.openxmlformats.org/drawingml/2006/main">
            <a:off x="390525"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05</a:t>
            </a:r>
          </a:p>
        </p:txBody>
      </p:sp>
      <p:sp>
        <p:nvSpPr>
          <p:cNvPr id="15" name="exam-question-5">
            <a:extLst xmlns:a="http://schemas.openxmlformats.org/drawingml/2006/main">
              <a:ext uri="{FF2B5EF4-FFF2-40B4-BE49-F238E27FC236}">
                <a16:creationId xmlns:a16="http://schemas.microsoft.com/office/drawing/2014/main" id="{C54516E8-DA2E-4026-9FAA-8BA14BB42C5F}"/>
              </a:ext>
            </a:extLst>
          </p:cNvPr>
          <p:cNvSpPr>
            <a:spLocks xmlns:a="http://schemas.openxmlformats.org/drawingml/2006/main" noGrp="1"/>
          </p:cNvSpPr>
          <p:nvPr/>
        </p:nvSpPr>
        <p:spPr>
          <a:xfrm xmlns:a="http://schemas.openxmlformats.org/drawingml/2006/main">
            <a:off x="1076325"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When should an agent use ReAct, plan-and-execute, or parallel planning?</a:t>
            </a:r>
          </a:p>
        </p:txBody>
      </p:sp>
      <p:sp>
        <p:nvSpPr>
          <p:cNvPr id="16" name="exam-number-6">
            <a:extLst xmlns:a="http://schemas.openxmlformats.org/drawingml/2006/main">
              <a:ext uri="{FF2B5EF4-FFF2-40B4-BE49-F238E27FC236}">
                <a16:creationId xmlns:a16="http://schemas.microsoft.com/office/drawing/2014/main" id="{44449175-460A-4E84-991B-73C92361503B}"/>
              </a:ext>
            </a:extLst>
          </p:cNvPr>
          <p:cNvSpPr>
            <a:spLocks xmlns:a="http://schemas.openxmlformats.org/drawingml/2006/main" noGrp="1"/>
          </p:cNvSpPr>
          <p:nvPr/>
        </p:nvSpPr>
        <p:spPr>
          <a:xfrm xmlns:a="http://schemas.openxmlformats.org/drawingml/2006/main">
            <a:off x="6191250"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06</a:t>
            </a:r>
          </a:p>
        </p:txBody>
      </p:sp>
      <p:sp>
        <p:nvSpPr>
          <p:cNvPr id="17" name="exam-question-6">
            <a:extLst xmlns:a="http://schemas.openxmlformats.org/drawingml/2006/main">
              <a:ext uri="{FF2B5EF4-FFF2-40B4-BE49-F238E27FC236}">
                <a16:creationId xmlns:a16="http://schemas.microsoft.com/office/drawing/2014/main" id="{765DE684-04E3-4C4D-8891-EC943DFFB47E}"/>
              </a:ext>
            </a:extLst>
          </p:cNvPr>
          <p:cNvSpPr>
            <a:spLocks xmlns:a="http://schemas.openxmlformats.org/drawingml/2006/main" noGrp="1"/>
          </p:cNvSpPr>
          <p:nvPr/>
        </p:nvSpPr>
        <p:spPr>
          <a:xfrm xmlns:a="http://schemas.openxmlformats.org/drawingml/2006/main">
            <a:off x="6877050"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Why can more reasoning hurt?</a:t>
            </a:r>
          </a:p>
        </p:txBody>
      </p:sp>
    </p:spTree>
    <p:extLst>
      <p:ext uri="{BB962C8B-B14F-4D97-AF65-F5344CB8AC3E}">
        <p14:creationId xmlns:p14="http://schemas.microsoft.com/office/powerpoint/2010/main" val="1751060027"/>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C3C16FAA-8C60-45D7-AA0B-9E314BB50729}"/>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72CB24DD-965F-4BE2-8A1A-B52B14C141FC}"/>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CHAPTER SYNTHESIS  /  10</a:t>
            </a:r>
          </a:p>
        </p:txBody>
      </p:sp>
      <p:sp>
        <p:nvSpPr>
          <p:cNvPr id="3" name="slide-number">
            <a:extLst xmlns:a="http://schemas.openxmlformats.org/drawingml/2006/main">
              <a:ext uri="{FF2B5EF4-FFF2-40B4-BE49-F238E27FC236}">
                <a16:creationId xmlns:a16="http://schemas.microsoft.com/office/drawing/2014/main" id="{1B9FF7DE-D62D-4FA1-858A-87D1009D2CAC}"/>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10</a:t>
            </a:r>
          </a:p>
        </p:txBody>
      </p:sp>
      <p:sp>
        <p:nvSpPr>
          <p:cNvPr id="4" name="chapter-footer">
            <a:extLst xmlns:a="http://schemas.openxmlformats.org/drawingml/2006/main">
              <a:ext uri="{FF2B5EF4-FFF2-40B4-BE49-F238E27FC236}">
                <a16:creationId xmlns:a16="http://schemas.microsoft.com/office/drawing/2014/main" id="{53D641F3-54BF-4BF7-82F7-51DC35DB145C}"/>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Advanced Reasoning and Planning</a:t>
            </a:r>
          </a:p>
        </p:txBody>
      </p:sp>
      <p:sp>
        <p:nvSpPr>
          <p:cNvPr id="5" name="closing-title">
            <a:extLst xmlns:a="http://schemas.openxmlformats.org/drawingml/2006/main">
              <a:ext uri="{FF2B5EF4-FFF2-40B4-BE49-F238E27FC236}">
                <a16:creationId xmlns:a16="http://schemas.microsoft.com/office/drawing/2014/main" id="{5DACB9DD-2328-4167-94B7-FE6705B24C44}"/>
              </a:ext>
            </a:extLst>
          </p:cNvPr>
          <p:cNvSpPr>
            <a:spLocks xmlns:a="http://schemas.openxmlformats.org/drawingml/2006/main" noGrp="1"/>
          </p:cNvSpPr>
          <p:nvPr/>
        </p:nvSpPr>
        <p:spPr>
          <a:xfrm xmlns:a="http://schemas.openxmlformats.org/drawingml/2006/main">
            <a:off x="390525" y="104775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What must remain after the details fade</a:t>
            </a:r>
          </a:p>
        </p:txBody>
      </p:sp>
      <p:sp>
        <p:nvSpPr>
          <p:cNvPr id="6" name="takeaway-number-1">
            <a:extLst xmlns:a="http://schemas.openxmlformats.org/drawingml/2006/main">
              <a:ext uri="{FF2B5EF4-FFF2-40B4-BE49-F238E27FC236}">
                <a16:creationId xmlns:a16="http://schemas.microsoft.com/office/drawing/2014/main" id="{E0E838E6-8253-4451-87C5-EC109E6896F3}"/>
              </a:ext>
            </a:extLst>
          </p:cNvPr>
          <p:cNvSpPr>
            <a:spLocks xmlns:a="http://schemas.openxmlformats.org/drawingml/2006/main" noGrp="1"/>
          </p:cNvSpPr>
          <p:nvPr/>
        </p:nvSpPr>
        <p:spPr>
          <a:xfrm xmlns:a="http://schemas.openxmlformats.org/drawingml/2006/main">
            <a:off x="390525" y="23336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01</a:t>
            </a:r>
          </a:p>
        </p:txBody>
      </p:sp>
      <p:sp>
        <p:nvSpPr>
          <p:cNvPr id="7" name="takeaway-1">
            <a:extLst xmlns:a="http://schemas.openxmlformats.org/drawingml/2006/main">
              <a:ext uri="{FF2B5EF4-FFF2-40B4-BE49-F238E27FC236}">
                <a16:creationId xmlns:a16="http://schemas.microsoft.com/office/drawing/2014/main" id="{53282ECC-41B8-4990-94E5-45626D886647}"/>
              </a:ext>
            </a:extLst>
          </p:cNvPr>
          <p:cNvSpPr>
            <a:spLocks xmlns:a="http://schemas.openxmlformats.org/drawingml/2006/main" noGrp="1"/>
          </p:cNvSpPr>
          <p:nvPr/>
        </p:nvSpPr>
        <p:spPr>
          <a:xfrm xmlns:a="http://schemas.openxmlformats.org/drawingml/2006/main">
            <a:off x="1257300" y="23145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Self-consistency samples; search branches; reflection revises.</a:t>
            </a:r>
          </a:p>
        </p:txBody>
      </p:sp>
      <p:sp>
        <p:nvSpPr>
          <p:cNvPr id="8" name="takeaway-number-2">
            <a:extLst xmlns:a="http://schemas.openxmlformats.org/drawingml/2006/main">
              <a:ext uri="{FF2B5EF4-FFF2-40B4-BE49-F238E27FC236}">
                <a16:creationId xmlns:a16="http://schemas.microsoft.com/office/drawing/2014/main" id="{4BA717EB-B6C2-49B6-99DF-CF5D02EE0B68}"/>
              </a:ext>
            </a:extLst>
          </p:cNvPr>
          <p:cNvSpPr>
            <a:spLocks xmlns:a="http://schemas.openxmlformats.org/drawingml/2006/main" noGrp="1"/>
          </p:cNvSpPr>
          <p:nvPr/>
        </p:nvSpPr>
        <p:spPr>
          <a:xfrm xmlns:a="http://schemas.openxmlformats.org/drawingml/2006/main">
            <a:off x="390525" y="32099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02</a:t>
            </a:r>
          </a:p>
        </p:txBody>
      </p:sp>
      <p:sp>
        <p:nvSpPr>
          <p:cNvPr id="9" name="takeaway-2">
            <a:extLst xmlns:a="http://schemas.openxmlformats.org/drawingml/2006/main">
              <a:ext uri="{FF2B5EF4-FFF2-40B4-BE49-F238E27FC236}">
                <a16:creationId xmlns:a16="http://schemas.microsoft.com/office/drawing/2014/main" id="{2986C499-62C9-4B07-8E72-F65B69B830B4}"/>
              </a:ext>
            </a:extLst>
          </p:cNvPr>
          <p:cNvSpPr>
            <a:spLocks xmlns:a="http://schemas.openxmlformats.org/drawingml/2006/main" noGrp="1"/>
          </p:cNvSpPr>
          <p:nvPr/>
        </p:nvSpPr>
        <p:spPr>
          <a:xfrm xmlns:a="http://schemas.openxmlformats.org/drawingml/2006/main">
            <a:off x="1257300" y="31908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59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ReAct, plan-and-execute, re-planning, and DAG execution solve different control problems.</a:t>
            </a:r>
          </a:p>
        </p:txBody>
      </p:sp>
      <p:sp>
        <p:nvSpPr>
          <p:cNvPr id="10" name="takeaway-number-3">
            <a:extLst xmlns:a="http://schemas.openxmlformats.org/drawingml/2006/main">
              <a:ext uri="{FF2B5EF4-FFF2-40B4-BE49-F238E27FC236}">
                <a16:creationId xmlns:a16="http://schemas.microsoft.com/office/drawing/2014/main" id="{EF3075DC-6251-439B-AA70-251AACD35B9B}"/>
              </a:ext>
            </a:extLst>
          </p:cNvPr>
          <p:cNvSpPr>
            <a:spLocks xmlns:a="http://schemas.openxmlformats.org/drawingml/2006/main" noGrp="1"/>
          </p:cNvSpPr>
          <p:nvPr/>
        </p:nvSpPr>
        <p:spPr>
          <a:xfrm xmlns:a="http://schemas.openxmlformats.org/drawingml/2006/main">
            <a:off x="390525" y="40862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03</a:t>
            </a:r>
          </a:p>
        </p:txBody>
      </p:sp>
      <p:sp>
        <p:nvSpPr>
          <p:cNvPr id="11" name="takeaway-3">
            <a:extLst xmlns:a="http://schemas.openxmlformats.org/drawingml/2006/main">
              <a:ext uri="{FF2B5EF4-FFF2-40B4-BE49-F238E27FC236}">
                <a16:creationId xmlns:a16="http://schemas.microsoft.com/office/drawing/2014/main" id="{112FF11D-90B5-4D70-A508-1DE5CF7539D5}"/>
              </a:ext>
            </a:extLst>
          </p:cNvPr>
          <p:cNvSpPr>
            <a:spLocks xmlns:a="http://schemas.openxmlformats.org/drawingml/2006/main" noGrp="1"/>
          </p:cNvSpPr>
          <p:nvPr/>
        </p:nvSpPr>
        <p:spPr>
          <a:xfrm xmlns:a="http://schemas.openxmlformats.org/drawingml/2006/main">
            <a:off x="1257300" y="40671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Reasoning compute should be allocated by difficulty.</a:t>
            </a:r>
          </a:p>
        </p:txBody>
      </p:sp>
      <p:sp>
        <p:nvSpPr>
          <p:cNvPr id="12" name="takeaway-number-4">
            <a:extLst xmlns:a="http://schemas.openxmlformats.org/drawingml/2006/main">
              <a:ext uri="{FF2B5EF4-FFF2-40B4-BE49-F238E27FC236}">
                <a16:creationId xmlns:a16="http://schemas.microsoft.com/office/drawing/2014/main" id="{5AF1341E-EEB6-4DD7-A210-350B67026B1A}"/>
              </a:ext>
            </a:extLst>
          </p:cNvPr>
          <p:cNvSpPr>
            <a:spLocks xmlns:a="http://schemas.openxmlformats.org/drawingml/2006/main" noGrp="1"/>
          </p:cNvSpPr>
          <p:nvPr/>
        </p:nvSpPr>
        <p:spPr>
          <a:xfrm xmlns:a="http://schemas.openxmlformats.org/drawingml/2006/main">
            <a:off x="390525" y="49625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04</a:t>
            </a:r>
          </a:p>
        </p:txBody>
      </p:sp>
      <p:sp>
        <p:nvSpPr>
          <p:cNvPr id="13" name="takeaway-4">
            <a:extLst xmlns:a="http://schemas.openxmlformats.org/drawingml/2006/main">
              <a:ext uri="{FF2B5EF4-FFF2-40B4-BE49-F238E27FC236}">
                <a16:creationId xmlns:a16="http://schemas.microsoft.com/office/drawing/2014/main" id="{02D013B8-860D-4489-8863-BA2456E26CEC}"/>
              </a:ext>
            </a:extLst>
          </p:cNvPr>
          <p:cNvSpPr>
            <a:spLocks xmlns:a="http://schemas.openxmlformats.org/drawingml/2006/main" noGrp="1"/>
          </p:cNvSpPr>
          <p:nvPr/>
        </p:nvSpPr>
        <p:spPr>
          <a:xfrm xmlns:a="http://schemas.openxmlformats.org/drawingml/2006/main">
            <a:off x="1257300" y="49434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Verbal reasoning is a scaffold, not proof of correctness.</a:t>
            </a:r>
          </a:p>
        </p:txBody>
      </p:sp>
    </p:spTree>
    <p:extLst>
      <p:ext uri="{BB962C8B-B14F-4D97-AF65-F5344CB8AC3E}">
        <p14:creationId xmlns:p14="http://schemas.microsoft.com/office/powerpoint/2010/main" val="3200372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2026-07-27T18:05:38.5070000Z</dcterms:created>
  <dcterms:modified xsi:type="dcterms:W3CDTF">2026-07-27T18:05:38.5070000Z</dcterms:modified>
</coreProperties>
</file>