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8f30e003321405e" /><Relationship Type="http://schemas.openxmlformats.org/officeDocument/2006/relationships/extended-properties" Target="/docProps/app.xml" Id="R95a2d2feee2042eb" /><Relationship Type="http://schemas.openxmlformats.org/officeDocument/2006/relationships/officeDocument" Target="/ppt/presentation.xml" Id="R739c71f1d0404fc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bdf987daa754bc8"/>
  </p:sldMasterIdLst>
  <p:notesMasterIdLst>
    <p:notesMasterId xmlns:r="http://schemas.openxmlformats.org/officeDocument/2006/relationships" r:id="R104b318140aa42ff"/>
  </p:notesMasterIdLst>
  <p:sldIdLst>
    <p:sldId xmlns:r="http://schemas.openxmlformats.org/officeDocument/2006/relationships" id="256" r:id="R87c691f27d394ee7"/>
    <p:sldId xmlns:r="http://schemas.openxmlformats.org/officeDocument/2006/relationships" id="257" r:id="R382bceed953e4a5e"/>
    <p:sldId xmlns:r="http://schemas.openxmlformats.org/officeDocument/2006/relationships" id="258" r:id="R990ae0008a874e0e"/>
    <p:sldId xmlns:r="http://schemas.openxmlformats.org/officeDocument/2006/relationships" id="259" r:id="R702b6dbe53af4810"/>
    <p:sldId xmlns:r="http://schemas.openxmlformats.org/officeDocument/2006/relationships" id="260" r:id="R85378e4d33cd44ea"/>
    <p:sldId xmlns:r="http://schemas.openxmlformats.org/officeDocument/2006/relationships" id="261" r:id="R77604c863fc24e01"/>
    <p:sldId xmlns:r="http://schemas.openxmlformats.org/officeDocument/2006/relationships" id="262" r:id="Re0a2484b3d734a2a"/>
    <p:sldId xmlns:r="http://schemas.openxmlformats.org/officeDocument/2006/relationships" id="263" r:id="Re3d5cb6fbb4f44e6"/>
    <p:sldId xmlns:r="http://schemas.openxmlformats.org/officeDocument/2006/relationships" id="264" r:id="Ref32e220dfaf45a1"/>
    <p:sldId xmlns:r="http://schemas.openxmlformats.org/officeDocument/2006/relationships" id="265" r:id="Rd6c984ae3fad4864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d0ba14bbbc94477" /><Relationship Type="http://schemas.openxmlformats.org/officeDocument/2006/relationships/slideMaster" Target="/ppt/slideMasters/slideMaster1.xml" Id="R7bdf987daa754bc8" /><Relationship Type="http://schemas.openxmlformats.org/officeDocument/2006/relationships/notesMaster" Target="/ppt/notesMasters/notesMaster1.xml" Id="R104b318140aa42ff" /><Relationship Type="http://schemas.openxmlformats.org/officeDocument/2006/relationships/presProps" Target="/ppt/presProps.xml" Id="R5c3e9c40100a448a" /><Relationship Type="http://schemas.openxmlformats.org/officeDocument/2006/relationships/tableStyles" Target="/ppt/tableStyles.xml" Id="R3ccc4d8ad7af4e4f" /><Relationship Type="http://schemas.openxmlformats.org/officeDocument/2006/relationships/slide" Target="/ppt/slides/slide1.xml" Id="R87c691f27d394ee7" /><Relationship Type="http://schemas.openxmlformats.org/officeDocument/2006/relationships/slide" Target="/ppt/slides/slide2.xml" Id="R382bceed953e4a5e" /><Relationship Type="http://schemas.openxmlformats.org/officeDocument/2006/relationships/slide" Target="/ppt/slides/slide3.xml" Id="R990ae0008a874e0e" /><Relationship Type="http://schemas.openxmlformats.org/officeDocument/2006/relationships/slide" Target="/ppt/slides/slide4.xml" Id="R702b6dbe53af4810" /><Relationship Type="http://schemas.openxmlformats.org/officeDocument/2006/relationships/slide" Target="/ppt/slides/slide5.xml" Id="R85378e4d33cd44ea" /><Relationship Type="http://schemas.openxmlformats.org/officeDocument/2006/relationships/slide" Target="/ppt/slides/slide6.xml" Id="R77604c863fc24e01" /><Relationship Type="http://schemas.openxmlformats.org/officeDocument/2006/relationships/slide" Target="/ppt/slides/slide7.xml" Id="Re0a2484b3d734a2a" /><Relationship Type="http://schemas.openxmlformats.org/officeDocument/2006/relationships/slide" Target="/ppt/slides/slide8.xml" Id="Re3d5cb6fbb4f44e6" /><Relationship Type="http://schemas.openxmlformats.org/officeDocument/2006/relationships/slide" Target="/ppt/slides/slide9.xml" Id="Ref32e220dfaf45a1" /><Relationship Type="http://schemas.openxmlformats.org/officeDocument/2006/relationships/slide" Target="/ppt/slides/slide10.xml" Id="Rd6c984ae3fad486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b2d0f9568124a3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548ec08fbf043fa" /><Relationship Type="http://schemas.openxmlformats.org/officeDocument/2006/relationships/notesMaster" Target="/ppt/notesMasters/notesMaster1.xml" Id="R3f06e21284974fd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5524919bb38487d" /><Relationship Type="http://schemas.openxmlformats.org/officeDocument/2006/relationships/notesMaster" Target="/ppt/notesMasters/notesMaster1.xml" Id="R673f7f4981d74c6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c5b8db0f6954d7c" /><Relationship Type="http://schemas.openxmlformats.org/officeDocument/2006/relationships/notesMaster" Target="/ppt/notesMasters/notesMaster1.xml" Id="R9501a66a27b34ce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16f5942716e4e12" /><Relationship Type="http://schemas.openxmlformats.org/officeDocument/2006/relationships/notesMaster" Target="/ppt/notesMasters/notesMaster1.xml" Id="R30970209cfd94af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8f90cb9552240dc" /><Relationship Type="http://schemas.openxmlformats.org/officeDocument/2006/relationships/notesMaster" Target="/ppt/notesMasters/notesMaster1.xml" Id="Rb7876389148a41f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aa1fba9049a4546" /><Relationship Type="http://schemas.openxmlformats.org/officeDocument/2006/relationships/notesMaster" Target="/ppt/notesMasters/notesMaster1.xml" Id="Rd04e2a2504f1481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37293435a7a47f9" /><Relationship Type="http://schemas.openxmlformats.org/officeDocument/2006/relationships/notesMaster" Target="/ppt/notesMasters/notesMaster1.xml" Id="Rf164bcb429a3424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bc3183f72a34eb6" /><Relationship Type="http://schemas.openxmlformats.org/officeDocument/2006/relationships/notesMaster" Target="/ppt/notesMasters/notesMaster1.xml" Id="Reafd72b15383417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7a4cf240124a4600" /><Relationship Type="http://schemas.openxmlformats.org/officeDocument/2006/relationships/notesMaster" Target="/ppt/notesMasters/notesMaster1.xml" Id="R85438ed219994ca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6db87913da9949a5" /><Relationship Type="http://schemas.openxmlformats.org/officeDocument/2006/relationships/notesMaster" Target="/ppt/notesMasters/notesMaster1.xml" Id="R36f4feec8b9d49a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with the chapter thesis and connect it to the previous chapter.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Supplied source presentation: 13-production-frontier.pdf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these objectives as an advance organizer and as a checklist after the deck.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Supplied source presentation: 13-production-frontier.pdf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the claim first, then use the numbered points as evidence and design consequences.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Supplied source presentation: 13-production-frontier.pdf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Pause on the central statement, then connect the lower points as a single mental model.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Supplied source presentation: 13-production-frontier.pdf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the claim first, then use the numbered points as evidence and design consequences.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Supplied source presentation: 13-production-frontier.pdf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Pause on the central statement, then connect the lower points as a single mental model.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Supplied source presentation: 13-production-frontier.pdf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the claim first, then use the numbered points as evidence and design consequences.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Supplied source presentation: 13-production-frontier.pdf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Pause on the central statement, then connect the lower points as a single mental model.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Supplied source presentation: 13-production-frontier.pdf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as retrieval practice. Ask for an answer that defines, compares, traces, and evaluates.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Supplied source presentation: 13-production-frontier.pdf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by restating the four durable ideas and linking forward to the next chapter.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Supplied source presentation: 13-production-frontier.pdf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a1b7d7be70c4e7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6ec9aa0435543ae" /><Relationship Type="http://schemas.openxmlformats.org/officeDocument/2006/relationships/slideLayout" Target="/ppt/slideLayouts/slideLayout1.xml" Id="R09689f0d2e1940d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9689f0d2e1940d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f93d82b6534759" /><Relationship Type="http://schemas.openxmlformats.org/officeDocument/2006/relationships/notesSlide" Target="/ppt/notesSlides/notesSlide1.xml" Id="R4b7ff5ed890e413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0285adec5f8425e" /><Relationship Type="http://schemas.openxmlformats.org/officeDocument/2006/relationships/notesSlide" Target="/ppt/notesSlides/notesSlide2.xml" Id="Rf7347dcc7e3b4c4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21213c3f9b44bd6" /><Relationship Type="http://schemas.openxmlformats.org/officeDocument/2006/relationships/notesSlide" Target="/ppt/notesSlides/notesSlide3.xml" Id="Red4f4c07f16e43d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3b3a389000b4b26" /><Relationship Type="http://schemas.openxmlformats.org/officeDocument/2006/relationships/notesSlide" Target="/ppt/notesSlides/notesSlide4.xml" Id="R372c743674a54b9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65ee39cb13144c8" /><Relationship Type="http://schemas.openxmlformats.org/officeDocument/2006/relationships/notesSlide" Target="/ppt/notesSlides/notesSlide5.xml" Id="Ra826618626b746c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213ee8e14d64958" /><Relationship Type="http://schemas.openxmlformats.org/officeDocument/2006/relationships/notesSlide" Target="/ppt/notesSlides/notesSlide6.xml" Id="R6d7008bace6746f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ef1df83ece7473a" /><Relationship Type="http://schemas.openxmlformats.org/officeDocument/2006/relationships/notesSlide" Target="/ppt/notesSlides/notesSlide7.xml" Id="Ra9820790294347a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db725229fd441a8" /><Relationship Type="http://schemas.openxmlformats.org/officeDocument/2006/relationships/notesSlide" Target="/ppt/notesSlides/notesSlide8.xml" Id="R19b9a2a1884046b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3de97189a8449e" /><Relationship Type="http://schemas.openxmlformats.org/officeDocument/2006/relationships/notesSlide" Target="/ppt/notesSlides/notesSlide9.xml" Id="R6a28b83990d140f0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fdd8a3e9b1c425b" /><Relationship Type="http://schemas.openxmlformats.org/officeDocument/2006/relationships/notesSlide" Target="/ppt/notesSlides/notesSlide10.xml" Id="R0acf140b2c5b424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-accent">
            <a:extLst xmlns:a="http://schemas.openxmlformats.org/drawingml/2006/main">
              <a:ext uri="{FF2B5EF4-FFF2-40B4-BE49-F238E27FC236}">
                <a16:creationId xmlns:a16="http://schemas.microsoft.com/office/drawing/2014/main" id="{7D1A9DB8-BBEB-4DED-BF65-4B8A6A2D6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A1FF"/>
          </a:solidFill>
          <a:ln xmlns:a="http://schemas.openxmlformats.org/drawingml/2006/main" w="0">
            <a:solidFill>
              <a:srgbClr val="C4A1FF"/>
            </a:solidFill>
            <a:prstDash val="solid"/>
          </a:ln>
        </p:spPr>
      </p:sp>
      <p:sp>
        <p:nvSpPr>
          <p:cNvPr id="2" name="course-title">
            <a:extLst xmlns:a="http://schemas.openxmlformats.org/drawingml/2006/main">
              <a:ext uri="{FF2B5EF4-FFF2-40B4-BE49-F238E27FC236}">
                <a16:creationId xmlns:a16="http://schemas.microsoft.com/office/drawing/2014/main" id="{EA4D2FFA-AF12-4961-A5CD-D194D874B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00050"/>
            <a:ext cx="4000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AGENTIC AI</a:t>
            </a:r>
          </a:p>
        </p:txBody>
      </p:sp>
      <p:sp>
        <p:nvSpPr>
          <p:cNvPr id="3" name="chapter-number">
            <a:extLst xmlns:a="http://schemas.openxmlformats.org/drawingml/2006/main">
              <a:ext uri="{FF2B5EF4-FFF2-40B4-BE49-F238E27FC236}">
                <a16:creationId xmlns:a16="http://schemas.microsoft.com/office/drawing/2014/main" id="{594DB08A-5A36-4B05-97C8-676C55883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361950"/>
            <a:ext cx="16764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24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13</a:t>
            </a:r>
          </a:p>
        </p:txBody>
      </p:sp>
      <p:sp>
        <p:nvSpPr>
          <p:cNvPr id="4" name="deck-title">
            <a:extLst xmlns:a="http://schemas.openxmlformats.org/drawingml/2006/main">
              <a:ext uri="{FF2B5EF4-FFF2-40B4-BE49-F238E27FC236}">
                <a16:creationId xmlns:a16="http://schemas.microsoft.com/office/drawing/2014/main" id="{EF589017-0042-4493-BDE6-3FB16BF9A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24000"/>
            <a:ext cx="9858375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48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Production, Economics, and the Frontier</a:t>
            </a:r>
          </a:p>
        </p:txBody>
      </p:sp>
      <p:sp>
        <p:nvSpPr>
          <p:cNvPr id="5" name="deck-thesis">
            <a:extLst xmlns:a="http://schemas.openxmlformats.org/drawingml/2006/main">
              <a:ext uri="{FF2B5EF4-FFF2-40B4-BE49-F238E27FC236}">
                <a16:creationId xmlns:a16="http://schemas.microsoft.com/office/drawing/2014/main" id="{3FF5F9D5-C859-426A-92F8-6C1371A51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610100"/>
            <a:ext cx="8524875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Production success is determined by the versioned, observable, economical, and secure system around the model rather than a one-off demo.</a:t>
            </a:r>
          </a:p>
        </p:txBody>
      </p:sp>
      <p:sp>
        <p:nvSpPr>
          <p:cNvPr id="6" name="title-marker">
            <a:extLst xmlns:a="http://schemas.openxmlformats.org/drawingml/2006/main">
              <a:ext uri="{FF2B5EF4-FFF2-40B4-BE49-F238E27FC236}">
                <a16:creationId xmlns:a16="http://schemas.microsoft.com/office/drawing/2014/main" id="{42A783A5-DF33-4A04-AA2E-4CF558469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4610100"/>
            <a:ext cx="226695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A1FF"/>
          </a:solidFill>
          <a:ln xmlns:a="http://schemas.openxmlformats.org/drawingml/2006/main" w="0">
            <a:solidFill>
              <a:srgbClr val="C4A1FF"/>
            </a:solidFill>
            <a:prstDash val="solid"/>
          </a:ln>
        </p:spPr>
      </p:sp>
      <p:sp>
        <p:nvSpPr>
          <p:cNvPr id="7" name="title-marker-text">
            <a:extLst xmlns:a="http://schemas.openxmlformats.org/drawingml/2006/main">
              <a:ext uri="{FF2B5EF4-FFF2-40B4-BE49-F238E27FC236}">
                <a16:creationId xmlns:a16="http://schemas.microsoft.com/office/drawing/2014/main" id="{C8640797-8D62-491D-9781-4047DE8FE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4762500"/>
            <a:ext cx="1809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STUDY</a:t>
            </a:r>
          </a:p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DECK</a:t>
            </a:r>
          </a:p>
        </p:txBody>
      </p:sp>
    </p:spTree>
    <p:extLst>
      <p:ext uri="{BB962C8B-B14F-4D97-AF65-F5344CB8AC3E}">
        <p14:creationId xmlns:p14="http://schemas.microsoft.com/office/powerpoint/2010/main" val="101333330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accent-line">
            <a:extLst xmlns:a="http://schemas.openxmlformats.org/drawingml/2006/main">
              <a:ext uri="{FF2B5EF4-FFF2-40B4-BE49-F238E27FC236}">
                <a16:creationId xmlns:a16="http://schemas.microsoft.com/office/drawing/2014/main" id="{300CC607-3D2C-4641-AB00-D177C8A9A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04800"/>
            <a:ext cx="114109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A1FF"/>
          </a:solidFill>
          <a:ln xmlns:a="http://schemas.openxmlformats.org/drawingml/2006/main" w="0">
            <a:solidFill>
              <a:srgbClr val="C4A1FF"/>
            </a:solidFill>
            <a:prstDash val="solid"/>
          </a:ln>
        </p:spPr>
      </p:sp>
      <p:sp>
        <p:nvSpPr>
          <p:cNvPr id="2" name="chapter-label">
            <a:extLst xmlns:a="http://schemas.openxmlformats.org/drawingml/2006/main">
              <a:ext uri="{FF2B5EF4-FFF2-40B4-BE49-F238E27FC236}">
                <a16:creationId xmlns:a16="http://schemas.microsoft.com/office/drawing/2014/main" id="{49B7AE29-8DFA-49CF-A8CB-8B7BB7012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66725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LEARNING MAP  /  13</a:t>
            </a:r>
          </a:p>
        </p:txBody>
      </p:sp>
      <p:sp>
        <p:nvSpPr>
          <p:cNvPr id="3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651B2DE0-83D7-48D7-8866-6AF0CD3CF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8650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4" name="chapter-footer">
            <a:extLst xmlns:a="http://schemas.openxmlformats.org/drawingml/2006/main">
              <a:ext uri="{FF2B5EF4-FFF2-40B4-BE49-F238E27FC236}">
                <a16:creationId xmlns:a16="http://schemas.microsoft.com/office/drawing/2014/main" id="{5EF75657-C716-4A4B-957C-C790F16B3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86500"/>
            <a:ext cx="819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Production, Economics, and the Frontier</a:t>
            </a:r>
          </a:p>
        </p:txBody>
      </p:sp>
      <p:sp>
        <p:nvSpPr>
          <p:cNvPr id="5" name="objectives-title">
            <a:extLst xmlns:a="http://schemas.openxmlformats.org/drawingml/2006/main">
              <a:ext uri="{FF2B5EF4-FFF2-40B4-BE49-F238E27FC236}">
                <a16:creationId xmlns:a16="http://schemas.microsoft.com/office/drawing/2014/main" id="{5602E511-23F0-47F5-96D5-498092858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990600"/>
            <a:ext cx="10668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By the end, you should be able to...</a:t>
            </a:r>
          </a:p>
        </p:txBody>
      </p:sp>
      <p:sp>
        <p:nvSpPr>
          <p:cNvPr id="6" name="objective-number-1">
            <a:extLst xmlns:a="http://schemas.openxmlformats.org/drawingml/2006/main">
              <a:ext uri="{FF2B5EF4-FFF2-40B4-BE49-F238E27FC236}">
                <a16:creationId xmlns:a16="http://schemas.microsoft.com/office/drawing/2014/main" id="{443A0FB5-D9AE-4FFD-8EC5-EA9BDD263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381250"/>
            <a:ext cx="2000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C4A1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C4A1FF"/>
                </a:solidFill>
                <a:latin typeface="Helvetica Neue"/>
                <a:ea typeface="Helvetica Neue"/>
                <a:cs typeface="Helvetica Neue"/>
              </a:rPr>
              <a:t>01</a:t>
            </a:r>
          </a:p>
        </p:txBody>
      </p:sp>
      <p:sp>
        <p:nvSpPr>
          <p:cNvPr id="7" name="objective-1">
            <a:extLst xmlns:a="http://schemas.openxmlformats.org/drawingml/2006/main">
              <a:ext uri="{FF2B5EF4-FFF2-40B4-BE49-F238E27FC236}">
                <a16:creationId xmlns:a16="http://schemas.microsoft.com/office/drawing/2014/main" id="{810C63FA-9DB9-4B81-A5D3-31A31C157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143250"/>
            <a:ext cx="23812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Close the prototype-to-production gap</a:t>
            </a:r>
          </a:p>
        </p:txBody>
      </p:sp>
      <p:sp>
        <p:nvSpPr>
          <p:cNvPr id="8" name="objective-number-2">
            <a:extLst xmlns:a="http://schemas.openxmlformats.org/drawingml/2006/main">
              <a:ext uri="{FF2B5EF4-FFF2-40B4-BE49-F238E27FC236}">
                <a16:creationId xmlns:a16="http://schemas.microsoft.com/office/drawing/2014/main" id="{B2EADD71-EB08-4324-98AF-DDEA958BF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2381250"/>
            <a:ext cx="2000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C4A1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C4A1FF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9" name="objective-2">
            <a:extLst xmlns:a="http://schemas.openxmlformats.org/drawingml/2006/main">
              <a:ext uri="{FF2B5EF4-FFF2-40B4-BE49-F238E27FC236}">
                <a16:creationId xmlns:a16="http://schemas.microsoft.com/office/drawing/2014/main" id="{632F81A3-0540-412A-9632-1EA337A34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3143250"/>
            <a:ext cx="23812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Engineer cost, latency, and reliability</a:t>
            </a:r>
          </a:p>
        </p:txBody>
      </p:sp>
      <p:sp>
        <p:nvSpPr>
          <p:cNvPr id="10" name="objective-number-3">
            <a:extLst xmlns:a="http://schemas.openxmlformats.org/drawingml/2006/main">
              <a:ext uri="{FF2B5EF4-FFF2-40B4-BE49-F238E27FC236}">
                <a16:creationId xmlns:a16="http://schemas.microsoft.com/office/drawing/2014/main" id="{AFA9E0B9-55FE-4F51-9FF6-1DB7BC124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381250"/>
            <a:ext cx="2000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C4A1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C4A1FF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11" name="objective-3">
            <a:extLst xmlns:a="http://schemas.openxmlformats.org/drawingml/2006/main">
              <a:ext uri="{FF2B5EF4-FFF2-40B4-BE49-F238E27FC236}">
                <a16:creationId xmlns:a16="http://schemas.microsoft.com/office/drawing/2014/main" id="{BB45F344-7515-428C-BC9F-4FA766C04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3143250"/>
            <a:ext cx="23812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Explain AgentOps and safe rollout</a:t>
            </a:r>
          </a:p>
        </p:txBody>
      </p:sp>
      <p:sp>
        <p:nvSpPr>
          <p:cNvPr id="12" name="objective-number-4">
            <a:extLst xmlns:a="http://schemas.openxmlformats.org/drawingml/2006/main">
              <a:ext uri="{FF2B5EF4-FFF2-40B4-BE49-F238E27FC236}">
                <a16:creationId xmlns:a16="http://schemas.microsoft.com/office/drawing/2014/main" id="{D64DF381-F2E5-4CE0-91CD-575C23A20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381250"/>
            <a:ext cx="2000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C4A1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C4A1FF"/>
                </a:solidFill>
                <a:latin typeface="Helvetica Neue"/>
                <a:ea typeface="Helvetica Neue"/>
                <a:cs typeface="Helvetica Neue"/>
              </a:rPr>
              <a:t>04</a:t>
            </a:r>
          </a:p>
        </p:txBody>
      </p:sp>
      <p:sp>
        <p:nvSpPr>
          <p:cNvPr id="13" name="objective-4">
            <a:extLst xmlns:a="http://schemas.openxmlformats.org/drawingml/2006/main">
              <a:ext uri="{FF2B5EF4-FFF2-40B4-BE49-F238E27FC236}">
                <a16:creationId xmlns:a16="http://schemas.microsoft.com/office/drawing/2014/main" id="{1777CF9D-B751-4044-8955-1A36F5198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143250"/>
            <a:ext cx="23812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Connect current successes to open problems</a:t>
            </a:r>
          </a:p>
        </p:txBody>
      </p:sp>
    </p:spTree>
    <p:extLst>
      <p:ext uri="{BB962C8B-B14F-4D97-AF65-F5344CB8AC3E}">
        <p14:creationId xmlns:p14="http://schemas.microsoft.com/office/powerpoint/2010/main" val="204727318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accent-line">
            <a:extLst xmlns:a="http://schemas.openxmlformats.org/drawingml/2006/main">
              <a:ext uri="{FF2B5EF4-FFF2-40B4-BE49-F238E27FC236}">
                <a16:creationId xmlns:a16="http://schemas.microsoft.com/office/drawing/2014/main" id="{2CF635F3-9173-4128-8001-D80FFEC24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04800"/>
            <a:ext cx="114109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A1FF"/>
          </a:solidFill>
          <a:ln xmlns:a="http://schemas.openxmlformats.org/drawingml/2006/main" w="0">
            <a:solidFill>
              <a:srgbClr val="C4A1FF"/>
            </a:solidFill>
            <a:prstDash val="solid"/>
          </a:ln>
        </p:spPr>
      </p:sp>
      <p:sp>
        <p:nvSpPr>
          <p:cNvPr id="2" name="chapter-label">
            <a:extLst xmlns:a="http://schemas.openxmlformats.org/drawingml/2006/main">
              <a:ext uri="{FF2B5EF4-FFF2-40B4-BE49-F238E27FC236}">
                <a16:creationId xmlns:a16="http://schemas.microsoft.com/office/drawing/2014/main" id="{443FDA8D-A7A2-4BF4-9759-F73D3CE93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66725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CORE IDEA 01  /  13</a:t>
            </a:r>
          </a:p>
        </p:txBody>
      </p:sp>
      <p:sp>
        <p:nvSpPr>
          <p:cNvPr id="3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CACA28BA-80B9-4377-B1D0-5BDB99D23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8650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4" name="chapter-footer">
            <a:extLst xmlns:a="http://schemas.openxmlformats.org/drawingml/2006/main">
              <a:ext uri="{FF2B5EF4-FFF2-40B4-BE49-F238E27FC236}">
                <a16:creationId xmlns:a16="http://schemas.microsoft.com/office/drawing/2014/main" id="{686729E9-B1B7-45D7-90E6-E564C6150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86500"/>
            <a:ext cx="819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Production, Economics, and the Frontier</a:t>
            </a:r>
          </a:p>
        </p:txBody>
      </p:sp>
      <p:sp>
        <p:nvSpPr>
          <p:cNvPr id="5" name="section-title">
            <a:extLst xmlns:a="http://schemas.openxmlformats.org/drawingml/2006/main">
              <a:ext uri="{FF2B5EF4-FFF2-40B4-BE49-F238E27FC236}">
                <a16:creationId xmlns:a16="http://schemas.microsoft.com/office/drawing/2014/main" id="{44642307-5858-454D-ADAA-6C07E319F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971550"/>
            <a:ext cx="111442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A product must work repeatedly under constraints</a:t>
            </a:r>
          </a:p>
        </p:txBody>
      </p:sp>
      <p:sp>
        <p:nvSpPr>
          <p:cNvPr id="6" name="section-explanation">
            <a:extLst xmlns:a="http://schemas.openxmlformats.org/drawingml/2006/main">
              <a:ext uri="{FF2B5EF4-FFF2-40B4-BE49-F238E27FC236}">
                <a16:creationId xmlns:a16="http://schemas.microsoft.com/office/drawing/2014/main" id="{8020AAB2-B78C-458C-8992-07BB862D1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381250"/>
            <a:ext cx="4524375" cy="290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A prototype needs one successful demonstration; a production service must work safely, reliably, economically, and at scale. Prompts, tools, models, retrieval, memory, policies, and evals become versioned system components.</a:t>
            </a:r>
          </a:p>
        </p:txBody>
      </p:sp>
      <p:sp>
        <p:nvSpPr>
          <p:cNvPr id="7" name="column-rule">
            <a:extLst xmlns:a="http://schemas.openxmlformats.org/drawingml/2006/main">
              <a:ext uri="{FF2B5EF4-FFF2-40B4-BE49-F238E27FC236}">
                <a16:creationId xmlns:a16="http://schemas.microsoft.com/office/drawing/2014/main" id="{17037E36-F7B2-4FCD-A044-8A0CC6DC6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343150"/>
            <a:ext cx="47625" cy="3257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A1FF"/>
          </a:solidFill>
          <a:ln xmlns:a="http://schemas.openxmlformats.org/drawingml/2006/main" w="0">
            <a:solidFill>
              <a:srgbClr val="C4A1FF"/>
            </a:solidFill>
            <a:prstDash val="solid"/>
          </a:ln>
        </p:spPr>
      </p:sp>
      <p:sp>
        <p:nvSpPr>
          <p:cNvPr id="8" name="section-points">
            <a:extLst xmlns:a="http://schemas.openxmlformats.org/drawingml/2006/main">
              <a:ext uri="{FF2B5EF4-FFF2-40B4-BE49-F238E27FC236}">
                <a16:creationId xmlns:a16="http://schemas.microsoft.com/office/drawing/2014/main" id="{B069E51B-00C4-43DF-8C24-6B3C34C0D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2343150"/>
            <a:ext cx="5572125" cy="3429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01  Reliability includes retries, timeouts, fallbacks, and idempotency.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02  Compliance and security join functional correctness.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03  Most engineering effort surrounds the model.</a:t>
            </a:r>
          </a:p>
        </p:txBody>
      </p:sp>
    </p:spTree>
    <p:extLst>
      <p:ext uri="{BB962C8B-B14F-4D97-AF65-F5344CB8AC3E}">
        <p14:creationId xmlns:p14="http://schemas.microsoft.com/office/powerpoint/2010/main" val="169851808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accent-line">
            <a:extLst xmlns:a="http://schemas.openxmlformats.org/drawingml/2006/main">
              <a:ext uri="{FF2B5EF4-FFF2-40B4-BE49-F238E27FC236}">
                <a16:creationId xmlns:a16="http://schemas.microsoft.com/office/drawing/2014/main" id="{4125708B-EFA3-4637-9A28-51DBFE4ED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04800"/>
            <a:ext cx="114109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A1FF"/>
          </a:solidFill>
          <a:ln xmlns:a="http://schemas.openxmlformats.org/drawingml/2006/main" w="0">
            <a:solidFill>
              <a:srgbClr val="C4A1FF"/>
            </a:solidFill>
            <a:prstDash val="solid"/>
          </a:ln>
        </p:spPr>
      </p:sp>
      <p:sp>
        <p:nvSpPr>
          <p:cNvPr id="2" name="chapter-label">
            <a:extLst xmlns:a="http://schemas.openxmlformats.org/drawingml/2006/main">
              <a:ext uri="{FF2B5EF4-FFF2-40B4-BE49-F238E27FC236}">
                <a16:creationId xmlns:a16="http://schemas.microsoft.com/office/drawing/2014/main" id="{2300D288-F6FE-4144-AF97-D9C791D21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66725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CORE IDEA 02  /  13</a:t>
            </a:r>
          </a:p>
        </p:txBody>
      </p:sp>
      <p:sp>
        <p:nvSpPr>
          <p:cNvPr id="3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5BF50E8E-1759-4C92-B3FC-3F55AA764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8650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04</a:t>
            </a:r>
          </a:p>
        </p:txBody>
      </p:sp>
      <p:sp>
        <p:nvSpPr>
          <p:cNvPr id="4" name="chapter-footer">
            <a:extLst xmlns:a="http://schemas.openxmlformats.org/drawingml/2006/main">
              <a:ext uri="{FF2B5EF4-FFF2-40B4-BE49-F238E27FC236}">
                <a16:creationId xmlns:a16="http://schemas.microsoft.com/office/drawing/2014/main" id="{2E606FAA-5FB3-4B13-BEFA-1BED999A8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86500"/>
            <a:ext cx="819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Production, Economics, and the Frontier</a:t>
            </a:r>
          </a:p>
        </p:txBody>
      </p:sp>
      <p:sp>
        <p:nvSpPr>
          <p:cNvPr id="5" name="section-title">
            <a:extLst xmlns:a="http://schemas.openxmlformats.org/drawingml/2006/main">
              <a:ext uri="{FF2B5EF4-FFF2-40B4-BE49-F238E27FC236}">
                <a16:creationId xmlns:a16="http://schemas.microsoft.com/office/drawing/2014/main" id="{67FC9D14-7B95-46E6-B4AC-B1399309F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000125"/>
            <a:ext cx="111442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Cost and latency compound across agent steps</a:t>
            </a:r>
          </a:p>
        </p:txBody>
      </p:sp>
      <p:sp>
        <p:nvSpPr>
          <p:cNvPr id="6" name="section-explanation">
            <a:extLst xmlns:a="http://schemas.openxmlformats.org/drawingml/2006/main">
              <a:ext uri="{FF2B5EF4-FFF2-40B4-BE49-F238E27FC236}">
                <a16:creationId xmlns:a16="http://schemas.microsoft.com/office/drawing/2014/main" id="{72EC1C1B-0E9B-4E09-8D49-EB4F2030F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143125"/>
            <a:ext cx="9906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Agent loops make multiple model and tool calls, so per-token and per-call costs accumulate. Routing sends ordinary work to cheaper models and hard work to stronger reasoning models. Caching, smaller models, fine-tuning, and bounded loops reduce spend.</a:t>
            </a:r>
          </a:p>
        </p:txBody>
      </p:sp>
      <p:sp>
        <p:nvSpPr>
          <p:cNvPr id="7" name="point-band-1">
            <a:extLst xmlns:a="http://schemas.openxmlformats.org/drawingml/2006/main">
              <a:ext uri="{FF2B5EF4-FFF2-40B4-BE49-F238E27FC236}">
                <a16:creationId xmlns:a16="http://schemas.microsoft.com/office/drawing/2014/main" id="{AA3EE2F6-A005-4AE7-80C3-C9203CDC5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048125"/>
            <a:ext cx="2509838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A1FF"/>
          </a:solidFill>
          <a:ln xmlns:a="http://schemas.openxmlformats.org/drawingml/2006/main" w="0">
            <a:solidFill>
              <a:srgbClr val="C4A1FF"/>
            </a:solidFill>
            <a:prstDash val="solid"/>
          </a:ln>
        </p:spPr>
      </p:sp>
      <p:sp>
        <p:nvSpPr>
          <p:cNvPr id="8" name="point-1">
            <a:extLst xmlns:a="http://schemas.openxmlformats.org/drawingml/2006/main">
              <a:ext uri="{FF2B5EF4-FFF2-40B4-BE49-F238E27FC236}">
                <a16:creationId xmlns:a16="http://schemas.microsoft.com/office/drawing/2014/main" id="{C00FE844-B5D7-4A5D-B02F-2BA768CFC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324350"/>
            <a:ext cx="2509838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Cache embeddings, retrievals, results, and prompt prefixes.</a:t>
            </a:r>
          </a:p>
        </p:txBody>
      </p:sp>
      <p:sp>
        <p:nvSpPr>
          <p:cNvPr id="9" name="point-band-2">
            <a:extLst xmlns:a="http://schemas.openxmlformats.org/drawingml/2006/main">
              <a:ext uri="{FF2B5EF4-FFF2-40B4-BE49-F238E27FC236}">
                <a16:creationId xmlns:a16="http://schemas.microsoft.com/office/drawing/2014/main" id="{19FB87C3-2DA9-4EAA-B8EB-44F1810BF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7063" y="4048125"/>
            <a:ext cx="2509838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A1FF"/>
          </a:solidFill>
          <a:ln xmlns:a="http://schemas.openxmlformats.org/drawingml/2006/main" w="0">
            <a:solidFill>
              <a:srgbClr val="C4A1FF"/>
            </a:solidFill>
            <a:prstDash val="solid"/>
          </a:ln>
        </p:spPr>
      </p:sp>
      <p:sp>
        <p:nvSpPr>
          <p:cNvPr id="10" name="point-2">
            <a:extLst xmlns:a="http://schemas.openxmlformats.org/drawingml/2006/main">
              <a:ext uri="{FF2B5EF4-FFF2-40B4-BE49-F238E27FC236}">
                <a16:creationId xmlns:a16="http://schemas.microsoft.com/office/drawing/2014/main" id="{6D57EAB7-8FFD-4F7E-8FDD-5F3FB42C3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7063" y="4324350"/>
            <a:ext cx="2509838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Parallelize independent steps.</a:t>
            </a:r>
          </a:p>
        </p:txBody>
      </p:sp>
      <p:sp>
        <p:nvSpPr>
          <p:cNvPr id="11" name="point-band-3">
            <a:extLst xmlns:a="http://schemas.openxmlformats.org/drawingml/2006/main">
              <a:ext uri="{FF2B5EF4-FFF2-40B4-BE49-F238E27FC236}">
                <a16:creationId xmlns:a16="http://schemas.microsoft.com/office/drawing/2014/main" id="{6AA6CFA8-739A-481D-ACAE-4E65B9F53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4048125"/>
            <a:ext cx="2509838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A1FF"/>
          </a:solidFill>
          <a:ln xmlns:a="http://schemas.openxmlformats.org/drawingml/2006/main" w="0">
            <a:solidFill>
              <a:srgbClr val="C4A1FF"/>
            </a:solidFill>
            <a:prstDash val="solid"/>
          </a:ln>
        </p:spPr>
      </p:sp>
      <p:sp>
        <p:nvSpPr>
          <p:cNvPr id="12" name="point-3">
            <a:extLst xmlns:a="http://schemas.openxmlformats.org/drawingml/2006/main">
              <a:ext uri="{FF2B5EF4-FFF2-40B4-BE49-F238E27FC236}">
                <a16:creationId xmlns:a16="http://schemas.microsoft.com/office/drawing/2014/main" id="{3E4D2427-503C-4CD8-8D4E-7F0220BC0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4324350"/>
            <a:ext cx="2509838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Stream progress to reduce perceived latency.</a:t>
            </a:r>
          </a:p>
        </p:txBody>
      </p:sp>
      <p:sp>
        <p:nvSpPr>
          <p:cNvPr id="13" name="point-band-4">
            <a:extLst xmlns:a="http://schemas.openxmlformats.org/drawingml/2006/main">
              <a:ext uri="{FF2B5EF4-FFF2-40B4-BE49-F238E27FC236}">
                <a16:creationId xmlns:a16="http://schemas.microsoft.com/office/drawing/2014/main" id="{BEE8163C-47A4-4749-9EE4-6FC7FD20B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0138" y="4048125"/>
            <a:ext cx="2509838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A1FF"/>
          </a:solidFill>
          <a:ln xmlns:a="http://schemas.openxmlformats.org/drawingml/2006/main" w="0">
            <a:solidFill>
              <a:srgbClr val="C4A1FF"/>
            </a:solidFill>
            <a:prstDash val="solid"/>
          </a:ln>
        </p:spPr>
      </p:sp>
      <p:sp>
        <p:nvSpPr>
          <p:cNvPr id="14" name="point-4">
            <a:extLst xmlns:a="http://schemas.openxmlformats.org/drawingml/2006/main">
              <a:ext uri="{FF2B5EF4-FFF2-40B4-BE49-F238E27FC236}">
                <a16:creationId xmlns:a16="http://schemas.microsoft.com/office/drawing/2014/main" id="{247C8390-247F-4719-8778-FB48D6B21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0138" y="4324350"/>
            <a:ext cx="2509838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Set token, step, time, and spend budgets.</a:t>
            </a:r>
          </a:p>
        </p:txBody>
      </p:sp>
    </p:spTree>
    <p:extLst>
      <p:ext uri="{BB962C8B-B14F-4D97-AF65-F5344CB8AC3E}">
        <p14:creationId xmlns:p14="http://schemas.microsoft.com/office/powerpoint/2010/main" val="136120028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accent-line">
            <a:extLst xmlns:a="http://schemas.openxmlformats.org/drawingml/2006/main">
              <a:ext uri="{FF2B5EF4-FFF2-40B4-BE49-F238E27FC236}">
                <a16:creationId xmlns:a16="http://schemas.microsoft.com/office/drawing/2014/main" id="{91401530-FF31-4C1A-B8BC-A9329D275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04800"/>
            <a:ext cx="114109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A1FF"/>
          </a:solidFill>
          <a:ln xmlns:a="http://schemas.openxmlformats.org/drawingml/2006/main" w="0">
            <a:solidFill>
              <a:srgbClr val="C4A1FF"/>
            </a:solidFill>
            <a:prstDash val="solid"/>
          </a:ln>
        </p:spPr>
      </p:sp>
      <p:sp>
        <p:nvSpPr>
          <p:cNvPr id="2" name="chapter-label">
            <a:extLst xmlns:a="http://schemas.openxmlformats.org/drawingml/2006/main">
              <a:ext uri="{FF2B5EF4-FFF2-40B4-BE49-F238E27FC236}">
                <a16:creationId xmlns:a16="http://schemas.microsoft.com/office/drawing/2014/main" id="{848E28A5-7F71-4255-9231-DCB9FE7BB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66725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CORE IDEA 03  /  13</a:t>
            </a:r>
          </a:p>
        </p:txBody>
      </p:sp>
      <p:sp>
        <p:nvSpPr>
          <p:cNvPr id="3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09CEF13D-AD6C-43A3-B2AC-B2362B39A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8650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05</a:t>
            </a:r>
          </a:p>
        </p:txBody>
      </p:sp>
      <p:sp>
        <p:nvSpPr>
          <p:cNvPr id="4" name="chapter-footer">
            <a:extLst xmlns:a="http://schemas.openxmlformats.org/drawingml/2006/main">
              <a:ext uri="{FF2B5EF4-FFF2-40B4-BE49-F238E27FC236}">
                <a16:creationId xmlns:a16="http://schemas.microsoft.com/office/drawing/2014/main" id="{685492DD-F157-4B1D-B082-7774EDE30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86500"/>
            <a:ext cx="819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Production, Economics, and the Frontier</a:t>
            </a:r>
          </a:p>
        </p:txBody>
      </p:sp>
      <p:sp>
        <p:nvSpPr>
          <p:cNvPr id="5" name="section-title">
            <a:extLst xmlns:a="http://schemas.openxmlformats.org/drawingml/2006/main">
              <a:ext uri="{FF2B5EF4-FFF2-40B4-BE49-F238E27FC236}">
                <a16:creationId xmlns:a16="http://schemas.microsoft.com/office/drawing/2014/main" id="{BBE76347-887C-4A97-A631-E8A3B1B38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971550"/>
            <a:ext cx="111442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625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AgentOps combines service operations with LLM-specific controls</a:t>
            </a:r>
          </a:p>
        </p:txBody>
      </p:sp>
      <p:sp>
        <p:nvSpPr>
          <p:cNvPr id="6" name="section-explanation">
            <a:extLst xmlns:a="http://schemas.openxmlformats.org/drawingml/2006/main">
              <a:ext uri="{FF2B5EF4-FFF2-40B4-BE49-F238E27FC236}">
                <a16:creationId xmlns:a16="http://schemas.microsoft.com/office/drawing/2014/main" id="{B6D5CEB2-5D1E-42FE-8006-23442E72E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381250"/>
            <a:ext cx="4524375" cy="290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Production agents need traces, dashboards, alerts, prompt and model versioning, evaluation gates, guardrails, and human checkpoints in addition to normal service reliability patterns.</a:t>
            </a:r>
          </a:p>
        </p:txBody>
      </p:sp>
      <p:sp>
        <p:nvSpPr>
          <p:cNvPr id="7" name="column-rule">
            <a:extLst xmlns:a="http://schemas.openxmlformats.org/drawingml/2006/main">
              <a:ext uri="{FF2B5EF4-FFF2-40B4-BE49-F238E27FC236}">
                <a16:creationId xmlns:a16="http://schemas.microsoft.com/office/drawing/2014/main" id="{713F807C-8A01-442F-9E14-283EC1ACD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343150"/>
            <a:ext cx="47625" cy="3257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A1FF"/>
          </a:solidFill>
          <a:ln xmlns:a="http://schemas.openxmlformats.org/drawingml/2006/main" w="0">
            <a:solidFill>
              <a:srgbClr val="C4A1FF"/>
            </a:solidFill>
            <a:prstDash val="solid"/>
          </a:ln>
        </p:spPr>
      </p:sp>
      <p:sp>
        <p:nvSpPr>
          <p:cNvPr id="8" name="section-points">
            <a:extLst xmlns:a="http://schemas.openxmlformats.org/drawingml/2006/main">
              <a:ext uri="{FF2B5EF4-FFF2-40B4-BE49-F238E27FC236}">
                <a16:creationId xmlns:a16="http://schemas.microsoft.com/office/drawing/2014/main" id="{06240BEC-3C0F-44EF-B8A0-1CBE29374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2343150"/>
            <a:ext cx="5572125" cy="3429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01  Trace model, tool, retrieval, memory, and agent spans.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02  Monitor quality, cost, latency, error, and safety metrics.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03  Use circuit breakers and fallbacks for unstable dependencies.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04  Preserve reproducibility across silent model or tool changes.</a:t>
            </a:r>
          </a:p>
        </p:txBody>
      </p:sp>
    </p:spTree>
    <p:extLst>
      <p:ext uri="{BB962C8B-B14F-4D97-AF65-F5344CB8AC3E}">
        <p14:creationId xmlns:p14="http://schemas.microsoft.com/office/powerpoint/2010/main" val="90471808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accent-line">
            <a:extLst xmlns:a="http://schemas.openxmlformats.org/drawingml/2006/main">
              <a:ext uri="{FF2B5EF4-FFF2-40B4-BE49-F238E27FC236}">
                <a16:creationId xmlns:a16="http://schemas.microsoft.com/office/drawing/2014/main" id="{F7E15265-FD72-428D-894F-774DAB2E7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04800"/>
            <a:ext cx="114109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A1FF"/>
          </a:solidFill>
          <a:ln xmlns:a="http://schemas.openxmlformats.org/drawingml/2006/main" w="0">
            <a:solidFill>
              <a:srgbClr val="C4A1FF"/>
            </a:solidFill>
            <a:prstDash val="solid"/>
          </a:ln>
        </p:spPr>
      </p:sp>
      <p:sp>
        <p:nvSpPr>
          <p:cNvPr id="2" name="chapter-label">
            <a:extLst xmlns:a="http://schemas.openxmlformats.org/drawingml/2006/main">
              <a:ext uri="{FF2B5EF4-FFF2-40B4-BE49-F238E27FC236}">
                <a16:creationId xmlns:a16="http://schemas.microsoft.com/office/drawing/2014/main" id="{D299889A-DEDD-4CCF-998B-3E96B0CF0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66725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CORE IDEA 04  /  13</a:t>
            </a:r>
          </a:p>
        </p:txBody>
      </p:sp>
      <p:sp>
        <p:nvSpPr>
          <p:cNvPr id="3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6610EB0F-83BF-4765-A81B-3461C17EF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8650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06</a:t>
            </a:r>
          </a:p>
        </p:txBody>
      </p:sp>
      <p:sp>
        <p:nvSpPr>
          <p:cNvPr id="4" name="chapter-footer">
            <a:extLst xmlns:a="http://schemas.openxmlformats.org/drawingml/2006/main">
              <a:ext uri="{FF2B5EF4-FFF2-40B4-BE49-F238E27FC236}">
                <a16:creationId xmlns:a16="http://schemas.microsoft.com/office/drawing/2014/main" id="{7082C0B4-0234-4D5B-9BBF-6205DE0FE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86500"/>
            <a:ext cx="819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Production, Economics, and the Frontier</a:t>
            </a:r>
          </a:p>
        </p:txBody>
      </p:sp>
      <p:sp>
        <p:nvSpPr>
          <p:cNvPr id="5" name="section-title">
            <a:extLst xmlns:a="http://schemas.openxmlformats.org/drawingml/2006/main">
              <a:ext uri="{FF2B5EF4-FFF2-40B4-BE49-F238E27FC236}">
                <a16:creationId xmlns:a16="http://schemas.microsoft.com/office/drawing/2014/main" id="{06CAF8B4-38A7-45A4-88CC-1160654BF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000125"/>
            <a:ext cx="111442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Rollout should be reversible</a:t>
            </a:r>
          </a:p>
        </p:txBody>
      </p:sp>
      <p:sp>
        <p:nvSpPr>
          <p:cNvPr id="6" name="section-explanation">
            <a:extLst xmlns:a="http://schemas.openxmlformats.org/drawingml/2006/main">
              <a:ext uri="{FF2B5EF4-FFF2-40B4-BE49-F238E27FC236}">
                <a16:creationId xmlns:a16="http://schemas.microsoft.com/office/drawing/2014/main" id="{0EDC3BD2-6183-480A-ABD8-18DBE4620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143125"/>
            <a:ext cx="9906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Agents can ship as services, batch workers, or embedded assistants. Canary releases, feature flags, gradual traffic, evaluation gates, and rapid rollback reduce the impact of behavioral regressions.</a:t>
            </a:r>
          </a:p>
        </p:txBody>
      </p:sp>
      <p:sp>
        <p:nvSpPr>
          <p:cNvPr id="7" name="point-band-1">
            <a:extLst xmlns:a="http://schemas.openxmlformats.org/drawingml/2006/main">
              <a:ext uri="{FF2B5EF4-FFF2-40B4-BE49-F238E27FC236}">
                <a16:creationId xmlns:a16="http://schemas.microsoft.com/office/drawing/2014/main" id="{61B14FDC-713F-42C6-9E89-01EFF714F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048125"/>
            <a:ext cx="2509838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A1FF"/>
          </a:solidFill>
          <a:ln xmlns:a="http://schemas.openxmlformats.org/drawingml/2006/main" w="0">
            <a:solidFill>
              <a:srgbClr val="C4A1FF"/>
            </a:solidFill>
            <a:prstDash val="solid"/>
          </a:ln>
        </p:spPr>
      </p:sp>
      <p:sp>
        <p:nvSpPr>
          <p:cNvPr id="8" name="point-1">
            <a:extLst xmlns:a="http://schemas.openxmlformats.org/drawingml/2006/main">
              <a:ext uri="{FF2B5EF4-FFF2-40B4-BE49-F238E27FC236}">
                <a16:creationId xmlns:a16="http://schemas.microsoft.com/office/drawing/2014/main" id="{F1BF3DA0-369E-4177-A669-DEE71C992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324350"/>
            <a:ext cx="2509838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Test on representative and adversarial tasks before deployment.</a:t>
            </a:r>
          </a:p>
        </p:txBody>
      </p:sp>
      <p:sp>
        <p:nvSpPr>
          <p:cNvPr id="9" name="point-band-2">
            <a:extLst xmlns:a="http://schemas.openxmlformats.org/drawingml/2006/main">
              <a:ext uri="{FF2B5EF4-FFF2-40B4-BE49-F238E27FC236}">
                <a16:creationId xmlns:a16="http://schemas.microsoft.com/office/drawing/2014/main" id="{369722EE-DC8D-47FA-9AC8-B9769B9F5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7063" y="4048125"/>
            <a:ext cx="2509838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A1FF"/>
          </a:solidFill>
          <a:ln xmlns:a="http://schemas.openxmlformats.org/drawingml/2006/main" w="0">
            <a:solidFill>
              <a:srgbClr val="C4A1FF"/>
            </a:solidFill>
            <a:prstDash val="solid"/>
          </a:ln>
        </p:spPr>
      </p:sp>
      <p:sp>
        <p:nvSpPr>
          <p:cNvPr id="10" name="point-2">
            <a:extLst xmlns:a="http://schemas.openxmlformats.org/drawingml/2006/main">
              <a:ext uri="{FF2B5EF4-FFF2-40B4-BE49-F238E27FC236}">
                <a16:creationId xmlns:a16="http://schemas.microsoft.com/office/drawing/2014/main" id="{F0736C8B-308D-4804-8679-454E9B767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7063" y="4324350"/>
            <a:ext cx="2509838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Require approval for consequential actions.</a:t>
            </a:r>
          </a:p>
        </p:txBody>
      </p:sp>
      <p:sp>
        <p:nvSpPr>
          <p:cNvPr id="11" name="point-band-3">
            <a:extLst xmlns:a="http://schemas.openxmlformats.org/drawingml/2006/main">
              <a:ext uri="{FF2B5EF4-FFF2-40B4-BE49-F238E27FC236}">
                <a16:creationId xmlns:a16="http://schemas.microsoft.com/office/drawing/2014/main" id="{D04E5E3D-7E76-4C29-B88C-587BE2501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4048125"/>
            <a:ext cx="2509838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A1FF"/>
          </a:solidFill>
          <a:ln xmlns:a="http://schemas.openxmlformats.org/drawingml/2006/main" w="0">
            <a:solidFill>
              <a:srgbClr val="C4A1FF"/>
            </a:solidFill>
            <a:prstDash val="solid"/>
          </a:ln>
        </p:spPr>
      </p:sp>
      <p:sp>
        <p:nvSpPr>
          <p:cNvPr id="12" name="point-3">
            <a:extLst xmlns:a="http://schemas.openxmlformats.org/drawingml/2006/main">
              <a:ext uri="{FF2B5EF4-FFF2-40B4-BE49-F238E27FC236}">
                <a16:creationId xmlns:a16="http://schemas.microsoft.com/office/drawing/2014/main" id="{785630EC-6A29-4E88-B9D2-9B73B2B4A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4324350"/>
            <a:ext cx="2509838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Keep a human-owned escalation path.</a:t>
            </a:r>
          </a:p>
        </p:txBody>
      </p:sp>
      <p:sp>
        <p:nvSpPr>
          <p:cNvPr id="13" name="point-band-4">
            <a:extLst xmlns:a="http://schemas.openxmlformats.org/drawingml/2006/main">
              <a:ext uri="{FF2B5EF4-FFF2-40B4-BE49-F238E27FC236}">
                <a16:creationId xmlns:a16="http://schemas.microsoft.com/office/drawing/2014/main" id="{869F24F9-AF43-4FED-BB61-596B2E868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0138" y="4048125"/>
            <a:ext cx="2509838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A1FF"/>
          </a:solidFill>
          <a:ln xmlns:a="http://schemas.openxmlformats.org/drawingml/2006/main" w="0">
            <a:solidFill>
              <a:srgbClr val="C4A1FF"/>
            </a:solidFill>
            <a:prstDash val="solid"/>
          </a:ln>
        </p:spPr>
      </p:sp>
      <p:sp>
        <p:nvSpPr>
          <p:cNvPr id="14" name="point-4">
            <a:extLst xmlns:a="http://schemas.openxmlformats.org/drawingml/2006/main">
              <a:ext uri="{FF2B5EF4-FFF2-40B4-BE49-F238E27FC236}">
                <a16:creationId xmlns:a16="http://schemas.microsoft.com/office/drawing/2014/main" id="{20C6C2C7-8246-44A8-AFCA-B72C31DE2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0138" y="4324350"/>
            <a:ext cx="2509838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Audit actions after deployment.</a:t>
            </a:r>
          </a:p>
        </p:txBody>
      </p:sp>
    </p:spTree>
    <p:extLst>
      <p:ext uri="{BB962C8B-B14F-4D97-AF65-F5344CB8AC3E}">
        <p14:creationId xmlns:p14="http://schemas.microsoft.com/office/powerpoint/2010/main" val="185937358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accent-line">
            <a:extLst xmlns:a="http://schemas.openxmlformats.org/drawingml/2006/main">
              <a:ext uri="{FF2B5EF4-FFF2-40B4-BE49-F238E27FC236}">
                <a16:creationId xmlns:a16="http://schemas.microsoft.com/office/drawing/2014/main" id="{11E3EB94-5B8D-4C98-ACCD-BDA25E1B0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04800"/>
            <a:ext cx="114109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A1FF"/>
          </a:solidFill>
          <a:ln xmlns:a="http://schemas.openxmlformats.org/drawingml/2006/main" w="0">
            <a:solidFill>
              <a:srgbClr val="C4A1FF"/>
            </a:solidFill>
            <a:prstDash val="solid"/>
          </a:ln>
        </p:spPr>
      </p:sp>
      <p:sp>
        <p:nvSpPr>
          <p:cNvPr id="2" name="chapter-label">
            <a:extLst xmlns:a="http://schemas.openxmlformats.org/drawingml/2006/main">
              <a:ext uri="{FF2B5EF4-FFF2-40B4-BE49-F238E27FC236}">
                <a16:creationId xmlns:a16="http://schemas.microsoft.com/office/drawing/2014/main" id="{AE65615C-B80C-440D-903F-43C4AD645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66725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CORE IDEA 05  /  13</a:t>
            </a:r>
          </a:p>
        </p:txBody>
      </p:sp>
      <p:sp>
        <p:nvSpPr>
          <p:cNvPr id="3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AD914DC7-A3CE-41F2-BCDB-D6DE11335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8650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07</a:t>
            </a:r>
          </a:p>
        </p:txBody>
      </p:sp>
      <p:sp>
        <p:nvSpPr>
          <p:cNvPr id="4" name="chapter-footer">
            <a:extLst xmlns:a="http://schemas.openxmlformats.org/drawingml/2006/main">
              <a:ext uri="{FF2B5EF4-FFF2-40B4-BE49-F238E27FC236}">
                <a16:creationId xmlns:a16="http://schemas.microsoft.com/office/drawing/2014/main" id="{536D0298-A684-43A3-8208-28A6F5FCD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86500"/>
            <a:ext cx="819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Production, Economics, and the Frontier</a:t>
            </a:r>
          </a:p>
        </p:txBody>
      </p:sp>
      <p:sp>
        <p:nvSpPr>
          <p:cNvPr id="5" name="section-title">
            <a:extLst xmlns:a="http://schemas.openxmlformats.org/drawingml/2006/main">
              <a:ext uri="{FF2B5EF4-FFF2-40B4-BE49-F238E27FC236}">
                <a16:creationId xmlns:a16="http://schemas.microsoft.com/office/drawing/2014/main" id="{E9FEC4AC-A5DB-4E1B-9393-6D6806971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971550"/>
            <a:ext cx="111442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Execution-grounded domains reveal the clearest wins</a:t>
            </a:r>
          </a:p>
        </p:txBody>
      </p:sp>
      <p:sp>
        <p:nvSpPr>
          <p:cNvPr id="6" name="section-explanation">
            <a:extLst xmlns:a="http://schemas.openxmlformats.org/drawingml/2006/main">
              <a:ext uri="{FF2B5EF4-FFF2-40B4-BE49-F238E27FC236}">
                <a16:creationId xmlns:a16="http://schemas.microsoft.com/office/drawing/2014/main" id="{255D720B-5E5B-47E6-BC79-87DFE5BBC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381250"/>
            <a:ext cx="4524375" cy="290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Coding agents can inspect repositories, edit files, and run tests; their Agent-Computer Interface exposes compact actions and concise feedback. Computer-use agents generalize to GUIs through screenshots or accessibility trees but remain more brittle.</a:t>
            </a:r>
          </a:p>
        </p:txBody>
      </p:sp>
      <p:sp>
        <p:nvSpPr>
          <p:cNvPr id="7" name="column-rule">
            <a:extLst xmlns:a="http://schemas.openxmlformats.org/drawingml/2006/main">
              <a:ext uri="{FF2B5EF4-FFF2-40B4-BE49-F238E27FC236}">
                <a16:creationId xmlns:a16="http://schemas.microsoft.com/office/drawing/2014/main" id="{56557C30-AA01-4204-97C5-A1F807496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343150"/>
            <a:ext cx="47625" cy="3257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A1FF"/>
          </a:solidFill>
          <a:ln xmlns:a="http://schemas.openxmlformats.org/drawingml/2006/main" w="0">
            <a:solidFill>
              <a:srgbClr val="C4A1FF"/>
            </a:solidFill>
            <a:prstDash val="solid"/>
          </a:ln>
        </p:spPr>
      </p:sp>
      <p:sp>
        <p:nvSpPr>
          <p:cNvPr id="8" name="section-points">
            <a:extLst xmlns:a="http://schemas.openxmlformats.org/drawingml/2006/main">
              <a:ext uri="{FF2B5EF4-FFF2-40B4-BE49-F238E27FC236}">
                <a16:creationId xmlns:a16="http://schemas.microsoft.com/office/drawing/2014/main" id="{7E0CAD4F-9ECB-4BE2-BA78-BDFF7E83C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2343150"/>
            <a:ext cx="5572125" cy="3429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01  Interface design can matter as much as the base model.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02  Execution tests make coding outcomes verifiable.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03  Human review remains essential.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04  High benchmark scores do not guarantee open-world reliability.</a:t>
            </a:r>
          </a:p>
        </p:txBody>
      </p:sp>
    </p:spTree>
    <p:extLst>
      <p:ext uri="{BB962C8B-B14F-4D97-AF65-F5344CB8AC3E}">
        <p14:creationId xmlns:p14="http://schemas.microsoft.com/office/powerpoint/2010/main" val="159470669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accent-line">
            <a:extLst xmlns:a="http://schemas.openxmlformats.org/drawingml/2006/main">
              <a:ext uri="{FF2B5EF4-FFF2-40B4-BE49-F238E27FC236}">
                <a16:creationId xmlns:a16="http://schemas.microsoft.com/office/drawing/2014/main" id="{9F259142-5AD9-4801-9A39-C67914B81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04800"/>
            <a:ext cx="114109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A1FF"/>
          </a:solidFill>
          <a:ln xmlns:a="http://schemas.openxmlformats.org/drawingml/2006/main" w="0">
            <a:solidFill>
              <a:srgbClr val="C4A1FF"/>
            </a:solidFill>
            <a:prstDash val="solid"/>
          </a:ln>
        </p:spPr>
      </p:sp>
      <p:sp>
        <p:nvSpPr>
          <p:cNvPr id="2" name="chapter-label">
            <a:extLst xmlns:a="http://schemas.openxmlformats.org/drawingml/2006/main">
              <a:ext uri="{FF2B5EF4-FFF2-40B4-BE49-F238E27FC236}">
                <a16:creationId xmlns:a16="http://schemas.microsoft.com/office/drawing/2014/main" id="{BBA6405E-285C-4CB6-B1ED-2272733A1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66725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CORE IDEA 06  /  13</a:t>
            </a:r>
          </a:p>
        </p:txBody>
      </p:sp>
      <p:sp>
        <p:nvSpPr>
          <p:cNvPr id="3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B4AAB727-E678-4B14-8519-18B5803FA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8650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08</a:t>
            </a:r>
          </a:p>
        </p:txBody>
      </p:sp>
      <p:sp>
        <p:nvSpPr>
          <p:cNvPr id="4" name="chapter-footer">
            <a:extLst xmlns:a="http://schemas.openxmlformats.org/drawingml/2006/main">
              <a:ext uri="{FF2B5EF4-FFF2-40B4-BE49-F238E27FC236}">
                <a16:creationId xmlns:a16="http://schemas.microsoft.com/office/drawing/2014/main" id="{2A55EC7F-6A08-444E-996C-13384FBFF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86500"/>
            <a:ext cx="819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Production, Economics, and the Frontier</a:t>
            </a:r>
          </a:p>
        </p:txBody>
      </p:sp>
      <p:sp>
        <p:nvSpPr>
          <p:cNvPr id="5" name="section-title">
            <a:extLst xmlns:a="http://schemas.openxmlformats.org/drawingml/2006/main">
              <a:ext uri="{FF2B5EF4-FFF2-40B4-BE49-F238E27FC236}">
                <a16:creationId xmlns:a16="http://schemas.microsoft.com/office/drawing/2014/main" id="{B4D01CF3-2275-4B70-9490-FF9ED9C01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000125"/>
            <a:ext cx="111442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The frontier and the open problems advance together</a:t>
            </a:r>
          </a:p>
        </p:txBody>
      </p:sp>
      <p:sp>
        <p:nvSpPr>
          <p:cNvPr id="6" name="section-explanation">
            <a:extLst xmlns:a="http://schemas.openxmlformats.org/drawingml/2006/main">
              <a:ext uri="{FF2B5EF4-FFF2-40B4-BE49-F238E27FC236}">
                <a16:creationId xmlns:a16="http://schemas.microsoft.com/office/drawing/2014/main" id="{1879D61A-542E-4D2C-888C-5F4FEFEAB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143125"/>
            <a:ext cx="9906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Reasoning models, longer autonomous horizons, computer use, multimodality, MCP, and A2A expand capability. Reliability over long horizons, evaluation leakage, prompt injection, cost, accountability, labor impact, and misuse remain unresolved constraints.</a:t>
            </a:r>
          </a:p>
        </p:txBody>
      </p:sp>
      <p:sp>
        <p:nvSpPr>
          <p:cNvPr id="7" name="point-band-1">
            <a:extLst xmlns:a="http://schemas.openxmlformats.org/drawingml/2006/main">
              <a:ext uri="{FF2B5EF4-FFF2-40B4-BE49-F238E27FC236}">
                <a16:creationId xmlns:a16="http://schemas.microsoft.com/office/drawing/2014/main" id="{E49DAD07-15F7-44CF-975C-841DD7980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048125"/>
            <a:ext cx="2509838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A1FF"/>
          </a:solidFill>
          <a:ln xmlns:a="http://schemas.openxmlformats.org/drawingml/2006/main" w="0">
            <a:solidFill>
              <a:srgbClr val="C4A1FF"/>
            </a:solidFill>
            <a:prstDash val="solid"/>
          </a:ln>
        </p:spPr>
      </p:sp>
      <p:sp>
        <p:nvSpPr>
          <p:cNvPr id="8" name="point-1">
            <a:extLst xmlns:a="http://schemas.openxmlformats.org/drawingml/2006/main">
              <a:ext uri="{FF2B5EF4-FFF2-40B4-BE49-F238E27FC236}">
                <a16:creationId xmlns:a16="http://schemas.microsoft.com/office/drawing/2014/main" id="{22766953-4CD3-47AB-918A-9F2F2379A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324350"/>
            <a:ext cx="2509838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Clear ownership is required for deployed agents.</a:t>
            </a:r>
          </a:p>
        </p:txBody>
      </p:sp>
      <p:sp>
        <p:nvSpPr>
          <p:cNvPr id="9" name="point-band-2">
            <a:extLst xmlns:a="http://schemas.openxmlformats.org/drawingml/2006/main">
              <a:ext uri="{FF2B5EF4-FFF2-40B4-BE49-F238E27FC236}">
                <a16:creationId xmlns:a16="http://schemas.microsoft.com/office/drawing/2014/main" id="{8A49D234-8F3A-4444-8A7A-1F87D2BC0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7063" y="4048125"/>
            <a:ext cx="2509838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A1FF"/>
          </a:solidFill>
          <a:ln xmlns:a="http://schemas.openxmlformats.org/drawingml/2006/main" w="0">
            <a:solidFill>
              <a:srgbClr val="C4A1FF"/>
            </a:solidFill>
            <a:prstDash val="solid"/>
          </a:ln>
        </p:spPr>
      </p:sp>
      <p:sp>
        <p:nvSpPr>
          <p:cNvPr id="10" name="point-2">
            <a:extLst xmlns:a="http://schemas.openxmlformats.org/drawingml/2006/main">
              <a:ext uri="{FF2B5EF4-FFF2-40B4-BE49-F238E27FC236}">
                <a16:creationId xmlns:a16="http://schemas.microsoft.com/office/drawing/2014/main" id="{75B9C6CE-BE76-4BFD-9B9B-D95C92D5D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7063" y="4324350"/>
            <a:ext cx="2509838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Audit trails document what happened and why.</a:t>
            </a:r>
          </a:p>
        </p:txBody>
      </p:sp>
      <p:sp>
        <p:nvSpPr>
          <p:cNvPr id="11" name="point-band-3">
            <a:extLst xmlns:a="http://schemas.openxmlformats.org/drawingml/2006/main">
              <a:ext uri="{FF2B5EF4-FFF2-40B4-BE49-F238E27FC236}">
                <a16:creationId xmlns:a16="http://schemas.microsoft.com/office/drawing/2014/main" id="{3E3ED332-0716-4DCD-B0B3-CAB927B84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4048125"/>
            <a:ext cx="2509838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A1FF"/>
          </a:solidFill>
          <a:ln xmlns:a="http://schemas.openxmlformats.org/drawingml/2006/main" w="0">
            <a:solidFill>
              <a:srgbClr val="C4A1FF"/>
            </a:solidFill>
            <a:prstDash val="solid"/>
          </a:ln>
        </p:spPr>
      </p:sp>
      <p:sp>
        <p:nvSpPr>
          <p:cNvPr id="12" name="point-3">
            <a:extLst xmlns:a="http://schemas.openxmlformats.org/drawingml/2006/main">
              <a:ext uri="{FF2B5EF4-FFF2-40B4-BE49-F238E27FC236}">
                <a16:creationId xmlns:a16="http://schemas.microsoft.com/office/drawing/2014/main" id="{B851FB69-78CB-45AB-A410-C09D29310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4324350"/>
            <a:ext cx="2509838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Economics differ from fixed-cost traditional software.</a:t>
            </a:r>
          </a:p>
        </p:txBody>
      </p:sp>
      <p:sp>
        <p:nvSpPr>
          <p:cNvPr id="13" name="point-band-4">
            <a:extLst xmlns:a="http://schemas.openxmlformats.org/drawingml/2006/main">
              <a:ext uri="{FF2B5EF4-FFF2-40B4-BE49-F238E27FC236}">
                <a16:creationId xmlns:a16="http://schemas.microsoft.com/office/drawing/2014/main" id="{FA6EE1DD-6234-468C-9F07-62D33148A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0138" y="4048125"/>
            <a:ext cx="2509838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A1FF"/>
          </a:solidFill>
          <a:ln xmlns:a="http://schemas.openxmlformats.org/drawingml/2006/main" w="0">
            <a:solidFill>
              <a:srgbClr val="C4A1FF"/>
            </a:solidFill>
            <a:prstDash val="solid"/>
          </a:ln>
        </p:spPr>
      </p:sp>
      <p:sp>
        <p:nvSpPr>
          <p:cNvPr id="14" name="point-4">
            <a:extLst xmlns:a="http://schemas.openxmlformats.org/drawingml/2006/main">
              <a:ext uri="{FF2B5EF4-FFF2-40B4-BE49-F238E27FC236}">
                <a16:creationId xmlns:a16="http://schemas.microsoft.com/office/drawing/2014/main" id="{A05D1AD9-68B4-4B35-8F96-6F517D8EB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0138" y="4324350"/>
            <a:ext cx="2509838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Launch only the least autonomous system that passes eval and safety gates.</a:t>
            </a:r>
          </a:p>
        </p:txBody>
      </p:sp>
    </p:spTree>
    <p:extLst>
      <p:ext uri="{BB962C8B-B14F-4D97-AF65-F5344CB8AC3E}">
        <p14:creationId xmlns:p14="http://schemas.microsoft.com/office/powerpoint/2010/main" val="141191418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accent-line">
            <a:extLst xmlns:a="http://schemas.openxmlformats.org/drawingml/2006/main">
              <a:ext uri="{FF2B5EF4-FFF2-40B4-BE49-F238E27FC236}">
                <a16:creationId xmlns:a16="http://schemas.microsoft.com/office/drawing/2014/main" id="{D624D9E9-F69E-4D0F-B50B-3A31A0381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04800"/>
            <a:ext cx="114109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A1FF"/>
          </a:solidFill>
          <a:ln xmlns:a="http://schemas.openxmlformats.org/drawingml/2006/main" w="0">
            <a:solidFill>
              <a:srgbClr val="C4A1FF"/>
            </a:solidFill>
            <a:prstDash val="solid"/>
          </a:ln>
        </p:spPr>
      </p:sp>
      <p:sp>
        <p:nvSpPr>
          <p:cNvPr id="2" name="chapter-label">
            <a:extLst xmlns:a="http://schemas.openxmlformats.org/drawingml/2006/main">
              <a:ext uri="{FF2B5EF4-FFF2-40B4-BE49-F238E27FC236}">
                <a16:creationId xmlns:a16="http://schemas.microsoft.com/office/drawing/2014/main" id="{D8B24992-66CD-472B-91B6-9B61E88AB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66725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EXAM CHECK  /  13</a:t>
            </a:r>
          </a:p>
        </p:txBody>
      </p:sp>
      <p:sp>
        <p:nvSpPr>
          <p:cNvPr id="3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94354626-3A8F-43ED-B65D-A7CD0DA4D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8650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09</a:t>
            </a:r>
          </a:p>
        </p:txBody>
      </p:sp>
      <p:sp>
        <p:nvSpPr>
          <p:cNvPr id="4" name="chapter-footer">
            <a:extLst xmlns:a="http://schemas.openxmlformats.org/drawingml/2006/main">
              <a:ext uri="{FF2B5EF4-FFF2-40B4-BE49-F238E27FC236}">
                <a16:creationId xmlns:a16="http://schemas.microsoft.com/office/drawing/2014/main" id="{1A142990-2594-4571-9326-91FA3710D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86500"/>
            <a:ext cx="819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Production, Economics, and the Frontier</a:t>
            </a:r>
          </a:p>
        </p:txBody>
      </p:sp>
      <p:sp>
        <p:nvSpPr>
          <p:cNvPr id="5" name="exam-title">
            <a:extLst xmlns:a="http://schemas.openxmlformats.org/drawingml/2006/main">
              <a:ext uri="{FF2B5EF4-FFF2-40B4-BE49-F238E27FC236}">
                <a16:creationId xmlns:a16="http://schemas.microsoft.com/office/drawing/2014/main" id="{04B8C320-A276-48CC-8473-AC6AB3AC2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981075"/>
            <a:ext cx="10668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Can you answer these without notes?</a:t>
            </a:r>
          </a:p>
        </p:txBody>
      </p:sp>
      <p:sp>
        <p:nvSpPr>
          <p:cNvPr id="6" name="exam-number-1">
            <a:extLst xmlns:a="http://schemas.openxmlformats.org/drawingml/2006/main">
              <a:ext uri="{FF2B5EF4-FFF2-40B4-BE49-F238E27FC236}">
                <a16:creationId xmlns:a16="http://schemas.microsoft.com/office/drawing/2014/main" id="{6A7D3705-BFBC-458F-8850-6B28D90AC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238375"/>
            <a:ext cx="590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C4A1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C4A1FF"/>
                </a:solidFill>
                <a:latin typeface="Helvetica Neue"/>
                <a:ea typeface="Helvetica Neue"/>
                <a:cs typeface="Helvetica Neue"/>
              </a:rPr>
              <a:t>01</a:t>
            </a:r>
          </a:p>
        </p:txBody>
      </p:sp>
      <p:sp>
        <p:nvSpPr>
          <p:cNvPr id="7" name="exam-question-1">
            <a:extLst xmlns:a="http://schemas.openxmlformats.org/drawingml/2006/main">
              <a:ext uri="{FF2B5EF4-FFF2-40B4-BE49-F238E27FC236}">
                <a16:creationId xmlns:a16="http://schemas.microsoft.com/office/drawing/2014/main" id="{B88BB786-FEF9-4F9E-B0EA-C9A3920C3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2238375"/>
            <a:ext cx="47625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What distinguishes an agent demo from a production product?</a:t>
            </a:r>
          </a:p>
        </p:txBody>
      </p:sp>
      <p:sp>
        <p:nvSpPr>
          <p:cNvPr id="8" name="exam-number-2">
            <a:extLst xmlns:a="http://schemas.openxmlformats.org/drawingml/2006/main">
              <a:ext uri="{FF2B5EF4-FFF2-40B4-BE49-F238E27FC236}">
                <a16:creationId xmlns:a16="http://schemas.microsoft.com/office/drawing/2014/main" id="{E5A25FA3-BE85-445C-AC7B-5606536C0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238375"/>
            <a:ext cx="590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C4A1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C4A1FF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9" name="exam-question-2">
            <a:extLst xmlns:a="http://schemas.openxmlformats.org/drawingml/2006/main">
              <a:ext uri="{FF2B5EF4-FFF2-40B4-BE49-F238E27FC236}">
                <a16:creationId xmlns:a16="http://schemas.microsoft.com/office/drawing/2014/main" id="{CB3E00F8-67DD-4947-9760-49DD8F159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2238375"/>
            <a:ext cx="47625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Give four methods for reducing cost and four for reducing latency.</a:t>
            </a:r>
          </a:p>
        </p:txBody>
      </p:sp>
      <p:sp>
        <p:nvSpPr>
          <p:cNvPr id="10" name="exam-number-3">
            <a:extLst xmlns:a="http://schemas.openxmlformats.org/drawingml/2006/main">
              <a:ext uri="{FF2B5EF4-FFF2-40B4-BE49-F238E27FC236}">
                <a16:creationId xmlns:a16="http://schemas.microsoft.com/office/drawing/2014/main" id="{48B8BD90-787C-494C-AA67-9286B5B32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495675"/>
            <a:ext cx="590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C4A1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C4A1FF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11" name="exam-question-3">
            <a:extLst xmlns:a="http://schemas.openxmlformats.org/drawingml/2006/main">
              <a:ext uri="{FF2B5EF4-FFF2-40B4-BE49-F238E27FC236}">
                <a16:creationId xmlns:a16="http://schemas.microsoft.com/office/drawing/2014/main" id="{8BA36E84-A6FD-4AB2-A687-E1E268272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3495675"/>
            <a:ext cx="47625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What artifacts must be versioned for reproducibility?</a:t>
            </a:r>
          </a:p>
        </p:txBody>
      </p:sp>
      <p:sp>
        <p:nvSpPr>
          <p:cNvPr id="12" name="exam-number-4">
            <a:extLst xmlns:a="http://schemas.openxmlformats.org/drawingml/2006/main">
              <a:ext uri="{FF2B5EF4-FFF2-40B4-BE49-F238E27FC236}">
                <a16:creationId xmlns:a16="http://schemas.microsoft.com/office/drawing/2014/main" id="{4F48CAF1-E516-47AF-89B4-F6F2117E2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495675"/>
            <a:ext cx="590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C4A1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C4A1FF"/>
                </a:solidFill>
                <a:latin typeface="Helvetica Neue"/>
                <a:ea typeface="Helvetica Neue"/>
                <a:cs typeface="Helvetica Neue"/>
              </a:rPr>
              <a:t>04</a:t>
            </a:r>
          </a:p>
        </p:txBody>
      </p:sp>
      <p:sp>
        <p:nvSpPr>
          <p:cNvPr id="13" name="exam-question-4">
            <a:extLst xmlns:a="http://schemas.openxmlformats.org/drawingml/2006/main">
              <a:ext uri="{FF2B5EF4-FFF2-40B4-BE49-F238E27FC236}">
                <a16:creationId xmlns:a16="http://schemas.microsoft.com/office/drawing/2014/main" id="{11B7E96E-BDBA-4DFE-9B52-7EB3735B2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3495675"/>
            <a:ext cx="47625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What does AgentOps add to ordinary service operations?</a:t>
            </a:r>
          </a:p>
        </p:txBody>
      </p:sp>
      <p:sp>
        <p:nvSpPr>
          <p:cNvPr id="14" name="exam-number-5">
            <a:extLst xmlns:a="http://schemas.openxmlformats.org/drawingml/2006/main">
              <a:ext uri="{FF2B5EF4-FFF2-40B4-BE49-F238E27FC236}">
                <a16:creationId xmlns:a16="http://schemas.microsoft.com/office/drawing/2014/main" id="{D585ECE3-9A59-49F6-BC1B-F83365068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752975"/>
            <a:ext cx="590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C4A1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C4A1FF"/>
                </a:solidFill>
                <a:latin typeface="Helvetica Neue"/>
                <a:ea typeface="Helvetica Neue"/>
                <a:cs typeface="Helvetica Neue"/>
              </a:rPr>
              <a:t>05</a:t>
            </a:r>
          </a:p>
        </p:txBody>
      </p:sp>
      <p:sp>
        <p:nvSpPr>
          <p:cNvPr id="15" name="exam-question-5">
            <a:extLst xmlns:a="http://schemas.openxmlformats.org/drawingml/2006/main">
              <a:ext uri="{FF2B5EF4-FFF2-40B4-BE49-F238E27FC236}">
                <a16:creationId xmlns:a16="http://schemas.microsoft.com/office/drawing/2014/main" id="{66165C10-0E5A-40AA-B7D5-417038204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4752975"/>
            <a:ext cx="47625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Why are coding agents comparatively successful?</a:t>
            </a:r>
          </a:p>
        </p:txBody>
      </p:sp>
      <p:sp>
        <p:nvSpPr>
          <p:cNvPr id="16" name="exam-number-6">
            <a:extLst xmlns:a="http://schemas.openxmlformats.org/drawingml/2006/main">
              <a:ext uri="{FF2B5EF4-FFF2-40B4-BE49-F238E27FC236}">
                <a16:creationId xmlns:a16="http://schemas.microsoft.com/office/drawing/2014/main" id="{0EE22BB0-B394-4E68-8066-353511F01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752975"/>
            <a:ext cx="590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C4A1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C4A1FF"/>
                </a:solidFill>
                <a:latin typeface="Helvetica Neue"/>
                <a:ea typeface="Helvetica Neue"/>
                <a:cs typeface="Helvetica Neue"/>
              </a:rPr>
              <a:t>06</a:t>
            </a:r>
          </a:p>
        </p:txBody>
      </p:sp>
      <p:sp>
        <p:nvSpPr>
          <p:cNvPr id="17" name="exam-question-6">
            <a:extLst xmlns:a="http://schemas.openxmlformats.org/drawingml/2006/main">
              <a:ext uri="{FF2B5EF4-FFF2-40B4-BE49-F238E27FC236}">
                <a16:creationId xmlns:a16="http://schemas.microsoft.com/office/drawing/2014/main" id="{51888762-10BC-46B1-B26C-235478BCE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4752975"/>
            <a:ext cx="47625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Create a production launch checklist for an autonomous agent.</a:t>
            </a:r>
          </a:p>
        </p:txBody>
      </p:sp>
    </p:spTree>
    <p:extLst>
      <p:ext uri="{BB962C8B-B14F-4D97-AF65-F5344CB8AC3E}">
        <p14:creationId xmlns:p14="http://schemas.microsoft.com/office/powerpoint/2010/main" val="179208569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accent-line">
            <a:extLst xmlns:a="http://schemas.openxmlformats.org/drawingml/2006/main">
              <a:ext uri="{FF2B5EF4-FFF2-40B4-BE49-F238E27FC236}">
                <a16:creationId xmlns:a16="http://schemas.microsoft.com/office/drawing/2014/main" id="{1EDF691B-7702-4384-BEDC-6910AA650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04800"/>
            <a:ext cx="114109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A1FF"/>
          </a:solidFill>
          <a:ln xmlns:a="http://schemas.openxmlformats.org/drawingml/2006/main" w="0">
            <a:solidFill>
              <a:srgbClr val="C4A1FF"/>
            </a:solidFill>
            <a:prstDash val="solid"/>
          </a:ln>
        </p:spPr>
      </p:sp>
      <p:sp>
        <p:nvSpPr>
          <p:cNvPr id="2" name="chapter-label">
            <a:extLst xmlns:a="http://schemas.openxmlformats.org/drawingml/2006/main">
              <a:ext uri="{FF2B5EF4-FFF2-40B4-BE49-F238E27FC236}">
                <a16:creationId xmlns:a16="http://schemas.microsoft.com/office/drawing/2014/main" id="{F1F5D9E5-1297-4015-BDC6-F2E4CD779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66725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CHAPTER SYNTHESIS  /  13</a:t>
            </a:r>
          </a:p>
        </p:txBody>
      </p:sp>
      <p:sp>
        <p:nvSpPr>
          <p:cNvPr id="3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C11932E7-B011-403D-B419-DBC4CBAD5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8650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10</a:t>
            </a:r>
          </a:p>
        </p:txBody>
      </p:sp>
      <p:sp>
        <p:nvSpPr>
          <p:cNvPr id="4" name="chapter-footer">
            <a:extLst xmlns:a="http://schemas.openxmlformats.org/drawingml/2006/main">
              <a:ext uri="{FF2B5EF4-FFF2-40B4-BE49-F238E27FC236}">
                <a16:creationId xmlns:a16="http://schemas.microsoft.com/office/drawing/2014/main" id="{989FC0C7-7A0F-450B-9721-1B26E3B56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86500"/>
            <a:ext cx="819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Production, Economics, and the Frontier</a:t>
            </a:r>
          </a:p>
        </p:txBody>
      </p:sp>
      <p:sp>
        <p:nvSpPr>
          <p:cNvPr id="5" name="closing-title">
            <a:extLst xmlns:a="http://schemas.openxmlformats.org/drawingml/2006/main">
              <a:ext uri="{FF2B5EF4-FFF2-40B4-BE49-F238E27FC236}">
                <a16:creationId xmlns:a16="http://schemas.microsoft.com/office/drawing/2014/main" id="{401F7BAA-25C0-46BA-892B-3CDDE5069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047750"/>
            <a:ext cx="10287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What must remain after the details fade</a:t>
            </a:r>
          </a:p>
        </p:txBody>
      </p:sp>
      <p:sp>
        <p:nvSpPr>
          <p:cNvPr id="6" name="takeaway-number-1">
            <a:extLst xmlns:a="http://schemas.openxmlformats.org/drawingml/2006/main">
              <a:ext uri="{FF2B5EF4-FFF2-40B4-BE49-F238E27FC236}">
                <a16:creationId xmlns:a16="http://schemas.microsoft.com/office/drawing/2014/main" id="{F9B00309-1E08-4EE1-80B4-3F2954EB0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333625"/>
            <a:ext cx="7048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C4A1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C4A1FF"/>
                </a:solidFill>
                <a:latin typeface="Helvetica Neue"/>
                <a:ea typeface="Helvetica Neue"/>
                <a:cs typeface="Helvetica Neue"/>
              </a:rPr>
              <a:t>01</a:t>
            </a:r>
          </a:p>
        </p:txBody>
      </p:sp>
      <p:sp>
        <p:nvSpPr>
          <p:cNvPr id="7" name="takeaway-1">
            <a:extLst xmlns:a="http://schemas.openxmlformats.org/drawingml/2006/main">
              <a:ext uri="{FF2B5EF4-FFF2-40B4-BE49-F238E27FC236}">
                <a16:creationId xmlns:a16="http://schemas.microsoft.com/office/drawing/2014/main" id="{B231C8DB-B27C-495F-B326-A50B4829E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314575"/>
            <a:ext cx="9525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Production is disciplined engineering around the model.</a:t>
            </a:r>
          </a:p>
        </p:txBody>
      </p:sp>
      <p:sp>
        <p:nvSpPr>
          <p:cNvPr id="8" name="takeaway-number-2">
            <a:extLst xmlns:a="http://schemas.openxmlformats.org/drawingml/2006/main">
              <a:ext uri="{FF2B5EF4-FFF2-40B4-BE49-F238E27FC236}">
                <a16:creationId xmlns:a16="http://schemas.microsoft.com/office/drawing/2014/main" id="{BEDA92A3-7C40-44DA-86A3-FB2C542BD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09925"/>
            <a:ext cx="7048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C4A1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C4A1FF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9" name="takeaway-2">
            <a:extLst xmlns:a="http://schemas.openxmlformats.org/drawingml/2006/main">
              <a:ext uri="{FF2B5EF4-FFF2-40B4-BE49-F238E27FC236}">
                <a16:creationId xmlns:a16="http://schemas.microsoft.com/office/drawing/2014/main" id="{BCBAC5D9-5072-4E5F-B89B-9969DA345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190875"/>
            <a:ext cx="9525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Routing, caching, bounds, and parallelism control cost and latency.</a:t>
            </a:r>
          </a:p>
        </p:txBody>
      </p:sp>
      <p:sp>
        <p:nvSpPr>
          <p:cNvPr id="10" name="takeaway-number-3">
            <a:extLst xmlns:a="http://schemas.openxmlformats.org/drawingml/2006/main">
              <a:ext uri="{FF2B5EF4-FFF2-40B4-BE49-F238E27FC236}">
                <a16:creationId xmlns:a16="http://schemas.microsoft.com/office/drawing/2014/main" id="{EA9F7862-6F2D-4A1F-B6E3-871B388D7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086225"/>
            <a:ext cx="7048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C4A1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C4A1FF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11" name="takeaway-3">
            <a:extLst xmlns:a="http://schemas.openxmlformats.org/drawingml/2006/main">
              <a:ext uri="{FF2B5EF4-FFF2-40B4-BE49-F238E27FC236}">
                <a16:creationId xmlns:a16="http://schemas.microsoft.com/office/drawing/2014/main" id="{5227F864-E905-49A9-B6CD-C7F2D200F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067175"/>
            <a:ext cx="9525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9975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AgentOps versions, evaluates, traces, guards, and rolls back the whole system.</a:t>
            </a:r>
          </a:p>
        </p:txBody>
      </p:sp>
      <p:sp>
        <p:nvSpPr>
          <p:cNvPr id="12" name="takeaway-number-4">
            <a:extLst xmlns:a="http://schemas.openxmlformats.org/drawingml/2006/main">
              <a:ext uri="{FF2B5EF4-FFF2-40B4-BE49-F238E27FC236}">
                <a16:creationId xmlns:a16="http://schemas.microsoft.com/office/drawing/2014/main" id="{247B9455-B661-4E23-9604-6B0A1AE6F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962525"/>
            <a:ext cx="7048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C4A1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C4A1FF"/>
                </a:solidFill>
                <a:latin typeface="Helvetica Neue"/>
                <a:ea typeface="Helvetica Neue"/>
                <a:cs typeface="Helvetica Neue"/>
              </a:rPr>
              <a:t>04</a:t>
            </a:r>
          </a:p>
        </p:txBody>
      </p:sp>
      <p:sp>
        <p:nvSpPr>
          <p:cNvPr id="13" name="takeaway-4">
            <a:extLst xmlns:a="http://schemas.openxmlformats.org/drawingml/2006/main">
              <a:ext uri="{FF2B5EF4-FFF2-40B4-BE49-F238E27FC236}">
                <a16:creationId xmlns:a16="http://schemas.microsoft.com/office/drawing/2014/main" id="{6218E25B-904D-46DE-A180-19C1FBCFB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943475"/>
            <a:ext cx="9525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Frontier capability does not remove reliability, security, or accountability limits.</a:t>
            </a:r>
          </a:p>
        </p:txBody>
      </p:sp>
    </p:spTree>
    <p:extLst>
      <p:ext uri="{BB962C8B-B14F-4D97-AF65-F5344CB8AC3E}">
        <p14:creationId xmlns:p14="http://schemas.microsoft.com/office/powerpoint/2010/main" val="199829390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2026-07-27T18:05:42.9230000Z</dcterms:created>
  <dcterms:modified xsi:type="dcterms:W3CDTF">2026-07-27T18:05:42.9230000Z</dcterms:modified>
</coreProperties>
</file>