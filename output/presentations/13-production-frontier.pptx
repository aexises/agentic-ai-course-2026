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f3d3e377ef4692" /><Relationship Type="http://schemas.openxmlformats.org/officeDocument/2006/relationships/extended-properties" Target="/docProps/app.xml" Id="Rf7dfd21cbd84497c" /><Relationship Type="http://schemas.openxmlformats.org/officeDocument/2006/relationships/officeDocument" Target="/ppt/presentation.xml" Id="Rc995b903e922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a16efa8ffc4f22"/>
  </p:sldMasterIdLst>
  <p:notesMasterIdLst>
    <p:notesMasterId xmlns:r="http://schemas.openxmlformats.org/officeDocument/2006/relationships" r:id="Rab7b5fbfbc4f419d"/>
  </p:notesMasterIdLst>
  <p:sldIdLst>
    <p:sldId xmlns:r="http://schemas.openxmlformats.org/officeDocument/2006/relationships" id="256" r:id="R2776b35763cb4b15"/>
    <p:sldId xmlns:r="http://schemas.openxmlformats.org/officeDocument/2006/relationships" id="257" r:id="R13fe4312cf2e43fa"/>
    <p:sldId xmlns:r="http://schemas.openxmlformats.org/officeDocument/2006/relationships" id="258" r:id="R432547fe4fa04e55"/>
    <p:sldId xmlns:r="http://schemas.openxmlformats.org/officeDocument/2006/relationships" id="259" r:id="Rb11a3c8c78724c40"/>
    <p:sldId xmlns:r="http://schemas.openxmlformats.org/officeDocument/2006/relationships" id="260" r:id="Rc3ff5c92fd9849b2"/>
    <p:sldId xmlns:r="http://schemas.openxmlformats.org/officeDocument/2006/relationships" id="261" r:id="R79b00d1e5a9d40d3"/>
    <p:sldId xmlns:r="http://schemas.openxmlformats.org/officeDocument/2006/relationships" id="262" r:id="R99d645dd13bf48e9"/>
    <p:sldId xmlns:r="http://schemas.openxmlformats.org/officeDocument/2006/relationships" id="263" r:id="Ra313d2e8f63143de"/>
    <p:sldId xmlns:r="http://schemas.openxmlformats.org/officeDocument/2006/relationships" id="264" r:id="R2217bb25f19244f4"/>
    <p:sldId xmlns:r="http://schemas.openxmlformats.org/officeDocument/2006/relationships" id="265" r:id="Re306440836e1421c"/>
    <p:sldId xmlns:r="http://schemas.openxmlformats.org/officeDocument/2006/relationships" id="266" r:id="R86d66043631b48e8"/>
    <p:sldId xmlns:r="http://schemas.openxmlformats.org/officeDocument/2006/relationships" id="267" r:id="R560dff12a1a742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f794d964474c25" /><Relationship Type="http://schemas.openxmlformats.org/officeDocument/2006/relationships/slideMaster" Target="/ppt/slideMasters/slideMaster1.xml" Id="R6fa16efa8ffc4f22" /><Relationship Type="http://schemas.openxmlformats.org/officeDocument/2006/relationships/notesMaster" Target="/ppt/notesMasters/notesMaster1.xml" Id="Rab7b5fbfbc4f419d" /><Relationship Type="http://schemas.openxmlformats.org/officeDocument/2006/relationships/presProps" Target="/ppt/presProps.xml" Id="Re31f1514c1a04d66" /><Relationship Type="http://schemas.openxmlformats.org/officeDocument/2006/relationships/tableStyles" Target="/ppt/tableStyles.xml" Id="R5b1d2b01ea1d4612" /><Relationship Type="http://schemas.openxmlformats.org/officeDocument/2006/relationships/slide" Target="/ppt/slides/slide1.xml" Id="R2776b35763cb4b15" /><Relationship Type="http://schemas.openxmlformats.org/officeDocument/2006/relationships/slide" Target="/ppt/slides/slide2.xml" Id="R13fe4312cf2e43fa" /><Relationship Type="http://schemas.openxmlformats.org/officeDocument/2006/relationships/slide" Target="/ppt/slides/slide3.xml" Id="R432547fe4fa04e55" /><Relationship Type="http://schemas.openxmlformats.org/officeDocument/2006/relationships/slide" Target="/ppt/slides/slide4.xml" Id="Rb11a3c8c78724c40" /><Relationship Type="http://schemas.openxmlformats.org/officeDocument/2006/relationships/slide" Target="/ppt/slides/slide5.xml" Id="Rc3ff5c92fd9849b2" /><Relationship Type="http://schemas.openxmlformats.org/officeDocument/2006/relationships/slide" Target="/ppt/slides/slide6.xml" Id="R79b00d1e5a9d40d3" /><Relationship Type="http://schemas.openxmlformats.org/officeDocument/2006/relationships/slide" Target="/ppt/slides/slide7.xml" Id="R99d645dd13bf48e9" /><Relationship Type="http://schemas.openxmlformats.org/officeDocument/2006/relationships/slide" Target="/ppt/slides/slide8.xml" Id="Ra313d2e8f63143de" /><Relationship Type="http://schemas.openxmlformats.org/officeDocument/2006/relationships/slide" Target="/ppt/slides/slide9.xml" Id="R2217bb25f19244f4" /><Relationship Type="http://schemas.openxmlformats.org/officeDocument/2006/relationships/slide" Target="/ppt/slides/slide10.xml" Id="Re306440836e1421c" /><Relationship Type="http://schemas.openxmlformats.org/officeDocument/2006/relationships/slide" Target="/ppt/slides/slide11.xml" Id="R86d66043631b48e8" /><Relationship Type="http://schemas.openxmlformats.org/officeDocument/2006/relationships/slide" Target="/ppt/slides/slide12.xml" Id="R560dff12a1a7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57de3a169944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aa66f01b164810" /><Relationship Type="http://schemas.openxmlformats.org/officeDocument/2006/relationships/notesMaster" Target="/ppt/notesMasters/notesMaster1.xml" Id="Rc796b06b6d1d41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092746ba6341a1" /><Relationship Type="http://schemas.openxmlformats.org/officeDocument/2006/relationships/notesMaster" Target="/ppt/notesMasters/notesMaster1.xml" Id="R4d40ea94401c43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5f7d99edcd4b79" /><Relationship Type="http://schemas.openxmlformats.org/officeDocument/2006/relationships/notesMaster" Target="/ppt/notesMasters/notesMaster1.xml" Id="R79ab260127a744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80f639c7ff4cea" /><Relationship Type="http://schemas.openxmlformats.org/officeDocument/2006/relationships/notesMaster" Target="/ppt/notesMasters/notesMaster1.xml" Id="R30306122be744d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28b357398e4888" /><Relationship Type="http://schemas.openxmlformats.org/officeDocument/2006/relationships/notesMaster" Target="/ppt/notesMasters/notesMaster1.xml" Id="R40282c855a8344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466620939f4a8f" /><Relationship Type="http://schemas.openxmlformats.org/officeDocument/2006/relationships/notesMaster" Target="/ppt/notesMasters/notesMaster1.xml" Id="R3a5c54b05ba647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473d88cfd54ff7" /><Relationship Type="http://schemas.openxmlformats.org/officeDocument/2006/relationships/notesMaster" Target="/ppt/notesMasters/notesMaster1.xml" Id="Re47674caf68849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d4bc497d04c9b" /><Relationship Type="http://schemas.openxmlformats.org/officeDocument/2006/relationships/notesMaster" Target="/ppt/notesMasters/notesMaster1.xml" Id="R539999caf45e4c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3a8b51bfe04ef6" /><Relationship Type="http://schemas.openxmlformats.org/officeDocument/2006/relationships/notesMaster" Target="/ppt/notesMasters/notesMaster1.xml" Id="R7097fa96652f48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7e4139ddf74f1d" /><Relationship Type="http://schemas.openxmlformats.org/officeDocument/2006/relationships/notesMaster" Target="/ppt/notesMasters/notesMaster1.xml" Id="R63757354b79b4c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a046cbc0db4514" /><Relationship Type="http://schemas.openxmlformats.org/officeDocument/2006/relationships/notesMaster" Target="/ppt/notesMasters/notesMaster1.xml" Id="Rc41a2732f3d14f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83df5f4a3941cb" /><Relationship Type="http://schemas.openxmlformats.org/officeDocument/2006/relationships/notesMaster" Target="/ppt/notesMasters/notesMaster1.xml" Id="R08cb571c004f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chapter thesis and connect it to the previous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objectives as an advance organizer and as a checklist after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as retrieval practice. Ask for an answer that defines, compares, traces, and evaluates.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four durable ideas and linking forward to the next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the submitted evidence with the stated acceptance check. Reading links and limitations follow.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Edition: 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source presentation: 13-production-frontier.pdf</a:t>
            </a:r>
          </a:p>
          <a:p xmlns:a="http://schemas.openxmlformats.org/drawingml/2006/main">
            <a:r>
              <a:t>- P2: Scientific computing in the age of agentic AI. OpenAI-affiliated exploratory field report, 2026-07-28. https://cdn.openai.com/pdf/scientific-computing-in-the-age-of-agentic-ai-an-exploratory-field-report.pdf Case studies motivate verification and maintenance ownership. They do not estimate a universal productivity effect.</a:t>
            </a:r>
          </a:p>
          <a:p xmlns:a="http://schemas.openxmlformats.org/drawingml/2006/main">
            <a:r>
              <a:t>- R3: Research acceleration: The view inside OpenAI. OpenAI observational research post, 2026-09-06. https://openai.com/index/research-acceleration-view-inside-openai/ Activity metrics do not by themselves identify causal gains in research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[Assessed practice]</a:t>
            </a:r>
          </a:p>
          <a:p xmlns:a="http://schemas.openxmlformats.org/drawingml/2006/main">
            <a:r>
              <a:t>Submit the capstone bundle: baseline, bounded agent, held-out evaluation, negative tests, and an operating note. Include a reproducible command and a maintenance owner.</a:t>
            </a:r>
          </a:p>
          <a:p xmlns:a="http://schemas.openxmlformats.org/drawingml/2006/main">
            <a:r>
              <a:t>Acceptance: The reviewer can rerun the bundle in a fresh environment and trace each conclusion to saved evidence. Follow teaching/CAPSTONE.md for the rubric.</a:t>
            </a:r>
          </a:p>
          <a:p xmlns:a="http://schemas.openxmlformats.org/drawingml/2006/main">
            <a:r>
              <a:t>Lab: labs/08_langgraph_approval_security.ipynb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df789847d4a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b960415de54043" /><Relationship Type="http://schemas.openxmlformats.org/officeDocument/2006/relationships/slideLayout" Target="/ppt/slideLayouts/slideLayout1.xml" Id="Rc0a75bf277014a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a75bf277014a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e00b699fd45b2" /><Relationship Type="http://schemas.openxmlformats.org/officeDocument/2006/relationships/notesSlide" Target="/ppt/notesSlides/notesSlide1.xml" Id="R9d39a66e621d40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c028fd7864268" /><Relationship Type="http://schemas.openxmlformats.org/officeDocument/2006/relationships/notesSlide" Target="/ppt/notesSlides/notesSlide2.xml" Id="Ra0891dd0b01c4a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577ba78824086" /><Relationship Type="http://schemas.openxmlformats.org/officeDocument/2006/relationships/notesSlide" Target="/ppt/notesSlides/notesSlide3.xml" Id="R4e479dd36ce345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b86b42fc44247" /><Relationship Type="http://schemas.openxmlformats.org/officeDocument/2006/relationships/notesSlide" Target="/ppt/notesSlides/notesSlide4.xml" Id="Rffb70f61593b47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0f8a0bced49e7" /><Relationship Type="http://schemas.openxmlformats.org/officeDocument/2006/relationships/notesSlide" Target="/ppt/notesSlides/notesSlide5.xml" Id="R437302dced114d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02b29d54347e7" /><Relationship Type="http://schemas.openxmlformats.org/officeDocument/2006/relationships/notesSlide" Target="/ppt/notesSlides/notesSlide6.xml" Id="Rc13d6d946e394b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ad0b726a24911" /><Relationship Type="http://schemas.openxmlformats.org/officeDocument/2006/relationships/notesSlide" Target="/ppt/notesSlides/notesSlide7.xml" Id="Rcb4a7a74f0ad48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dc89855474deb" /><Relationship Type="http://schemas.openxmlformats.org/officeDocument/2006/relationships/notesSlide" Target="/ppt/notesSlides/notesSlide8.xml" Id="R4d6e39f511da43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b1a27d2574683" /><Relationship Type="http://schemas.openxmlformats.org/officeDocument/2006/relationships/notesSlide" Target="/ppt/notesSlides/notesSlide9.xml" Id="R1dbcae5d745943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284ff5a674cb0" /><Relationship Type="http://schemas.openxmlformats.org/officeDocument/2006/relationships/notesSlide" Target="/ppt/notesSlides/notesSlide10.xml" Id="R853684cddcc84f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4c0c978064c14" /><Relationship Type="http://schemas.openxmlformats.org/officeDocument/2006/relationships/notesSlide" Target="/ppt/notesSlides/notesSlide11.xml" Id="Re1c59278634141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c9a847b0942af" /><Relationship Type="http://schemas.openxmlformats.org/officeDocument/2006/relationships/notesSlide" Target="/ppt/notesSlides/notesSlide12.xml" Id="R9cabe13b945643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CA84AAB-08B4-44FB-8F71-08F0ADB7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ourse-title">
            <a:extLst xmlns:a="http://schemas.openxmlformats.org/drawingml/2006/main">
              <a:ext uri="{FF2B5EF4-FFF2-40B4-BE49-F238E27FC236}">
                <a16:creationId xmlns:a16="http://schemas.microsoft.com/office/drawing/2014/main" id="{1F4DB5EA-A813-42BB-A14E-60023257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AGENTIC AI</a:t>
            </a:r>
          </a:p>
        </p:txBody>
      </p:sp>
      <p:sp>
        <p:nvSpPr>
          <p:cNvPr id="3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894FA5D0-1563-4B7D-B26A-7B75570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DFB656A8-353B-4B49-8761-655A5092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858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deck-thesis">
            <a:extLst xmlns:a="http://schemas.openxmlformats.org/drawingml/2006/main">
              <a:ext uri="{FF2B5EF4-FFF2-40B4-BE49-F238E27FC236}">
                <a16:creationId xmlns:a16="http://schemas.microsoft.com/office/drawing/2014/main" id="{BEF16D1C-A7D9-4A57-AE48-7B9021D2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524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 success is determined by the versioned, observable, economical, and secure system around the model rather than a one-off demo.</a:t>
            </a:r>
          </a:p>
        </p:txBody>
      </p:sp>
      <p:sp>
        <p:nvSpPr>
          <p:cNvPr id="6" name="title-marker">
            <a:extLst xmlns:a="http://schemas.openxmlformats.org/drawingml/2006/main">
              <a:ext uri="{FF2B5EF4-FFF2-40B4-BE49-F238E27FC236}">
                <a16:creationId xmlns:a16="http://schemas.microsoft.com/office/drawing/2014/main" id="{8D7F24A4-E4CB-4FEE-9035-15BE136C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7" name="title-marker-text">
            <a:extLst xmlns:a="http://schemas.openxmlformats.org/drawingml/2006/main">
              <a:ext uri="{FF2B5EF4-FFF2-40B4-BE49-F238E27FC236}">
                <a16:creationId xmlns:a16="http://schemas.microsoft.com/office/drawing/2014/main" id="{86F7024F-6DB8-4A90-9BC6-C2CA1F72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STUDY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DECK</a:t>
            </a:r>
          </a:p>
        </p:txBody>
      </p:sp>
    </p:spTree>
    <p:extLst>
      <p:ext uri="{BB962C8B-B14F-4D97-AF65-F5344CB8AC3E}">
        <p14:creationId xmlns:p14="http://schemas.microsoft.com/office/powerpoint/2010/main" val="1408689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ABA3DC2C-DF3E-41FB-ADD9-151C5315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4913370C-1633-40F0-B674-28775E0C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LEARNING MAP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54BF3B-F70B-4450-BE32-A75DB76C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79987DEF-19AE-4270-9C51-B29D66F6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objectives-title">
            <a:extLst xmlns:a="http://schemas.openxmlformats.org/drawingml/2006/main">
              <a:ext uri="{FF2B5EF4-FFF2-40B4-BE49-F238E27FC236}">
                <a16:creationId xmlns:a16="http://schemas.microsoft.com/office/drawing/2014/main" id="{C1330A31-5055-4F36-8E27-D54E1F29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By the end, you should be able to...</a:t>
            </a:r>
          </a:p>
        </p:txBody>
      </p:sp>
      <p:sp>
        <p:nvSpPr>
          <p:cNvPr id="6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BA18754B-1042-45AE-9970-8ABEB005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objective-1">
            <a:extLst xmlns:a="http://schemas.openxmlformats.org/drawingml/2006/main">
              <a:ext uri="{FF2B5EF4-FFF2-40B4-BE49-F238E27FC236}">
                <a16:creationId xmlns:a16="http://schemas.microsoft.com/office/drawing/2014/main" id="{B5D4118D-985A-4A9D-B8A7-87B70EDC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Close the prototype-to-production gap</a:t>
            </a:r>
          </a:p>
        </p:txBody>
      </p:sp>
      <p:sp>
        <p:nvSpPr>
          <p:cNvPr id="8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62DC1BE1-F2B7-46AF-86EA-D707BB9F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objective-2">
            <a:extLst xmlns:a="http://schemas.openxmlformats.org/drawingml/2006/main">
              <a:ext uri="{FF2B5EF4-FFF2-40B4-BE49-F238E27FC236}">
                <a16:creationId xmlns:a16="http://schemas.microsoft.com/office/drawing/2014/main" id="{1A92A5E3-7E6F-4312-950A-EF127A8F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Engineer cost, latency, and reliability</a:t>
            </a:r>
          </a:p>
        </p:txBody>
      </p:sp>
      <p:sp>
        <p:nvSpPr>
          <p:cNvPr id="10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E3AEC8CD-E4A0-40AA-9D67-77F043C9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objective-3">
            <a:extLst xmlns:a="http://schemas.openxmlformats.org/drawingml/2006/main">
              <a:ext uri="{FF2B5EF4-FFF2-40B4-BE49-F238E27FC236}">
                <a16:creationId xmlns:a16="http://schemas.microsoft.com/office/drawing/2014/main" id="{085D5C43-3AD6-4FAE-B2E3-35061752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AgentOps and safe rollout</a:t>
            </a:r>
          </a:p>
        </p:txBody>
      </p:sp>
      <p:sp>
        <p:nvSpPr>
          <p:cNvPr id="12" name="objective-number-4">
            <a:extLst xmlns:a="http://schemas.openxmlformats.org/drawingml/2006/main">
              <a:ext uri="{FF2B5EF4-FFF2-40B4-BE49-F238E27FC236}">
                <a16:creationId xmlns:a16="http://schemas.microsoft.com/office/drawing/2014/main" id="{143C1D77-BA00-4D8D-82DC-41F4DF4D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objective-4">
            <a:extLst xmlns:a="http://schemas.openxmlformats.org/drawingml/2006/main">
              <a:ext uri="{FF2B5EF4-FFF2-40B4-BE49-F238E27FC236}">
                <a16:creationId xmlns:a16="http://schemas.microsoft.com/office/drawing/2014/main" id="{6F69B83E-A82E-40EC-A397-380B799B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Connect current successes to open problems</a:t>
            </a:r>
          </a:p>
        </p:txBody>
      </p:sp>
    </p:spTree>
    <p:extLst>
      <p:ext uri="{BB962C8B-B14F-4D97-AF65-F5344CB8AC3E}">
        <p14:creationId xmlns:p14="http://schemas.microsoft.com/office/powerpoint/2010/main" val="20881785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9CA2BE56-78EF-4E1D-BCCB-ED4365D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7A583A5E-315D-4228-9C02-4BC85159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01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99FEAC-FB22-447C-9A1A-43A422BE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B0017B25-03F2-41CC-969E-B57CE16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D3E6542-02AC-4948-9303-5950485D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product must work repeatedly under constraints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3A91B609-F824-4F2B-9D00-FDBA3998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 prototype needs one successful demonstration; a production service must work safely, reliably, economically, and at scale. Prompts, tools, models, retrieval, memory, policies, and evals become versioned system components.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0495CDAA-8174-462B-A428-8E06011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03E97D4B-77CB-4D57-8C9B-D449006A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Reliability includes retries, timeouts, fallbacks, and idempotency.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Compliance and security join functional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The runtime, tools, and operating process need their own tests.</a:t>
            </a:r>
          </a:p>
        </p:txBody>
      </p:sp>
    </p:spTree>
    <p:extLst>
      <p:ext uri="{BB962C8B-B14F-4D97-AF65-F5344CB8AC3E}">
        <p14:creationId xmlns:p14="http://schemas.microsoft.com/office/powerpoint/2010/main" val="2037536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9C7227E3-54FE-4AAB-9C78-1B78ECF9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3B75ACA8-E942-401D-9675-B1B6B5AE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02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C8CA23-E9F8-4B75-80F9-E430814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70B39274-471E-49EF-B004-679168B8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146B593-248E-4DEC-AB48-D7BCF89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Cost and latency compound across agent steps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C518C5FD-AA53-4B56-B492-4B3F556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Agent loops make multiple model and tool calls, so per-token and per-call costs accumulate. Routing sends ordinary work to cheaper models and hard work to stronger reasoning models. Caching, smaller models, fine-tuning, and bounded loops reduce spend.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6FD23A95-1E64-45CB-8E8A-77D082FB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10036453-E265-482D-82EF-5C92234F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embeddings, retrievals, results, and prompt prefixes.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A3B55172-ABF9-49F3-91DE-E6F9934C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939C83E6-C2F5-4C83-9249-6219D78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Parallelize independent steps.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F3990590-60B5-4928-B11A-B5E58E9B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83ED0F2A-B106-47C1-806C-431D2A67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Stream progress to reduce perceived latency.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7A0D1813-2071-4A1A-95A6-F940926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62CB9F1B-5123-4327-8DEB-BD3ABD6E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Set token, step, time, and spend budgets.</a:t>
            </a:r>
          </a:p>
        </p:txBody>
      </p:sp>
    </p:spTree>
    <p:extLst>
      <p:ext uri="{BB962C8B-B14F-4D97-AF65-F5344CB8AC3E}">
        <p14:creationId xmlns:p14="http://schemas.microsoft.com/office/powerpoint/2010/main" val="2089005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314C43E-926F-4094-BEF4-ECBC9AFF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EB72A7E-FFBE-4135-B290-EF84AA6F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03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9C59B7-3DA8-4CF9-96CD-FA9D5F42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141FC1E4-B1D0-4136-9F16-E62C9AFD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B624A00-89C9-4470-89E3-8C89C0B2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5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AgentOps combines service operations with LLM-specific controls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1E3556F5-DF53-4F5A-A479-73442FDD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 agents need traces, dashboards, alerts, prompt and model versioning, evaluation gates, guardrails, and human checkpoints in addition to normal service reliability patterns.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F57FABFD-3716-41EA-8892-D7572D5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B8625311-82E0-4548-9F3B-E6254B6A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Trace model, tool, retrieval, memory, and agent spans.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Monitor quality, cost, latency, error, and safety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Use circuit breakers and fallbacks for unstable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 Preserve reproducibility across silent model or tool changes.</a:t>
            </a:r>
          </a:p>
        </p:txBody>
      </p:sp>
    </p:spTree>
    <p:extLst>
      <p:ext uri="{BB962C8B-B14F-4D97-AF65-F5344CB8AC3E}">
        <p14:creationId xmlns:p14="http://schemas.microsoft.com/office/powerpoint/2010/main" val="1155658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043AF0C-147D-405D-A375-1DC9B25B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AF7EDAC8-88BA-47C0-88D0-7725B82A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04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702EF4-4D1A-4E05-873C-2F151B79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5AAFEE0A-DD58-4A8C-A17D-A29BDEDF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06CC89C2-F791-4B63-A361-A8FBBE2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Rollout should be reversible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D1A7AF36-223D-48D5-BCBD-7496A67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Agents can ship as services, batch workers, or embedded assistants. Canary releases, feature flags, gradual traffic, evaluation gates, and rapid rollback reduce the impact of behavioral regressions.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AE1BECB8-887A-409B-87CF-DE0EBA90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CD24B62E-A814-41EC-AD42-EE600E00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 on representative and adversarial tasks before deployment.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CEAB1778-8359-4BEE-AE90-3B8F88BC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80AEC5C2-152B-4105-8201-18AB95DD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Require approval for consequential actions.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C557AE63-102D-4D74-BE82-E2324F6B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08E45A6A-DEC1-4D96-B2F0-AE382B0C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Keep a human-owned escalation path.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40515626-F014-48D9-9D50-44CFA482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33913D62-0F12-48AE-BC84-A40FB4D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 actions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629606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662019C-D4CE-4346-9DFF-61B92AE6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6B493AC-C097-49D6-AA84-2FC9606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05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C14A4D-F4EF-42DA-A965-AC0B85BF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1B3E1165-B68E-4227-B176-6E15D85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8AF8D091-C894-42C2-BAF5-E8A6481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Execution-grounded domains reveal the clearest wins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396BF2D6-9D3A-4ABA-8F89-C8CD4E2B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Coding agents can inspect repositories, edit files, and run tests; their Agent-Computer Interface exposes compact actions and concise feedback. Computer-use agents generalize to GUIs through screenshots or accessibility trees but remain more brittle.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4E43EC09-0B9D-4BFD-9E50-3C95DA1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A3E8F78D-4473-42F1-81A5-68FDB4F2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Interface design can matter as much as the base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Execution tests make coding outcomes verifiable.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Human review remains essential.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 High benchmark scores do not guarantee open-world reliability.</a:t>
            </a:r>
          </a:p>
        </p:txBody>
      </p:sp>
    </p:spTree>
    <p:extLst>
      <p:ext uri="{BB962C8B-B14F-4D97-AF65-F5344CB8AC3E}">
        <p14:creationId xmlns:p14="http://schemas.microsoft.com/office/powerpoint/2010/main" val="372319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58BBBE9E-6A99-4342-9139-6612F60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458C899C-4823-48BB-9195-E5BD673F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06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07C0B7-DA28-4C6D-898E-1C96731B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3F875FA1-015D-4A5D-B6C8-FA480CDD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18FCB687-BBFB-4A0E-9423-AF3A2D7F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frontier and the open problems advance together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C030C0EA-E409-4FEA-AB1F-02972691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Reasoning models, longer autonomous horizons, computer use, multimodality, MCP, and A2A expand capability. Reliability over long horizons, evaluation leakage, prompt injection, cost, accountability, labor impact, and misuse remain unresolved constraints.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98E459B9-6D54-4EA8-A398-CEBC9A10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ED55DF81-4BBE-47C6-BF42-85FE41EE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Clear ownership is required for deployed agents.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B8BAE4DE-DEB0-4F79-B8EF-CF01CDF8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CB778A1B-9897-42D4-B39B-1F0D3DFA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 trails document what happened and why.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E30593E3-3E9F-4805-A56C-4F9B300E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C3446ADA-E14E-4CF2-BD3D-D5B75CC7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Economics differ from fixed-cost traditional software.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0B9952F4-C220-490E-A773-1A3AFB4F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6EFA2827-0CFC-4B39-8648-99C68CC9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Launch only the least autonomous system that passes eval and safety gates.</a:t>
            </a:r>
          </a:p>
        </p:txBody>
      </p:sp>
    </p:spTree>
    <p:extLst>
      <p:ext uri="{BB962C8B-B14F-4D97-AF65-F5344CB8AC3E}">
        <p14:creationId xmlns:p14="http://schemas.microsoft.com/office/powerpoint/2010/main" val="1429894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AE75EAF6-EECD-41E9-ACEF-42BA5028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AAEDFF0-DC89-4CF0-A103-A5CE1E8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07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0D76D4-3E0E-42FC-82C8-49A65E26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0777A1C8-2527-4028-B4DA-342C0DC7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2A6C4BD-CE23-4ADC-BC10-0A004CE5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maintained system needs evidence and an owner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DD4D10F0-5970-403B-A7D1-432926CF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scientific-computing field report motivates reference tests and stewardship. OpenAI's observational research post also warns that activity metrics need careful interpretation. The capstone therefore assesses validated outcomes and reproducibility.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9E717341-B0D7-4B4C-9166-6060B129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5BD625BD-C641-438E-B8E3-9CF9B1FA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Test recovery and unexpected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Name the maintainer and escalation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Separate activity counts from demonstrated task success.</a:t>
            </a:r>
          </a:p>
        </p:txBody>
      </p:sp>
    </p:spTree>
    <p:extLst>
      <p:ext uri="{BB962C8B-B14F-4D97-AF65-F5344CB8AC3E}">
        <p14:creationId xmlns:p14="http://schemas.microsoft.com/office/powerpoint/2010/main" val="196902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line">
            <a:extLst xmlns:a="http://schemas.openxmlformats.org/drawingml/2006/main">
              <a:ext uri="{FF2B5EF4-FFF2-40B4-BE49-F238E27FC236}">
                <a16:creationId xmlns:a16="http://schemas.microsoft.com/office/drawing/2014/main" id="{E812F02C-D935-45E7-B74D-C15EA1E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46C27A6B-F98F-4FEE-9562-9396A7C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EXAM CHECK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F436F4-6888-41D7-8BF3-7ECF064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1C11D8AA-F84D-4B4A-9711-13E004D0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exam-title">
            <a:extLst xmlns:a="http://schemas.openxmlformats.org/drawingml/2006/main">
              <a:ext uri="{FF2B5EF4-FFF2-40B4-BE49-F238E27FC236}">
                <a16:creationId xmlns:a16="http://schemas.microsoft.com/office/drawing/2014/main" id="{00E7E3A4-AE1A-4709-8F3F-104436FF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810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 you answer these without notes?</a:t>
            </a:r>
          </a:p>
        </p:txBody>
      </p:sp>
      <p:sp>
        <p:nvSpPr>
          <p:cNvPr id="6" name="exam-number-1">
            <a:extLst xmlns:a="http://schemas.openxmlformats.org/drawingml/2006/main">
              <a:ext uri="{FF2B5EF4-FFF2-40B4-BE49-F238E27FC236}">
                <a16:creationId xmlns:a16="http://schemas.microsoft.com/office/drawing/2014/main" id="{589E72D1-AB80-48E2-AF5F-E09BFA1D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exam-question-1">
            <a:extLst xmlns:a="http://schemas.openxmlformats.org/drawingml/2006/main">
              <a:ext uri="{FF2B5EF4-FFF2-40B4-BE49-F238E27FC236}">
                <a16:creationId xmlns:a16="http://schemas.microsoft.com/office/drawing/2014/main" id="{3C0AB506-1F96-4EA4-9643-4C055BA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distinguishes an agent demo from a production product?</a:t>
            </a:r>
          </a:p>
        </p:txBody>
      </p:sp>
      <p:sp>
        <p:nvSpPr>
          <p:cNvPr id="8" name="exam-number-2">
            <a:extLst xmlns:a="http://schemas.openxmlformats.org/drawingml/2006/main">
              <a:ext uri="{FF2B5EF4-FFF2-40B4-BE49-F238E27FC236}">
                <a16:creationId xmlns:a16="http://schemas.microsoft.com/office/drawing/2014/main" id="{07F5D51E-38C1-4B4A-BAA5-007BFE5A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exam-question-2">
            <a:extLst xmlns:a="http://schemas.openxmlformats.org/drawingml/2006/main">
              <a:ext uri="{FF2B5EF4-FFF2-40B4-BE49-F238E27FC236}">
                <a16:creationId xmlns:a16="http://schemas.microsoft.com/office/drawing/2014/main" id="{C6E395F3-0DB8-464F-9F71-6E25A3A6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Give four methods for reducing cost and four for reducing latency.</a:t>
            </a:r>
          </a:p>
        </p:txBody>
      </p:sp>
      <p:sp>
        <p:nvSpPr>
          <p:cNvPr id="10" name="exam-number-3">
            <a:extLst xmlns:a="http://schemas.openxmlformats.org/drawingml/2006/main">
              <a:ext uri="{FF2B5EF4-FFF2-40B4-BE49-F238E27FC236}">
                <a16:creationId xmlns:a16="http://schemas.microsoft.com/office/drawing/2014/main" id="{83C40B6A-4A4E-401C-9F73-7269F416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exam-question-3">
            <a:extLst xmlns:a="http://schemas.openxmlformats.org/drawingml/2006/main">
              <a:ext uri="{FF2B5EF4-FFF2-40B4-BE49-F238E27FC236}">
                <a16:creationId xmlns:a16="http://schemas.microsoft.com/office/drawing/2014/main" id="{E16A1EF9-E09C-4DCC-81AD-DC57E9FE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artifacts must be versioned for reproducibility?</a:t>
            </a:r>
          </a:p>
        </p:txBody>
      </p:sp>
      <p:sp>
        <p:nvSpPr>
          <p:cNvPr id="12" name="exam-number-4">
            <a:extLst xmlns:a="http://schemas.openxmlformats.org/drawingml/2006/main">
              <a:ext uri="{FF2B5EF4-FFF2-40B4-BE49-F238E27FC236}">
                <a16:creationId xmlns:a16="http://schemas.microsoft.com/office/drawing/2014/main" id="{BB73782F-A389-4549-BFE5-150E832E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exam-question-4">
            <a:extLst xmlns:a="http://schemas.openxmlformats.org/drawingml/2006/main">
              <a:ext uri="{FF2B5EF4-FFF2-40B4-BE49-F238E27FC236}">
                <a16:creationId xmlns:a16="http://schemas.microsoft.com/office/drawing/2014/main" id="{A2C19D64-A0D7-4137-B2C3-2DDFA3ED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does AgentOps add to ordinary service operations?</a:t>
            </a:r>
          </a:p>
        </p:txBody>
      </p:sp>
      <p:sp>
        <p:nvSpPr>
          <p:cNvPr id="14" name="exam-number-5">
            <a:extLst xmlns:a="http://schemas.openxmlformats.org/drawingml/2006/main">
              <a:ext uri="{FF2B5EF4-FFF2-40B4-BE49-F238E27FC236}">
                <a16:creationId xmlns:a16="http://schemas.microsoft.com/office/drawing/2014/main" id="{9EC347DD-60B9-4AAA-901A-0F0FC54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exam-question-5">
            <a:extLst xmlns:a="http://schemas.openxmlformats.org/drawingml/2006/main">
              <a:ext uri="{FF2B5EF4-FFF2-40B4-BE49-F238E27FC236}">
                <a16:creationId xmlns:a16="http://schemas.microsoft.com/office/drawing/2014/main" id="{B951DEFD-BD82-4E4B-A498-665012C4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are coding agents comparatively successful?</a:t>
            </a:r>
          </a:p>
        </p:txBody>
      </p:sp>
      <p:sp>
        <p:nvSpPr>
          <p:cNvPr id="16" name="exam-number-6">
            <a:extLst xmlns:a="http://schemas.openxmlformats.org/drawingml/2006/main">
              <a:ext uri="{FF2B5EF4-FFF2-40B4-BE49-F238E27FC236}">
                <a16:creationId xmlns:a16="http://schemas.microsoft.com/office/drawing/2014/main" id="{AED5DCAC-7841-46E6-A1A4-CB67DF73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7" name="exam-question-6">
            <a:extLst xmlns:a="http://schemas.openxmlformats.org/drawingml/2006/main">
              <a:ext uri="{FF2B5EF4-FFF2-40B4-BE49-F238E27FC236}">
                <a16:creationId xmlns:a16="http://schemas.microsoft.com/office/drawing/2014/main" id="{E766B7CD-68B4-4A3E-8A81-FA4665D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evidence and ownership must accompany a successful agent demonstration?</a:t>
            </a:r>
          </a:p>
        </p:txBody>
      </p:sp>
    </p:spTree>
    <p:extLst>
      <p:ext uri="{BB962C8B-B14F-4D97-AF65-F5344CB8AC3E}">
        <p14:creationId xmlns:p14="http://schemas.microsoft.com/office/powerpoint/2010/main" val="12461514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720BABF5-6BE9-45B0-B5CA-03E2040F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2973177-69F2-4918-B8B7-BA825F9C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CHAPTER SYNTHESIS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F2CE71-AFDA-4639-A4CE-2522794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71183488-666D-4E88-B24F-18915BC4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F9CAB6A-E524-4FD2-8534-4B87E495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477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must remain after the details fade</a:t>
            </a:r>
          </a:p>
        </p:txBody>
      </p:sp>
      <p:sp>
        <p:nvSpPr>
          <p:cNvPr id="6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7686C343-24E2-4995-B6E7-5AEB4E97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akeaway-1">
            <a:extLst xmlns:a="http://schemas.openxmlformats.org/drawingml/2006/main">
              <a:ext uri="{FF2B5EF4-FFF2-40B4-BE49-F238E27FC236}">
                <a16:creationId xmlns:a16="http://schemas.microsoft.com/office/drawing/2014/main" id="{6600AF1C-8863-4972-8BFE-47EBF354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Production is disciplined engineering around the model.</a:t>
            </a:r>
          </a:p>
        </p:txBody>
      </p:sp>
      <p:sp>
        <p:nvSpPr>
          <p:cNvPr id="8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668DE000-DC9A-4BF0-8406-54E09F3A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akeaway-2">
            <a:extLst xmlns:a="http://schemas.openxmlformats.org/drawingml/2006/main">
              <a:ext uri="{FF2B5EF4-FFF2-40B4-BE49-F238E27FC236}">
                <a16:creationId xmlns:a16="http://schemas.microsoft.com/office/drawing/2014/main" id="{574C45B2-0C83-4C34-8FE2-38157A0E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Routing, caching, bounds, and parallelism control cost and latency.</a:t>
            </a:r>
          </a:p>
        </p:txBody>
      </p:sp>
      <p:sp>
        <p:nvSpPr>
          <p:cNvPr id="10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FC939589-011C-4536-8B6C-7B840918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862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akeaway-3">
            <a:extLst xmlns:a="http://schemas.openxmlformats.org/drawingml/2006/main">
              <a:ext uri="{FF2B5EF4-FFF2-40B4-BE49-F238E27FC236}">
                <a16:creationId xmlns:a16="http://schemas.microsoft.com/office/drawing/2014/main" id="{5F272B83-899C-4BD2-91AF-E41EFE9A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7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AgentOps versions, evaluates, traces, guards, and rolls back the whole system.</a:t>
            </a:r>
          </a:p>
        </p:txBody>
      </p:sp>
      <p:sp>
        <p:nvSpPr>
          <p:cNvPr id="12" name="takeaway-number-4">
            <a:extLst xmlns:a="http://schemas.openxmlformats.org/drawingml/2006/main">
              <a:ext uri="{FF2B5EF4-FFF2-40B4-BE49-F238E27FC236}">
                <a16:creationId xmlns:a16="http://schemas.microsoft.com/office/drawing/2014/main" id="{C9B4CF31-38AB-4E4C-B897-0470BCB0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625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A1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takeaway-4">
            <a:extLst xmlns:a="http://schemas.openxmlformats.org/drawingml/2006/main">
              <a:ext uri="{FF2B5EF4-FFF2-40B4-BE49-F238E27FC236}">
                <a16:creationId xmlns:a16="http://schemas.microsoft.com/office/drawing/2014/main" id="{78F46F96-1C07-4A49-8E21-5985BD6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434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Frontier capability does not remove reliability, security, or accountability limits.</a:t>
            </a:r>
          </a:p>
        </p:txBody>
      </p:sp>
    </p:spTree>
    <p:extLst>
      <p:ext uri="{BB962C8B-B14F-4D97-AF65-F5344CB8AC3E}">
        <p14:creationId xmlns:p14="http://schemas.microsoft.com/office/powerpoint/2010/main" val="9018562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CFB010C-02D4-4550-B233-FB81C599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1FF"/>
          </a:solidFill>
          <a:ln xmlns:a="http://schemas.openxmlformats.org/drawingml/2006/main" w="0">
            <a:solidFill>
              <a:srgbClr val="C4A1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C31A9C1-7FBB-4B55-951E-35A4A006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PRACTICE AND READING  /  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000EAE-2B96-4F0E-8EB5-5748DD3B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3EA448F6-CB8E-49DB-A7D0-B8121572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Production, Economics, and the Frontier</a:t>
            </a:r>
          </a:p>
        </p:txBody>
      </p:sp>
      <p:sp>
        <p:nvSpPr>
          <p:cNvPr id="5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6C4D9359-1CDB-4093-9ACE-3DA4E237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 to submit</a:t>
            </a:r>
          </a:p>
        </p:txBody>
      </p:sp>
      <p:sp>
        <p:nvSpPr>
          <p:cNvPr id="6" name="practice-task">
            <a:extLst xmlns:a="http://schemas.openxmlformats.org/drawingml/2006/main">
              <a:ext uri="{FF2B5EF4-FFF2-40B4-BE49-F238E27FC236}">
                <a16:creationId xmlns:a16="http://schemas.microsoft.com/office/drawing/2014/main" id="{7E518C78-4751-4DC7-B880-FEBDC4C5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Submit the capstone bundle: baseline, bounded agent, held-out evaluation, negative tests, and an operating note. Include a reproducible command and a maintenance owner.</a:t>
            </a:r>
          </a:p>
        </p:txBody>
      </p:sp>
      <p:sp>
        <p:nvSpPr>
          <p:cNvPr id="7" name="practice-check">
            <a:extLst xmlns:a="http://schemas.openxmlformats.org/drawingml/2006/main">
              <a:ext uri="{FF2B5EF4-FFF2-40B4-BE49-F238E27FC236}">
                <a16:creationId xmlns:a16="http://schemas.microsoft.com/office/drawing/2014/main" id="{753406A9-8392-4B83-9F32-87EE22A8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8137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reviewer can rerun the bundle in a fresh environment and trace each conclusion to saved evidence. Follow teaching/CAPSTONE.md for the rubric.</a:t>
            </a:r>
          </a:p>
        </p:txBody>
      </p:sp>
      <p:sp>
        <p:nvSpPr>
          <p:cNvPr id="8" name="practice-readings">
            <a:extLst xmlns:a="http://schemas.openxmlformats.org/drawingml/2006/main">
              <a:ext uri="{FF2B5EF4-FFF2-40B4-BE49-F238E27FC236}">
                <a16:creationId xmlns:a16="http://schemas.microsoft.com/office/drawing/2014/main" id="{0E63EB62-03A2-4D7A-9712-E00C1322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P2  Scientific computing in the age of agentic AI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R3  Research acceleration: The view inside OpenAI</a:t>
            </a:r>
          </a:p>
        </p:txBody>
      </p:sp>
      <p:sp>
        <p:nvSpPr>
          <p:cNvPr id="9" name="practice-lab">
            <a:extLst xmlns:a="http://schemas.openxmlformats.org/drawingml/2006/main">
              <a:ext uri="{FF2B5EF4-FFF2-40B4-BE49-F238E27FC236}">
                <a16:creationId xmlns:a16="http://schemas.microsoft.com/office/drawing/2014/main" id="{863D780F-97AC-4BA4-B914-9AA9BA38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578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labs/08_langgraph_approval_security.ipynb</a:t>
            </a:r>
          </a:p>
        </p:txBody>
      </p:sp>
    </p:spTree>
    <p:extLst>
      <p:ext uri="{BB962C8B-B14F-4D97-AF65-F5344CB8AC3E}">
        <p14:creationId xmlns:p14="http://schemas.microsoft.com/office/powerpoint/2010/main" val="1874698527"/>
      </p:ext>
    </p:extLst>
  </p:cSld>
</p:sld>
</file>

<file path=ppt/theme/theme1.xml><?xml version="1.0" encoding="utf-8"?>
<a:theme xmlns:a="http://schemas.openxmlformats.org/drawingml/2006/main" name="Course">
  <a:themeElements>
    <a:clrScheme name="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13-production-frontier</dc:title>
  <dcterms:created xsi:type="dcterms:W3CDTF">2026-09-09T16:56:57.1860000Z</dcterms:created>
  <dcterms:modified xsi:type="dcterms:W3CDTF">2026-09-09T16:56:57.1860000Z</dcterms:modified>
</coreProperties>
</file>