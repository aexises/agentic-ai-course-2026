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cd4cc382f7949d6" /><Relationship Type="http://schemas.openxmlformats.org/officeDocument/2006/relationships/extended-properties" Target="/docProps/app.xml" Id="R35c23f36fc924216" /><Relationship Type="http://schemas.openxmlformats.org/officeDocument/2006/relationships/officeDocument" Target="/ppt/presentation.xml" Id="Rfaeccaf5b37a47b0" /></Relationships>
</file>

<file path=ppt/presentation.xml><?xml version="1.0" encoding="utf-8"?>
<p:presentation xmlns:p="http://schemas.openxmlformats.org/presentationml/2006/main">
  <p:sldMasterIdLst>
    <p:sldMasterId xmlns:r="http://schemas.openxmlformats.org/officeDocument/2006/relationships" id="2147483648" r:id="R511216f2c2584bb9"/>
  </p:sldMasterIdLst>
  <p:notesMasterIdLst>
    <p:notesMasterId xmlns:r="http://schemas.openxmlformats.org/officeDocument/2006/relationships" r:id="R17daa54aaf444e71"/>
  </p:notesMasterIdLst>
  <p:sldIdLst>
    <p:sldId xmlns:r="http://schemas.openxmlformats.org/officeDocument/2006/relationships" id="256" r:id="Re9ce666b80d64331"/>
    <p:sldId xmlns:r="http://schemas.openxmlformats.org/officeDocument/2006/relationships" id="257" r:id="R0f877f8a8457412c"/>
    <p:sldId xmlns:r="http://schemas.openxmlformats.org/officeDocument/2006/relationships" id="258" r:id="R28473be19731411e"/>
    <p:sldId xmlns:r="http://schemas.openxmlformats.org/officeDocument/2006/relationships" id="259" r:id="R9878af7eb1c04ea9"/>
    <p:sldId xmlns:r="http://schemas.openxmlformats.org/officeDocument/2006/relationships" id="260" r:id="Rcd16890a6e33451f"/>
    <p:sldId xmlns:r="http://schemas.openxmlformats.org/officeDocument/2006/relationships" id="261" r:id="R10e2362e22094e01"/>
    <p:sldId xmlns:r="http://schemas.openxmlformats.org/officeDocument/2006/relationships" id="262" r:id="Rc2325ee617724111"/>
    <p:sldId xmlns:r="http://schemas.openxmlformats.org/officeDocument/2006/relationships" id="263" r:id="Rb0fb7f91aa4a40ad"/>
    <p:sldId xmlns:r="http://schemas.openxmlformats.org/officeDocument/2006/relationships" id="264" r:id="Rf9a6df7b3d7d46fa"/>
    <p:sldId xmlns:r="http://schemas.openxmlformats.org/officeDocument/2006/relationships" id="265" r:id="R68ca6db8e34c4c00"/>
    <p:sldId xmlns:r="http://schemas.openxmlformats.org/officeDocument/2006/relationships" id="266" r:id="R5cab8715cc4b424d"/>
    <p:sldId xmlns:r="http://schemas.openxmlformats.org/officeDocument/2006/relationships" id="267" r:id="R15ec98ef5b454e6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eae1a16eb0144c6" /><Relationship Type="http://schemas.openxmlformats.org/officeDocument/2006/relationships/slideMaster" Target="/ppt/slideMasters/slideMaster1.xml" Id="R511216f2c2584bb9" /><Relationship Type="http://schemas.openxmlformats.org/officeDocument/2006/relationships/notesMaster" Target="/ppt/notesMasters/notesMaster1.xml" Id="R17daa54aaf444e71" /><Relationship Type="http://schemas.openxmlformats.org/officeDocument/2006/relationships/presProps" Target="/ppt/presProps.xml" Id="R738b937800b04773" /><Relationship Type="http://schemas.openxmlformats.org/officeDocument/2006/relationships/tableStyles" Target="/ppt/tableStyles.xml" Id="Rd91ab523acb943b3" /><Relationship Type="http://schemas.openxmlformats.org/officeDocument/2006/relationships/slide" Target="/ppt/slides/slide1.xml" Id="Re9ce666b80d64331" /><Relationship Type="http://schemas.openxmlformats.org/officeDocument/2006/relationships/slide" Target="/ppt/slides/slide2.xml" Id="R0f877f8a8457412c" /><Relationship Type="http://schemas.openxmlformats.org/officeDocument/2006/relationships/slide" Target="/ppt/slides/slide3.xml" Id="R28473be19731411e" /><Relationship Type="http://schemas.openxmlformats.org/officeDocument/2006/relationships/slide" Target="/ppt/slides/slide4.xml" Id="R9878af7eb1c04ea9" /><Relationship Type="http://schemas.openxmlformats.org/officeDocument/2006/relationships/slide" Target="/ppt/slides/slide5.xml" Id="Rcd16890a6e33451f" /><Relationship Type="http://schemas.openxmlformats.org/officeDocument/2006/relationships/slide" Target="/ppt/slides/slide6.xml" Id="R10e2362e22094e01" /><Relationship Type="http://schemas.openxmlformats.org/officeDocument/2006/relationships/slide" Target="/ppt/slides/slide7.xml" Id="Rc2325ee617724111" /><Relationship Type="http://schemas.openxmlformats.org/officeDocument/2006/relationships/slide" Target="/ppt/slides/slide8.xml" Id="Rb0fb7f91aa4a40ad" /><Relationship Type="http://schemas.openxmlformats.org/officeDocument/2006/relationships/slide" Target="/ppt/slides/slide9.xml" Id="Rf9a6df7b3d7d46fa" /><Relationship Type="http://schemas.openxmlformats.org/officeDocument/2006/relationships/slide" Target="/ppt/slides/slide10.xml" Id="R68ca6db8e34c4c00" /><Relationship Type="http://schemas.openxmlformats.org/officeDocument/2006/relationships/slide" Target="/ppt/slides/slide11.xml" Id="R5cab8715cc4b424d" /><Relationship Type="http://schemas.openxmlformats.org/officeDocument/2006/relationships/slide" Target="/ppt/slides/slide12.xml" Id="R15ec98ef5b454e6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9e810f879c1468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659b600d75c48cc" /><Relationship Type="http://schemas.openxmlformats.org/officeDocument/2006/relationships/notesMaster" Target="/ppt/notesMasters/notesMaster1.xml" Id="R0225a9ada998464d" /></Relationships>
</file>

<file path=ppt/notesSlides/_rels/notesSlide2.xml.rels>&#65279;<?xml version="1.0" encoding="utf-8"?><Relationships xmlns="http://schemas.openxmlformats.org/package/2006/relationships"><Relationship Type="http://schemas.openxmlformats.org/officeDocument/2006/relationships/slide" Target="/ppt/slides/slide2.xml" Id="Rbf9583a0fccb409d" /><Relationship Type="http://schemas.openxmlformats.org/officeDocument/2006/relationships/notesMaster" Target="/ppt/notesMasters/notesMaster1.xml" Id="R8142f919052741d6" /></Relationships>
</file>

<file path=ppt/notesSlides/_rels/notesSlide3.xml.rels>&#65279;<?xml version="1.0" encoding="utf-8"?><Relationships xmlns="http://schemas.openxmlformats.org/package/2006/relationships"><Relationship Type="http://schemas.openxmlformats.org/officeDocument/2006/relationships/slide" Target="/ppt/slides/slide3.xml" Id="Rbce6a8c01b9a4119" /><Relationship Type="http://schemas.openxmlformats.org/officeDocument/2006/relationships/notesMaster" Target="/ppt/notesMasters/notesMaster1.xml" Id="Racc089f464fb4528" /></Relationships>
</file>

<file path=ppt/notesSlides/_rels/notesSlide4.xml.rels>&#65279;<?xml version="1.0" encoding="utf-8"?><Relationships xmlns="http://schemas.openxmlformats.org/package/2006/relationships"><Relationship Type="http://schemas.openxmlformats.org/officeDocument/2006/relationships/slide" Target="/ppt/slides/slide4.xml" Id="Rf1984e55d96d4574" /><Relationship Type="http://schemas.openxmlformats.org/officeDocument/2006/relationships/notesMaster" Target="/ppt/notesMasters/notesMaster1.xml" Id="Re7e9d96ebde74dce" /></Relationships>
</file>

<file path=ppt/notesSlides/_rels/notesSlide5.xml.rels>&#65279;<?xml version="1.0" encoding="utf-8"?><Relationships xmlns="http://schemas.openxmlformats.org/package/2006/relationships"><Relationship Type="http://schemas.openxmlformats.org/officeDocument/2006/relationships/slide" Target="/ppt/slides/slide5.xml" Id="Re14e3e2c969c4e5d" /><Relationship Type="http://schemas.openxmlformats.org/officeDocument/2006/relationships/notesMaster" Target="/ppt/notesMasters/notesMaster1.xml" Id="R9d2b06c1111a4324" /></Relationships>
</file>

<file path=ppt/notesSlides/_rels/notesSlide6.xml.rels>&#65279;<?xml version="1.0" encoding="utf-8"?><Relationships xmlns="http://schemas.openxmlformats.org/package/2006/relationships"><Relationship Type="http://schemas.openxmlformats.org/officeDocument/2006/relationships/slide" Target="/ppt/slides/slide6.xml" Id="R6a192142e0fa48c1" /><Relationship Type="http://schemas.openxmlformats.org/officeDocument/2006/relationships/notesMaster" Target="/ppt/notesMasters/notesMaster1.xml" Id="Ra13c55b8503b46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379c0680bb6c4e38" /><Relationship Type="http://schemas.openxmlformats.org/officeDocument/2006/relationships/notesMaster" Target="/ppt/notesMasters/notesMaster1.xml" Id="R2b24ef8819d6408f" /></Relationships>
</file>

<file path=ppt/notesSlides/_rels/notesSlide8.xml.rels>&#65279;<?xml version="1.0" encoding="utf-8"?><Relationships xmlns="http://schemas.openxmlformats.org/package/2006/relationships"><Relationship Type="http://schemas.openxmlformats.org/officeDocument/2006/relationships/slide" Target="/ppt/slides/slide8.xml" Id="R9dfb50c7b49a4920" /><Relationship Type="http://schemas.openxmlformats.org/officeDocument/2006/relationships/notesMaster" Target="/ppt/notesMasters/notesMaster1.xml" Id="Rec9efd3fbb964028" /></Relationships>
</file>

<file path=ppt/notesSlides/_rels/notesSlide9.xml.rels>&#65279;<?xml version="1.0" encoding="utf-8"?><Relationships xmlns="http://schemas.openxmlformats.org/package/2006/relationships"><Relationship Type="http://schemas.openxmlformats.org/officeDocument/2006/relationships/slide" Target="/ppt/slides/slide9.xml" Id="R572bfc75eaa94f7f" /><Relationship Type="http://schemas.openxmlformats.org/officeDocument/2006/relationships/notesMaster" Target="/ppt/notesMasters/notesMaster1.xml" Id="Rafdee141cb53409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5fd6725a6fd4703" /><Relationship Type="http://schemas.openxmlformats.org/officeDocument/2006/relationships/notesMaster" Target="/ppt/notesMasters/notesMaster1.xml" Id="Rf782b29c32e646d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4431728c067421c" /><Relationship Type="http://schemas.openxmlformats.org/officeDocument/2006/relationships/notesMaster" Target="/ppt/notesMasters/notesMaster1.xml" Id="Ra525bfefd3804ed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4020dbc41df4822" /><Relationship Type="http://schemas.openxmlformats.org/officeDocument/2006/relationships/notesMaster" Target="/ppt/notesMasters/notesMaster1.xml" Id="R6933538b40b14e4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chapter thesis and connect it to the previous chapter.</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04-design-patterns.pdf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a:r>
          </a:p>
          <a:p xmlns:a="http://schemas.openxmlformats.org/drawingml/2006/main">
            <a:r>
              <a:t>[Assessed practice]</a:t>
            </a:r>
          </a:p>
          <a:p xmlns:a="http://schemas.openxmlformats.org/drawingml/2006/main">
            <a:r>
              <a:t>Compare a single catalog agent with an objective evidence check. Specify when an LLM reviewer would add information that the objective check lacks.</a:t>
            </a:r>
          </a:p>
          <a:p xmlns:a="http://schemas.openxmlformats.org/drawingml/2006/main">
            <a:r>
              <a:t>Acceptance: Include a case where review adds no value and one where it changes an incorrect proposal. Count all calls in the live variant.</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objectives as an advance organizer and as a checklist after the deck.</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04-design-patterns.pdf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a:r>
          </a:p>
          <a:p xmlns:a="http://schemas.openxmlformats.org/drawingml/2006/main">
            <a:r>
              <a:t>[Assessed practice]</a:t>
            </a:r>
          </a:p>
          <a:p xmlns:a="http://schemas.openxmlformats.org/drawingml/2006/main">
            <a:r>
              <a:t>Compare a single catalog agent with an objective evidence check. Specify when an LLM reviewer would add information that the objective check lacks.</a:t>
            </a:r>
          </a:p>
          <a:p xmlns:a="http://schemas.openxmlformats.org/drawingml/2006/main">
            <a:r>
              <a:t>Acceptance: Include a case where review adds no value and one where it changes an incorrect proposal. Count all calls in the live variant.</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04-design-patterns.pdf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a:r>
          </a:p>
          <a:p xmlns:a="http://schemas.openxmlformats.org/drawingml/2006/main">
            <a:r>
              <a:t>[Assessed practice]</a:t>
            </a:r>
          </a:p>
          <a:p xmlns:a="http://schemas.openxmlformats.org/drawingml/2006/main">
            <a:r>
              <a:t>Compare a single catalog agent with an objective evidence check. Specify when an LLM reviewer would add information that the objective check lacks.</a:t>
            </a:r>
          </a:p>
          <a:p xmlns:a="http://schemas.openxmlformats.org/drawingml/2006/main">
            <a:r>
              <a:t>Acceptance: Include a case where review adds no value and one where it changes an incorrect proposal. Count all calls in the live variant.</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04-design-patterns.pdf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a:r>
          </a:p>
          <a:p xmlns:a="http://schemas.openxmlformats.org/drawingml/2006/main">
            <a:r>
              <a:t>[Assessed practice]</a:t>
            </a:r>
          </a:p>
          <a:p xmlns:a="http://schemas.openxmlformats.org/drawingml/2006/main">
            <a:r>
              <a:t>Compare a single catalog agent with an objective evidence check. Specify when an LLM reviewer would add information that the objective check lacks.</a:t>
            </a:r>
          </a:p>
          <a:p xmlns:a="http://schemas.openxmlformats.org/drawingml/2006/main">
            <a:r>
              <a:t>Acceptance: Include a case where review adds no value and one where it changes an incorrect proposal. Count all calls in the live variant.</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04-design-patterns.pdf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a:r>
          </a:p>
          <a:p xmlns:a="http://schemas.openxmlformats.org/drawingml/2006/main">
            <a:r>
              <a:t>[Assessed practice]</a:t>
            </a:r>
          </a:p>
          <a:p xmlns:a="http://schemas.openxmlformats.org/drawingml/2006/main">
            <a:r>
              <a:t>Compare a single catalog agent with an objective evidence check. Specify when an LLM reviewer would add information that the objective check lacks.</a:t>
            </a:r>
          </a:p>
          <a:p xmlns:a="http://schemas.openxmlformats.org/drawingml/2006/main">
            <a:r>
              <a:t>Acceptance: Include a case where review adds no value and one where it changes an incorrect proposal. Count all calls in the live variant.</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04-design-patterns.pdf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a:r>
          </a:p>
          <a:p xmlns:a="http://schemas.openxmlformats.org/drawingml/2006/main">
            <a:r>
              <a:t>[Assessed practice]</a:t>
            </a:r>
          </a:p>
          <a:p xmlns:a="http://schemas.openxmlformats.org/drawingml/2006/main">
            <a:r>
              <a:t>Compare a single catalog agent with an objective evidence check. Specify when an LLM reviewer would add information that the objective check lacks.</a:t>
            </a:r>
          </a:p>
          <a:p xmlns:a="http://schemas.openxmlformats.org/drawingml/2006/main">
            <a:r>
              <a:t>Acceptance: Include a case where review adds no value and one where it changes an incorrect proposal. Count all calls in the live variant.</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04-design-patterns.pdf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a:r>
          </a:p>
          <a:p xmlns:a="http://schemas.openxmlformats.org/drawingml/2006/main">
            <a:r>
              <a:t>[Assessed practice]</a:t>
            </a:r>
          </a:p>
          <a:p xmlns:a="http://schemas.openxmlformats.org/drawingml/2006/main">
            <a:r>
              <a:t>Compare a single catalog agent with an objective evidence check. Specify when an LLM reviewer would add information that the objective check lacks.</a:t>
            </a:r>
          </a:p>
          <a:p xmlns:a="http://schemas.openxmlformats.org/drawingml/2006/main">
            <a:r>
              <a:t>Acceptance: Include a case where review adds no value and one where it changes an incorrect proposal. Count all calls in the live variant.</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04-design-patterns.pdf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a:r>
          </a:p>
          <a:p xmlns:a="http://schemas.openxmlformats.org/drawingml/2006/main">
            <a:r>
              <a:t>[Assessed practice]</a:t>
            </a:r>
          </a:p>
          <a:p xmlns:a="http://schemas.openxmlformats.org/drawingml/2006/main">
            <a:r>
              <a:t>Compare a single catalog agent with an objective evidence check. Specify when an LLM reviewer would add information that the objective check lacks.</a:t>
            </a:r>
          </a:p>
          <a:p xmlns:a="http://schemas.openxmlformats.org/drawingml/2006/main">
            <a:r>
              <a:t>Acceptance: Include a case where review adds no value and one where it changes an incorrect proposal. Count all calls in the live variant.</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04-design-patterns.pdf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a:r>
          </a:p>
          <a:p xmlns:a="http://schemas.openxmlformats.org/drawingml/2006/main">
            <a:r>
              <a:t>[Assessed practice]</a:t>
            </a:r>
          </a:p>
          <a:p xmlns:a="http://schemas.openxmlformats.org/drawingml/2006/main">
            <a:r>
              <a:t>Compare a single catalog agent with an objective evidence check. Specify when an LLM reviewer would add information that the objective check lacks.</a:t>
            </a:r>
          </a:p>
          <a:p xmlns:a="http://schemas.openxmlformats.org/drawingml/2006/main">
            <a:r>
              <a:t>Acceptance: Include a case where review adds no value and one where it changes an incorrect proposal. Count all calls in the live variant.</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as retrieval practice. Ask for an answer that defines, compares, traces, and evaluates.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04-design-patterns.pdf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a:r>
          </a:p>
          <a:p xmlns:a="http://schemas.openxmlformats.org/drawingml/2006/main">
            <a:r>
              <a:t>[Assessed practice]</a:t>
            </a:r>
          </a:p>
          <a:p xmlns:a="http://schemas.openxmlformats.org/drawingml/2006/main">
            <a:r>
              <a:t>Compare a single catalog agent with an objective evidence check. Specify when an LLM reviewer would add information that the objective check lacks.</a:t>
            </a:r>
          </a:p>
          <a:p xmlns:a="http://schemas.openxmlformats.org/drawingml/2006/main">
            <a:r>
              <a:t>Acceptance: Include a case where review adds no value and one where it changes an incorrect proposal. Count all calls in the live variant.</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restating the four durable ideas and linking forward to the next chapter.</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04-design-patterns.pdf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a:r>
          </a:p>
          <a:p xmlns:a="http://schemas.openxmlformats.org/drawingml/2006/main">
            <a:r>
              <a:t>[Assessed practice]</a:t>
            </a:r>
          </a:p>
          <a:p xmlns:a="http://schemas.openxmlformats.org/drawingml/2006/main">
            <a:r>
              <a:t>Compare a single catalog agent with an objective evidence check. Specify when an LLM reviewer would add information that the objective check lacks.</a:t>
            </a:r>
          </a:p>
          <a:p xmlns:a="http://schemas.openxmlformats.org/drawingml/2006/main">
            <a:r>
              <a:t>Acceptance: Include a case where review adds no value and one where it changes an incorrect proposal. Count all calls in the live variant.</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Assess the submitted evidence with the stated acceptance check. Reading links and limitations follow.</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04-design-patterns.pdf</a:t>
            </a:r>
          </a:p>
          <a:p xmlns:a="http://schemas.openxmlformats.org/drawingml/2006/main">
            <a:r>
              <a:t>- R1: Patterns and problems in emerging multiagent systems. Anthropic research post, 2026-08-13. https://www.anthropic.com/research/multiagent-systems Controlled coordination experiments. Compare scope and budgets before interpreting the findings.</a:t>
            </a:r>
          </a:p>
          <a:p xmlns:a="http://schemas.openxmlformats.org/drawingml/2006/main">
            <a:r>
              <a:t/>
            </a:r>
          </a:p>
          <a:p xmlns:a="http://schemas.openxmlformats.org/drawingml/2006/main">
            <a:r>
              <a:t>[Assessed practice]</a:t>
            </a:r>
          </a:p>
          <a:p xmlns:a="http://schemas.openxmlformats.org/drawingml/2006/main">
            <a:r>
              <a:t>Compare a single catalog agent with an objective evidence check. Specify when an LLM reviewer would add information that the objective check lacks.</a:t>
            </a:r>
          </a:p>
          <a:p xmlns:a="http://schemas.openxmlformats.org/drawingml/2006/main">
            <a:r>
              <a:t>Acceptance: Include a case where review adds no value and one where it changes an incorrect proposal. Count all calls in the live variant.</a:t>
            </a:r>
          </a:p>
          <a:p xmlns:a="http://schemas.openxmlformats.org/drawingml/2006/main">
            <a:r>
              <a:t>Lab: labs/07_agents_sdk_evaluation.ipynb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7842133710f40c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e712cba494e4004" /><Relationship Type="http://schemas.openxmlformats.org/officeDocument/2006/relationships/slideLayout" Target="/ppt/slideLayouts/slideLayout1.xml" Id="R904c46fee051460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04c46fee051460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93f3b3fc5a24117" /><Relationship Type="http://schemas.openxmlformats.org/officeDocument/2006/relationships/notesSlide" Target="/ppt/notesSlides/notesSlide1.xml" Id="Raba5facc12ac43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495e607820a490c" /><Relationship Type="http://schemas.openxmlformats.org/officeDocument/2006/relationships/notesSlide" Target="/ppt/notesSlides/notesSlide2.xml" Id="Rc5c938716ff34a3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b87e10802224069" /><Relationship Type="http://schemas.openxmlformats.org/officeDocument/2006/relationships/notesSlide" Target="/ppt/notesSlides/notesSlide3.xml" Id="R05a8e77335f6464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6a31d2961a64b45" /><Relationship Type="http://schemas.openxmlformats.org/officeDocument/2006/relationships/notesSlide" Target="/ppt/notesSlides/notesSlide4.xml" Id="R6d0471b658a04ed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0f933808b1f4284" /><Relationship Type="http://schemas.openxmlformats.org/officeDocument/2006/relationships/notesSlide" Target="/ppt/notesSlides/notesSlide5.xml" Id="Rdffae68be37c491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0d9a11797d9444e" /><Relationship Type="http://schemas.openxmlformats.org/officeDocument/2006/relationships/notesSlide" Target="/ppt/notesSlides/notesSlide6.xml" Id="R6ca995cb20204a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9ebf75955c4414e" /><Relationship Type="http://schemas.openxmlformats.org/officeDocument/2006/relationships/notesSlide" Target="/ppt/notesSlides/notesSlide7.xml" Id="R0bea1c4d84a84f6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de2ecbe9f844596" /><Relationship Type="http://schemas.openxmlformats.org/officeDocument/2006/relationships/notesSlide" Target="/ppt/notesSlides/notesSlide8.xml" Id="Reacf7f7de89d48f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9854715f08644d1" /><Relationship Type="http://schemas.openxmlformats.org/officeDocument/2006/relationships/notesSlide" Target="/ppt/notesSlides/notesSlide9.xml" Id="R2477b1f1108746a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58f39b3efb2416c" /><Relationship Type="http://schemas.openxmlformats.org/officeDocument/2006/relationships/notesSlide" Target="/ppt/notesSlides/notesSlide10.xml" Id="R6c01145b4adb45c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06df14d19284ffd" /><Relationship Type="http://schemas.openxmlformats.org/officeDocument/2006/relationships/notesSlide" Target="/ppt/notesSlides/notesSlide11.xml" Id="Rb3278af9a3c347b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1d0cea498f74ce5" /><Relationship Type="http://schemas.openxmlformats.org/officeDocument/2006/relationships/notesSlide" Target="/ppt/notesSlides/notesSlide12.xml" Id="Rd0d09c83e867412c" /></Relationships>
</file>

<file path=ppt/slides/slide1.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8" name="title-accent">
            <a:extLst xmlns:a="http://schemas.openxmlformats.org/drawingml/2006/main">
              <a:ext uri="{FF2B5EF4-FFF2-40B4-BE49-F238E27FC236}">
                <a16:creationId xmlns:a16="http://schemas.microsoft.com/office/drawing/2014/main" id="{4629714D-88DD-467F-9B10-6EEB3CEA1CE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ourse-title">
            <a:extLst xmlns:a="http://schemas.openxmlformats.org/drawingml/2006/main">
              <a:ext uri="{FF2B5EF4-FFF2-40B4-BE49-F238E27FC236}">
                <a16:creationId xmlns:a16="http://schemas.microsoft.com/office/drawing/2014/main" id="{4784E2E5-426A-4658-B681-D61A404F1D84}"/>
              </a:ext>
            </a:extLst>
          </p:cNvPr>
          <p:cNvSpPr>
            <a:spLocks xmlns:a="http://schemas.openxmlformats.org/drawingml/2006/main" noGrp="1"/>
          </p:cNvSpPr>
          <p:nvPr/>
        </p:nvSpPr>
        <p:spPr>
          <a:xfrm xmlns:a="http://schemas.openxmlformats.org/drawingml/2006/main">
            <a:off x="400050" y="400050"/>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650" b="1">
                <a:solidFill>
                  <a:srgbClr val="5B5B57"/>
                </a:solidFill>
                <a:latin typeface="Helvetica Neue"/>
                <a:ea typeface="Helvetica Neue"/>
                <a:cs typeface="Helvetica Neue"/>
              </a:defRPr>
            </a:pPr>
            <a:r>
              <a:rPr sz="1650" b="1">
                <a:solidFill>
                  <a:srgbClr val="5B5B57"/>
                </a:solidFill>
                <a:latin typeface="Helvetica Neue"/>
                <a:ea typeface="Helvetica Neue"/>
                <a:cs typeface="Helvetica Neue"/>
              </a:rPr>
              <a:t>AGENTIC AI</a:t>
            </a:r>
          </a:p>
        </p:txBody>
      </p:sp>
      <p:sp>
        <p:nvSpPr>
          <p:cNvPr id="3" name="chapter-number">
            <a:extLst xmlns:a="http://schemas.openxmlformats.org/drawingml/2006/main">
              <a:ext uri="{FF2B5EF4-FFF2-40B4-BE49-F238E27FC236}">
                <a16:creationId xmlns:a16="http://schemas.microsoft.com/office/drawing/2014/main" id="{483D3FAE-CE80-45CC-8D51-2314A8DB7D23}"/>
              </a:ext>
            </a:extLst>
          </p:cNvPr>
          <p:cNvSpPr>
            <a:spLocks xmlns:a="http://schemas.openxmlformats.org/drawingml/2006/main" noGrp="1"/>
          </p:cNvSpPr>
          <p:nvPr/>
        </p:nvSpPr>
        <p:spPr>
          <a:xfrm xmlns:a="http://schemas.openxmlformats.org/drawingml/2006/main">
            <a:off x="10096500" y="361950"/>
            <a:ext cx="1676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2400" b="1">
                <a:solidFill>
                  <a:srgbClr val="111111"/>
                </a:solidFill>
                <a:latin typeface="Helvetica Neue"/>
                <a:ea typeface="Helvetica Neue"/>
                <a:cs typeface="Helvetica Neue"/>
              </a:defRPr>
            </a:pPr>
            <a:r>
              <a:rPr sz="2400" b="1">
                <a:solidFill>
                  <a:srgbClr val="111111"/>
                </a:solidFill>
                <a:latin typeface="Helvetica Neue"/>
                <a:ea typeface="Helvetica Neue"/>
                <a:cs typeface="Helvetica Neue"/>
              </a:rPr>
              <a:t>04</a:t>
            </a:r>
          </a:p>
        </p:txBody>
      </p:sp>
      <p:sp>
        <p:nvSpPr>
          <p:cNvPr id="4" name="deck-title">
            <a:extLst xmlns:a="http://schemas.openxmlformats.org/drawingml/2006/main">
              <a:ext uri="{FF2B5EF4-FFF2-40B4-BE49-F238E27FC236}">
                <a16:creationId xmlns:a16="http://schemas.microsoft.com/office/drawing/2014/main" id="{659996D7-E75D-4B36-8F79-A58B3621E446}"/>
              </a:ext>
            </a:extLst>
          </p:cNvPr>
          <p:cNvSpPr>
            <a:spLocks xmlns:a="http://schemas.openxmlformats.org/drawingml/2006/main" noGrp="1"/>
          </p:cNvSpPr>
          <p:nvPr/>
        </p:nvSpPr>
        <p:spPr>
          <a:xfrm xmlns:a="http://schemas.openxmlformats.org/drawingml/2006/main">
            <a:off x="400050" y="1524000"/>
            <a:ext cx="9858375"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b">
            <a:normAutofit fontScale="100000"/>
          </a:bodyPr>
          <a:lstStyle xmlns:a="http://schemas.openxmlformats.org/drawingml/2006/main"/>
          <a:p xmlns:a="http://schemas.openxmlformats.org/drawingml/2006/main">
            <a:pPr algn="l">
              <a:defRPr sz="4800" b="1">
                <a:solidFill>
                  <a:srgbClr val="111111"/>
                </a:solidFill>
                <a:latin typeface="Helvetica Neue"/>
                <a:ea typeface="Helvetica Neue"/>
                <a:cs typeface="Helvetica Neue"/>
              </a:defRPr>
            </a:pPr>
            <a:r>
              <a:rPr sz="4800" b="1">
                <a:solidFill>
                  <a:srgbClr val="111111"/>
                </a:solidFill>
                <a:latin typeface="Helvetica Neue"/>
                <a:ea typeface="Helvetica Neue"/>
                <a:cs typeface="Helvetica Neue"/>
              </a:rPr>
              <a:t>Agentic Design Patterns</a:t>
            </a:r>
          </a:p>
        </p:txBody>
      </p:sp>
      <p:sp>
        <p:nvSpPr>
          <p:cNvPr id="5" name="deck-thesis">
            <a:extLst xmlns:a="http://schemas.openxmlformats.org/drawingml/2006/main">
              <a:ext uri="{FF2B5EF4-FFF2-40B4-BE49-F238E27FC236}">
                <a16:creationId xmlns:a16="http://schemas.microsoft.com/office/drawing/2014/main" id="{43006AF1-6042-4C1C-A7B6-9797E9DA4243}"/>
              </a:ext>
            </a:extLst>
          </p:cNvPr>
          <p:cNvSpPr>
            <a:spLocks xmlns:a="http://schemas.openxmlformats.org/drawingml/2006/main" noGrp="1"/>
          </p:cNvSpPr>
          <p:nvPr/>
        </p:nvSpPr>
        <p:spPr>
          <a:xfrm xmlns:a="http://schemas.openxmlformats.org/drawingml/2006/main">
            <a:off x="400050" y="4610100"/>
            <a:ext cx="852487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025" b="0">
                <a:solidFill>
                  <a:srgbClr val="5B5B57"/>
                </a:solidFill>
                <a:latin typeface="Helvetica Neue"/>
                <a:ea typeface="Helvetica Neue"/>
                <a:cs typeface="Helvetica Neue"/>
              </a:defRPr>
            </a:pPr>
            <a:r>
              <a:rPr sz="2025" b="0">
                <a:solidFill>
                  <a:srgbClr val="5B5B57"/>
                </a:solidFill>
                <a:latin typeface="Helvetica Neue"/>
                <a:ea typeface="Helvetica Neue"/>
                <a:cs typeface="Helvetica Neue"/>
              </a:rPr>
              <a:t>The best architecture keeps control in code when possible and hands decisions to models only where dynamic judgment adds value.</a:t>
            </a:r>
          </a:p>
        </p:txBody>
      </p:sp>
      <p:sp>
        <p:nvSpPr>
          <p:cNvPr id="6" name="title-marker">
            <a:extLst xmlns:a="http://schemas.openxmlformats.org/drawingml/2006/main">
              <a:ext uri="{FF2B5EF4-FFF2-40B4-BE49-F238E27FC236}">
                <a16:creationId xmlns:a16="http://schemas.microsoft.com/office/drawing/2014/main" id="{93027071-C23E-4185-AB27-E6BA56B42802}"/>
              </a:ext>
            </a:extLst>
          </p:cNvPr>
          <p:cNvSpPr>
            <a:spLocks xmlns:a="http://schemas.openxmlformats.org/drawingml/2006/main" noGrp="1"/>
          </p:cNvSpPr>
          <p:nvPr/>
        </p:nvSpPr>
        <p:spPr>
          <a:xfrm xmlns:a="http://schemas.openxmlformats.org/drawingml/2006/main">
            <a:off x="9525000" y="4610100"/>
            <a:ext cx="2266950" cy="11049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7" name="title-marker-text">
            <a:extLst xmlns:a="http://schemas.openxmlformats.org/drawingml/2006/main">
              <a:ext uri="{FF2B5EF4-FFF2-40B4-BE49-F238E27FC236}">
                <a16:creationId xmlns:a16="http://schemas.microsoft.com/office/drawing/2014/main" id="{C3C8815E-D8AA-4B38-92D5-D64E9A72C320}"/>
              </a:ext>
            </a:extLst>
          </p:cNvPr>
          <p:cNvSpPr>
            <a:spLocks xmlns:a="http://schemas.openxmlformats.org/drawingml/2006/main" noGrp="1"/>
          </p:cNvSpPr>
          <p:nvPr/>
        </p:nvSpPr>
        <p:spPr>
          <a:xfrm xmlns:a="http://schemas.openxmlformats.org/drawingml/2006/main">
            <a:off x="9753600" y="4762500"/>
            <a:ext cx="1809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Autofit/>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STUDY</a:t>
            </a:r>
          </a:p>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DECK</a:t>
            </a:r>
          </a:p>
        </p:txBody>
      </p:sp>
    </p:spTree>
    <p:extLst>
      <p:ext uri="{BB962C8B-B14F-4D97-AF65-F5344CB8AC3E}">
        <p14:creationId xmlns:p14="http://schemas.microsoft.com/office/powerpoint/2010/main" val="214117108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accent-line">
            <a:extLst xmlns:a="http://schemas.openxmlformats.org/drawingml/2006/main">
              <a:ext uri="{FF2B5EF4-FFF2-40B4-BE49-F238E27FC236}">
                <a16:creationId xmlns:a16="http://schemas.microsoft.com/office/drawing/2014/main" id="{C990A9E6-9277-46AC-B9DC-089555A88D11}"/>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CABE16D6-44AE-44CF-92D9-B0C0E4F549AF}"/>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LEARNING MAP  /  04</a:t>
            </a:r>
          </a:p>
        </p:txBody>
      </p:sp>
      <p:sp>
        <p:nvSpPr>
          <p:cNvPr id="3" name="slide-number">
            <a:extLst xmlns:a="http://schemas.openxmlformats.org/drawingml/2006/main">
              <a:ext uri="{FF2B5EF4-FFF2-40B4-BE49-F238E27FC236}">
                <a16:creationId xmlns:a16="http://schemas.microsoft.com/office/drawing/2014/main" id="{1C659F4B-E0B5-4A2E-B8BE-AEC9F8CF4137}"/>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02</a:t>
            </a:r>
          </a:p>
        </p:txBody>
      </p:sp>
      <p:sp>
        <p:nvSpPr>
          <p:cNvPr id="4" name="chapter-footer">
            <a:extLst xmlns:a="http://schemas.openxmlformats.org/drawingml/2006/main">
              <a:ext uri="{FF2B5EF4-FFF2-40B4-BE49-F238E27FC236}">
                <a16:creationId xmlns:a16="http://schemas.microsoft.com/office/drawing/2014/main" id="{C36B90AD-3AC2-41E8-A237-F454BD9402EE}"/>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Agentic Design Patterns</a:t>
            </a:r>
          </a:p>
        </p:txBody>
      </p:sp>
      <p:sp>
        <p:nvSpPr>
          <p:cNvPr id="5" name="objectives-title">
            <a:extLst xmlns:a="http://schemas.openxmlformats.org/drawingml/2006/main">
              <a:ext uri="{FF2B5EF4-FFF2-40B4-BE49-F238E27FC236}">
                <a16:creationId xmlns:a16="http://schemas.microsoft.com/office/drawing/2014/main" id="{5ABF56EA-6E58-4D34-BBFC-E8F93B2F3AF5}"/>
              </a:ext>
            </a:extLst>
          </p:cNvPr>
          <p:cNvSpPr>
            <a:spLocks xmlns:a="http://schemas.openxmlformats.org/drawingml/2006/main" noGrp="1"/>
          </p:cNvSpPr>
          <p:nvPr/>
        </p:nvSpPr>
        <p:spPr>
          <a:xfrm xmlns:a="http://schemas.openxmlformats.org/drawingml/2006/main">
            <a:off x="390525" y="99060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By the end, you should be able to...</a:t>
            </a:r>
          </a:p>
        </p:txBody>
      </p:sp>
      <p:sp>
        <p:nvSpPr>
          <p:cNvPr id="6" name="objective-number-1">
            <a:extLst xmlns:a="http://schemas.openxmlformats.org/drawingml/2006/main">
              <a:ext uri="{FF2B5EF4-FFF2-40B4-BE49-F238E27FC236}">
                <a16:creationId xmlns:a16="http://schemas.microsoft.com/office/drawing/2014/main" id="{DFFBED35-1592-4138-BE75-67D31A6871B5}"/>
              </a:ext>
            </a:extLst>
          </p:cNvPr>
          <p:cNvSpPr>
            <a:spLocks xmlns:a="http://schemas.openxmlformats.org/drawingml/2006/main" noGrp="1"/>
          </p:cNvSpPr>
          <p:nvPr/>
        </p:nvSpPr>
        <p:spPr>
          <a:xfrm xmlns:a="http://schemas.openxmlformats.org/drawingml/2006/main">
            <a:off x="390525"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73C8FF"/>
                </a:solidFill>
                <a:latin typeface="Helvetica Neue"/>
                <a:ea typeface="Helvetica Neue"/>
                <a:cs typeface="Helvetica Neue"/>
              </a:defRPr>
            </a:pPr>
            <a:r>
              <a:rPr sz="3450" b="1">
                <a:solidFill>
                  <a:srgbClr val="73C8FF"/>
                </a:solidFill>
                <a:latin typeface="Helvetica Neue"/>
                <a:ea typeface="Helvetica Neue"/>
                <a:cs typeface="Helvetica Neue"/>
              </a:rPr>
              <a:t>01</a:t>
            </a:r>
          </a:p>
        </p:txBody>
      </p:sp>
      <p:sp>
        <p:nvSpPr>
          <p:cNvPr id="7" name="objective-1">
            <a:extLst xmlns:a="http://schemas.openxmlformats.org/drawingml/2006/main">
              <a:ext uri="{FF2B5EF4-FFF2-40B4-BE49-F238E27FC236}">
                <a16:creationId xmlns:a16="http://schemas.microsoft.com/office/drawing/2014/main" id="{3594707B-C760-48D5-9859-A018C5A022F1}"/>
              </a:ext>
            </a:extLst>
          </p:cNvPr>
          <p:cNvSpPr>
            <a:spLocks xmlns:a="http://schemas.openxmlformats.org/drawingml/2006/main" noGrp="1"/>
          </p:cNvSpPr>
          <p:nvPr/>
        </p:nvSpPr>
        <p:spPr>
          <a:xfrm xmlns:a="http://schemas.openxmlformats.org/drawingml/2006/main">
            <a:off x="390525"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Recognize five workflow patterns</a:t>
            </a:r>
          </a:p>
        </p:txBody>
      </p:sp>
      <p:sp>
        <p:nvSpPr>
          <p:cNvPr id="8" name="objective-number-2">
            <a:extLst xmlns:a="http://schemas.openxmlformats.org/drawingml/2006/main">
              <a:ext uri="{FF2B5EF4-FFF2-40B4-BE49-F238E27FC236}">
                <a16:creationId xmlns:a16="http://schemas.microsoft.com/office/drawing/2014/main" id="{7E11DDB0-8289-4A2C-86F3-E78E5DA38188}"/>
              </a:ext>
            </a:extLst>
          </p:cNvPr>
          <p:cNvSpPr>
            <a:spLocks xmlns:a="http://schemas.openxmlformats.org/drawingml/2006/main" noGrp="1"/>
          </p:cNvSpPr>
          <p:nvPr/>
        </p:nvSpPr>
        <p:spPr>
          <a:xfrm xmlns:a="http://schemas.openxmlformats.org/drawingml/2006/main">
            <a:off x="3276600"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73C8FF"/>
                </a:solidFill>
                <a:latin typeface="Helvetica Neue"/>
                <a:ea typeface="Helvetica Neue"/>
                <a:cs typeface="Helvetica Neue"/>
              </a:defRPr>
            </a:pPr>
            <a:r>
              <a:rPr sz="3450" b="1">
                <a:solidFill>
                  <a:srgbClr val="73C8FF"/>
                </a:solidFill>
                <a:latin typeface="Helvetica Neue"/>
                <a:ea typeface="Helvetica Neue"/>
                <a:cs typeface="Helvetica Neue"/>
              </a:rPr>
              <a:t>02</a:t>
            </a:r>
          </a:p>
        </p:txBody>
      </p:sp>
      <p:sp>
        <p:nvSpPr>
          <p:cNvPr id="9" name="objective-2">
            <a:extLst xmlns:a="http://schemas.openxmlformats.org/drawingml/2006/main">
              <a:ext uri="{FF2B5EF4-FFF2-40B4-BE49-F238E27FC236}">
                <a16:creationId xmlns:a16="http://schemas.microsoft.com/office/drawing/2014/main" id="{DE60FB6D-7BA6-4E76-90BB-5D497B41A241}"/>
              </a:ext>
            </a:extLst>
          </p:cNvPr>
          <p:cNvSpPr>
            <a:spLocks xmlns:a="http://schemas.openxmlformats.org/drawingml/2006/main" noGrp="1"/>
          </p:cNvSpPr>
          <p:nvPr/>
        </p:nvSpPr>
        <p:spPr>
          <a:xfrm xmlns:a="http://schemas.openxmlformats.org/drawingml/2006/main">
            <a:off x="3276600"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Compare workflow and agentic control</a:t>
            </a:r>
          </a:p>
        </p:txBody>
      </p:sp>
      <p:sp>
        <p:nvSpPr>
          <p:cNvPr id="10" name="objective-number-3">
            <a:extLst xmlns:a="http://schemas.openxmlformats.org/drawingml/2006/main">
              <a:ext uri="{FF2B5EF4-FFF2-40B4-BE49-F238E27FC236}">
                <a16:creationId xmlns:a16="http://schemas.microsoft.com/office/drawing/2014/main" id="{59AB277A-B7D1-4144-8FEB-DDAC9C31E051}"/>
              </a:ext>
            </a:extLst>
          </p:cNvPr>
          <p:cNvSpPr>
            <a:spLocks xmlns:a="http://schemas.openxmlformats.org/drawingml/2006/main" noGrp="1"/>
          </p:cNvSpPr>
          <p:nvPr/>
        </p:nvSpPr>
        <p:spPr>
          <a:xfrm xmlns:a="http://schemas.openxmlformats.org/drawingml/2006/main">
            <a:off x="6162675"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73C8FF"/>
                </a:solidFill>
                <a:latin typeface="Helvetica Neue"/>
                <a:ea typeface="Helvetica Neue"/>
                <a:cs typeface="Helvetica Neue"/>
              </a:defRPr>
            </a:pPr>
            <a:r>
              <a:rPr sz="3450" b="1">
                <a:solidFill>
                  <a:srgbClr val="73C8FF"/>
                </a:solidFill>
                <a:latin typeface="Helvetica Neue"/>
                <a:ea typeface="Helvetica Neue"/>
                <a:cs typeface="Helvetica Neue"/>
              </a:rPr>
              <a:t>03</a:t>
            </a:r>
          </a:p>
        </p:txBody>
      </p:sp>
      <p:sp>
        <p:nvSpPr>
          <p:cNvPr id="11" name="objective-3">
            <a:extLst xmlns:a="http://schemas.openxmlformats.org/drawingml/2006/main">
              <a:ext uri="{FF2B5EF4-FFF2-40B4-BE49-F238E27FC236}">
                <a16:creationId xmlns:a16="http://schemas.microsoft.com/office/drawing/2014/main" id="{7F28081F-8F8B-4E53-8462-5A7A4AA5447D}"/>
              </a:ext>
            </a:extLst>
          </p:cNvPr>
          <p:cNvSpPr>
            <a:spLocks xmlns:a="http://schemas.openxmlformats.org/drawingml/2006/main" noGrp="1"/>
          </p:cNvSpPr>
          <p:nvPr/>
        </p:nvSpPr>
        <p:spPr>
          <a:xfrm xmlns:a="http://schemas.openxmlformats.org/drawingml/2006/main">
            <a:off x="6162675"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Compose patterns into a system</a:t>
            </a:r>
          </a:p>
        </p:txBody>
      </p:sp>
      <p:sp>
        <p:nvSpPr>
          <p:cNvPr id="12" name="objective-number-4">
            <a:extLst xmlns:a="http://schemas.openxmlformats.org/drawingml/2006/main">
              <a:ext uri="{FF2B5EF4-FFF2-40B4-BE49-F238E27FC236}">
                <a16:creationId xmlns:a16="http://schemas.microsoft.com/office/drawing/2014/main" id="{9838591E-28F1-41A2-BA87-124245CC0598}"/>
              </a:ext>
            </a:extLst>
          </p:cNvPr>
          <p:cNvSpPr>
            <a:spLocks xmlns:a="http://schemas.openxmlformats.org/drawingml/2006/main" noGrp="1"/>
          </p:cNvSpPr>
          <p:nvPr/>
        </p:nvSpPr>
        <p:spPr>
          <a:xfrm xmlns:a="http://schemas.openxmlformats.org/drawingml/2006/main">
            <a:off x="9048750"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73C8FF"/>
                </a:solidFill>
                <a:latin typeface="Helvetica Neue"/>
                <a:ea typeface="Helvetica Neue"/>
                <a:cs typeface="Helvetica Neue"/>
              </a:defRPr>
            </a:pPr>
            <a:r>
              <a:rPr sz="3450" b="1">
                <a:solidFill>
                  <a:srgbClr val="73C8FF"/>
                </a:solidFill>
                <a:latin typeface="Helvetica Neue"/>
                <a:ea typeface="Helvetica Neue"/>
                <a:cs typeface="Helvetica Neue"/>
              </a:rPr>
              <a:t>04</a:t>
            </a:r>
          </a:p>
        </p:txBody>
      </p:sp>
      <p:sp>
        <p:nvSpPr>
          <p:cNvPr id="13" name="objective-4">
            <a:extLst xmlns:a="http://schemas.openxmlformats.org/drawingml/2006/main">
              <a:ext uri="{FF2B5EF4-FFF2-40B4-BE49-F238E27FC236}">
                <a16:creationId xmlns:a16="http://schemas.microsoft.com/office/drawing/2014/main" id="{1AF2DBBB-935F-4625-BA8E-916F131963C7}"/>
              </a:ext>
            </a:extLst>
          </p:cNvPr>
          <p:cNvSpPr>
            <a:spLocks xmlns:a="http://schemas.openxmlformats.org/drawingml/2006/main" noGrp="1"/>
          </p:cNvSpPr>
          <p:nvPr/>
        </p:nvSpPr>
        <p:spPr>
          <a:xfrm xmlns:a="http://schemas.openxmlformats.org/drawingml/2006/main">
            <a:off x="9048750"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Estimate reliability and cost trade-offs</a:t>
            </a:r>
          </a:p>
        </p:txBody>
      </p:sp>
    </p:spTree>
    <p:extLst>
      <p:ext uri="{BB962C8B-B14F-4D97-AF65-F5344CB8AC3E}">
        <p14:creationId xmlns:p14="http://schemas.microsoft.com/office/powerpoint/2010/main" val="19004809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DB71BC8E-4468-458F-81F5-CBD0558D0BB9}"/>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3C3D2B11-392E-4600-8580-B81E10253230}"/>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01  /  04</a:t>
            </a:r>
          </a:p>
        </p:txBody>
      </p:sp>
      <p:sp>
        <p:nvSpPr>
          <p:cNvPr id="3" name="slide-number">
            <a:extLst xmlns:a="http://schemas.openxmlformats.org/drawingml/2006/main">
              <a:ext uri="{FF2B5EF4-FFF2-40B4-BE49-F238E27FC236}">
                <a16:creationId xmlns:a16="http://schemas.microsoft.com/office/drawing/2014/main" id="{7F1094CF-86FD-4D54-BE4D-3C51823A134D}"/>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03</a:t>
            </a:r>
          </a:p>
        </p:txBody>
      </p:sp>
      <p:sp>
        <p:nvSpPr>
          <p:cNvPr id="4" name="chapter-footer">
            <a:extLst xmlns:a="http://schemas.openxmlformats.org/drawingml/2006/main">
              <a:ext uri="{FF2B5EF4-FFF2-40B4-BE49-F238E27FC236}">
                <a16:creationId xmlns:a16="http://schemas.microsoft.com/office/drawing/2014/main" id="{937B5A2C-D556-4F61-B388-EFACBDEC0D86}"/>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Agentic Design Patterns</a:t>
            </a:r>
          </a:p>
        </p:txBody>
      </p:sp>
      <p:sp>
        <p:nvSpPr>
          <p:cNvPr id="5" name="section-title">
            <a:extLst xmlns:a="http://schemas.openxmlformats.org/drawingml/2006/main">
              <a:ext uri="{FF2B5EF4-FFF2-40B4-BE49-F238E27FC236}">
                <a16:creationId xmlns:a16="http://schemas.microsoft.com/office/drawing/2014/main" id="{61AD3B2C-72BF-4CC3-A570-D1C796760B7D}"/>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The augmented LLM is the reusable building block</a:t>
            </a:r>
          </a:p>
        </p:txBody>
      </p:sp>
      <p:sp>
        <p:nvSpPr>
          <p:cNvPr id="6" name="section-explanation">
            <a:extLst xmlns:a="http://schemas.openxmlformats.org/drawingml/2006/main">
              <a:ext uri="{FF2B5EF4-FFF2-40B4-BE49-F238E27FC236}">
                <a16:creationId xmlns:a16="http://schemas.microsoft.com/office/drawing/2014/main" id="{5DABF97D-36C3-4D0C-BB3A-8734D78BE036}"/>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Retrieval, tools, and memory turn a plain model call into an augmented LLM. Design patterns connect one or more augmented LLMs with control flow. The central design question is whether code or the model decides what happens next.</a:t>
            </a:r>
          </a:p>
        </p:txBody>
      </p:sp>
      <p:sp>
        <p:nvSpPr>
          <p:cNvPr id="7" name="column-rule">
            <a:extLst xmlns:a="http://schemas.openxmlformats.org/drawingml/2006/main">
              <a:ext uri="{FF2B5EF4-FFF2-40B4-BE49-F238E27FC236}">
                <a16:creationId xmlns:a16="http://schemas.microsoft.com/office/drawing/2014/main" id="{D9A8AAAA-1629-42D0-8D92-C9C12753B825}"/>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section-points">
            <a:extLst xmlns:a="http://schemas.openxmlformats.org/drawingml/2006/main">
              <a:ext uri="{FF2B5EF4-FFF2-40B4-BE49-F238E27FC236}">
                <a16:creationId xmlns:a16="http://schemas.microsoft.com/office/drawing/2014/main" id="{CEC6E4B6-FC49-45BF-8140-1321F86C5229}"/>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Code-directed workflows are predictable and testable.</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Model-directed agents are flexible but variable.</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Add autonomy only when decisions cannot be enumerated reliably.</a:t>
            </a:r>
          </a:p>
        </p:txBody>
      </p:sp>
    </p:spTree>
    <p:extLst>
      <p:ext uri="{BB962C8B-B14F-4D97-AF65-F5344CB8AC3E}">
        <p14:creationId xmlns:p14="http://schemas.microsoft.com/office/powerpoint/2010/main" val="1160062563"/>
      </p:ext>
    </p:extLst>
  </p:cSld>
</p:sld>
</file>

<file path=ppt/slides/slide4.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5" name="accent-line">
            <a:extLst xmlns:a="http://schemas.openxmlformats.org/drawingml/2006/main">
              <a:ext uri="{FF2B5EF4-FFF2-40B4-BE49-F238E27FC236}">
                <a16:creationId xmlns:a16="http://schemas.microsoft.com/office/drawing/2014/main" id="{DF83694E-4912-478B-841E-27DB1643B9B9}"/>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4935653E-99BB-4013-AC94-FC3E16FC5C23}"/>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02  /  04</a:t>
            </a:r>
          </a:p>
        </p:txBody>
      </p:sp>
      <p:sp>
        <p:nvSpPr>
          <p:cNvPr id="3" name="slide-number">
            <a:extLst xmlns:a="http://schemas.openxmlformats.org/drawingml/2006/main">
              <a:ext uri="{FF2B5EF4-FFF2-40B4-BE49-F238E27FC236}">
                <a16:creationId xmlns:a16="http://schemas.microsoft.com/office/drawing/2014/main" id="{544F34B0-D78F-43A6-92E3-725C79E398CF}"/>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04</a:t>
            </a:r>
          </a:p>
        </p:txBody>
      </p:sp>
      <p:sp>
        <p:nvSpPr>
          <p:cNvPr id="4" name="chapter-footer">
            <a:extLst xmlns:a="http://schemas.openxmlformats.org/drawingml/2006/main">
              <a:ext uri="{FF2B5EF4-FFF2-40B4-BE49-F238E27FC236}">
                <a16:creationId xmlns:a16="http://schemas.microsoft.com/office/drawing/2014/main" id="{F9EEAE57-BDA8-4A20-AFAD-CDDC56F2BF55}"/>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Agentic Design Patterns</a:t>
            </a:r>
          </a:p>
        </p:txBody>
      </p:sp>
      <p:sp>
        <p:nvSpPr>
          <p:cNvPr id="5" name="section-title">
            <a:extLst xmlns:a="http://schemas.openxmlformats.org/drawingml/2006/main">
              <a:ext uri="{FF2B5EF4-FFF2-40B4-BE49-F238E27FC236}">
                <a16:creationId xmlns:a16="http://schemas.microsoft.com/office/drawing/2014/main" id="{4C9C0F15-9180-48D1-B94E-67386DE3EDED}"/>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Chaining and routing encode known structure</a:t>
            </a:r>
          </a:p>
        </p:txBody>
      </p:sp>
      <p:sp>
        <p:nvSpPr>
          <p:cNvPr id="6" name="section-explanation">
            <a:extLst xmlns:a="http://schemas.openxmlformats.org/drawingml/2006/main">
              <a:ext uri="{FF2B5EF4-FFF2-40B4-BE49-F238E27FC236}">
                <a16:creationId xmlns:a16="http://schemas.microsoft.com/office/drawing/2014/main" id="{1C362603-9055-481B-AC22-9E694687E69D}"/>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Prompt chaining applies fixed ordered steps and can place validation gates between them. Routing classifies an input and selects a specialized handler. Both retain explicit control paths.</a:t>
            </a:r>
          </a:p>
        </p:txBody>
      </p:sp>
      <p:sp>
        <p:nvSpPr>
          <p:cNvPr id="7" name="point-band-1">
            <a:extLst xmlns:a="http://schemas.openxmlformats.org/drawingml/2006/main">
              <a:ext uri="{FF2B5EF4-FFF2-40B4-BE49-F238E27FC236}">
                <a16:creationId xmlns:a16="http://schemas.microsoft.com/office/drawing/2014/main" id="{06612227-2F61-4080-ABA3-7EE3EBC0FA59}"/>
              </a:ext>
            </a:extLst>
          </p:cNvPr>
          <p:cNvSpPr>
            <a:spLocks xmlns:a="http://schemas.openxmlformats.org/drawingml/2006/main" noGrp="1"/>
          </p:cNvSpPr>
          <p:nvPr/>
        </p:nvSpPr>
        <p:spPr>
          <a:xfrm xmlns:a="http://schemas.openxmlformats.org/drawingml/2006/main">
            <a:off x="390525"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point-1">
            <a:extLst xmlns:a="http://schemas.openxmlformats.org/drawingml/2006/main">
              <a:ext uri="{FF2B5EF4-FFF2-40B4-BE49-F238E27FC236}">
                <a16:creationId xmlns:a16="http://schemas.microsoft.com/office/drawing/2014/main" id="{85DE1F9D-1F2E-43B9-916D-10C80DA81DDD}"/>
              </a:ext>
            </a:extLst>
          </p:cNvPr>
          <p:cNvSpPr>
            <a:spLocks xmlns:a="http://schemas.openxmlformats.org/drawingml/2006/main" noGrp="1"/>
          </p:cNvSpPr>
          <p:nvPr/>
        </p:nvSpPr>
        <p:spPr>
          <a:xfrm xmlns:a="http://schemas.openxmlformats.org/drawingml/2006/main">
            <a:off x="390525"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Chaining fits outline-draft-polish style sequences.</a:t>
            </a:r>
          </a:p>
        </p:txBody>
      </p:sp>
      <p:sp>
        <p:nvSpPr>
          <p:cNvPr id="9" name="point-band-2">
            <a:extLst xmlns:a="http://schemas.openxmlformats.org/drawingml/2006/main">
              <a:ext uri="{FF2B5EF4-FFF2-40B4-BE49-F238E27FC236}">
                <a16:creationId xmlns:a16="http://schemas.microsoft.com/office/drawing/2014/main" id="{2CF7A2FF-752B-4360-81F0-C8BF90051E0C}"/>
              </a:ext>
            </a:extLst>
          </p:cNvPr>
          <p:cNvSpPr>
            <a:spLocks xmlns:a="http://schemas.openxmlformats.org/drawingml/2006/main" noGrp="1"/>
          </p:cNvSpPr>
          <p:nvPr/>
        </p:nvSpPr>
        <p:spPr>
          <a:xfrm xmlns:a="http://schemas.openxmlformats.org/drawingml/2006/main">
            <a:off x="3167063"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0" name="point-2">
            <a:extLst xmlns:a="http://schemas.openxmlformats.org/drawingml/2006/main">
              <a:ext uri="{FF2B5EF4-FFF2-40B4-BE49-F238E27FC236}">
                <a16:creationId xmlns:a16="http://schemas.microsoft.com/office/drawing/2014/main" id="{9A4609DF-A989-4CFB-AF97-2F17C6624676}"/>
              </a:ext>
            </a:extLst>
          </p:cNvPr>
          <p:cNvSpPr>
            <a:spLocks xmlns:a="http://schemas.openxmlformats.org/drawingml/2006/main" noGrp="1"/>
          </p:cNvSpPr>
          <p:nvPr/>
        </p:nvSpPr>
        <p:spPr>
          <a:xfrm xmlns:a="http://schemas.openxmlformats.org/drawingml/2006/main">
            <a:off x="3167063"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Gates can check schema, rules, or quality.</a:t>
            </a:r>
          </a:p>
        </p:txBody>
      </p:sp>
      <p:sp>
        <p:nvSpPr>
          <p:cNvPr id="11" name="point-band-3">
            <a:extLst xmlns:a="http://schemas.openxmlformats.org/drawingml/2006/main">
              <a:ext uri="{FF2B5EF4-FFF2-40B4-BE49-F238E27FC236}">
                <a16:creationId xmlns:a16="http://schemas.microsoft.com/office/drawing/2014/main" id="{0305F25F-79A1-4277-9FC0-B21D8C78B345}"/>
              </a:ext>
            </a:extLst>
          </p:cNvPr>
          <p:cNvSpPr>
            <a:spLocks xmlns:a="http://schemas.openxmlformats.org/drawingml/2006/main" noGrp="1"/>
          </p:cNvSpPr>
          <p:nvPr/>
        </p:nvSpPr>
        <p:spPr>
          <a:xfrm xmlns:a="http://schemas.openxmlformats.org/drawingml/2006/main">
            <a:off x="5943600"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2" name="point-3">
            <a:extLst xmlns:a="http://schemas.openxmlformats.org/drawingml/2006/main">
              <a:ext uri="{FF2B5EF4-FFF2-40B4-BE49-F238E27FC236}">
                <a16:creationId xmlns:a16="http://schemas.microsoft.com/office/drawing/2014/main" id="{C39C3EFF-E47E-43CD-AD88-478E4F6F2089}"/>
              </a:ext>
            </a:extLst>
          </p:cNvPr>
          <p:cNvSpPr>
            <a:spLocks xmlns:a="http://schemas.openxmlformats.org/drawingml/2006/main" noGrp="1"/>
          </p:cNvSpPr>
          <p:nvPr/>
        </p:nvSpPr>
        <p:spPr>
          <a:xfrm xmlns:a="http://schemas.openxmlformats.org/drawingml/2006/main">
            <a:off x="5943600"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Routing needs calibrated accuracy and a fallback lane.</a:t>
            </a:r>
          </a:p>
        </p:txBody>
      </p:sp>
      <p:sp>
        <p:nvSpPr>
          <p:cNvPr id="13" name="point-band-4">
            <a:extLst xmlns:a="http://schemas.openxmlformats.org/drawingml/2006/main">
              <a:ext uri="{FF2B5EF4-FFF2-40B4-BE49-F238E27FC236}">
                <a16:creationId xmlns:a16="http://schemas.microsoft.com/office/drawing/2014/main" id="{A746225A-92A2-4271-BDC3-7E7F80940AFC}"/>
              </a:ext>
            </a:extLst>
          </p:cNvPr>
          <p:cNvSpPr>
            <a:spLocks xmlns:a="http://schemas.openxmlformats.org/drawingml/2006/main" noGrp="1"/>
          </p:cNvSpPr>
          <p:nvPr/>
        </p:nvSpPr>
        <p:spPr>
          <a:xfrm xmlns:a="http://schemas.openxmlformats.org/drawingml/2006/main">
            <a:off x="8720138"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4" name="point-4">
            <a:extLst xmlns:a="http://schemas.openxmlformats.org/drawingml/2006/main">
              <a:ext uri="{FF2B5EF4-FFF2-40B4-BE49-F238E27FC236}">
                <a16:creationId xmlns:a16="http://schemas.microsoft.com/office/drawing/2014/main" id="{BF809049-72AE-4473-A1BE-051C604117EC}"/>
              </a:ext>
            </a:extLst>
          </p:cNvPr>
          <p:cNvSpPr>
            <a:spLocks xmlns:a="http://schemas.openxmlformats.org/drawingml/2006/main" noGrp="1"/>
          </p:cNvSpPr>
          <p:nvPr/>
        </p:nvSpPr>
        <p:spPr>
          <a:xfrm xmlns:a="http://schemas.openxmlformats.org/drawingml/2006/main">
            <a:off x="8720138"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Hard or low-confidence cases can escalate.</a:t>
            </a:r>
          </a:p>
        </p:txBody>
      </p:sp>
    </p:spTree>
    <p:extLst>
      <p:ext uri="{BB962C8B-B14F-4D97-AF65-F5344CB8AC3E}">
        <p14:creationId xmlns:p14="http://schemas.microsoft.com/office/powerpoint/2010/main" val="14748993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9C8EA44C-0C04-4D14-A247-373A22DF7C95}"/>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7FB8EE3B-76B3-4873-95A9-2EB52F9241B7}"/>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03  /  04</a:t>
            </a:r>
          </a:p>
        </p:txBody>
      </p:sp>
      <p:sp>
        <p:nvSpPr>
          <p:cNvPr id="3" name="slide-number">
            <a:extLst xmlns:a="http://schemas.openxmlformats.org/drawingml/2006/main">
              <a:ext uri="{FF2B5EF4-FFF2-40B4-BE49-F238E27FC236}">
                <a16:creationId xmlns:a16="http://schemas.microsoft.com/office/drawing/2014/main" id="{3E7616F3-7C89-46FC-9DB9-F2BBD7E70AC6}"/>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05</a:t>
            </a:r>
          </a:p>
        </p:txBody>
      </p:sp>
      <p:sp>
        <p:nvSpPr>
          <p:cNvPr id="4" name="chapter-footer">
            <a:extLst xmlns:a="http://schemas.openxmlformats.org/drawingml/2006/main">
              <a:ext uri="{FF2B5EF4-FFF2-40B4-BE49-F238E27FC236}">
                <a16:creationId xmlns:a16="http://schemas.microsoft.com/office/drawing/2014/main" id="{707A8F63-D3C2-4C42-BA83-6470AFAC90C4}"/>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Agentic Design Patterns</a:t>
            </a:r>
          </a:p>
        </p:txBody>
      </p:sp>
      <p:sp>
        <p:nvSpPr>
          <p:cNvPr id="5" name="section-title">
            <a:extLst xmlns:a="http://schemas.openxmlformats.org/drawingml/2006/main">
              <a:ext uri="{FF2B5EF4-FFF2-40B4-BE49-F238E27FC236}">
                <a16:creationId xmlns:a16="http://schemas.microsoft.com/office/drawing/2014/main" id="{2BCEB9B0-FE8B-482B-B5FE-311906BE24C9}"/>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Parallelization trades compute for speed or reliability</a:t>
            </a:r>
          </a:p>
        </p:txBody>
      </p:sp>
      <p:sp>
        <p:nvSpPr>
          <p:cNvPr id="6" name="section-explanation">
            <a:extLst xmlns:a="http://schemas.openxmlformats.org/drawingml/2006/main">
              <a:ext uri="{FF2B5EF4-FFF2-40B4-BE49-F238E27FC236}">
                <a16:creationId xmlns:a16="http://schemas.microsoft.com/office/drawing/2014/main" id="{80391AA8-E150-4A11-81E6-049F292776D9}"/>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Sectioning divides independent work and aggregates results, reducing wall-clock time. Voting runs the same task several times and aggregates answers, increasing cost in exchange for robustness.</a:t>
            </a:r>
          </a:p>
        </p:txBody>
      </p:sp>
      <p:sp>
        <p:nvSpPr>
          <p:cNvPr id="7" name="column-rule">
            <a:extLst xmlns:a="http://schemas.openxmlformats.org/drawingml/2006/main">
              <a:ext uri="{FF2B5EF4-FFF2-40B4-BE49-F238E27FC236}">
                <a16:creationId xmlns:a16="http://schemas.microsoft.com/office/drawing/2014/main" id="{30604850-962B-4D91-9797-3B4FED42236C}"/>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section-points">
            <a:extLst xmlns:a="http://schemas.openxmlformats.org/drawingml/2006/main">
              <a:ext uri="{FF2B5EF4-FFF2-40B4-BE49-F238E27FC236}">
                <a16:creationId xmlns:a16="http://schemas.microsoft.com/office/drawing/2014/main" id="{06DF23C5-AA22-4D93-86F4-26E6C6DDF3E3}"/>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Parallelize only independent subtasks.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Aggregation is a distinct step that can fail.</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Reserve voting for decisions where redundancy is worth the cost.</a:t>
            </a:r>
          </a:p>
        </p:txBody>
      </p:sp>
    </p:spTree>
    <p:extLst>
      <p:ext uri="{BB962C8B-B14F-4D97-AF65-F5344CB8AC3E}">
        <p14:creationId xmlns:p14="http://schemas.microsoft.com/office/powerpoint/2010/main" val="1203308052"/>
      </p:ext>
    </p:extLst>
  </p:cSld>
</p:sld>
</file>

<file path=ppt/slides/slide6.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3" name="accent-line">
            <a:extLst xmlns:a="http://schemas.openxmlformats.org/drawingml/2006/main">
              <a:ext uri="{FF2B5EF4-FFF2-40B4-BE49-F238E27FC236}">
                <a16:creationId xmlns:a16="http://schemas.microsoft.com/office/drawing/2014/main" id="{D3844282-24A5-4DF2-AE51-52D7A63D213B}"/>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057769DC-0A8E-4AB1-A7A4-838108CD623B}"/>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04  /  04</a:t>
            </a:r>
          </a:p>
        </p:txBody>
      </p:sp>
      <p:sp>
        <p:nvSpPr>
          <p:cNvPr id="3" name="slide-number">
            <a:extLst xmlns:a="http://schemas.openxmlformats.org/drawingml/2006/main">
              <a:ext uri="{FF2B5EF4-FFF2-40B4-BE49-F238E27FC236}">
                <a16:creationId xmlns:a16="http://schemas.microsoft.com/office/drawing/2014/main" id="{3D9F558B-E9ED-4080-8E9C-44B017B64104}"/>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06</a:t>
            </a:r>
          </a:p>
        </p:txBody>
      </p:sp>
      <p:sp>
        <p:nvSpPr>
          <p:cNvPr id="4" name="chapter-footer">
            <a:extLst xmlns:a="http://schemas.openxmlformats.org/drawingml/2006/main">
              <a:ext uri="{FF2B5EF4-FFF2-40B4-BE49-F238E27FC236}">
                <a16:creationId xmlns:a16="http://schemas.microsoft.com/office/drawing/2014/main" id="{6F5787BA-0514-4F6D-B044-F564790EA366}"/>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Agentic Design Patterns</a:t>
            </a:r>
          </a:p>
        </p:txBody>
      </p:sp>
      <p:sp>
        <p:nvSpPr>
          <p:cNvPr id="5" name="section-title">
            <a:extLst xmlns:a="http://schemas.openxmlformats.org/drawingml/2006/main">
              <a:ext uri="{FF2B5EF4-FFF2-40B4-BE49-F238E27FC236}">
                <a16:creationId xmlns:a16="http://schemas.microsoft.com/office/drawing/2014/main" id="{B31B9A26-61E3-4F7A-A1B1-F8E69F12A250}"/>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Orchestrator-workers creates subtasks dynamically</a:t>
            </a:r>
          </a:p>
        </p:txBody>
      </p:sp>
      <p:sp>
        <p:nvSpPr>
          <p:cNvPr id="6" name="section-explanation">
            <a:extLst xmlns:a="http://schemas.openxmlformats.org/drawingml/2006/main">
              <a:ext uri="{FF2B5EF4-FFF2-40B4-BE49-F238E27FC236}">
                <a16:creationId xmlns:a16="http://schemas.microsoft.com/office/drawing/2014/main" id="{69B8BB36-A72A-49B1-A959-3AB73D2FDC20}"/>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An orchestrator decomposes the current input, dispatches variable subtasks to workers, and synthesizes their outputs. Unlike a chain, the exact work plan is not known in advance.</a:t>
            </a:r>
          </a:p>
        </p:txBody>
      </p:sp>
      <p:sp>
        <p:nvSpPr>
          <p:cNvPr id="7" name="point-band-1">
            <a:extLst xmlns:a="http://schemas.openxmlformats.org/drawingml/2006/main">
              <a:ext uri="{FF2B5EF4-FFF2-40B4-BE49-F238E27FC236}">
                <a16:creationId xmlns:a16="http://schemas.microsoft.com/office/drawing/2014/main" id="{A77A2CF1-E0AF-409F-B359-DFA29ACF11AD}"/>
              </a:ext>
            </a:extLst>
          </p:cNvPr>
          <p:cNvSpPr>
            <a:spLocks xmlns:a="http://schemas.openxmlformats.org/drawingml/2006/main" noGrp="1"/>
          </p:cNvSpPr>
          <p:nvPr/>
        </p:nvSpPr>
        <p:spPr>
          <a:xfrm xmlns:a="http://schemas.openxmlformats.org/drawingml/2006/main">
            <a:off x="390525" y="4048125"/>
            <a:ext cx="3435350"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point-1">
            <a:extLst xmlns:a="http://schemas.openxmlformats.org/drawingml/2006/main">
              <a:ext uri="{FF2B5EF4-FFF2-40B4-BE49-F238E27FC236}">
                <a16:creationId xmlns:a16="http://schemas.microsoft.com/office/drawing/2014/main" id="{B2ACA0A8-259B-4599-A4A5-8DACB69C9344}"/>
              </a:ext>
            </a:extLst>
          </p:cNvPr>
          <p:cNvSpPr>
            <a:spLocks xmlns:a="http://schemas.openxmlformats.org/drawingml/2006/main" noGrp="1"/>
          </p:cNvSpPr>
          <p:nvPr/>
        </p:nvSpPr>
        <p:spPr>
          <a:xfrm xmlns:a="http://schemas.openxmlformats.org/drawingml/2006/main">
            <a:off x="39052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Workers may be prompts, tools, or complete agents.</a:t>
            </a:r>
          </a:p>
        </p:txBody>
      </p:sp>
      <p:sp>
        <p:nvSpPr>
          <p:cNvPr id="9" name="point-band-2">
            <a:extLst xmlns:a="http://schemas.openxmlformats.org/drawingml/2006/main">
              <a:ext uri="{FF2B5EF4-FFF2-40B4-BE49-F238E27FC236}">
                <a16:creationId xmlns:a16="http://schemas.microsoft.com/office/drawing/2014/main" id="{2BF0B371-092F-4B44-8A2C-3483647EF0AA}"/>
              </a:ext>
            </a:extLst>
          </p:cNvPr>
          <p:cNvSpPr>
            <a:spLocks xmlns:a="http://schemas.openxmlformats.org/drawingml/2006/main" noGrp="1"/>
          </p:cNvSpPr>
          <p:nvPr/>
        </p:nvSpPr>
        <p:spPr>
          <a:xfrm xmlns:a="http://schemas.openxmlformats.org/drawingml/2006/main">
            <a:off x="4092575" y="4048125"/>
            <a:ext cx="3435350"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0" name="point-2">
            <a:extLst xmlns:a="http://schemas.openxmlformats.org/drawingml/2006/main">
              <a:ext uri="{FF2B5EF4-FFF2-40B4-BE49-F238E27FC236}">
                <a16:creationId xmlns:a16="http://schemas.microsoft.com/office/drawing/2014/main" id="{7BEDC43D-D9D7-4EE9-86E8-74AC984D0D0C}"/>
              </a:ext>
            </a:extLst>
          </p:cNvPr>
          <p:cNvSpPr>
            <a:spLocks xmlns:a="http://schemas.openxmlformats.org/drawingml/2006/main" noGrp="1"/>
          </p:cNvSpPr>
          <p:nvPr/>
        </p:nvSpPr>
        <p:spPr>
          <a:xfrm xmlns:a="http://schemas.openxmlformats.org/drawingml/2006/main">
            <a:off x="409257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The orchestrator must track state and integrate results.</a:t>
            </a:r>
          </a:p>
        </p:txBody>
      </p:sp>
      <p:sp>
        <p:nvSpPr>
          <p:cNvPr id="11" name="point-band-3">
            <a:extLst xmlns:a="http://schemas.openxmlformats.org/drawingml/2006/main">
              <a:ext uri="{FF2B5EF4-FFF2-40B4-BE49-F238E27FC236}">
                <a16:creationId xmlns:a16="http://schemas.microsoft.com/office/drawing/2014/main" id="{08C294C5-8C87-4527-BF6C-A47F2F38D3FC}"/>
              </a:ext>
            </a:extLst>
          </p:cNvPr>
          <p:cNvSpPr>
            <a:spLocks xmlns:a="http://schemas.openxmlformats.org/drawingml/2006/main" noGrp="1"/>
          </p:cNvSpPr>
          <p:nvPr/>
        </p:nvSpPr>
        <p:spPr>
          <a:xfrm xmlns:a="http://schemas.openxmlformats.org/drawingml/2006/main">
            <a:off x="7794625" y="4048125"/>
            <a:ext cx="3435350"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2" name="point-3">
            <a:extLst xmlns:a="http://schemas.openxmlformats.org/drawingml/2006/main">
              <a:ext uri="{FF2B5EF4-FFF2-40B4-BE49-F238E27FC236}">
                <a16:creationId xmlns:a16="http://schemas.microsoft.com/office/drawing/2014/main" id="{05659363-80DE-46CB-A7ED-B5BDA71C1D81}"/>
              </a:ext>
            </a:extLst>
          </p:cNvPr>
          <p:cNvSpPr>
            <a:spLocks xmlns:a="http://schemas.openxmlformats.org/drawingml/2006/main" noGrp="1"/>
          </p:cNvSpPr>
          <p:nvPr/>
        </p:nvSpPr>
        <p:spPr>
          <a:xfrm xmlns:a="http://schemas.openxmlformats.org/drawingml/2006/main">
            <a:off x="779462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Dynamic decomposition increases flexibility and evaluation burden.</a:t>
            </a:r>
          </a:p>
        </p:txBody>
      </p:sp>
    </p:spTree>
    <p:extLst>
      <p:ext uri="{BB962C8B-B14F-4D97-AF65-F5344CB8AC3E}">
        <p14:creationId xmlns:p14="http://schemas.microsoft.com/office/powerpoint/2010/main" val="160554422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FA766F36-4B8D-4774-BBE5-2541BDB526C7}"/>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FEAF6820-6582-4976-95D5-7E5B6C1A0E66}"/>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05  /  04</a:t>
            </a:r>
          </a:p>
        </p:txBody>
      </p:sp>
      <p:sp>
        <p:nvSpPr>
          <p:cNvPr id="3" name="slide-number">
            <a:extLst xmlns:a="http://schemas.openxmlformats.org/drawingml/2006/main">
              <a:ext uri="{FF2B5EF4-FFF2-40B4-BE49-F238E27FC236}">
                <a16:creationId xmlns:a16="http://schemas.microsoft.com/office/drawing/2014/main" id="{80687D9F-096E-4DCA-874F-4B8838D13107}"/>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07</a:t>
            </a:r>
          </a:p>
        </p:txBody>
      </p:sp>
      <p:sp>
        <p:nvSpPr>
          <p:cNvPr id="4" name="chapter-footer">
            <a:extLst xmlns:a="http://schemas.openxmlformats.org/drawingml/2006/main">
              <a:ext uri="{FF2B5EF4-FFF2-40B4-BE49-F238E27FC236}">
                <a16:creationId xmlns:a16="http://schemas.microsoft.com/office/drawing/2014/main" id="{D5AF3604-022F-463F-A90A-2F23B32DB739}"/>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Agentic Design Patterns</a:t>
            </a:r>
          </a:p>
        </p:txBody>
      </p:sp>
      <p:sp>
        <p:nvSpPr>
          <p:cNvPr id="5" name="section-title">
            <a:extLst xmlns:a="http://schemas.openxmlformats.org/drawingml/2006/main">
              <a:ext uri="{FF2B5EF4-FFF2-40B4-BE49-F238E27FC236}">
                <a16:creationId xmlns:a16="http://schemas.microsoft.com/office/drawing/2014/main" id="{E8103670-88F6-4DF3-8E08-BECF0049C7A2}"/>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Evaluator-optimizer and reflection require grounded criteria</a:t>
            </a:r>
          </a:p>
        </p:txBody>
      </p:sp>
      <p:sp>
        <p:nvSpPr>
          <p:cNvPr id="6" name="section-explanation">
            <a:extLst xmlns:a="http://schemas.openxmlformats.org/drawingml/2006/main">
              <a:ext uri="{FF2B5EF4-FFF2-40B4-BE49-F238E27FC236}">
                <a16:creationId xmlns:a16="http://schemas.microsoft.com/office/drawing/2014/main" id="{E8AA759C-9FA3-4499-9D22-89D2F2F397CA}"/>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A generator produces an attempt, an evaluator checks it, and feedback drives revision. The loop improves reliably when criteria are externally verifiable, such as tests, schemas, calculations, rubrics, or reference answers.</a:t>
            </a:r>
          </a:p>
        </p:txBody>
      </p:sp>
      <p:sp>
        <p:nvSpPr>
          <p:cNvPr id="7" name="column-rule">
            <a:extLst xmlns:a="http://schemas.openxmlformats.org/drawingml/2006/main">
              <a:ext uri="{FF2B5EF4-FFF2-40B4-BE49-F238E27FC236}">
                <a16:creationId xmlns:a16="http://schemas.microsoft.com/office/drawing/2014/main" id="{06169B5E-0B61-435C-AB07-7F86C8F4DD0D}"/>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section-points">
            <a:extLst xmlns:a="http://schemas.openxmlformats.org/drawingml/2006/main">
              <a:ext uri="{FF2B5EF4-FFF2-40B4-BE49-F238E27FC236}">
                <a16:creationId xmlns:a16="http://schemas.microsoft.com/office/drawing/2014/main" id="{FF206B7E-E8AA-460A-A221-3EA632157E83}"/>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Vague 'is this good?' critics may rubber-stamp outputs.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Tool-grounded critics can verify objective properties.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Every refinement loop needs a stop and cost budget.</a:t>
            </a:r>
          </a:p>
        </p:txBody>
      </p:sp>
    </p:spTree>
    <p:extLst>
      <p:ext uri="{BB962C8B-B14F-4D97-AF65-F5344CB8AC3E}">
        <p14:creationId xmlns:p14="http://schemas.microsoft.com/office/powerpoint/2010/main" val="1947226583"/>
      </p:ext>
    </p:extLst>
  </p:cSld>
</p:sld>
</file>

<file path=ppt/slides/slide8.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3" name="accent-line">
            <a:extLst xmlns:a="http://schemas.openxmlformats.org/drawingml/2006/main">
              <a:ext uri="{FF2B5EF4-FFF2-40B4-BE49-F238E27FC236}">
                <a16:creationId xmlns:a16="http://schemas.microsoft.com/office/drawing/2014/main" id="{93EE5CB3-B494-4D9D-B76D-8D5C125FE60C}"/>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02EC91CD-D555-4E44-A9F8-AD03FFA01C48}"/>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06  /  04</a:t>
            </a:r>
          </a:p>
        </p:txBody>
      </p:sp>
      <p:sp>
        <p:nvSpPr>
          <p:cNvPr id="3" name="slide-number">
            <a:extLst xmlns:a="http://schemas.openxmlformats.org/drawingml/2006/main">
              <a:ext uri="{FF2B5EF4-FFF2-40B4-BE49-F238E27FC236}">
                <a16:creationId xmlns:a16="http://schemas.microsoft.com/office/drawing/2014/main" id="{754B1F3B-1A6A-4C35-96CE-F0AEB4447F86}"/>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08</a:t>
            </a:r>
          </a:p>
        </p:txBody>
      </p:sp>
      <p:sp>
        <p:nvSpPr>
          <p:cNvPr id="4" name="chapter-footer">
            <a:extLst xmlns:a="http://schemas.openxmlformats.org/drawingml/2006/main">
              <a:ext uri="{FF2B5EF4-FFF2-40B4-BE49-F238E27FC236}">
                <a16:creationId xmlns:a16="http://schemas.microsoft.com/office/drawing/2014/main" id="{CE0D6419-B454-4E75-B33B-FC85709B5FCC}"/>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Agentic Design Patterns</a:t>
            </a:r>
          </a:p>
        </p:txBody>
      </p:sp>
      <p:sp>
        <p:nvSpPr>
          <p:cNvPr id="5" name="section-title">
            <a:extLst xmlns:a="http://schemas.openxmlformats.org/drawingml/2006/main">
              <a:ext uri="{FF2B5EF4-FFF2-40B4-BE49-F238E27FC236}">
                <a16:creationId xmlns:a16="http://schemas.microsoft.com/office/drawing/2014/main" id="{FCFFC236-1855-4E88-A3D0-0C32497C2B56}"/>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Patterns compose, so failure controls must compose too</a:t>
            </a:r>
          </a:p>
        </p:txBody>
      </p:sp>
      <p:sp>
        <p:nvSpPr>
          <p:cNvPr id="6" name="section-explanation">
            <a:extLst xmlns:a="http://schemas.openxmlformats.org/drawingml/2006/main">
              <a:ext uri="{FF2B5EF4-FFF2-40B4-BE49-F238E27FC236}">
                <a16:creationId xmlns:a16="http://schemas.microsoft.com/office/drawing/2014/main" id="{CD9424FB-2852-4DBF-8AEB-3977231DAC0C}"/>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A router can select an agent, an orchestrator can dispatch ReAct workers, and an evaluator can check the synthesis. Humans can approve, correct, or receive escalations at consequential boundaries.</a:t>
            </a:r>
          </a:p>
        </p:txBody>
      </p:sp>
      <p:sp>
        <p:nvSpPr>
          <p:cNvPr id="7" name="point-band-1">
            <a:extLst xmlns:a="http://schemas.openxmlformats.org/drawingml/2006/main">
              <a:ext uri="{FF2B5EF4-FFF2-40B4-BE49-F238E27FC236}">
                <a16:creationId xmlns:a16="http://schemas.microsoft.com/office/drawing/2014/main" id="{F75F3736-7771-4503-805E-272CB6824D1F}"/>
              </a:ext>
            </a:extLst>
          </p:cNvPr>
          <p:cNvSpPr>
            <a:spLocks xmlns:a="http://schemas.openxmlformats.org/drawingml/2006/main" noGrp="1"/>
          </p:cNvSpPr>
          <p:nvPr/>
        </p:nvSpPr>
        <p:spPr>
          <a:xfrm xmlns:a="http://schemas.openxmlformats.org/drawingml/2006/main">
            <a:off x="390525" y="4048125"/>
            <a:ext cx="3435350"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point-1">
            <a:extLst xmlns:a="http://schemas.openxmlformats.org/drawingml/2006/main">
              <a:ext uri="{FF2B5EF4-FFF2-40B4-BE49-F238E27FC236}">
                <a16:creationId xmlns:a16="http://schemas.microsoft.com/office/drawing/2014/main" id="{422F0E49-BFB3-488F-9EF9-A34720E3FC5D}"/>
              </a:ext>
            </a:extLst>
          </p:cNvPr>
          <p:cNvSpPr>
            <a:spLocks xmlns:a="http://schemas.openxmlformats.org/drawingml/2006/main" noGrp="1"/>
          </p:cNvSpPr>
          <p:nvPr/>
        </p:nvSpPr>
        <p:spPr>
          <a:xfrm xmlns:a="http://schemas.openxmlformats.org/drawingml/2006/main">
            <a:off x="39052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Anti-patterns: agent where workflow suffices, too many tools, unbounded loops.</a:t>
            </a:r>
          </a:p>
        </p:txBody>
      </p:sp>
      <p:sp>
        <p:nvSpPr>
          <p:cNvPr id="9" name="point-band-2">
            <a:extLst xmlns:a="http://schemas.openxmlformats.org/drawingml/2006/main">
              <a:ext uri="{FF2B5EF4-FFF2-40B4-BE49-F238E27FC236}">
                <a16:creationId xmlns:a16="http://schemas.microsoft.com/office/drawing/2014/main" id="{60A095E3-6767-486F-82AF-2135E732DF71}"/>
              </a:ext>
            </a:extLst>
          </p:cNvPr>
          <p:cNvSpPr>
            <a:spLocks xmlns:a="http://schemas.openxmlformats.org/drawingml/2006/main" noGrp="1"/>
          </p:cNvSpPr>
          <p:nvPr/>
        </p:nvSpPr>
        <p:spPr>
          <a:xfrm xmlns:a="http://schemas.openxmlformats.org/drawingml/2006/main">
            <a:off x="4092575" y="4048125"/>
            <a:ext cx="3435350"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0" name="point-2">
            <a:extLst xmlns:a="http://schemas.openxmlformats.org/drawingml/2006/main">
              <a:ext uri="{FF2B5EF4-FFF2-40B4-BE49-F238E27FC236}">
                <a16:creationId xmlns:a16="http://schemas.microsoft.com/office/drawing/2014/main" id="{191F7582-6726-433A-A903-DE23C30FA893}"/>
              </a:ext>
            </a:extLst>
          </p:cNvPr>
          <p:cNvSpPr>
            <a:spLocks xmlns:a="http://schemas.openxmlformats.org/drawingml/2006/main" noGrp="1"/>
          </p:cNvSpPr>
          <p:nvPr/>
        </p:nvSpPr>
        <p:spPr>
          <a:xfrm xmlns:a="http://schemas.openxmlformats.org/drawingml/2006/main">
            <a:off x="409257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Each additional model call increases cost and failure opportunity.</a:t>
            </a:r>
          </a:p>
        </p:txBody>
      </p:sp>
      <p:sp>
        <p:nvSpPr>
          <p:cNvPr id="11" name="point-band-3">
            <a:extLst xmlns:a="http://schemas.openxmlformats.org/drawingml/2006/main">
              <a:ext uri="{FF2B5EF4-FFF2-40B4-BE49-F238E27FC236}">
                <a16:creationId xmlns:a16="http://schemas.microsoft.com/office/drawing/2014/main" id="{6A2B96A6-34E8-4DAC-8BC1-C238C2FF5B53}"/>
              </a:ext>
            </a:extLst>
          </p:cNvPr>
          <p:cNvSpPr>
            <a:spLocks xmlns:a="http://schemas.openxmlformats.org/drawingml/2006/main" noGrp="1"/>
          </p:cNvSpPr>
          <p:nvPr/>
        </p:nvSpPr>
        <p:spPr>
          <a:xfrm xmlns:a="http://schemas.openxmlformats.org/drawingml/2006/main">
            <a:off x="7794625" y="4048125"/>
            <a:ext cx="3435350"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2" name="point-3">
            <a:extLst xmlns:a="http://schemas.openxmlformats.org/drawingml/2006/main">
              <a:ext uri="{FF2B5EF4-FFF2-40B4-BE49-F238E27FC236}">
                <a16:creationId xmlns:a16="http://schemas.microsoft.com/office/drawing/2014/main" id="{DDEF550D-2A88-4473-A69F-8B5C75F5A71C}"/>
              </a:ext>
            </a:extLst>
          </p:cNvPr>
          <p:cNvSpPr>
            <a:spLocks xmlns:a="http://schemas.openxmlformats.org/drawingml/2006/main" noGrp="1"/>
          </p:cNvSpPr>
          <p:nvPr/>
        </p:nvSpPr>
        <p:spPr>
          <a:xfrm xmlns:a="http://schemas.openxmlformats.org/drawingml/2006/main">
            <a:off x="779462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Use the simplest pattern whose control assumptions match the task.</a:t>
            </a:r>
          </a:p>
        </p:txBody>
      </p:sp>
    </p:spTree>
    <p:extLst>
      <p:ext uri="{BB962C8B-B14F-4D97-AF65-F5344CB8AC3E}">
        <p14:creationId xmlns:p14="http://schemas.microsoft.com/office/powerpoint/2010/main" val="167006734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9CE65238-1B8F-4DC6-A583-191A275D50FD}"/>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10588AD9-19C7-4324-B23B-FD998426CE53}"/>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07  /  04</a:t>
            </a:r>
          </a:p>
        </p:txBody>
      </p:sp>
      <p:sp>
        <p:nvSpPr>
          <p:cNvPr id="3" name="slide-number">
            <a:extLst xmlns:a="http://schemas.openxmlformats.org/drawingml/2006/main">
              <a:ext uri="{FF2B5EF4-FFF2-40B4-BE49-F238E27FC236}">
                <a16:creationId xmlns:a16="http://schemas.microsoft.com/office/drawing/2014/main" id="{79F85F45-6E9A-4077-A6DC-B59D0CBF8A58}"/>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09</a:t>
            </a:r>
          </a:p>
        </p:txBody>
      </p:sp>
      <p:sp>
        <p:nvSpPr>
          <p:cNvPr id="4" name="chapter-footer">
            <a:extLst xmlns:a="http://schemas.openxmlformats.org/drawingml/2006/main">
              <a:ext uri="{FF2B5EF4-FFF2-40B4-BE49-F238E27FC236}">
                <a16:creationId xmlns:a16="http://schemas.microsoft.com/office/drawing/2014/main" id="{60D9BEC5-0AA4-4451-9315-4152D21731F0}"/>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Agentic Design Patterns</a:t>
            </a:r>
          </a:p>
        </p:txBody>
      </p:sp>
      <p:sp>
        <p:nvSpPr>
          <p:cNvPr id="5" name="section-title">
            <a:extLst xmlns:a="http://schemas.openxmlformats.org/drawingml/2006/main">
              <a:ext uri="{FF2B5EF4-FFF2-40B4-BE49-F238E27FC236}">
                <a16:creationId xmlns:a16="http://schemas.microsoft.com/office/drawing/2014/main" id="{C2DC54A3-03A6-4239-91A5-EC7B1CF42527}"/>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An extra stage must justify its cost</a:t>
            </a:r>
          </a:p>
        </p:txBody>
      </p:sp>
      <p:sp>
        <p:nvSpPr>
          <p:cNvPr id="6" name="section-explanation">
            <a:extLst xmlns:a="http://schemas.openxmlformats.org/drawingml/2006/main">
              <a:ext uri="{FF2B5EF4-FFF2-40B4-BE49-F238E27FC236}">
                <a16:creationId xmlns:a16="http://schemas.microsoft.com/office/drawing/2014/main" id="{0D5C3631-C4D0-4348-9C45-CE592587A64C}"/>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A reviewer or worker adds another opportunity to help and another opportunity to fail. Use identical cases to compare a baseline with the proposed composition. Count review and coordination calls when evaluating the whole system.</a:t>
            </a:r>
          </a:p>
        </p:txBody>
      </p:sp>
      <p:sp>
        <p:nvSpPr>
          <p:cNvPr id="7" name="column-rule">
            <a:extLst xmlns:a="http://schemas.openxmlformats.org/drawingml/2006/main">
              <a:ext uri="{FF2B5EF4-FFF2-40B4-BE49-F238E27FC236}">
                <a16:creationId xmlns:a16="http://schemas.microsoft.com/office/drawing/2014/main" id="{58C11046-2F0D-4436-8130-047ED185ADB5}"/>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section-points">
            <a:extLst xmlns:a="http://schemas.openxmlformats.org/drawingml/2006/main">
              <a:ext uri="{FF2B5EF4-FFF2-40B4-BE49-F238E27FC236}">
                <a16:creationId xmlns:a16="http://schemas.microsoft.com/office/drawing/2014/main" id="{D990E027-C353-4161-A2E0-9F8C117678CD}"/>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Use a fixed baseline before changing the architecture.</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Score outcomes and failures with the same rules.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Account for overhead even when review leaves the answer unchanged.</a:t>
            </a:r>
          </a:p>
        </p:txBody>
      </p:sp>
    </p:spTree>
    <p:extLst>
      <p:ext uri="{BB962C8B-B14F-4D97-AF65-F5344CB8AC3E}">
        <p14:creationId xmlns:p14="http://schemas.microsoft.com/office/powerpoint/2010/main" val="45957224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accent-line">
            <a:extLst xmlns:a="http://schemas.openxmlformats.org/drawingml/2006/main">
              <a:ext uri="{FF2B5EF4-FFF2-40B4-BE49-F238E27FC236}">
                <a16:creationId xmlns:a16="http://schemas.microsoft.com/office/drawing/2014/main" id="{321D0400-FCFA-41C3-ABBE-59031142D135}"/>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85672532-99CC-4840-B940-E149AC3BE751}"/>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EXAM CHECK  /  04</a:t>
            </a:r>
          </a:p>
        </p:txBody>
      </p:sp>
      <p:sp>
        <p:nvSpPr>
          <p:cNvPr id="3" name="slide-number">
            <a:extLst xmlns:a="http://schemas.openxmlformats.org/drawingml/2006/main">
              <a:ext uri="{FF2B5EF4-FFF2-40B4-BE49-F238E27FC236}">
                <a16:creationId xmlns:a16="http://schemas.microsoft.com/office/drawing/2014/main" id="{8DEDDA40-758F-45A5-9997-E2B29A49BB27}"/>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10</a:t>
            </a:r>
          </a:p>
        </p:txBody>
      </p:sp>
      <p:sp>
        <p:nvSpPr>
          <p:cNvPr id="4" name="chapter-footer">
            <a:extLst xmlns:a="http://schemas.openxmlformats.org/drawingml/2006/main">
              <a:ext uri="{FF2B5EF4-FFF2-40B4-BE49-F238E27FC236}">
                <a16:creationId xmlns:a16="http://schemas.microsoft.com/office/drawing/2014/main" id="{3F29B4C1-BDBD-4BEC-8AC9-35B983D48EF9}"/>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Agentic Design Patterns</a:t>
            </a:r>
          </a:p>
        </p:txBody>
      </p:sp>
      <p:sp>
        <p:nvSpPr>
          <p:cNvPr id="5" name="exam-title">
            <a:extLst xmlns:a="http://schemas.openxmlformats.org/drawingml/2006/main">
              <a:ext uri="{FF2B5EF4-FFF2-40B4-BE49-F238E27FC236}">
                <a16:creationId xmlns:a16="http://schemas.microsoft.com/office/drawing/2014/main" id="{7E6F0184-C8EA-4FAB-B9DB-5DD019BFBE54}"/>
              </a:ext>
            </a:extLst>
          </p:cNvPr>
          <p:cNvSpPr>
            <a:spLocks xmlns:a="http://schemas.openxmlformats.org/drawingml/2006/main" noGrp="1"/>
          </p:cNvSpPr>
          <p:nvPr/>
        </p:nvSpPr>
        <p:spPr>
          <a:xfrm xmlns:a="http://schemas.openxmlformats.org/drawingml/2006/main">
            <a:off x="390525" y="981075"/>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Can you answer these without notes?</a:t>
            </a:r>
          </a:p>
        </p:txBody>
      </p:sp>
      <p:sp>
        <p:nvSpPr>
          <p:cNvPr id="6" name="exam-number-1">
            <a:extLst xmlns:a="http://schemas.openxmlformats.org/drawingml/2006/main">
              <a:ext uri="{FF2B5EF4-FFF2-40B4-BE49-F238E27FC236}">
                <a16:creationId xmlns:a16="http://schemas.microsoft.com/office/drawing/2014/main" id="{ACECFA2A-3D19-488A-9F2D-4179BCE41C64}"/>
              </a:ext>
            </a:extLst>
          </p:cNvPr>
          <p:cNvSpPr>
            <a:spLocks xmlns:a="http://schemas.openxmlformats.org/drawingml/2006/main" noGrp="1"/>
          </p:cNvSpPr>
          <p:nvPr/>
        </p:nvSpPr>
        <p:spPr>
          <a:xfrm xmlns:a="http://schemas.openxmlformats.org/drawingml/2006/main">
            <a:off x="390525" y="22383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01</a:t>
            </a:r>
          </a:p>
        </p:txBody>
      </p:sp>
      <p:sp>
        <p:nvSpPr>
          <p:cNvPr id="7" name="exam-question-1">
            <a:extLst xmlns:a="http://schemas.openxmlformats.org/drawingml/2006/main">
              <a:ext uri="{FF2B5EF4-FFF2-40B4-BE49-F238E27FC236}">
                <a16:creationId xmlns:a16="http://schemas.microsoft.com/office/drawing/2014/main" id="{FD872E9A-C07A-4FB7-AF9A-B7755972A936}"/>
              </a:ext>
            </a:extLst>
          </p:cNvPr>
          <p:cNvSpPr>
            <a:spLocks xmlns:a="http://schemas.openxmlformats.org/drawingml/2006/main" noGrp="1"/>
          </p:cNvSpPr>
          <p:nvPr/>
        </p:nvSpPr>
        <p:spPr>
          <a:xfrm xmlns:a="http://schemas.openxmlformats.org/drawingml/2006/main">
            <a:off x="1076325" y="22383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What distinguishes a workflow from an agent?</a:t>
            </a:r>
          </a:p>
        </p:txBody>
      </p:sp>
      <p:sp>
        <p:nvSpPr>
          <p:cNvPr id="8" name="exam-number-2">
            <a:extLst xmlns:a="http://schemas.openxmlformats.org/drawingml/2006/main">
              <a:ext uri="{FF2B5EF4-FFF2-40B4-BE49-F238E27FC236}">
                <a16:creationId xmlns:a16="http://schemas.microsoft.com/office/drawing/2014/main" id="{046B81CD-7026-41E8-92E3-F7E245292091}"/>
              </a:ext>
            </a:extLst>
          </p:cNvPr>
          <p:cNvSpPr>
            <a:spLocks xmlns:a="http://schemas.openxmlformats.org/drawingml/2006/main" noGrp="1"/>
          </p:cNvSpPr>
          <p:nvPr/>
        </p:nvSpPr>
        <p:spPr>
          <a:xfrm xmlns:a="http://schemas.openxmlformats.org/drawingml/2006/main">
            <a:off x="6191250" y="22383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02</a:t>
            </a:r>
          </a:p>
        </p:txBody>
      </p:sp>
      <p:sp>
        <p:nvSpPr>
          <p:cNvPr id="9" name="exam-question-2">
            <a:extLst xmlns:a="http://schemas.openxmlformats.org/drawingml/2006/main">
              <a:ext uri="{FF2B5EF4-FFF2-40B4-BE49-F238E27FC236}">
                <a16:creationId xmlns:a16="http://schemas.microsoft.com/office/drawing/2014/main" id="{EF60A7AE-1307-4FFF-AB1D-4EFA69D0E821}"/>
              </a:ext>
            </a:extLst>
          </p:cNvPr>
          <p:cNvSpPr>
            <a:spLocks xmlns:a="http://schemas.openxmlformats.org/drawingml/2006/main" noGrp="1"/>
          </p:cNvSpPr>
          <p:nvPr/>
        </p:nvSpPr>
        <p:spPr>
          <a:xfrm xmlns:a="http://schemas.openxmlformats.org/drawingml/2006/main">
            <a:off x="6877050" y="22383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Compare prompt chaining and orchestrator-workers.</a:t>
            </a:r>
          </a:p>
        </p:txBody>
      </p:sp>
      <p:sp>
        <p:nvSpPr>
          <p:cNvPr id="10" name="exam-number-3">
            <a:extLst xmlns:a="http://schemas.openxmlformats.org/drawingml/2006/main">
              <a:ext uri="{FF2B5EF4-FFF2-40B4-BE49-F238E27FC236}">
                <a16:creationId xmlns:a16="http://schemas.microsoft.com/office/drawing/2014/main" id="{368B24D7-8A78-47B5-8C47-172805B95E9D}"/>
              </a:ext>
            </a:extLst>
          </p:cNvPr>
          <p:cNvSpPr>
            <a:spLocks xmlns:a="http://schemas.openxmlformats.org/drawingml/2006/main" noGrp="1"/>
          </p:cNvSpPr>
          <p:nvPr/>
        </p:nvSpPr>
        <p:spPr>
          <a:xfrm xmlns:a="http://schemas.openxmlformats.org/drawingml/2006/main">
            <a:off x="390525" y="34956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03</a:t>
            </a:r>
          </a:p>
        </p:txBody>
      </p:sp>
      <p:sp>
        <p:nvSpPr>
          <p:cNvPr id="11" name="exam-question-3">
            <a:extLst xmlns:a="http://schemas.openxmlformats.org/drawingml/2006/main">
              <a:ext uri="{FF2B5EF4-FFF2-40B4-BE49-F238E27FC236}">
                <a16:creationId xmlns:a16="http://schemas.microsoft.com/office/drawing/2014/main" id="{C84D6535-7830-4ACF-8FAB-B9EF90B515AD}"/>
              </a:ext>
            </a:extLst>
          </p:cNvPr>
          <p:cNvSpPr>
            <a:spLocks xmlns:a="http://schemas.openxmlformats.org/drawingml/2006/main" noGrp="1"/>
          </p:cNvSpPr>
          <p:nvPr/>
        </p:nvSpPr>
        <p:spPr>
          <a:xfrm xmlns:a="http://schemas.openxmlformats.org/drawingml/2006/main">
            <a:off x="1076325" y="34956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Name the two forms of parallelization and their goals.</a:t>
            </a:r>
          </a:p>
        </p:txBody>
      </p:sp>
      <p:sp>
        <p:nvSpPr>
          <p:cNvPr id="12" name="exam-number-4">
            <a:extLst xmlns:a="http://schemas.openxmlformats.org/drawingml/2006/main">
              <a:ext uri="{FF2B5EF4-FFF2-40B4-BE49-F238E27FC236}">
                <a16:creationId xmlns:a16="http://schemas.microsoft.com/office/drawing/2014/main" id="{B3038D21-FACF-4B96-B1C0-D8C6F889EAA4}"/>
              </a:ext>
            </a:extLst>
          </p:cNvPr>
          <p:cNvSpPr>
            <a:spLocks xmlns:a="http://schemas.openxmlformats.org/drawingml/2006/main" noGrp="1"/>
          </p:cNvSpPr>
          <p:nvPr/>
        </p:nvSpPr>
        <p:spPr>
          <a:xfrm xmlns:a="http://schemas.openxmlformats.org/drawingml/2006/main">
            <a:off x="6191250" y="34956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04</a:t>
            </a:r>
          </a:p>
        </p:txBody>
      </p:sp>
      <p:sp>
        <p:nvSpPr>
          <p:cNvPr id="13" name="exam-question-4">
            <a:extLst xmlns:a="http://schemas.openxmlformats.org/drawingml/2006/main">
              <a:ext uri="{FF2B5EF4-FFF2-40B4-BE49-F238E27FC236}">
                <a16:creationId xmlns:a16="http://schemas.microsoft.com/office/drawing/2014/main" id="{C8C78931-DE66-407D-8590-CFC558F963BE}"/>
              </a:ext>
            </a:extLst>
          </p:cNvPr>
          <p:cNvSpPr>
            <a:spLocks xmlns:a="http://schemas.openxmlformats.org/drawingml/2006/main" noGrp="1"/>
          </p:cNvSpPr>
          <p:nvPr/>
        </p:nvSpPr>
        <p:spPr>
          <a:xfrm xmlns:a="http://schemas.openxmlformats.org/drawingml/2006/main">
            <a:off x="6877050" y="34956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Why do evaluator-optimizer loops need verifiable criteria?</a:t>
            </a:r>
          </a:p>
        </p:txBody>
      </p:sp>
      <p:sp>
        <p:nvSpPr>
          <p:cNvPr id="14" name="exam-number-5">
            <a:extLst xmlns:a="http://schemas.openxmlformats.org/drawingml/2006/main">
              <a:ext uri="{FF2B5EF4-FFF2-40B4-BE49-F238E27FC236}">
                <a16:creationId xmlns:a16="http://schemas.microsoft.com/office/drawing/2014/main" id="{6CFE32D4-A0EA-4E9F-A179-3F063507782A}"/>
              </a:ext>
            </a:extLst>
          </p:cNvPr>
          <p:cNvSpPr>
            <a:spLocks xmlns:a="http://schemas.openxmlformats.org/drawingml/2006/main" noGrp="1"/>
          </p:cNvSpPr>
          <p:nvPr/>
        </p:nvSpPr>
        <p:spPr>
          <a:xfrm xmlns:a="http://schemas.openxmlformats.org/drawingml/2006/main">
            <a:off x="390525" y="47529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05</a:t>
            </a:r>
          </a:p>
        </p:txBody>
      </p:sp>
      <p:sp>
        <p:nvSpPr>
          <p:cNvPr id="15" name="exam-question-5">
            <a:extLst xmlns:a="http://schemas.openxmlformats.org/drawingml/2006/main">
              <a:ext uri="{FF2B5EF4-FFF2-40B4-BE49-F238E27FC236}">
                <a16:creationId xmlns:a16="http://schemas.microsoft.com/office/drawing/2014/main" id="{7988A6A2-566B-4DBD-BB53-748D49AC7903}"/>
              </a:ext>
            </a:extLst>
          </p:cNvPr>
          <p:cNvSpPr>
            <a:spLocks xmlns:a="http://schemas.openxmlformats.org/drawingml/2006/main" noGrp="1"/>
          </p:cNvSpPr>
          <p:nvPr/>
        </p:nvSpPr>
        <p:spPr>
          <a:xfrm xmlns:a="http://schemas.openxmlformats.org/drawingml/2006/main">
            <a:off x="1076325" y="47529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Give a valid composition of three patterns.</a:t>
            </a:r>
          </a:p>
        </p:txBody>
      </p:sp>
      <p:sp>
        <p:nvSpPr>
          <p:cNvPr id="16" name="exam-number-6">
            <a:extLst xmlns:a="http://schemas.openxmlformats.org/drawingml/2006/main">
              <a:ext uri="{FF2B5EF4-FFF2-40B4-BE49-F238E27FC236}">
                <a16:creationId xmlns:a16="http://schemas.microsoft.com/office/drawing/2014/main" id="{A3C97D4B-7212-4433-BE02-9D54B6C86045}"/>
              </a:ext>
            </a:extLst>
          </p:cNvPr>
          <p:cNvSpPr>
            <a:spLocks xmlns:a="http://schemas.openxmlformats.org/drawingml/2006/main" noGrp="1"/>
          </p:cNvSpPr>
          <p:nvPr/>
        </p:nvSpPr>
        <p:spPr>
          <a:xfrm xmlns:a="http://schemas.openxmlformats.org/drawingml/2006/main">
            <a:off x="6191250" y="47529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06</a:t>
            </a:r>
          </a:p>
        </p:txBody>
      </p:sp>
      <p:sp>
        <p:nvSpPr>
          <p:cNvPr id="17" name="exam-question-6">
            <a:extLst xmlns:a="http://schemas.openxmlformats.org/drawingml/2006/main">
              <a:ext uri="{FF2B5EF4-FFF2-40B4-BE49-F238E27FC236}">
                <a16:creationId xmlns:a16="http://schemas.microsoft.com/office/drawing/2014/main" id="{15FB1F26-15FF-4999-B4FD-73B78EC1B1F6}"/>
              </a:ext>
            </a:extLst>
          </p:cNvPr>
          <p:cNvSpPr>
            <a:spLocks xmlns:a="http://schemas.openxmlformats.org/drawingml/2006/main" noGrp="1"/>
          </p:cNvSpPr>
          <p:nvPr/>
        </p:nvSpPr>
        <p:spPr>
          <a:xfrm xmlns:a="http://schemas.openxmlformats.org/drawingml/2006/main">
            <a:off x="6877050" y="47529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How can a reviewer increase cost without increasing correctness?</a:t>
            </a:r>
          </a:p>
        </p:txBody>
      </p:sp>
    </p:spTree>
    <p:extLst>
      <p:ext uri="{BB962C8B-B14F-4D97-AF65-F5344CB8AC3E}">
        <p14:creationId xmlns:p14="http://schemas.microsoft.com/office/powerpoint/2010/main" val="1139011957"/>
      </p:ext>
    </p:extLst>
  </p:cSld>
</p:sld>
</file>

<file path=ppt/slides/slide11.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4" name="accent-line">
            <a:extLst xmlns:a="http://schemas.openxmlformats.org/drawingml/2006/main">
              <a:ext uri="{FF2B5EF4-FFF2-40B4-BE49-F238E27FC236}">
                <a16:creationId xmlns:a16="http://schemas.microsoft.com/office/drawing/2014/main" id="{49CB37A9-764E-4A18-9290-2A423032615A}"/>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4BE6DD87-A96E-4F3B-86FC-B300F12A4912}"/>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CHAPTER SYNTHESIS  /  04</a:t>
            </a:r>
          </a:p>
        </p:txBody>
      </p:sp>
      <p:sp>
        <p:nvSpPr>
          <p:cNvPr id="3" name="slide-number">
            <a:extLst xmlns:a="http://schemas.openxmlformats.org/drawingml/2006/main">
              <a:ext uri="{FF2B5EF4-FFF2-40B4-BE49-F238E27FC236}">
                <a16:creationId xmlns:a16="http://schemas.microsoft.com/office/drawing/2014/main" id="{E0ED83D5-77C9-45BF-843A-770BB3222867}"/>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11</a:t>
            </a:r>
          </a:p>
        </p:txBody>
      </p:sp>
      <p:sp>
        <p:nvSpPr>
          <p:cNvPr id="4" name="chapter-footer">
            <a:extLst xmlns:a="http://schemas.openxmlformats.org/drawingml/2006/main">
              <a:ext uri="{FF2B5EF4-FFF2-40B4-BE49-F238E27FC236}">
                <a16:creationId xmlns:a16="http://schemas.microsoft.com/office/drawing/2014/main" id="{BD38329F-6D14-4A5B-9E34-40AA2FEE2B38}"/>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Agentic Design Patterns</a:t>
            </a:r>
          </a:p>
        </p:txBody>
      </p:sp>
      <p:sp>
        <p:nvSpPr>
          <p:cNvPr id="5" name="closing-title">
            <a:extLst xmlns:a="http://schemas.openxmlformats.org/drawingml/2006/main">
              <a:ext uri="{FF2B5EF4-FFF2-40B4-BE49-F238E27FC236}">
                <a16:creationId xmlns:a16="http://schemas.microsoft.com/office/drawing/2014/main" id="{B11AC055-B0C2-490E-BDCA-0B0A1CCF6B52}"/>
              </a:ext>
            </a:extLst>
          </p:cNvPr>
          <p:cNvSpPr>
            <a:spLocks xmlns:a="http://schemas.openxmlformats.org/drawingml/2006/main" noGrp="1"/>
          </p:cNvSpPr>
          <p:nvPr/>
        </p:nvSpPr>
        <p:spPr>
          <a:xfrm xmlns:a="http://schemas.openxmlformats.org/drawingml/2006/main">
            <a:off x="390525" y="1047750"/>
            <a:ext cx="10287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What must remain after the details fade</a:t>
            </a:r>
          </a:p>
        </p:txBody>
      </p:sp>
      <p:sp>
        <p:nvSpPr>
          <p:cNvPr id="6" name="takeaway-number-1">
            <a:extLst xmlns:a="http://schemas.openxmlformats.org/drawingml/2006/main">
              <a:ext uri="{FF2B5EF4-FFF2-40B4-BE49-F238E27FC236}">
                <a16:creationId xmlns:a16="http://schemas.microsoft.com/office/drawing/2014/main" id="{4520E21D-CE9D-4077-9465-D6729CC93E2D}"/>
              </a:ext>
            </a:extLst>
          </p:cNvPr>
          <p:cNvSpPr>
            <a:spLocks xmlns:a="http://schemas.openxmlformats.org/drawingml/2006/main" noGrp="1"/>
          </p:cNvSpPr>
          <p:nvPr/>
        </p:nvSpPr>
        <p:spPr>
          <a:xfrm xmlns:a="http://schemas.openxmlformats.org/drawingml/2006/main">
            <a:off x="390525" y="23336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73C8FF"/>
                </a:solidFill>
                <a:latin typeface="Helvetica Neue"/>
                <a:ea typeface="Helvetica Neue"/>
                <a:cs typeface="Helvetica Neue"/>
              </a:defRPr>
            </a:pPr>
            <a:r>
              <a:rPr sz="2250" b="1">
                <a:solidFill>
                  <a:srgbClr val="73C8FF"/>
                </a:solidFill>
                <a:latin typeface="Helvetica Neue"/>
                <a:ea typeface="Helvetica Neue"/>
                <a:cs typeface="Helvetica Neue"/>
              </a:rPr>
              <a:t>01</a:t>
            </a:r>
          </a:p>
        </p:txBody>
      </p:sp>
      <p:sp>
        <p:nvSpPr>
          <p:cNvPr id="7" name="takeaway-1">
            <a:extLst xmlns:a="http://schemas.openxmlformats.org/drawingml/2006/main">
              <a:ext uri="{FF2B5EF4-FFF2-40B4-BE49-F238E27FC236}">
                <a16:creationId xmlns:a16="http://schemas.microsoft.com/office/drawing/2014/main" id="{62E4F6E1-6D54-4169-9C52-559589088620}"/>
              </a:ext>
            </a:extLst>
          </p:cNvPr>
          <p:cNvSpPr>
            <a:spLocks xmlns:a="http://schemas.openxmlformats.org/drawingml/2006/main" noGrp="1"/>
          </p:cNvSpPr>
          <p:nvPr/>
        </p:nvSpPr>
        <p:spPr>
          <a:xfrm xmlns:a="http://schemas.openxmlformats.org/drawingml/2006/main">
            <a:off x="1257300" y="23145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Patterns connect augmented LLMs with different control structures.</a:t>
            </a:r>
          </a:p>
        </p:txBody>
      </p:sp>
      <p:sp>
        <p:nvSpPr>
          <p:cNvPr id="8" name="takeaway-number-2">
            <a:extLst xmlns:a="http://schemas.openxmlformats.org/drawingml/2006/main">
              <a:ext uri="{FF2B5EF4-FFF2-40B4-BE49-F238E27FC236}">
                <a16:creationId xmlns:a16="http://schemas.microsoft.com/office/drawing/2014/main" id="{6029581E-84FC-4585-8771-7DA76A7DF8CF}"/>
              </a:ext>
            </a:extLst>
          </p:cNvPr>
          <p:cNvSpPr>
            <a:spLocks xmlns:a="http://schemas.openxmlformats.org/drawingml/2006/main" noGrp="1"/>
          </p:cNvSpPr>
          <p:nvPr/>
        </p:nvSpPr>
        <p:spPr>
          <a:xfrm xmlns:a="http://schemas.openxmlformats.org/drawingml/2006/main">
            <a:off x="390525" y="32099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73C8FF"/>
                </a:solidFill>
                <a:latin typeface="Helvetica Neue"/>
                <a:ea typeface="Helvetica Neue"/>
                <a:cs typeface="Helvetica Neue"/>
              </a:defRPr>
            </a:pPr>
            <a:r>
              <a:rPr sz="2250" b="1">
                <a:solidFill>
                  <a:srgbClr val="73C8FF"/>
                </a:solidFill>
                <a:latin typeface="Helvetica Neue"/>
                <a:ea typeface="Helvetica Neue"/>
                <a:cs typeface="Helvetica Neue"/>
              </a:rPr>
              <a:t>02</a:t>
            </a:r>
          </a:p>
        </p:txBody>
      </p:sp>
      <p:sp>
        <p:nvSpPr>
          <p:cNvPr id="9" name="takeaway-2">
            <a:extLst xmlns:a="http://schemas.openxmlformats.org/drawingml/2006/main">
              <a:ext uri="{FF2B5EF4-FFF2-40B4-BE49-F238E27FC236}">
                <a16:creationId xmlns:a16="http://schemas.microsoft.com/office/drawing/2014/main" id="{3A3CFFF7-DDE5-4896-ADFB-689912E65662}"/>
              </a:ext>
            </a:extLst>
          </p:cNvPr>
          <p:cNvSpPr>
            <a:spLocks xmlns:a="http://schemas.openxmlformats.org/drawingml/2006/main" noGrp="1"/>
          </p:cNvSpPr>
          <p:nvPr/>
        </p:nvSpPr>
        <p:spPr>
          <a:xfrm xmlns:a="http://schemas.openxmlformats.org/drawingml/2006/main">
            <a:off x="1257300" y="31908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59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Chaining, routing, parallelization, orchestrator-workers, and evaluator-optimizer are workflows.</a:t>
            </a:r>
          </a:p>
        </p:txBody>
      </p:sp>
      <p:sp>
        <p:nvSpPr>
          <p:cNvPr id="10" name="takeaway-number-3">
            <a:extLst xmlns:a="http://schemas.openxmlformats.org/drawingml/2006/main">
              <a:ext uri="{FF2B5EF4-FFF2-40B4-BE49-F238E27FC236}">
                <a16:creationId xmlns:a16="http://schemas.microsoft.com/office/drawing/2014/main" id="{89CE94B7-0685-4135-8A14-CEBC0107EF85}"/>
              </a:ext>
            </a:extLst>
          </p:cNvPr>
          <p:cNvSpPr>
            <a:spLocks xmlns:a="http://schemas.openxmlformats.org/drawingml/2006/main" noGrp="1"/>
          </p:cNvSpPr>
          <p:nvPr/>
        </p:nvSpPr>
        <p:spPr>
          <a:xfrm xmlns:a="http://schemas.openxmlformats.org/drawingml/2006/main">
            <a:off x="390525" y="40862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73C8FF"/>
                </a:solidFill>
                <a:latin typeface="Helvetica Neue"/>
                <a:ea typeface="Helvetica Neue"/>
                <a:cs typeface="Helvetica Neue"/>
              </a:defRPr>
            </a:pPr>
            <a:r>
              <a:rPr sz="2250" b="1">
                <a:solidFill>
                  <a:srgbClr val="73C8FF"/>
                </a:solidFill>
                <a:latin typeface="Helvetica Neue"/>
                <a:ea typeface="Helvetica Neue"/>
                <a:cs typeface="Helvetica Neue"/>
              </a:rPr>
              <a:t>03</a:t>
            </a:r>
          </a:p>
        </p:txBody>
      </p:sp>
      <p:sp>
        <p:nvSpPr>
          <p:cNvPr id="11" name="takeaway-3">
            <a:extLst xmlns:a="http://schemas.openxmlformats.org/drawingml/2006/main">
              <a:ext uri="{FF2B5EF4-FFF2-40B4-BE49-F238E27FC236}">
                <a16:creationId xmlns:a16="http://schemas.microsoft.com/office/drawing/2014/main" id="{D36FEBA3-B7E1-428C-844D-4308FB5A66E3}"/>
              </a:ext>
            </a:extLst>
          </p:cNvPr>
          <p:cNvSpPr>
            <a:spLocks xmlns:a="http://schemas.openxmlformats.org/drawingml/2006/main" noGrp="1"/>
          </p:cNvSpPr>
          <p:nvPr/>
        </p:nvSpPr>
        <p:spPr>
          <a:xfrm xmlns:a="http://schemas.openxmlformats.org/drawingml/2006/main">
            <a:off x="1257300" y="40671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59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Tool use, reflection, planning, and multi-agent systems hand more control to models.</a:t>
            </a:r>
          </a:p>
        </p:txBody>
      </p:sp>
      <p:sp>
        <p:nvSpPr>
          <p:cNvPr id="12" name="takeaway-number-4">
            <a:extLst xmlns:a="http://schemas.openxmlformats.org/drawingml/2006/main">
              <a:ext uri="{FF2B5EF4-FFF2-40B4-BE49-F238E27FC236}">
                <a16:creationId xmlns:a16="http://schemas.microsoft.com/office/drawing/2014/main" id="{4B05473C-C588-4A8E-91DB-0F38BB4F5AC4}"/>
              </a:ext>
            </a:extLst>
          </p:cNvPr>
          <p:cNvSpPr>
            <a:spLocks xmlns:a="http://schemas.openxmlformats.org/drawingml/2006/main" noGrp="1"/>
          </p:cNvSpPr>
          <p:nvPr/>
        </p:nvSpPr>
        <p:spPr>
          <a:xfrm xmlns:a="http://schemas.openxmlformats.org/drawingml/2006/main">
            <a:off x="390525" y="49625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73C8FF"/>
                </a:solidFill>
                <a:latin typeface="Helvetica Neue"/>
                <a:ea typeface="Helvetica Neue"/>
                <a:cs typeface="Helvetica Neue"/>
              </a:defRPr>
            </a:pPr>
            <a:r>
              <a:rPr sz="2250" b="1">
                <a:solidFill>
                  <a:srgbClr val="73C8FF"/>
                </a:solidFill>
                <a:latin typeface="Helvetica Neue"/>
                <a:ea typeface="Helvetica Neue"/>
                <a:cs typeface="Helvetica Neue"/>
              </a:rPr>
              <a:t>04</a:t>
            </a:r>
          </a:p>
        </p:txBody>
      </p:sp>
      <p:sp>
        <p:nvSpPr>
          <p:cNvPr id="13" name="takeaway-4">
            <a:extLst xmlns:a="http://schemas.openxmlformats.org/drawingml/2006/main">
              <a:ext uri="{FF2B5EF4-FFF2-40B4-BE49-F238E27FC236}">
                <a16:creationId xmlns:a16="http://schemas.microsoft.com/office/drawing/2014/main" id="{775700BA-DE74-4019-953F-B935EAE2C488}"/>
              </a:ext>
            </a:extLst>
          </p:cNvPr>
          <p:cNvSpPr>
            <a:spLocks xmlns:a="http://schemas.openxmlformats.org/drawingml/2006/main" noGrp="1"/>
          </p:cNvSpPr>
          <p:nvPr/>
        </p:nvSpPr>
        <p:spPr>
          <a:xfrm xmlns:a="http://schemas.openxmlformats.org/drawingml/2006/main">
            <a:off x="1257300" y="49434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Ground checks and budgets at every loop boundary.</a:t>
            </a:r>
          </a:p>
        </p:txBody>
      </p:sp>
    </p:spTree>
    <p:extLst>
      <p:ext uri="{BB962C8B-B14F-4D97-AF65-F5344CB8AC3E}">
        <p14:creationId xmlns:p14="http://schemas.microsoft.com/office/powerpoint/2010/main" val="112224645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accent-line">
            <a:extLst xmlns:a="http://schemas.openxmlformats.org/drawingml/2006/main">
              <a:ext uri="{FF2B5EF4-FFF2-40B4-BE49-F238E27FC236}">
                <a16:creationId xmlns:a16="http://schemas.microsoft.com/office/drawing/2014/main" id="{86E3BA6D-05C5-42C6-B297-7C17A54D9C42}"/>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B95F3CB1-FCD4-43AE-A909-73482F2E9143}"/>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PRACTICE AND READING  /  04</a:t>
            </a:r>
          </a:p>
        </p:txBody>
      </p:sp>
      <p:sp>
        <p:nvSpPr>
          <p:cNvPr id="3" name="slide-number">
            <a:extLst xmlns:a="http://schemas.openxmlformats.org/drawingml/2006/main">
              <a:ext uri="{FF2B5EF4-FFF2-40B4-BE49-F238E27FC236}">
                <a16:creationId xmlns:a16="http://schemas.microsoft.com/office/drawing/2014/main" id="{96E2CC9C-8329-4A2B-BFC5-5223D46B38E5}"/>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12</a:t>
            </a:r>
          </a:p>
        </p:txBody>
      </p:sp>
      <p:sp>
        <p:nvSpPr>
          <p:cNvPr id="4" name="chapter-footer">
            <a:extLst xmlns:a="http://schemas.openxmlformats.org/drawingml/2006/main">
              <a:ext uri="{FF2B5EF4-FFF2-40B4-BE49-F238E27FC236}">
                <a16:creationId xmlns:a16="http://schemas.microsoft.com/office/drawing/2014/main" id="{A54D0B71-BA4A-4ABD-A517-53612F64A56B}"/>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Agentic Design Patterns</a:t>
            </a:r>
          </a:p>
        </p:txBody>
      </p:sp>
      <p:sp>
        <p:nvSpPr>
          <p:cNvPr id="5" name="practice-title">
            <a:extLst xmlns:a="http://schemas.openxmlformats.org/drawingml/2006/main">
              <a:ext uri="{FF2B5EF4-FFF2-40B4-BE49-F238E27FC236}">
                <a16:creationId xmlns:a16="http://schemas.microsoft.com/office/drawing/2014/main" id="{F8F5A2F4-C82D-41F1-A5C8-FEC2077266B6}"/>
              </a:ext>
            </a:extLst>
          </p:cNvPr>
          <p:cNvSpPr>
            <a:spLocks xmlns:a="http://schemas.openxmlformats.org/drawingml/2006/main" noGrp="1"/>
          </p:cNvSpPr>
          <p:nvPr/>
        </p:nvSpPr>
        <p:spPr>
          <a:xfrm xmlns:a="http://schemas.openxmlformats.org/drawingml/2006/main">
            <a:off x="390525" y="1000125"/>
            <a:ext cx="11144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Evidence to submit</a:t>
            </a:r>
          </a:p>
        </p:txBody>
      </p:sp>
      <p:sp>
        <p:nvSpPr>
          <p:cNvPr id="6" name="practice-task">
            <a:extLst xmlns:a="http://schemas.openxmlformats.org/drawingml/2006/main">
              <a:ext uri="{FF2B5EF4-FFF2-40B4-BE49-F238E27FC236}">
                <a16:creationId xmlns:a16="http://schemas.microsoft.com/office/drawing/2014/main" id="{0CC64A6D-5386-48C0-9CCE-474B95F15D02}"/>
              </a:ext>
            </a:extLst>
          </p:cNvPr>
          <p:cNvSpPr>
            <a:spLocks xmlns:a="http://schemas.openxmlformats.org/drawingml/2006/main" noGrp="1"/>
          </p:cNvSpPr>
          <p:nvPr/>
        </p:nvSpPr>
        <p:spPr>
          <a:xfrm xmlns:a="http://schemas.openxmlformats.org/drawingml/2006/main">
            <a:off x="390525" y="2000250"/>
            <a:ext cx="10953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0">
                <a:solidFill>
                  <a:srgbClr val="111111"/>
                </a:solidFill>
                <a:latin typeface="Helvetica Neue"/>
                <a:ea typeface="Helvetica Neue"/>
                <a:cs typeface="Helvetica Neue"/>
              </a:defRPr>
            </a:pPr>
            <a:r>
              <a:rPr sz="1950" b="0">
                <a:solidFill>
                  <a:srgbClr val="111111"/>
                </a:solidFill>
                <a:latin typeface="Helvetica Neue"/>
                <a:ea typeface="Helvetica Neue"/>
                <a:cs typeface="Helvetica Neue"/>
              </a:rPr>
              <a:t>Compare a single catalog agent with an objective evidence check. Specify when an LLM reviewer would add information that the objective check lacks.</a:t>
            </a:r>
          </a:p>
        </p:txBody>
      </p:sp>
      <p:sp>
        <p:nvSpPr>
          <p:cNvPr id="7" name="practice-check">
            <a:extLst xmlns:a="http://schemas.openxmlformats.org/drawingml/2006/main">
              <a:ext uri="{FF2B5EF4-FFF2-40B4-BE49-F238E27FC236}">
                <a16:creationId xmlns:a16="http://schemas.microsoft.com/office/drawing/2014/main" id="{44A5CB6F-1BB6-4017-9099-1341609C329A}"/>
              </a:ext>
            </a:extLst>
          </p:cNvPr>
          <p:cNvSpPr>
            <a:spLocks xmlns:a="http://schemas.openxmlformats.org/drawingml/2006/main" noGrp="1"/>
          </p:cNvSpPr>
          <p:nvPr/>
        </p:nvSpPr>
        <p:spPr>
          <a:xfrm xmlns:a="http://schemas.openxmlformats.org/drawingml/2006/main">
            <a:off x="390525" y="3381375"/>
            <a:ext cx="10953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00" b="0">
                <a:solidFill>
                  <a:srgbClr val="5B5B57"/>
                </a:solidFill>
                <a:latin typeface="Helvetica Neue"/>
                <a:ea typeface="Helvetica Neue"/>
                <a:cs typeface="Helvetica Neue"/>
              </a:defRPr>
            </a:pPr>
            <a:r>
              <a:rPr sz="1800" b="0">
                <a:solidFill>
                  <a:srgbClr val="5B5B57"/>
                </a:solidFill>
                <a:latin typeface="Helvetica Neue"/>
                <a:ea typeface="Helvetica Neue"/>
                <a:cs typeface="Helvetica Neue"/>
              </a:rPr>
              <a:t>Include a case where review adds no value and one where it changes an incorrect proposal. Count all calls in the live variant.</a:t>
            </a:r>
          </a:p>
        </p:txBody>
      </p:sp>
      <p:sp>
        <p:nvSpPr>
          <p:cNvPr id="8" name="practice-readings">
            <a:extLst xmlns:a="http://schemas.openxmlformats.org/drawingml/2006/main">
              <a:ext uri="{FF2B5EF4-FFF2-40B4-BE49-F238E27FC236}">
                <a16:creationId xmlns:a16="http://schemas.microsoft.com/office/drawing/2014/main" id="{F50A46E5-9DDE-425F-9489-37FBBA04260A}"/>
              </a:ext>
            </a:extLst>
          </p:cNvPr>
          <p:cNvSpPr>
            <a:spLocks xmlns:a="http://schemas.openxmlformats.org/drawingml/2006/main" noGrp="1"/>
          </p:cNvSpPr>
          <p:nvPr/>
        </p:nvSpPr>
        <p:spPr>
          <a:xfrm xmlns:a="http://schemas.openxmlformats.org/drawingml/2006/main">
            <a:off x="390525" y="4667250"/>
            <a:ext cx="109537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111111"/>
                </a:solidFill>
                <a:latin typeface="Helvetica Neue"/>
                <a:ea typeface="Helvetica Neue"/>
                <a:cs typeface="Helvetica Neue"/>
              </a:defRPr>
            </a:pPr>
            <a:r>
              <a:rPr sz="1425" b="0">
                <a:solidFill>
                  <a:srgbClr val="111111"/>
                </a:solidFill>
                <a:latin typeface="Helvetica Neue"/>
                <a:ea typeface="Helvetica Neue"/>
                <a:cs typeface="Helvetica Neue"/>
              </a:rPr>
              <a:t>R1  Patterns and problems in emerging multiagent systems</a:t>
            </a:r>
          </a:p>
        </p:txBody>
      </p:sp>
      <p:sp>
        <p:nvSpPr>
          <p:cNvPr id="9" name="practice-lab">
            <a:extLst xmlns:a="http://schemas.openxmlformats.org/drawingml/2006/main">
              <a:ext uri="{FF2B5EF4-FFF2-40B4-BE49-F238E27FC236}">
                <a16:creationId xmlns:a16="http://schemas.microsoft.com/office/drawing/2014/main" id="{6060D9BB-0154-4926-9B41-020C68528C59}"/>
              </a:ext>
            </a:extLst>
          </p:cNvPr>
          <p:cNvSpPr>
            <a:spLocks xmlns:a="http://schemas.openxmlformats.org/drawingml/2006/main" noGrp="1"/>
          </p:cNvSpPr>
          <p:nvPr/>
        </p:nvSpPr>
        <p:spPr>
          <a:xfrm xmlns:a="http://schemas.openxmlformats.org/drawingml/2006/main">
            <a:off x="390525" y="5857875"/>
            <a:ext cx="1095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defRPr sz="1275" b="0">
                <a:solidFill>
                  <a:srgbClr val="5B5B57"/>
                </a:solidFill>
                <a:latin typeface="Helvetica Neue"/>
                <a:ea typeface="Helvetica Neue"/>
                <a:cs typeface="Helvetica Neue"/>
              </a:defRPr>
            </a:pPr>
            <a:r>
              <a:rPr sz="1275" b="0">
                <a:solidFill>
                  <a:srgbClr val="5B5B57"/>
                </a:solidFill>
                <a:latin typeface="Helvetica Neue"/>
                <a:ea typeface="Helvetica Neue"/>
                <a:cs typeface="Helvetica Neue"/>
              </a:rPr>
              <a:t>labs/07_agents_sdk_evaluation.ipynb</a:t>
            </a:r>
          </a:p>
        </p:txBody>
      </p:sp>
    </p:spTree>
    <p:extLst>
      <p:ext uri="{BB962C8B-B14F-4D97-AF65-F5344CB8AC3E}">
        <p14:creationId xmlns:p14="http://schemas.microsoft.com/office/powerpoint/2010/main" val="1810858708"/>
      </p:ext>
    </p:extLst>
  </p:cSld>
</p:sld>
</file>

<file path=ppt/theme/theme1.xml><?xml version="1.0" encoding="utf-8"?>
<a:theme xmlns:a="http://schemas.openxmlformats.org/drawingml/2006/main" name="Course">
  <a:themeElements>
    <a:clrScheme name="Cours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ours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
  <lastModifiedBy/>
  <dc:title>04-design-patterns</dc:title>
  <dcterms:created xsi:type="dcterms:W3CDTF">2026-09-09T16:56:40.4800000Z</dcterms:created>
  <dcterms:modified xsi:type="dcterms:W3CDTF">2026-09-09T16:56:40.4800000Z</dcterms:modified>
</coreProperties>
</file>