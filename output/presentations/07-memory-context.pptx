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bfe649a81340e5" /><Relationship Type="http://schemas.openxmlformats.org/officeDocument/2006/relationships/extended-properties" Target="/docProps/app.xml" Id="Rd9d44cac07284109" /><Relationship Type="http://schemas.openxmlformats.org/officeDocument/2006/relationships/officeDocument" Target="/ppt/presentation.xml" Id="Rd9264e17e93744db" /></Relationships>
</file>

<file path=ppt/presentation.xml><?xml version="1.0" encoding="utf-8"?>
<p:presentation xmlns:p="http://schemas.openxmlformats.org/presentationml/2006/main">
  <p:sldMasterIdLst>
    <p:sldMasterId xmlns:r="http://schemas.openxmlformats.org/officeDocument/2006/relationships" id="2147483648" r:id="R2291f388785d4933"/>
  </p:sldMasterIdLst>
  <p:notesMasterIdLst>
    <p:notesMasterId xmlns:r="http://schemas.openxmlformats.org/officeDocument/2006/relationships" r:id="R7c65fee319fd4910"/>
  </p:notesMasterIdLst>
  <p:sldIdLst>
    <p:sldId xmlns:r="http://schemas.openxmlformats.org/officeDocument/2006/relationships" id="256" r:id="R37e675ec1d3d4468"/>
    <p:sldId xmlns:r="http://schemas.openxmlformats.org/officeDocument/2006/relationships" id="257" r:id="Rebb71b8c563644ab"/>
    <p:sldId xmlns:r="http://schemas.openxmlformats.org/officeDocument/2006/relationships" id="258" r:id="R9ba6ae4c0cee4c00"/>
    <p:sldId xmlns:r="http://schemas.openxmlformats.org/officeDocument/2006/relationships" id="259" r:id="Rbfe30a6ecbea4f04"/>
    <p:sldId xmlns:r="http://schemas.openxmlformats.org/officeDocument/2006/relationships" id="260" r:id="R577fe4e02efe490e"/>
    <p:sldId xmlns:r="http://schemas.openxmlformats.org/officeDocument/2006/relationships" id="261" r:id="R84fec129b60043cc"/>
    <p:sldId xmlns:r="http://schemas.openxmlformats.org/officeDocument/2006/relationships" id="262" r:id="Rb05f3dbcd5f94caf"/>
    <p:sldId xmlns:r="http://schemas.openxmlformats.org/officeDocument/2006/relationships" id="263" r:id="R913ed2dc31094a7a"/>
    <p:sldId xmlns:r="http://schemas.openxmlformats.org/officeDocument/2006/relationships" id="264" r:id="R1cc91d12119b4491"/>
    <p:sldId xmlns:r="http://schemas.openxmlformats.org/officeDocument/2006/relationships" id="265" r:id="R49b9961d5ea44790"/>
    <p:sldId xmlns:r="http://schemas.openxmlformats.org/officeDocument/2006/relationships" id="266" r:id="Rc0331ed59fa44c8d"/>
    <p:sldId xmlns:r="http://schemas.openxmlformats.org/officeDocument/2006/relationships" id="267" r:id="Re17cc34965b746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adb196793642ee" /><Relationship Type="http://schemas.openxmlformats.org/officeDocument/2006/relationships/slideMaster" Target="/ppt/slideMasters/slideMaster1.xml" Id="R2291f388785d4933" /><Relationship Type="http://schemas.openxmlformats.org/officeDocument/2006/relationships/notesMaster" Target="/ppt/notesMasters/notesMaster1.xml" Id="R7c65fee319fd4910" /><Relationship Type="http://schemas.openxmlformats.org/officeDocument/2006/relationships/presProps" Target="/ppt/presProps.xml" Id="R80b536b8c46a4e36" /><Relationship Type="http://schemas.openxmlformats.org/officeDocument/2006/relationships/tableStyles" Target="/ppt/tableStyles.xml" Id="R2fca818b662a4487" /><Relationship Type="http://schemas.openxmlformats.org/officeDocument/2006/relationships/slide" Target="/ppt/slides/slide1.xml" Id="R37e675ec1d3d4468" /><Relationship Type="http://schemas.openxmlformats.org/officeDocument/2006/relationships/slide" Target="/ppt/slides/slide2.xml" Id="Rebb71b8c563644ab" /><Relationship Type="http://schemas.openxmlformats.org/officeDocument/2006/relationships/slide" Target="/ppt/slides/slide3.xml" Id="R9ba6ae4c0cee4c00" /><Relationship Type="http://schemas.openxmlformats.org/officeDocument/2006/relationships/slide" Target="/ppt/slides/slide4.xml" Id="Rbfe30a6ecbea4f04" /><Relationship Type="http://schemas.openxmlformats.org/officeDocument/2006/relationships/slide" Target="/ppt/slides/slide5.xml" Id="R577fe4e02efe490e" /><Relationship Type="http://schemas.openxmlformats.org/officeDocument/2006/relationships/slide" Target="/ppt/slides/slide6.xml" Id="R84fec129b60043cc" /><Relationship Type="http://schemas.openxmlformats.org/officeDocument/2006/relationships/slide" Target="/ppt/slides/slide7.xml" Id="Rb05f3dbcd5f94caf" /><Relationship Type="http://schemas.openxmlformats.org/officeDocument/2006/relationships/slide" Target="/ppt/slides/slide8.xml" Id="R913ed2dc31094a7a" /><Relationship Type="http://schemas.openxmlformats.org/officeDocument/2006/relationships/slide" Target="/ppt/slides/slide9.xml" Id="R1cc91d12119b4491" /><Relationship Type="http://schemas.openxmlformats.org/officeDocument/2006/relationships/slide" Target="/ppt/slides/slide10.xml" Id="R49b9961d5ea44790" /><Relationship Type="http://schemas.openxmlformats.org/officeDocument/2006/relationships/slide" Target="/ppt/slides/slide11.xml" Id="Rc0331ed59fa44c8d" /><Relationship Type="http://schemas.openxmlformats.org/officeDocument/2006/relationships/slide" Target="/ppt/slides/slide12.xml" Id="Re17cc34965b746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63458d852942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0750be3c744673" /><Relationship Type="http://schemas.openxmlformats.org/officeDocument/2006/relationships/notesMaster" Target="/ppt/notesMasters/notesMaster1.xml" Id="Rd058ee236aa444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0c38b8ff7749be" /><Relationship Type="http://schemas.openxmlformats.org/officeDocument/2006/relationships/notesMaster" Target="/ppt/notesMasters/notesMaster1.xml" Id="R7c1d8914eac84c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eb3449a0574244" /><Relationship Type="http://schemas.openxmlformats.org/officeDocument/2006/relationships/notesMaster" Target="/ppt/notesMasters/notesMaster1.xml" Id="Re7db6264abfb4b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82a4cb4c2248ba" /><Relationship Type="http://schemas.openxmlformats.org/officeDocument/2006/relationships/notesMaster" Target="/ppt/notesMasters/notesMaster1.xml" Id="R6080c26730fd49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27cc3e7c67407d" /><Relationship Type="http://schemas.openxmlformats.org/officeDocument/2006/relationships/notesMaster" Target="/ppt/notesMasters/notesMaster1.xml" Id="Rcd39bba301ea4a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fb295a4a164bc1" /><Relationship Type="http://schemas.openxmlformats.org/officeDocument/2006/relationships/notesMaster" Target="/ppt/notesMasters/notesMaster1.xml" Id="R7c38ba0ff98d4f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839fe84d904ace" /><Relationship Type="http://schemas.openxmlformats.org/officeDocument/2006/relationships/notesMaster" Target="/ppt/notesMasters/notesMaster1.xml" Id="Rd860a9162a9a49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d598a4e3444f78" /><Relationship Type="http://schemas.openxmlformats.org/officeDocument/2006/relationships/notesMaster" Target="/ppt/notesMasters/notesMaster1.xml" Id="Rc6382db1923443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1131f75e42474b" /><Relationship Type="http://schemas.openxmlformats.org/officeDocument/2006/relationships/notesMaster" Target="/ppt/notesMasters/notesMaster1.xml" Id="Ra9f7bd38cc8a46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046ba2f28b4673" /><Relationship Type="http://schemas.openxmlformats.org/officeDocument/2006/relationships/notesMaster" Target="/ppt/notesMasters/notesMaster1.xml" Id="R306cdd7ccfb848a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12ff73df894916" /><Relationship Type="http://schemas.openxmlformats.org/officeDocument/2006/relationships/notesMaster" Target="/ppt/notesMasters/notesMaster1.xml" Id="R95f537a988d64b5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836c5b95264d1b" /><Relationship Type="http://schemas.openxmlformats.org/officeDocument/2006/relationships/notesMaster" Target="/ppt/notesMasters/notesMaster1.xml" Id="R1e2d330fbdca43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chapter thesis and connect it to the previous chapter.</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07-memory-context.pdf</a:t>
            </a:r>
          </a:p>
          <a:p xmlns:a="http://schemas.openxmlformats.org/drawingml/2006/main">
            <a:r>
              <a:t>- S3: LangGraph interrupts. LangChain documentation, accessed, 2026-09-09. https://docs.langchain.com/oss/python/langgraph/interrupts Resume restarts the interrupted node. Put effects after approval and make replay safe.</a:t>
            </a:r>
          </a:p>
          <a:p xmlns:a="http://schemas.openxmlformats.org/drawingml/2006/main">
            <a:r>
              <a:t>- R2: How enabling two settings tripled our scores on the ARC-AGI-3 benchmark. OpenAI research post, 2026-07-29. https://openai.com/index/how-two-settings-tripled-our-arc-agi-3-scores/ A specific harness experiment. Its result does not estimate the effect of context changes in Gemini.</a:t>
            </a:r>
          </a:p>
          <a:p xmlns:a="http://schemas.openxmlformats.org/drawingml/2006/main">
            <a:r>
              <a:t/>
            </a:r>
          </a:p>
          <a:p xmlns:a="http://schemas.openxmlformats.org/drawingml/2006/main">
            <a:r>
              <a:t>[Assessed practice]</a:t>
            </a:r>
          </a:p>
          <a:p xmlns:a="http://schemas.openxmlformats.org/drawingml/2006/main">
            <a:r>
              <a:t>Complete Lab 8's checkpoint test. As an extension, compare a fixed recent-history window with a structured task summary on the same lookup tasks.</a:t>
            </a:r>
          </a:p>
          <a:p xmlns:a="http://schemas.openxmlformats.org/drawingml/2006/main">
            <a:r>
              <a:t>Acceptance: Show the pending state before resume and one committed effect after a retry. Do not generalize a context-policy result across providers.</a:t>
            </a:r>
          </a:p>
          <a:p xmlns:a="http://schemas.openxmlformats.org/drawingml/2006/main">
            <a:r>
              <a:t>Lab: labs/08_langgraph_approval_security.ipynb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objectives as an advance organizer and as a checklist after the deck.</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07-memory-context.pdf</a:t>
            </a:r>
          </a:p>
          <a:p xmlns:a="http://schemas.openxmlformats.org/drawingml/2006/main">
            <a:r>
              <a:t>- S3: LangGraph interrupts. LangChain documentation, accessed, 2026-09-09. https://docs.langchain.com/oss/python/langgraph/interrupts Resume restarts the interrupted node. Put effects after approval and make replay safe.</a:t>
            </a:r>
          </a:p>
          <a:p xmlns:a="http://schemas.openxmlformats.org/drawingml/2006/main">
            <a:r>
              <a:t>- R2: How enabling two settings tripled our scores on the ARC-AGI-3 benchmark. OpenAI research post, 2026-07-29. https://openai.com/index/how-two-settings-tripled-our-arc-agi-3-scores/ A specific harness experiment. Its result does not estimate the effect of context changes in Gemini.</a:t>
            </a:r>
          </a:p>
          <a:p xmlns:a="http://schemas.openxmlformats.org/drawingml/2006/main">
            <a:r>
              <a:t/>
            </a:r>
          </a:p>
          <a:p xmlns:a="http://schemas.openxmlformats.org/drawingml/2006/main">
            <a:r>
              <a:t>[Assessed practice]</a:t>
            </a:r>
          </a:p>
          <a:p xmlns:a="http://schemas.openxmlformats.org/drawingml/2006/main">
            <a:r>
              <a:t>Complete Lab 8's checkpoint test. As an extension, compare a fixed recent-history window with a structured task summary on the same lookup tasks.</a:t>
            </a:r>
          </a:p>
          <a:p xmlns:a="http://schemas.openxmlformats.org/drawingml/2006/main">
            <a:r>
              <a:t>Acceptance: Show the pending state before resume and one committed effect after a retry. Do not generalize a context-policy result across providers.</a:t>
            </a:r>
          </a:p>
          <a:p xmlns:a="http://schemas.openxmlformats.org/drawingml/2006/main">
            <a:r>
              <a:t>Lab: labs/08_langgraph_approval_security.ipynb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07-memory-context.pdf</a:t>
            </a:r>
          </a:p>
          <a:p xmlns:a="http://schemas.openxmlformats.org/drawingml/2006/main">
            <a:r>
              <a:t>- S3: LangGraph interrupts. LangChain documentation, accessed, 2026-09-09. https://docs.langchain.com/oss/python/langgraph/interrupts Resume restarts the interrupted node. Put effects after approval and make replay safe.</a:t>
            </a:r>
          </a:p>
          <a:p xmlns:a="http://schemas.openxmlformats.org/drawingml/2006/main">
            <a:r>
              <a:t>- R2: How enabling two settings tripled our scores on the ARC-AGI-3 benchmark. OpenAI research post, 2026-07-29. https://openai.com/index/how-two-settings-tripled-our-arc-agi-3-scores/ A specific harness experiment. Its result does not estimate the effect of context changes in Gemini.</a:t>
            </a:r>
          </a:p>
          <a:p xmlns:a="http://schemas.openxmlformats.org/drawingml/2006/main">
            <a:r>
              <a:t/>
            </a:r>
          </a:p>
          <a:p xmlns:a="http://schemas.openxmlformats.org/drawingml/2006/main">
            <a:r>
              <a:t>[Assessed practice]</a:t>
            </a:r>
          </a:p>
          <a:p xmlns:a="http://schemas.openxmlformats.org/drawingml/2006/main">
            <a:r>
              <a:t>Complete Lab 8's checkpoint test. As an extension, compare a fixed recent-history window with a structured task summary on the same lookup tasks.</a:t>
            </a:r>
          </a:p>
          <a:p xmlns:a="http://schemas.openxmlformats.org/drawingml/2006/main">
            <a:r>
              <a:t>Acceptance: Show the pending state before resume and one committed effect after a retry. Do not generalize a context-policy result across providers.</a:t>
            </a:r>
          </a:p>
          <a:p xmlns:a="http://schemas.openxmlformats.org/drawingml/2006/main">
            <a:r>
              <a:t>Lab: labs/08_langgraph_approval_security.ipynb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central statement, then connect the lower points as a single mental model.</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07-memory-context.pdf</a:t>
            </a:r>
          </a:p>
          <a:p xmlns:a="http://schemas.openxmlformats.org/drawingml/2006/main">
            <a:r>
              <a:t>- S3: LangGraph interrupts. LangChain documentation, accessed, 2026-09-09. https://docs.langchain.com/oss/python/langgraph/interrupts Resume restarts the interrupted node. Put effects after approval and make replay safe.</a:t>
            </a:r>
          </a:p>
          <a:p xmlns:a="http://schemas.openxmlformats.org/drawingml/2006/main">
            <a:r>
              <a:t>- R2: How enabling two settings tripled our scores on the ARC-AGI-3 benchmark. OpenAI research post, 2026-07-29. https://openai.com/index/how-two-settings-tripled-our-arc-agi-3-scores/ A specific harness experiment. Its result does not estimate the effect of context changes in Gemini.</a:t>
            </a:r>
          </a:p>
          <a:p xmlns:a="http://schemas.openxmlformats.org/drawingml/2006/main">
            <a:r>
              <a:t/>
            </a:r>
          </a:p>
          <a:p xmlns:a="http://schemas.openxmlformats.org/drawingml/2006/main">
            <a:r>
              <a:t>[Assessed practice]</a:t>
            </a:r>
          </a:p>
          <a:p xmlns:a="http://schemas.openxmlformats.org/drawingml/2006/main">
            <a:r>
              <a:t>Complete Lab 8's checkpoint test. As an extension, compare a fixed recent-history window with a structured task summary on the same lookup tasks.</a:t>
            </a:r>
          </a:p>
          <a:p xmlns:a="http://schemas.openxmlformats.org/drawingml/2006/main">
            <a:r>
              <a:t>Acceptance: Show the pending state before resume and one committed effect after a retry. Do not generalize a context-policy result across providers.</a:t>
            </a:r>
          </a:p>
          <a:p xmlns:a="http://schemas.openxmlformats.org/drawingml/2006/main">
            <a:r>
              <a:t>Lab: labs/08_langgraph_approval_security.ipynb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07-memory-context.pdf</a:t>
            </a:r>
          </a:p>
          <a:p xmlns:a="http://schemas.openxmlformats.org/drawingml/2006/main">
            <a:r>
              <a:t>- S3: LangGraph interrupts. LangChain documentation, accessed, 2026-09-09. https://docs.langchain.com/oss/python/langgraph/interrupts Resume restarts the interrupted node. Put effects after approval and make replay safe.</a:t>
            </a:r>
          </a:p>
          <a:p xmlns:a="http://schemas.openxmlformats.org/drawingml/2006/main">
            <a:r>
              <a:t>- R2: How enabling two settings tripled our scores on the ARC-AGI-3 benchmark. OpenAI research post, 2026-07-29. https://openai.com/index/how-two-settings-tripled-our-arc-agi-3-scores/ A specific harness experiment. Its result does not estimate the effect of context changes in Gemini.</a:t>
            </a:r>
          </a:p>
          <a:p xmlns:a="http://schemas.openxmlformats.org/drawingml/2006/main">
            <a:r>
              <a:t/>
            </a:r>
          </a:p>
          <a:p xmlns:a="http://schemas.openxmlformats.org/drawingml/2006/main">
            <a:r>
              <a:t>[Assessed practice]</a:t>
            </a:r>
          </a:p>
          <a:p xmlns:a="http://schemas.openxmlformats.org/drawingml/2006/main">
            <a:r>
              <a:t>Complete Lab 8's checkpoint test. As an extension, compare a fixed recent-history window with a structured task summary on the same lookup tasks.</a:t>
            </a:r>
          </a:p>
          <a:p xmlns:a="http://schemas.openxmlformats.org/drawingml/2006/main">
            <a:r>
              <a:t>Acceptance: Show the pending state before resume and one committed effect after a retry. Do not generalize a context-policy result across providers.</a:t>
            </a:r>
          </a:p>
          <a:p xmlns:a="http://schemas.openxmlformats.org/drawingml/2006/main">
            <a:r>
              <a:t>Lab: labs/08_langgraph_approval_security.ipynb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central statement, then connect the lower points as a single mental model.</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07-memory-context.pdf</a:t>
            </a:r>
          </a:p>
          <a:p xmlns:a="http://schemas.openxmlformats.org/drawingml/2006/main">
            <a:r>
              <a:t>- S3: LangGraph interrupts. LangChain documentation, accessed, 2026-09-09. https://docs.langchain.com/oss/python/langgraph/interrupts Resume restarts the interrupted node. Put effects after approval and make replay safe.</a:t>
            </a:r>
          </a:p>
          <a:p xmlns:a="http://schemas.openxmlformats.org/drawingml/2006/main">
            <a:r>
              <a:t>- R2: How enabling two settings tripled our scores on the ARC-AGI-3 benchmark. OpenAI research post, 2026-07-29. https://openai.com/index/how-two-settings-tripled-our-arc-agi-3-scores/ A specific harness experiment. Its result does not estimate the effect of context changes in Gemini.</a:t>
            </a:r>
          </a:p>
          <a:p xmlns:a="http://schemas.openxmlformats.org/drawingml/2006/main">
            <a:r>
              <a:t/>
            </a:r>
          </a:p>
          <a:p xmlns:a="http://schemas.openxmlformats.org/drawingml/2006/main">
            <a:r>
              <a:t>[Assessed practice]</a:t>
            </a:r>
          </a:p>
          <a:p xmlns:a="http://schemas.openxmlformats.org/drawingml/2006/main">
            <a:r>
              <a:t>Complete Lab 8's checkpoint test. As an extension, compare a fixed recent-history window with a structured task summary on the same lookup tasks.</a:t>
            </a:r>
          </a:p>
          <a:p xmlns:a="http://schemas.openxmlformats.org/drawingml/2006/main">
            <a:r>
              <a:t>Acceptance: Show the pending state before resume and one committed effect after a retry. Do not generalize a context-policy result across providers.</a:t>
            </a:r>
          </a:p>
          <a:p xmlns:a="http://schemas.openxmlformats.org/drawingml/2006/main">
            <a:r>
              <a:t>Lab: labs/08_langgraph_approval_security.ipynb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07-memory-context.pdf</a:t>
            </a:r>
          </a:p>
          <a:p xmlns:a="http://schemas.openxmlformats.org/drawingml/2006/main">
            <a:r>
              <a:t>- S3: LangGraph interrupts. LangChain documentation, accessed, 2026-09-09. https://docs.langchain.com/oss/python/langgraph/interrupts Resume restarts the interrupted node. Put effects after approval and make replay safe.</a:t>
            </a:r>
          </a:p>
          <a:p xmlns:a="http://schemas.openxmlformats.org/drawingml/2006/main">
            <a:r>
              <a:t>- R2: How enabling two settings tripled our scores on the ARC-AGI-3 benchmark. OpenAI research post, 2026-07-29. https://openai.com/index/how-two-settings-tripled-our-arc-agi-3-scores/ A specific harness experiment. Its result does not estimate the effect of context changes in Gemini.</a:t>
            </a:r>
          </a:p>
          <a:p xmlns:a="http://schemas.openxmlformats.org/drawingml/2006/main">
            <a:r>
              <a:t/>
            </a:r>
          </a:p>
          <a:p xmlns:a="http://schemas.openxmlformats.org/drawingml/2006/main">
            <a:r>
              <a:t>[Assessed practice]</a:t>
            </a:r>
          </a:p>
          <a:p xmlns:a="http://schemas.openxmlformats.org/drawingml/2006/main">
            <a:r>
              <a:t>Complete Lab 8's checkpoint test. As an extension, compare a fixed recent-history window with a structured task summary on the same lookup tasks.</a:t>
            </a:r>
          </a:p>
          <a:p xmlns:a="http://schemas.openxmlformats.org/drawingml/2006/main">
            <a:r>
              <a:t>Acceptance: Show the pending state before resume and one committed effect after a retry. Do not generalize a context-policy result across providers.</a:t>
            </a:r>
          </a:p>
          <a:p xmlns:a="http://schemas.openxmlformats.org/drawingml/2006/main">
            <a:r>
              <a:t>Lab: labs/08_langgraph_approval_security.ipynb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central statement, then connect the lower points as a single mental model.</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07-memory-context.pdf</a:t>
            </a:r>
          </a:p>
          <a:p xmlns:a="http://schemas.openxmlformats.org/drawingml/2006/main">
            <a:r>
              <a:t>- S3: LangGraph interrupts. LangChain documentation, accessed, 2026-09-09. https://docs.langchain.com/oss/python/langgraph/interrupts Resume restarts the interrupted node. Put effects after approval and make replay safe.</a:t>
            </a:r>
          </a:p>
          <a:p xmlns:a="http://schemas.openxmlformats.org/drawingml/2006/main">
            <a:r>
              <a:t>- R2: How enabling two settings tripled our scores on the ARC-AGI-3 benchmark. OpenAI research post, 2026-07-29. https://openai.com/index/how-two-settings-tripled-our-arc-agi-3-scores/ A specific harness experiment. Its result does not estimate the effect of context changes in Gemini.</a:t>
            </a:r>
          </a:p>
          <a:p xmlns:a="http://schemas.openxmlformats.org/drawingml/2006/main">
            <a:r>
              <a:t/>
            </a:r>
          </a:p>
          <a:p xmlns:a="http://schemas.openxmlformats.org/drawingml/2006/main">
            <a:r>
              <a:t>[Assessed practice]</a:t>
            </a:r>
          </a:p>
          <a:p xmlns:a="http://schemas.openxmlformats.org/drawingml/2006/main">
            <a:r>
              <a:t>Complete Lab 8's checkpoint test. As an extension, compare a fixed recent-history window with a structured task summary on the same lookup tasks.</a:t>
            </a:r>
          </a:p>
          <a:p xmlns:a="http://schemas.openxmlformats.org/drawingml/2006/main">
            <a:r>
              <a:t>Acceptance: Show the pending state before resume and one committed effect after a retry. Do not generalize a context-policy result across providers.</a:t>
            </a:r>
          </a:p>
          <a:p xmlns:a="http://schemas.openxmlformats.org/drawingml/2006/main">
            <a:r>
              <a:t>Lab: labs/08_langgraph_approval_security.ipynb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07-memory-context.pdf</a:t>
            </a:r>
          </a:p>
          <a:p xmlns:a="http://schemas.openxmlformats.org/drawingml/2006/main">
            <a:r>
              <a:t>- S3: LangGraph interrupts. LangChain documentation, accessed, 2026-09-09. https://docs.langchain.com/oss/python/langgraph/interrupts Resume restarts the interrupted node. Put effects after approval and make replay safe.</a:t>
            </a:r>
          </a:p>
          <a:p xmlns:a="http://schemas.openxmlformats.org/drawingml/2006/main">
            <a:r>
              <a:t>- R2: How enabling two settings tripled our scores on the ARC-AGI-3 benchmark. OpenAI research post, 2026-07-29. https://openai.com/index/how-two-settings-tripled-our-arc-agi-3-scores/ A specific harness experiment. Its result does not estimate the effect of context changes in Gemini.</a:t>
            </a:r>
          </a:p>
          <a:p xmlns:a="http://schemas.openxmlformats.org/drawingml/2006/main">
            <a:r>
              <a:t/>
            </a:r>
          </a:p>
          <a:p xmlns:a="http://schemas.openxmlformats.org/drawingml/2006/main">
            <a:r>
              <a:t>[Assessed practice]</a:t>
            </a:r>
          </a:p>
          <a:p xmlns:a="http://schemas.openxmlformats.org/drawingml/2006/main">
            <a:r>
              <a:t>Complete Lab 8's checkpoint test. As an extension, compare a fixed recent-history window with a structured task summary on the same lookup tasks.</a:t>
            </a:r>
          </a:p>
          <a:p xmlns:a="http://schemas.openxmlformats.org/drawingml/2006/main">
            <a:r>
              <a:t>Acceptance: Show the pending state before resume and one committed effect after a retry. Do not generalize a context-policy result across providers.</a:t>
            </a:r>
          </a:p>
          <a:p xmlns:a="http://schemas.openxmlformats.org/drawingml/2006/main">
            <a:r>
              <a:t>Lab: labs/08_langgraph_approval_security.ipynb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as retrieval practice. Ask for an answer that defines, compares, traces, and evaluates.</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07-memory-context.pdf</a:t>
            </a:r>
          </a:p>
          <a:p xmlns:a="http://schemas.openxmlformats.org/drawingml/2006/main">
            <a:r>
              <a:t>- S3: LangGraph interrupts. LangChain documentation, accessed, 2026-09-09. https://docs.langchain.com/oss/python/langgraph/interrupts Resume restarts the interrupted node. Put effects after approval and make replay safe.</a:t>
            </a:r>
          </a:p>
          <a:p xmlns:a="http://schemas.openxmlformats.org/drawingml/2006/main">
            <a:r>
              <a:t>- R2: How enabling two settings tripled our scores on the ARC-AGI-3 benchmark. OpenAI research post, 2026-07-29. https://openai.com/index/how-two-settings-tripled-our-arc-agi-3-scores/ A specific harness experiment. Its result does not estimate the effect of context changes in Gemini.</a:t>
            </a:r>
          </a:p>
          <a:p xmlns:a="http://schemas.openxmlformats.org/drawingml/2006/main">
            <a:r>
              <a:t/>
            </a:r>
          </a:p>
          <a:p xmlns:a="http://schemas.openxmlformats.org/drawingml/2006/main">
            <a:r>
              <a:t>[Assessed practice]</a:t>
            </a:r>
          </a:p>
          <a:p xmlns:a="http://schemas.openxmlformats.org/drawingml/2006/main">
            <a:r>
              <a:t>Complete Lab 8's checkpoint test. As an extension, compare a fixed recent-history window with a structured task summary on the same lookup tasks.</a:t>
            </a:r>
          </a:p>
          <a:p xmlns:a="http://schemas.openxmlformats.org/drawingml/2006/main">
            <a:r>
              <a:t>Acceptance: Show the pending state before resume and one committed effect after a retry. Do not generalize a context-policy result across providers.</a:t>
            </a:r>
          </a:p>
          <a:p xmlns:a="http://schemas.openxmlformats.org/drawingml/2006/main">
            <a:r>
              <a:t>Lab: labs/08_langgraph_approval_security.ipynb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restating the four durable ideas and linking forward to the next chapter.</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07-memory-context.pdf</a:t>
            </a:r>
          </a:p>
          <a:p xmlns:a="http://schemas.openxmlformats.org/drawingml/2006/main">
            <a:r>
              <a:t>- S3: LangGraph interrupts. LangChain documentation, accessed, 2026-09-09. https://docs.langchain.com/oss/python/langgraph/interrupts Resume restarts the interrupted node. Put effects after approval and make replay safe.</a:t>
            </a:r>
          </a:p>
          <a:p xmlns:a="http://schemas.openxmlformats.org/drawingml/2006/main">
            <a:r>
              <a:t>- R2: How enabling two settings tripled our scores on the ARC-AGI-3 benchmark. OpenAI research post, 2026-07-29. https://openai.com/index/how-two-settings-tripled-our-arc-agi-3-scores/ A specific harness experiment. Its result does not estimate the effect of context changes in Gemini.</a:t>
            </a:r>
          </a:p>
          <a:p xmlns:a="http://schemas.openxmlformats.org/drawingml/2006/main">
            <a:r>
              <a:t/>
            </a:r>
          </a:p>
          <a:p xmlns:a="http://schemas.openxmlformats.org/drawingml/2006/main">
            <a:r>
              <a:t>[Assessed practice]</a:t>
            </a:r>
          </a:p>
          <a:p xmlns:a="http://schemas.openxmlformats.org/drawingml/2006/main">
            <a:r>
              <a:t>Complete Lab 8's checkpoint test. As an extension, compare a fixed recent-history window with a structured task summary on the same lookup tasks.</a:t>
            </a:r>
          </a:p>
          <a:p xmlns:a="http://schemas.openxmlformats.org/drawingml/2006/main">
            <a:r>
              <a:t>Acceptance: Show the pending state before resume and one committed effect after a retry. Do not generalize a context-policy result across providers.</a:t>
            </a:r>
          </a:p>
          <a:p xmlns:a="http://schemas.openxmlformats.org/drawingml/2006/main">
            <a:r>
              <a:t>Lab: labs/08_langgraph_approval_security.ipynb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Assess the submitted evidence with the stated acceptance check. Reading links and limitations follow.</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07-memory-context.pdf</a:t>
            </a:r>
          </a:p>
          <a:p xmlns:a="http://schemas.openxmlformats.org/drawingml/2006/main">
            <a:r>
              <a:t>- S3: LangGraph interrupts. LangChain documentation, accessed, 2026-09-09. https://docs.langchain.com/oss/python/langgraph/interrupts Resume restarts the interrupted node. Put effects after approval and make replay safe.</a:t>
            </a:r>
          </a:p>
          <a:p xmlns:a="http://schemas.openxmlformats.org/drawingml/2006/main">
            <a:r>
              <a:t>- R2: How enabling two settings tripled our scores on the ARC-AGI-3 benchmark. OpenAI research post, 2026-07-29. https://openai.com/index/how-two-settings-tripled-our-arc-agi-3-scores/ A specific harness experiment. Its result does not estimate the effect of context changes in Gemini.</a:t>
            </a:r>
          </a:p>
          <a:p xmlns:a="http://schemas.openxmlformats.org/drawingml/2006/main">
            <a:r>
              <a:t/>
            </a:r>
          </a:p>
          <a:p xmlns:a="http://schemas.openxmlformats.org/drawingml/2006/main">
            <a:r>
              <a:t>[Assessed practice]</a:t>
            </a:r>
          </a:p>
          <a:p xmlns:a="http://schemas.openxmlformats.org/drawingml/2006/main">
            <a:r>
              <a:t>Complete Lab 8's checkpoint test. As an extension, compare a fixed recent-history window with a structured task summary on the same lookup tasks.</a:t>
            </a:r>
          </a:p>
          <a:p xmlns:a="http://schemas.openxmlformats.org/drawingml/2006/main">
            <a:r>
              <a:t>Acceptance: Show the pending state before resume and one committed effect after a retry. Do not generalize a context-policy result across providers.</a:t>
            </a:r>
          </a:p>
          <a:p xmlns:a="http://schemas.openxmlformats.org/drawingml/2006/main">
            <a:r>
              <a:t>Lab: labs/08_langgraph_approval_security.ipynb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cb921c6f7e4a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77396dc8934bd0" /><Relationship Type="http://schemas.openxmlformats.org/officeDocument/2006/relationships/slideLayout" Target="/ppt/slideLayouts/slideLayout1.xml" Id="R2a31cdce6e8048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31cdce6e8048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4aa23fc52f4575" /><Relationship Type="http://schemas.openxmlformats.org/officeDocument/2006/relationships/notesSlide" Target="/ppt/notesSlides/notesSlide1.xml" Id="R8929f93ece2349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ea4cfbffab44f95" /><Relationship Type="http://schemas.openxmlformats.org/officeDocument/2006/relationships/notesSlide" Target="/ppt/notesSlides/notesSlide2.xml" Id="R8d19a8df2ba648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1c7972bd524205" /><Relationship Type="http://schemas.openxmlformats.org/officeDocument/2006/relationships/notesSlide" Target="/ppt/notesSlides/notesSlide3.xml" Id="R3cc125d398ca44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8a45642708541bb" /><Relationship Type="http://schemas.openxmlformats.org/officeDocument/2006/relationships/notesSlide" Target="/ppt/notesSlides/notesSlide4.xml" Id="R5ad8f8ad3b2b4c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7962950926445ab" /><Relationship Type="http://schemas.openxmlformats.org/officeDocument/2006/relationships/notesSlide" Target="/ppt/notesSlides/notesSlide5.xml" Id="Rd8f81fcb02c144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944fcac67e4085" /><Relationship Type="http://schemas.openxmlformats.org/officeDocument/2006/relationships/notesSlide" Target="/ppt/notesSlides/notesSlide6.xml" Id="R08d3ca5ce1a54b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a606f7f07ca4359" /><Relationship Type="http://schemas.openxmlformats.org/officeDocument/2006/relationships/notesSlide" Target="/ppt/notesSlides/notesSlide7.xml" Id="Rb7b0115a7cb648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319b44757ed4826" /><Relationship Type="http://schemas.openxmlformats.org/officeDocument/2006/relationships/notesSlide" Target="/ppt/notesSlides/notesSlide8.xml" Id="R55509b0313014b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2b896ce5422437b" /><Relationship Type="http://schemas.openxmlformats.org/officeDocument/2006/relationships/notesSlide" Target="/ppt/notesSlides/notesSlide9.xml" Id="R4b642fdba7c4411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9488636b9e141eb" /><Relationship Type="http://schemas.openxmlformats.org/officeDocument/2006/relationships/notesSlide" Target="/ppt/notesSlides/notesSlide10.xml" Id="Rd88e0c83ba9a41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09de25f87bc4b04" /><Relationship Type="http://schemas.openxmlformats.org/officeDocument/2006/relationships/notesSlide" Target="/ppt/notesSlides/notesSlide11.xml" Id="R203579c37ec04ab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dcc6c916d2a434b" /><Relationship Type="http://schemas.openxmlformats.org/officeDocument/2006/relationships/notesSlide" Target="/ppt/notesSlides/notesSlide12.xml" Id="R93ab312ae31742e8" /></Relationships>
</file>

<file path=ppt/slides/slide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itle-accent">
            <a:extLst xmlns:a="http://schemas.openxmlformats.org/drawingml/2006/main">
              <a:ext uri="{FF2B5EF4-FFF2-40B4-BE49-F238E27FC236}">
                <a16:creationId xmlns:a16="http://schemas.microsoft.com/office/drawing/2014/main" id="{8FE0F276-0971-4AAA-9F5E-6F3305CABC4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ourse-title">
            <a:extLst xmlns:a="http://schemas.openxmlformats.org/drawingml/2006/main">
              <a:ext uri="{FF2B5EF4-FFF2-40B4-BE49-F238E27FC236}">
                <a16:creationId xmlns:a16="http://schemas.microsoft.com/office/drawing/2014/main" id="{6CEF25B6-034E-4936-9565-4FB30DE7FF30}"/>
              </a:ext>
            </a:extLst>
          </p:cNvPr>
          <p:cNvSpPr>
            <a:spLocks xmlns:a="http://schemas.openxmlformats.org/drawingml/2006/main" noGrp="1"/>
          </p:cNvSpPr>
          <p:nvPr/>
        </p:nvSpPr>
        <p:spPr>
          <a:xfrm xmlns:a="http://schemas.openxmlformats.org/drawingml/2006/main">
            <a:off x="400050" y="4000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5B5B57"/>
                </a:solidFill>
                <a:latin typeface="Helvetica Neue"/>
                <a:ea typeface="Helvetica Neue"/>
                <a:cs typeface="Helvetica Neue"/>
              </a:defRPr>
            </a:pPr>
            <a:r>
              <a:rPr sz="1650" b="1">
                <a:solidFill>
                  <a:srgbClr val="5B5B57"/>
                </a:solidFill>
                <a:latin typeface="Helvetica Neue"/>
                <a:ea typeface="Helvetica Neue"/>
                <a:cs typeface="Helvetica Neue"/>
              </a:rPr>
              <a:t>AGENTIC AI</a:t>
            </a:r>
          </a:p>
        </p:txBody>
      </p:sp>
      <p:sp>
        <p:nvSpPr>
          <p:cNvPr id="3" name="chapter-number">
            <a:extLst xmlns:a="http://schemas.openxmlformats.org/drawingml/2006/main">
              <a:ext uri="{FF2B5EF4-FFF2-40B4-BE49-F238E27FC236}">
                <a16:creationId xmlns:a16="http://schemas.microsoft.com/office/drawing/2014/main" id="{3E105235-FAA2-416C-B335-799E30CB57AE}"/>
              </a:ext>
            </a:extLst>
          </p:cNvPr>
          <p:cNvSpPr>
            <a:spLocks xmlns:a="http://schemas.openxmlformats.org/drawingml/2006/main" noGrp="1"/>
          </p:cNvSpPr>
          <p:nvPr/>
        </p:nvSpPr>
        <p:spPr>
          <a:xfrm xmlns:a="http://schemas.openxmlformats.org/drawingml/2006/main">
            <a:off x="10096500" y="361950"/>
            <a:ext cx="1676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2400" b="1">
                <a:solidFill>
                  <a:srgbClr val="111111"/>
                </a:solidFill>
                <a:latin typeface="Helvetica Neue"/>
                <a:ea typeface="Helvetica Neue"/>
                <a:cs typeface="Helvetica Neue"/>
              </a:defRPr>
            </a:pPr>
            <a:r>
              <a:rPr sz="2400" b="1">
                <a:solidFill>
                  <a:srgbClr val="111111"/>
                </a:solidFill>
                <a:latin typeface="Helvetica Neue"/>
                <a:ea typeface="Helvetica Neue"/>
                <a:cs typeface="Helvetica Neue"/>
              </a:rPr>
              <a:t>07</a:t>
            </a:r>
          </a:p>
        </p:txBody>
      </p:sp>
      <p:sp>
        <p:nvSpPr>
          <p:cNvPr id="4" name="deck-title">
            <a:extLst xmlns:a="http://schemas.openxmlformats.org/drawingml/2006/main">
              <a:ext uri="{FF2B5EF4-FFF2-40B4-BE49-F238E27FC236}">
                <a16:creationId xmlns:a16="http://schemas.microsoft.com/office/drawing/2014/main" id="{66183096-3838-486B-BC6D-BF83E3FCDECB}"/>
              </a:ext>
            </a:extLst>
          </p:cNvPr>
          <p:cNvSpPr>
            <a:spLocks xmlns:a="http://schemas.openxmlformats.org/drawingml/2006/main" noGrp="1"/>
          </p:cNvSpPr>
          <p:nvPr/>
        </p:nvSpPr>
        <p:spPr>
          <a:xfrm xmlns:a="http://schemas.openxmlformats.org/drawingml/2006/main">
            <a:off x="400050" y="1524000"/>
            <a:ext cx="985837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4800" b="1">
                <a:solidFill>
                  <a:srgbClr val="111111"/>
                </a:solidFill>
                <a:latin typeface="Helvetica Neue"/>
                <a:ea typeface="Helvetica Neue"/>
                <a:cs typeface="Helvetica Neue"/>
              </a:defRPr>
            </a:pPr>
            <a:r>
              <a:rPr sz="4800" b="1">
                <a:solidFill>
                  <a:srgbClr val="111111"/>
                </a:solidFill>
                <a:latin typeface="Helvetica Neue"/>
                <a:ea typeface="Helvetica Neue"/>
                <a:cs typeface="Helvetica Neue"/>
              </a:rPr>
              <a:t>Memory, State, and Context Engineering</a:t>
            </a:r>
          </a:p>
        </p:txBody>
      </p:sp>
      <p:sp>
        <p:nvSpPr>
          <p:cNvPr id="5" name="deck-thesis">
            <a:extLst xmlns:a="http://schemas.openxmlformats.org/drawingml/2006/main">
              <a:ext uri="{FF2B5EF4-FFF2-40B4-BE49-F238E27FC236}">
                <a16:creationId xmlns:a16="http://schemas.microsoft.com/office/drawing/2014/main" id="{EDF09D4E-0B1E-4003-81BA-1621C9E8A5C8}"/>
              </a:ext>
            </a:extLst>
          </p:cNvPr>
          <p:cNvSpPr>
            <a:spLocks xmlns:a="http://schemas.openxmlformats.org/drawingml/2006/main" noGrp="1"/>
          </p:cNvSpPr>
          <p:nvPr/>
        </p:nvSpPr>
        <p:spPr>
          <a:xfrm xmlns:a="http://schemas.openxmlformats.org/drawingml/2006/main">
            <a:off x="400050" y="4610100"/>
            <a:ext cx="852487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0">
                <a:solidFill>
                  <a:srgbClr val="5B5B57"/>
                </a:solidFill>
                <a:latin typeface="Helvetica Neue"/>
                <a:ea typeface="Helvetica Neue"/>
                <a:cs typeface="Helvetica Neue"/>
              </a:defRPr>
            </a:pPr>
            <a:r>
              <a:rPr sz="2025" b="0">
                <a:solidFill>
                  <a:srgbClr val="5B5B57"/>
                </a:solidFill>
                <a:latin typeface="Helvetica Neue"/>
                <a:ea typeface="Helvetica Neue"/>
                <a:cs typeface="Helvetica Neue"/>
              </a:rPr>
              <a:t>Memory is an engineered system that curates a bounded context, persists selected experience, and governs recall, expiry, and access.</a:t>
            </a:r>
          </a:p>
        </p:txBody>
      </p:sp>
      <p:sp>
        <p:nvSpPr>
          <p:cNvPr id="6" name="title-marker">
            <a:extLst xmlns:a="http://schemas.openxmlformats.org/drawingml/2006/main">
              <a:ext uri="{FF2B5EF4-FFF2-40B4-BE49-F238E27FC236}">
                <a16:creationId xmlns:a16="http://schemas.microsoft.com/office/drawing/2014/main" id="{B9322458-1011-4FDD-8A9F-4222DBE552DB}"/>
              </a:ext>
            </a:extLst>
          </p:cNvPr>
          <p:cNvSpPr>
            <a:spLocks xmlns:a="http://schemas.openxmlformats.org/drawingml/2006/main" noGrp="1"/>
          </p:cNvSpPr>
          <p:nvPr/>
        </p:nvSpPr>
        <p:spPr>
          <a:xfrm xmlns:a="http://schemas.openxmlformats.org/drawingml/2006/main">
            <a:off x="9525000" y="4610100"/>
            <a:ext cx="2266950" cy="11049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7" name="title-marker-text">
            <a:extLst xmlns:a="http://schemas.openxmlformats.org/drawingml/2006/main">
              <a:ext uri="{FF2B5EF4-FFF2-40B4-BE49-F238E27FC236}">
                <a16:creationId xmlns:a16="http://schemas.microsoft.com/office/drawing/2014/main" id="{A951D5E1-DA7A-4F07-BF11-618F508FFD94}"/>
              </a:ext>
            </a:extLst>
          </p:cNvPr>
          <p:cNvSpPr>
            <a:spLocks xmlns:a="http://schemas.openxmlformats.org/drawingml/2006/main" noGrp="1"/>
          </p:cNvSpPr>
          <p:nvPr/>
        </p:nvSpPr>
        <p:spPr>
          <a:xfrm xmlns:a="http://schemas.openxmlformats.org/drawingml/2006/main">
            <a:off x="9753600" y="4762500"/>
            <a:ext cx="180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STUDY</a:t>
            </a:r>
          </a:p>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DECK</a:t>
            </a:r>
          </a:p>
        </p:txBody>
      </p:sp>
    </p:spTree>
    <p:extLst>
      <p:ext uri="{BB962C8B-B14F-4D97-AF65-F5344CB8AC3E}">
        <p14:creationId xmlns:p14="http://schemas.microsoft.com/office/powerpoint/2010/main" val="10285658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accent-line">
            <a:extLst xmlns:a="http://schemas.openxmlformats.org/drawingml/2006/main">
              <a:ext uri="{FF2B5EF4-FFF2-40B4-BE49-F238E27FC236}">
                <a16:creationId xmlns:a16="http://schemas.microsoft.com/office/drawing/2014/main" id="{9D335CA9-74F5-4F80-B05D-87B83285A85C}"/>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42B33199-6117-418E-A70F-A43D7855CEE0}"/>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LEARNING MAP  /  07</a:t>
            </a:r>
          </a:p>
        </p:txBody>
      </p:sp>
      <p:sp>
        <p:nvSpPr>
          <p:cNvPr id="3" name="slide-number">
            <a:extLst xmlns:a="http://schemas.openxmlformats.org/drawingml/2006/main">
              <a:ext uri="{FF2B5EF4-FFF2-40B4-BE49-F238E27FC236}">
                <a16:creationId xmlns:a16="http://schemas.microsoft.com/office/drawing/2014/main" id="{6CB6F14B-D762-4173-A6F9-9A04C17F2CF3}"/>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02</a:t>
            </a:r>
          </a:p>
        </p:txBody>
      </p:sp>
      <p:sp>
        <p:nvSpPr>
          <p:cNvPr id="4" name="chapter-footer">
            <a:extLst xmlns:a="http://schemas.openxmlformats.org/drawingml/2006/main">
              <a:ext uri="{FF2B5EF4-FFF2-40B4-BE49-F238E27FC236}">
                <a16:creationId xmlns:a16="http://schemas.microsoft.com/office/drawing/2014/main" id="{2D906268-49D6-4BA9-86D7-7E75CE28104D}"/>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Memory, State, and Context Engineering</a:t>
            </a:r>
          </a:p>
        </p:txBody>
      </p:sp>
      <p:sp>
        <p:nvSpPr>
          <p:cNvPr id="5" name="objectives-title">
            <a:extLst xmlns:a="http://schemas.openxmlformats.org/drawingml/2006/main">
              <a:ext uri="{FF2B5EF4-FFF2-40B4-BE49-F238E27FC236}">
                <a16:creationId xmlns:a16="http://schemas.microsoft.com/office/drawing/2014/main" id="{5534BD19-4371-40A7-8C15-034AEAD13E2A}"/>
              </a:ext>
            </a:extLst>
          </p:cNvPr>
          <p:cNvSpPr>
            <a:spLocks xmlns:a="http://schemas.openxmlformats.org/drawingml/2006/main" noGrp="1"/>
          </p:cNvSpPr>
          <p:nvPr/>
        </p:nvSpPr>
        <p:spPr>
          <a:xfrm xmlns:a="http://schemas.openxmlformats.org/drawingml/2006/main">
            <a:off x="390525" y="99060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By the end, you should be able to...</a:t>
            </a:r>
          </a:p>
        </p:txBody>
      </p:sp>
      <p:sp>
        <p:nvSpPr>
          <p:cNvPr id="6" name="objective-number-1">
            <a:extLst xmlns:a="http://schemas.openxmlformats.org/drawingml/2006/main">
              <a:ext uri="{FF2B5EF4-FFF2-40B4-BE49-F238E27FC236}">
                <a16:creationId xmlns:a16="http://schemas.microsoft.com/office/drawing/2014/main" id="{DF05C5A3-8EC0-4BC2-972E-22965AF3B45C}"/>
              </a:ext>
            </a:extLst>
          </p:cNvPr>
          <p:cNvSpPr>
            <a:spLocks xmlns:a="http://schemas.openxmlformats.org/drawingml/2006/main" noGrp="1"/>
          </p:cNvSpPr>
          <p:nvPr/>
        </p:nvSpPr>
        <p:spPr>
          <a:xfrm xmlns:a="http://schemas.openxmlformats.org/drawingml/2006/main">
            <a:off x="390525"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73C8FF"/>
                </a:solidFill>
                <a:latin typeface="Helvetica Neue"/>
                <a:ea typeface="Helvetica Neue"/>
                <a:cs typeface="Helvetica Neue"/>
              </a:defRPr>
            </a:pPr>
            <a:r>
              <a:rPr sz="3450" b="1">
                <a:solidFill>
                  <a:srgbClr val="73C8FF"/>
                </a:solidFill>
                <a:latin typeface="Helvetica Neue"/>
                <a:ea typeface="Helvetica Neue"/>
                <a:cs typeface="Helvetica Neue"/>
              </a:rPr>
              <a:t>01</a:t>
            </a:r>
          </a:p>
        </p:txBody>
      </p:sp>
      <p:sp>
        <p:nvSpPr>
          <p:cNvPr id="7" name="objective-1">
            <a:extLst xmlns:a="http://schemas.openxmlformats.org/drawingml/2006/main">
              <a:ext uri="{FF2B5EF4-FFF2-40B4-BE49-F238E27FC236}">
                <a16:creationId xmlns:a16="http://schemas.microsoft.com/office/drawing/2014/main" id="{B1577DA8-120A-43EB-B62E-CBBB8B068E82}"/>
              </a:ext>
            </a:extLst>
          </p:cNvPr>
          <p:cNvSpPr>
            <a:spLocks xmlns:a="http://schemas.openxmlformats.org/drawingml/2006/main" noGrp="1"/>
          </p:cNvSpPr>
          <p:nvPr/>
        </p:nvSpPr>
        <p:spPr>
          <a:xfrm xmlns:a="http://schemas.openxmlformats.org/drawingml/2006/main">
            <a:off x="390525"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Classify agent memory</a:t>
            </a:r>
          </a:p>
        </p:txBody>
      </p:sp>
      <p:sp>
        <p:nvSpPr>
          <p:cNvPr id="8" name="objective-number-2">
            <a:extLst xmlns:a="http://schemas.openxmlformats.org/drawingml/2006/main">
              <a:ext uri="{FF2B5EF4-FFF2-40B4-BE49-F238E27FC236}">
                <a16:creationId xmlns:a16="http://schemas.microsoft.com/office/drawing/2014/main" id="{BCBFE3FC-298B-4DD5-870E-B7F5BF1A0974}"/>
              </a:ext>
            </a:extLst>
          </p:cNvPr>
          <p:cNvSpPr>
            <a:spLocks xmlns:a="http://schemas.openxmlformats.org/drawingml/2006/main" noGrp="1"/>
          </p:cNvSpPr>
          <p:nvPr/>
        </p:nvSpPr>
        <p:spPr>
          <a:xfrm xmlns:a="http://schemas.openxmlformats.org/drawingml/2006/main">
            <a:off x="3276600"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73C8FF"/>
                </a:solidFill>
                <a:latin typeface="Helvetica Neue"/>
                <a:ea typeface="Helvetica Neue"/>
                <a:cs typeface="Helvetica Neue"/>
              </a:defRPr>
            </a:pPr>
            <a:r>
              <a:rPr sz="3450" b="1">
                <a:solidFill>
                  <a:srgbClr val="73C8FF"/>
                </a:solidFill>
                <a:latin typeface="Helvetica Neue"/>
                <a:ea typeface="Helvetica Neue"/>
                <a:cs typeface="Helvetica Neue"/>
              </a:rPr>
              <a:t>02</a:t>
            </a:r>
          </a:p>
        </p:txBody>
      </p:sp>
      <p:sp>
        <p:nvSpPr>
          <p:cNvPr id="9" name="objective-2">
            <a:extLst xmlns:a="http://schemas.openxmlformats.org/drawingml/2006/main">
              <a:ext uri="{FF2B5EF4-FFF2-40B4-BE49-F238E27FC236}">
                <a16:creationId xmlns:a16="http://schemas.microsoft.com/office/drawing/2014/main" id="{F8E5DAFB-7266-4EC6-A7E6-D3096D326B89}"/>
              </a:ext>
            </a:extLst>
          </p:cNvPr>
          <p:cNvSpPr>
            <a:spLocks xmlns:a="http://schemas.openxmlformats.org/drawingml/2006/main" noGrp="1"/>
          </p:cNvSpPr>
          <p:nvPr/>
        </p:nvSpPr>
        <p:spPr>
          <a:xfrm xmlns:a="http://schemas.openxmlformats.org/drawingml/2006/main">
            <a:off x="3276600"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Manage short-term context</a:t>
            </a:r>
          </a:p>
        </p:txBody>
      </p:sp>
      <p:sp>
        <p:nvSpPr>
          <p:cNvPr id="10" name="objective-number-3">
            <a:extLst xmlns:a="http://schemas.openxmlformats.org/drawingml/2006/main">
              <a:ext uri="{FF2B5EF4-FFF2-40B4-BE49-F238E27FC236}">
                <a16:creationId xmlns:a16="http://schemas.microsoft.com/office/drawing/2014/main" id="{CB4373BD-075D-4D52-92E0-87AE9FC7E369}"/>
              </a:ext>
            </a:extLst>
          </p:cNvPr>
          <p:cNvSpPr>
            <a:spLocks xmlns:a="http://schemas.openxmlformats.org/drawingml/2006/main" noGrp="1"/>
          </p:cNvSpPr>
          <p:nvPr/>
        </p:nvSpPr>
        <p:spPr>
          <a:xfrm xmlns:a="http://schemas.openxmlformats.org/drawingml/2006/main">
            <a:off x="6162675"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73C8FF"/>
                </a:solidFill>
                <a:latin typeface="Helvetica Neue"/>
                <a:ea typeface="Helvetica Neue"/>
                <a:cs typeface="Helvetica Neue"/>
              </a:defRPr>
            </a:pPr>
            <a:r>
              <a:rPr sz="3450" b="1">
                <a:solidFill>
                  <a:srgbClr val="73C8FF"/>
                </a:solidFill>
                <a:latin typeface="Helvetica Neue"/>
                <a:ea typeface="Helvetica Neue"/>
                <a:cs typeface="Helvetica Neue"/>
              </a:rPr>
              <a:t>03</a:t>
            </a:r>
          </a:p>
        </p:txBody>
      </p:sp>
      <p:sp>
        <p:nvSpPr>
          <p:cNvPr id="11" name="objective-3">
            <a:extLst xmlns:a="http://schemas.openxmlformats.org/drawingml/2006/main">
              <a:ext uri="{FF2B5EF4-FFF2-40B4-BE49-F238E27FC236}">
                <a16:creationId xmlns:a16="http://schemas.microsoft.com/office/drawing/2014/main" id="{97E2A7F6-BF98-4068-BDD2-A2F8028E00A3}"/>
              </a:ext>
            </a:extLst>
          </p:cNvPr>
          <p:cNvSpPr>
            <a:spLocks xmlns:a="http://schemas.openxmlformats.org/drawingml/2006/main" noGrp="1"/>
          </p:cNvSpPr>
          <p:nvPr/>
        </p:nvSpPr>
        <p:spPr>
          <a:xfrm xmlns:a="http://schemas.openxmlformats.org/drawingml/2006/main">
            <a:off x="6162675"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Design deliberate long-term writes and reads</a:t>
            </a:r>
          </a:p>
        </p:txBody>
      </p:sp>
      <p:sp>
        <p:nvSpPr>
          <p:cNvPr id="12" name="objective-number-4">
            <a:extLst xmlns:a="http://schemas.openxmlformats.org/drawingml/2006/main">
              <a:ext uri="{FF2B5EF4-FFF2-40B4-BE49-F238E27FC236}">
                <a16:creationId xmlns:a16="http://schemas.microsoft.com/office/drawing/2014/main" id="{9657AC3B-E67F-4B1D-A4AA-A7ABA9026E60}"/>
              </a:ext>
            </a:extLst>
          </p:cNvPr>
          <p:cNvSpPr>
            <a:spLocks xmlns:a="http://schemas.openxmlformats.org/drawingml/2006/main" noGrp="1"/>
          </p:cNvSpPr>
          <p:nvPr/>
        </p:nvSpPr>
        <p:spPr>
          <a:xfrm xmlns:a="http://schemas.openxmlformats.org/drawingml/2006/main">
            <a:off x="9048750"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73C8FF"/>
                </a:solidFill>
                <a:latin typeface="Helvetica Neue"/>
                <a:ea typeface="Helvetica Neue"/>
                <a:cs typeface="Helvetica Neue"/>
              </a:defRPr>
            </a:pPr>
            <a:r>
              <a:rPr sz="3450" b="1">
                <a:solidFill>
                  <a:srgbClr val="73C8FF"/>
                </a:solidFill>
                <a:latin typeface="Helvetica Neue"/>
                <a:ea typeface="Helvetica Neue"/>
                <a:cs typeface="Helvetica Neue"/>
              </a:rPr>
              <a:t>04</a:t>
            </a:r>
          </a:p>
        </p:txBody>
      </p:sp>
      <p:sp>
        <p:nvSpPr>
          <p:cNvPr id="13" name="objective-4">
            <a:extLst xmlns:a="http://schemas.openxmlformats.org/drawingml/2006/main">
              <a:ext uri="{FF2B5EF4-FFF2-40B4-BE49-F238E27FC236}">
                <a16:creationId xmlns:a16="http://schemas.microsoft.com/office/drawing/2014/main" id="{0D054CAF-955D-49DA-9F65-A4E7AB42BF3B}"/>
              </a:ext>
            </a:extLst>
          </p:cNvPr>
          <p:cNvSpPr>
            <a:spLocks xmlns:a="http://schemas.openxmlformats.org/drawingml/2006/main" noGrp="1"/>
          </p:cNvSpPr>
          <p:nvPr/>
        </p:nvSpPr>
        <p:spPr>
          <a:xfrm xmlns:a="http://schemas.openxmlformats.org/drawingml/2006/main">
            <a:off x="9048750"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Evaluate memory quality and governance</a:t>
            </a:r>
          </a:p>
        </p:txBody>
      </p:sp>
    </p:spTree>
    <p:extLst>
      <p:ext uri="{BB962C8B-B14F-4D97-AF65-F5344CB8AC3E}">
        <p14:creationId xmlns:p14="http://schemas.microsoft.com/office/powerpoint/2010/main" val="5486373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74905800-9A98-4662-B402-85CCCAD495AB}"/>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B8695996-CA7D-4FB4-A669-D9E3EA52826F}"/>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01  /  07</a:t>
            </a:r>
          </a:p>
        </p:txBody>
      </p:sp>
      <p:sp>
        <p:nvSpPr>
          <p:cNvPr id="3" name="slide-number">
            <a:extLst xmlns:a="http://schemas.openxmlformats.org/drawingml/2006/main">
              <a:ext uri="{FF2B5EF4-FFF2-40B4-BE49-F238E27FC236}">
                <a16:creationId xmlns:a16="http://schemas.microsoft.com/office/drawing/2014/main" id="{07B93703-5528-4009-AFD9-773F487EBB5E}"/>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03</a:t>
            </a:r>
          </a:p>
        </p:txBody>
      </p:sp>
      <p:sp>
        <p:nvSpPr>
          <p:cNvPr id="4" name="chapter-footer">
            <a:extLst xmlns:a="http://schemas.openxmlformats.org/drawingml/2006/main">
              <a:ext uri="{FF2B5EF4-FFF2-40B4-BE49-F238E27FC236}">
                <a16:creationId xmlns:a16="http://schemas.microsoft.com/office/drawing/2014/main" id="{16F865E2-9AF5-4542-997A-AB1589F0FC87}"/>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Memory, State, and Context Engineering</a:t>
            </a:r>
          </a:p>
        </p:txBody>
      </p:sp>
      <p:sp>
        <p:nvSpPr>
          <p:cNvPr id="5" name="section-title">
            <a:extLst xmlns:a="http://schemas.openxmlformats.org/drawingml/2006/main">
              <a:ext uri="{FF2B5EF4-FFF2-40B4-BE49-F238E27FC236}">
                <a16:creationId xmlns:a16="http://schemas.microsoft.com/office/drawing/2014/main" id="{580BB210-B659-493B-B542-D9CBE18151FC}"/>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Stateless models require explicit state engineering</a:t>
            </a:r>
          </a:p>
        </p:txBody>
      </p:sp>
      <p:sp>
        <p:nvSpPr>
          <p:cNvPr id="6" name="section-explanation">
            <a:extLst xmlns:a="http://schemas.openxmlformats.org/drawingml/2006/main">
              <a:ext uri="{FF2B5EF4-FFF2-40B4-BE49-F238E27FC236}">
                <a16:creationId xmlns:a16="http://schemas.microsoft.com/office/drawing/2014/main" id="{23C0A490-9566-4669-B318-48D901B9C33B}"/>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An LLM knows only the current context. Long tasks and multiple sessions therefore need a system that decides what stays in the window, what moves to external storage, and what is retrieved later.</a:t>
            </a:r>
          </a:p>
        </p:txBody>
      </p:sp>
      <p:sp>
        <p:nvSpPr>
          <p:cNvPr id="7" name="column-rule">
            <a:extLst xmlns:a="http://schemas.openxmlformats.org/drawingml/2006/main">
              <a:ext uri="{FF2B5EF4-FFF2-40B4-BE49-F238E27FC236}">
                <a16:creationId xmlns:a16="http://schemas.microsoft.com/office/drawing/2014/main" id="{CE6A19AC-C00D-43DB-AB5C-B09ECCE2C0E1}"/>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8" name="section-points">
            <a:extLst xmlns:a="http://schemas.openxmlformats.org/drawingml/2006/main">
              <a:ext uri="{FF2B5EF4-FFF2-40B4-BE49-F238E27FC236}">
                <a16:creationId xmlns:a16="http://schemas.microsoft.com/office/drawing/2014/main" id="{9AA012C1-7266-42DC-A7EC-6FEE87742E1B}"/>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The context is bounded, costly, and imperfectly used.</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Nothing persists across calls unless the application stores it.</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Memory architecture is a set of selection policies.</a:t>
            </a:r>
          </a:p>
        </p:txBody>
      </p:sp>
    </p:spTree>
    <p:extLst>
      <p:ext uri="{BB962C8B-B14F-4D97-AF65-F5344CB8AC3E}">
        <p14:creationId xmlns:p14="http://schemas.microsoft.com/office/powerpoint/2010/main" val="1568620928"/>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5" name="accent-line">
            <a:extLst xmlns:a="http://schemas.openxmlformats.org/drawingml/2006/main">
              <a:ext uri="{FF2B5EF4-FFF2-40B4-BE49-F238E27FC236}">
                <a16:creationId xmlns:a16="http://schemas.microsoft.com/office/drawing/2014/main" id="{AA4CCCA8-DCCD-4EAF-BED5-A17349F7CA3C}"/>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E72C9587-E7A5-412D-967A-6B131C15009E}"/>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02  /  07</a:t>
            </a:r>
          </a:p>
        </p:txBody>
      </p:sp>
      <p:sp>
        <p:nvSpPr>
          <p:cNvPr id="3" name="slide-number">
            <a:extLst xmlns:a="http://schemas.openxmlformats.org/drawingml/2006/main">
              <a:ext uri="{FF2B5EF4-FFF2-40B4-BE49-F238E27FC236}">
                <a16:creationId xmlns:a16="http://schemas.microsoft.com/office/drawing/2014/main" id="{E0723C1D-413B-4A9A-8115-6AD6EE318DC6}"/>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04</a:t>
            </a:r>
          </a:p>
        </p:txBody>
      </p:sp>
      <p:sp>
        <p:nvSpPr>
          <p:cNvPr id="4" name="chapter-footer">
            <a:extLst xmlns:a="http://schemas.openxmlformats.org/drawingml/2006/main">
              <a:ext uri="{FF2B5EF4-FFF2-40B4-BE49-F238E27FC236}">
                <a16:creationId xmlns:a16="http://schemas.microsoft.com/office/drawing/2014/main" id="{01BDE66D-F15B-47FE-BD0F-0B1EF45F0FA2}"/>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Memory, State, and Context Engineering</a:t>
            </a:r>
          </a:p>
        </p:txBody>
      </p:sp>
      <p:sp>
        <p:nvSpPr>
          <p:cNvPr id="5" name="section-title">
            <a:extLst xmlns:a="http://schemas.openxmlformats.org/drawingml/2006/main">
              <a:ext uri="{FF2B5EF4-FFF2-40B4-BE49-F238E27FC236}">
                <a16:creationId xmlns:a16="http://schemas.microsoft.com/office/drawing/2014/main" id="{7F843C66-C39C-4EA7-BB16-7AAEA38F6529}"/>
              </a:ext>
            </a:extLst>
          </p:cNvPr>
          <p:cNvSpPr>
            <a:spLocks xmlns:a="http://schemas.openxmlformats.org/drawingml/2006/main" noGrp="1"/>
          </p:cNvSpPr>
          <p:nvPr/>
        </p:nvSpPr>
        <p:spPr>
          <a:xfrm xmlns:a="http://schemas.openxmlformats.org/drawingml/2006/main">
            <a:off x="390525" y="1000125"/>
            <a:ext cx="1114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Short-term and long-term memory have different mechanics</a:t>
            </a:r>
          </a:p>
        </p:txBody>
      </p:sp>
      <p:sp>
        <p:nvSpPr>
          <p:cNvPr id="6" name="section-explanation">
            <a:extLst xmlns:a="http://schemas.openxmlformats.org/drawingml/2006/main">
              <a:ext uri="{FF2B5EF4-FFF2-40B4-BE49-F238E27FC236}">
                <a16:creationId xmlns:a16="http://schemas.microsoft.com/office/drawing/2014/main" id="{BF5142EF-8A44-464D-BDE8-C3FFF2C61A76}"/>
              </a:ext>
            </a:extLst>
          </p:cNvPr>
          <p:cNvSpPr>
            <a:spLocks xmlns:a="http://schemas.openxmlformats.org/drawingml/2006/main" noGrp="1"/>
          </p:cNvSpPr>
          <p:nvPr/>
        </p:nvSpPr>
        <p:spPr>
          <a:xfrm xmlns:a="http://schemas.openxmlformats.org/drawingml/2006/main">
            <a:off x="1143000" y="2143125"/>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Short-term memory is working context: instructions, tools, evidence, and recent trace. Long-term memory is external and can hold episodic events, semantic facts, and procedural knowledge across sessions.</a:t>
            </a:r>
          </a:p>
        </p:txBody>
      </p:sp>
      <p:sp>
        <p:nvSpPr>
          <p:cNvPr id="7" name="point-band-1">
            <a:extLst xmlns:a="http://schemas.openxmlformats.org/drawingml/2006/main">
              <a:ext uri="{FF2B5EF4-FFF2-40B4-BE49-F238E27FC236}">
                <a16:creationId xmlns:a16="http://schemas.microsoft.com/office/drawing/2014/main" id="{0EDD06A1-E8C0-4B2D-AE22-CF757030EA68}"/>
              </a:ext>
            </a:extLst>
          </p:cNvPr>
          <p:cNvSpPr>
            <a:spLocks xmlns:a="http://schemas.openxmlformats.org/drawingml/2006/main" noGrp="1"/>
          </p:cNvSpPr>
          <p:nvPr/>
        </p:nvSpPr>
        <p:spPr>
          <a:xfrm xmlns:a="http://schemas.openxmlformats.org/drawingml/2006/main">
            <a:off x="390525" y="4048125"/>
            <a:ext cx="2509838"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8" name="point-1">
            <a:extLst xmlns:a="http://schemas.openxmlformats.org/drawingml/2006/main">
              <a:ext uri="{FF2B5EF4-FFF2-40B4-BE49-F238E27FC236}">
                <a16:creationId xmlns:a16="http://schemas.microsoft.com/office/drawing/2014/main" id="{490185D8-5C86-4AE3-BA6F-CE09A98C5C82}"/>
              </a:ext>
            </a:extLst>
          </p:cNvPr>
          <p:cNvSpPr>
            <a:spLocks xmlns:a="http://schemas.openxmlformats.org/drawingml/2006/main" noGrp="1"/>
          </p:cNvSpPr>
          <p:nvPr/>
        </p:nvSpPr>
        <p:spPr>
          <a:xfrm xmlns:a="http://schemas.openxmlformats.org/drawingml/2006/main">
            <a:off x="390525"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Episodic: past interactions and outcomes.</a:t>
            </a:r>
          </a:p>
        </p:txBody>
      </p:sp>
      <p:sp>
        <p:nvSpPr>
          <p:cNvPr id="9" name="point-band-2">
            <a:extLst xmlns:a="http://schemas.openxmlformats.org/drawingml/2006/main">
              <a:ext uri="{FF2B5EF4-FFF2-40B4-BE49-F238E27FC236}">
                <a16:creationId xmlns:a16="http://schemas.microsoft.com/office/drawing/2014/main" id="{61137267-6183-4E13-87D6-B8D41E158906}"/>
              </a:ext>
            </a:extLst>
          </p:cNvPr>
          <p:cNvSpPr>
            <a:spLocks xmlns:a="http://schemas.openxmlformats.org/drawingml/2006/main" noGrp="1"/>
          </p:cNvSpPr>
          <p:nvPr/>
        </p:nvSpPr>
        <p:spPr>
          <a:xfrm xmlns:a="http://schemas.openxmlformats.org/drawingml/2006/main">
            <a:off x="3167063" y="4048125"/>
            <a:ext cx="2509838"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0" name="point-2">
            <a:extLst xmlns:a="http://schemas.openxmlformats.org/drawingml/2006/main">
              <a:ext uri="{FF2B5EF4-FFF2-40B4-BE49-F238E27FC236}">
                <a16:creationId xmlns:a16="http://schemas.microsoft.com/office/drawing/2014/main" id="{C5DFB57F-D67C-4B55-9D88-C344BE643D3B}"/>
              </a:ext>
            </a:extLst>
          </p:cNvPr>
          <p:cNvSpPr>
            <a:spLocks xmlns:a="http://schemas.openxmlformats.org/drawingml/2006/main" noGrp="1"/>
          </p:cNvSpPr>
          <p:nvPr/>
        </p:nvSpPr>
        <p:spPr>
          <a:xfrm xmlns:a="http://schemas.openxmlformats.org/drawingml/2006/main">
            <a:off x="3167063"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Semantic: facts and stable preferences.</a:t>
            </a:r>
          </a:p>
        </p:txBody>
      </p:sp>
      <p:sp>
        <p:nvSpPr>
          <p:cNvPr id="11" name="point-band-3">
            <a:extLst xmlns:a="http://schemas.openxmlformats.org/drawingml/2006/main">
              <a:ext uri="{FF2B5EF4-FFF2-40B4-BE49-F238E27FC236}">
                <a16:creationId xmlns:a16="http://schemas.microsoft.com/office/drawing/2014/main" id="{FFE5D77B-705E-4D58-956B-107B77AD6190}"/>
              </a:ext>
            </a:extLst>
          </p:cNvPr>
          <p:cNvSpPr>
            <a:spLocks xmlns:a="http://schemas.openxmlformats.org/drawingml/2006/main" noGrp="1"/>
          </p:cNvSpPr>
          <p:nvPr/>
        </p:nvSpPr>
        <p:spPr>
          <a:xfrm xmlns:a="http://schemas.openxmlformats.org/drawingml/2006/main">
            <a:off x="5943600" y="4048125"/>
            <a:ext cx="2509838"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2" name="point-3">
            <a:extLst xmlns:a="http://schemas.openxmlformats.org/drawingml/2006/main">
              <a:ext uri="{FF2B5EF4-FFF2-40B4-BE49-F238E27FC236}">
                <a16:creationId xmlns:a16="http://schemas.microsoft.com/office/drawing/2014/main" id="{06DD4434-82EE-4FC8-8285-13B1496D217E}"/>
              </a:ext>
            </a:extLst>
          </p:cNvPr>
          <p:cNvSpPr>
            <a:spLocks xmlns:a="http://schemas.openxmlformats.org/drawingml/2006/main" noGrp="1"/>
          </p:cNvSpPr>
          <p:nvPr/>
        </p:nvSpPr>
        <p:spPr>
          <a:xfrm xmlns:a="http://schemas.openxmlformats.org/drawingml/2006/main">
            <a:off x="5943600"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Procedural: instructions or learned methods.</a:t>
            </a:r>
          </a:p>
        </p:txBody>
      </p:sp>
      <p:sp>
        <p:nvSpPr>
          <p:cNvPr id="13" name="point-band-4">
            <a:extLst xmlns:a="http://schemas.openxmlformats.org/drawingml/2006/main">
              <a:ext uri="{FF2B5EF4-FFF2-40B4-BE49-F238E27FC236}">
                <a16:creationId xmlns:a16="http://schemas.microsoft.com/office/drawing/2014/main" id="{19BE1A9A-1E73-455E-8579-12E12C116BB1}"/>
              </a:ext>
            </a:extLst>
          </p:cNvPr>
          <p:cNvSpPr>
            <a:spLocks xmlns:a="http://schemas.openxmlformats.org/drawingml/2006/main" noGrp="1"/>
          </p:cNvSpPr>
          <p:nvPr/>
        </p:nvSpPr>
        <p:spPr>
          <a:xfrm xmlns:a="http://schemas.openxmlformats.org/drawingml/2006/main">
            <a:off x="8720138" y="4048125"/>
            <a:ext cx="2509838"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4" name="point-4">
            <a:extLst xmlns:a="http://schemas.openxmlformats.org/drawingml/2006/main">
              <a:ext uri="{FF2B5EF4-FFF2-40B4-BE49-F238E27FC236}">
                <a16:creationId xmlns:a16="http://schemas.microsoft.com/office/drawing/2014/main" id="{4B12715C-CB8C-4BBA-A116-C60997DBFE31}"/>
              </a:ext>
            </a:extLst>
          </p:cNvPr>
          <p:cNvSpPr>
            <a:spLocks xmlns:a="http://schemas.openxmlformats.org/drawingml/2006/main" noGrp="1"/>
          </p:cNvSpPr>
          <p:nvPr/>
        </p:nvSpPr>
        <p:spPr>
          <a:xfrm xmlns:a="http://schemas.openxmlformats.org/drawingml/2006/main">
            <a:off x="8720138"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Long-term storage is useful only if recall is selective.</a:t>
            </a:r>
          </a:p>
        </p:txBody>
      </p:sp>
    </p:spTree>
    <p:extLst>
      <p:ext uri="{BB962C8B-B14F-4D97-AF65-F5344CB8AC3E}">
        <p14:creationId xmlns:p14="http://schemas.microsoft.com/office/powerpoint/2010/main" val="14381648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95709710-0031-439D-ABF6-865580C4134B}"/>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0AB801AB-E82A-402A-9437-E7A5B2953AD4}"/>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03  /  07</a:t>
            </a:r>
          </a:p>
        </p:txBody>
      </p:sp>
      <p:sp>
        <p:nvSpPr>
          <p:cNvPr id="3" name="slide-number">
            <a:extLst xmlns:a="http://schemas.openxmlformats.org/drawingml/2006/main">
              <a:ext uri="{FF2B5EF4-FFF2-40B4-BE49-F238E27FC236}">
                <a16:creationId xmlns:a16="http://schemas.microsoft.com/office/drawing/2014/main" id="{2090B149-15A5-4BCB-9F4C-582F9EAD6842}"/>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05</a:t>
            </a:r>
          </a:p>
        </p:txBody>
      </p:sp>
      <p:sp>
        <p:nvSpPr>
          <p:cNvPr id="4" name="chapter-footer">
            <a:extLst xmlns:a="http://schemas.openxmlformats.org/drawingml/2006/main">
              <a:ext uri="{FF2B5EF4-FFF2-40B4-BE49-F238E27FC236}">
                <a16:creationId xmlns:a16="http://schemas.microsoft.com/office/drawing/2014/main" id="{6DB4EC63-7B8C-4C4A-8FF2-79EFE2CCB1E9}"/>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Memory, State, and Context Engineering</a:t>
            </a:r>
          </a:p>
        </p:txBody>
      </p:sp>
      <p:sp>
        <p:nvSpPr>
          <p:cNvPr id="5" name="section-title">
            <a:extLst xmlns:a="http://schemas.openxmlformats.org/drawingml/2006/main">
              <a:ext uri="{FF2B5EF4-FFF2-40B4-BE49-F238E27FC236}">
                <a16:creationId xmlns:a16="http://schemas.microsoft.com/office/drawing/2014/main" id="{0081DD6F-5CC2-4E69-8B27-B1E00D176E1A}"/>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Short-term memory must be actively compressed</a:t>
            </a:r>
          </a:p>
        </p:txBody>
      </p:sp>
      <p:sp>
        <p:nvSpPr>
          <p:cNvPr id="6" name="section-explanation">
            <a:extLst xmlns:a="http://schemas.openxmlformats.org/drawingml/2006/main">
              <a:ext uri="{FF2B5EF4-FFF2-40B4-BE49-F238E27FC236}">
                <a16:creationId xmlns:a16="http://schemas.microsoft.com/office/drawing/2014/main" id="{BD7EDA5B-9DB7-4664-8E7A-18DEF45BDA34}"/>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Truncation drops old turns, summaries compress them, selective recall retrieves only relevant history, and a structured scratchpad keeps the plan and current state visible. These mechanisms can be combined.</a:t>
            </a:r>
          </a:p>
        </p:txBody>
      </p:sp>
      <p:sp>
        <p:nvSpPr>
          <p:cNvPr id="7" name="column-rule">
            <a:extLst xmlns:a="http://schemas.openxmlformats.org/drawingml/2006/main">
              <a:ext uri="{FF2B5EF4-FFF2-40B4-BE49-F238E27FC236}">
                <a16:creationId xmlns:a16="http://schemas.microsoft.com/office/drawing/2014/main" id="{F8D4E211-78B3-47F7-9589-DDF6F810221F}"/>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8" name="section-points">
            <a:extLst xmlns:a="http://schemas.openxmlformats.org/drawingml/2006/main">
              <a:ext uri="{FF2B5EF4-FFF2-40B4-BE49-F238E27FC236}">
                <a16:creationId xmlns:a16="http://schemas.microsoft.com/office/drawing/2014/main" id="{9E0EBB4D-4424-4F17-B3F4-945E090C6A8A}"/>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Rolling summaries preserve gist but may drift.</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Recent detail can remain verbatim.</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Conversation retrieval is RAG over history.</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04  A scratchpad reduces repeated reasoning and goal loss.</a:t>
            </a:r>
          </a:p>
        </p:txBody>
      </p:sp>
    </p:spTree>
    <p:extLst>
      <p:ext uri="{BB962C8B-B14F-4D97-AF65-F5344CB8AC3E}">
        <p14:creationId xmlns:p14="http://schemas.microsoft.com/office/powerpoint/2010/main" val="1410491321"/>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5" name="accent-line">
            <a:extLst xmlns:a="http://schemas.openxmlformats.org/drawingml/2006/main">
              <a:ext uri="{FF2B5EF4-FFF2-40B4-BE49-F238E27FC236}">
                <a16:creationId xmlns:a16="http://schemas.microsoft.com/office/drawing/2014/main" id="{ACE62CB7-9F9F-4434-911A-25DBC3561353}"/>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554FFD3F-972F-4C8E-B371-2EED9FBFA0D2}"/>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04  /  07</a:t>
            </a:r>
          </a:p>
        </p:txBody>
      </p:sp>
      <p:sp>
        <p:nvSpPr>
          <p:cNvPr id="3" name="slide-number">
            <a:extLst xmlns:a="http://schemas.openxmlformats.org/drawingml/2006/main">
              <a:ext uri="{FF2B5EF4-FFF2-40B4-BE49-F238E27FC236}">
                <a16:creationId xmlns:a16="http://schemas.microsoft.com/office/drawing/2014/main" id="{C100D6C0-6D62-4FCA-8131-F8DB234E468D}"/>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06</a:t>
            </a:r>
          </a:p>
        </p:txBody>
      </p:sp>
      <p:sp>
        <p:nvSpPr>
          <p:cNvPr id="4" name="chapter-footer">
            <a:extLst xmlns:a="http://schemas.openxmlformats.org/drawingml/2006/main">
              <a:ext uri="{FF2B5EF4-FFF2-40B4-BE49-F238E27FC236}">
                <a16:creationId xmlns:a16="http://schemas.microsoft.com/office/drawing/2014/main" id="{B85D59F2-4A07-4E6F-BDEB-9EA3DBB0FD38}"/>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Memory, State, and Context Engineering</a:t>
            </a:r>
          </a:p>
        </p:txBody>
      </p:sp>
      <p:sp>
        <p:nvSpPr>
          <p:cNvPr id="5" name="section-title">
            <a:extLst xmlns:a="http://schemas.openxmlformats.org/drawingml/2006/main">
              <a:ext uri="{FF2B5EF4-FFF2-40B4-BE49-F238E27FC236}">
                <a16:creationId xmlns:a16="http://schemas.microsoft.com/office/drawing/2014/main" id="{3A77747F-3603-4A87-8181-3637A55A2345}"/>
              </a:ext>
            </a:extLst>
          </p:cNvPr>
          <p:cNvSpPr>
            <a:spLocks xmlns:a="http://schemas.openxmlformats.org/drawingml/2006/main" noGrp="1"/>
          </p:cNvSpPr>
          <p:nvPr/>
        </p:nvSpPr>
        <p:spPr>
          <a:xfrm xmlns:a="http://schemas.openxmlformats.org/drawingml/2006/main">
            <a:off x="390525" y="1000125"/>
            <a:ext cx="1114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Long-term memory needs write and read policies</a:t>
            </a:r>
          </a:p>
        </p:txBody>
      </p:sp>
      <p:sp>
        <p:nvSpPr>
          <p:cNvPr id="6" name="section-explanation">
            <a:extLst xmlns:a="http://schemas.openxmlformats.org/drawingml/2006/main">
              <a:ext uri="{FF2B5EF4-FFF2-40B4-BE49-F238E27FC236}">
                <a16:creationId xmlns:a16="http://schemas.microsoft.com/office/drawing/2014/main" id="{41FD160D-E68B-4921-BB35-E0F0FD2E1895}"/>
              </a:ext>
            </a:extLst>
          </p:cNvPr>
          <p:cNvSpPr>
            <a:spLocks xmlns:a="http://schemas.openxmlformats.org/drawingml/2006/main" noGrp="1"/>
          </p:cNvSpPr>
          <p:nvPr/>
        </p:nvSpPr>
        <p:spPr>
          <a:xfrm xmlns:a="http://schemas.openxmlformats.org/drawingml/2006/main">
            <a:off x="1143000" y="2143125"/>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Store durable signal rather than every event. Writes can occur on explicit request, at task completion, through reflection, or continuously for changing state. Reads can use keys, recency, or semantic similarity.</a:t>
            </a:r>
          </a:p>
        </p:txBody>
      </p:sp>
      <p:sp>
        <p:nvSpPr>
          <p:cNvPr id="7" name="point-band-1">
            <a:extLst xmlns:a="http://schemas.openxmlformats.org/drawingml/2006/main">
              <a:ext uri="{FF2B5EF4-FFF2-40B4-BE49-F238E27FC236}">
                <a16:creationId xmlns:a16="http://schemas.microsoft.com/office/drawing/2014/main" id="{44536D5E-C746-40CD-BB8C-72F2EB68CD67}"/>
              </a:ext>
            </a:extLst>
          </p:cNvPr>
          <p:cNvSpPr>
            <a:spLocks xmlns:a="http://schemas.openxmlformats.org/drawingml/2006/main" noGrp="1"/>
          </p:cNvSpPr>
          <p:nvPr/>
        </p:nvSpPr>
        <p:spPr>
          <a:xfrm xmlns:a="http://schemas.openxmlformats.org/drawingml/2006/main">
            <a:off x="390525" y="4048125"/>
            <a:ext cx="2509838"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8" name="point-1">
            <a:extLst xmlns:a="http://schemas.openxmlformats.org/drawingml/2006/main">
              <a:ext uri="{FF2B5EF4-FFF2-40B4-BE49-F238E27FC236}">
                <a16:creationId xmlns:a16="http://schemas.microsoft.com/office/drawing/2014/main" id="{ACF7B27E-0186-45D7-85DD-9561C5F7951F}"/>
              </a:ext>
            </a:extLst>
          </p:cNvPr>
          <p:cNvSpPr>
            <a:spLocks xmlns:a="http://schemas.openxmlformats.org/drawingml/2006/main" noGrp="1"/>
          </p:cNvSpPr>
          <p:nvPr/>
        </p:nvSpPr>
        <p:spPr>
          <a:xfrm xmlns:a="http://schemas.openxmlformats.org/drawingml/2006/main">
            <a:off x="390525"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Prefer stable preferences, durable facts, outcomes, and lessons.</a:t>
            </a:r>
          </a:p>
        </p:txBody>
      </p:sp>
      <p:sp>
        <p:nvSpPr>
          <p:cNvPr id="9" name="point-band-2">
            <a:extLst xmlns:a="http://schemas.openxmlformats.org/drawingml/2006/main">
              <a:ext uri="{FF2B5EF4-FFF2-40B4-BE49-F238E27FC236}">
                <a16:creationId xmlns:a16="http://schemas.microsoft.com/office/drawing/2014/main" id="{6925D2C0-1D25-4D03-A126-4E1353BD9C50}"/>
              </a:ext>
            </a:extLst>
          </p:cNvPr>
          <p:cNvSpPr>
            <a:spLocks xmlns:a="http://schemas.openxmlformats.org/drawingml/2006/main" noGrp="1"/>
          </p:cNvSpPr>
          <p:nvPr/>
        </p:nvSpPr>
        <p:spPr>
          <a:xfrm xmlns:a="http://schemas.openxmlformats.org/drawingml/2006/main">
            <a:off x="3167063" y="4048125"/>
            <a:ext cx="2509838"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0" name="point-2">
            <a:extLst xmlns:a="http://schemas.openxmlformats.org/drawingml/2006/main">
              <a:ext uri="{FF2B5EF4-FFF2-40B4-BE49-F238E27FC236}">
                <a16:creationId xmlns:a16="http://schemas.microsoft.com/office/drawing/2014/main" id="{4FAEE7C6-593A-47CB-B02F-E6368933EEF2}"/>
              </a:ext>
            </a:extLst>
          </p:cNvPr>
          <p:cNvSpPr>
            <a:spLocks xmlns:a="http://schemas.openxmlformats.org/drawingml/2006/main" noGrp="1"/>
          </p:cNvSpPr>
          <p:nvPr/>
        </p:nvSpPr>
        <p:spPr>
          <a:xfrm xmlns:a="http://schemas.openxmlformats.org/drawingml/2006/main">
            <a:off x="3167063"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Deduplicate and resolve contradictions.</a:t>
            </a:r>
          </a:p>
        </p:txBody>
      </p:sp>
      <p:sp>
        <p:nvSpPr>
          <p:cNvPr id="11" name="point-band-3">
            <a:extLst xmlns:a="http://schemas.openxmlformats.org/drawingml/2006/main">
              <a:ext uri="{FF2B5EF4-FFF2-40B4-BE49-F238E27FC236}">
                <a16:creationId xmlns:a16="http://schemas.microsoft.com/office/drawing/2014/main" id="{E03AA2BA-C2A3-4AC3-9CE4-8EDC032723FA}"/>
              </a:ext>
            </a:extLst>
          </p:cNvPr>
          <p:cNvSpPr>
            <a:spLocks xmlns:a="http://schemas.openxmlformats.org/drawingml/2006/main" noGrp="1"/>
          </p:cNvSpPr>
          <p:nvPr/>
        </p:nvSpPr>
        <p:spPr>
          <a:xfrm xmlns:a="http://schemas.openxmlformats.org/drawingml/2006/main">
            <a:off x="5943600" y="4048125"/>
            <a:ext cx="2509838"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2" name="point-3">
            <a:extLst xmlns:a="http://schemas.openxmlformats.org/drawingml/2006/main">
              <a:ext uri="{FF2B5EF4-FFF2-40B4-BE49-F238E27FC236}">
                <a16:creationId xmlns:a16="http://schemas.microsoft.com/office/drawing/2014/main" id="{AA3D834A-991F-4FD5-AC79-95282C7799AF}"/>
              </a:ext>
            </a:extLst>
          </p:cNvPr>
          <p:cNvSpPr>
            <a:spLocks xmlns:a="http://schemas.openxmlformats.org/drawingml/2006/main" noGrp="1"/>
          </p:cNvSpPr>
          <p:nvPr/>
        </p:nvSpPr>
        <p:spPr>
          <a:xfrm xmlns:a="http://schemas.openxmlformats.org/drawingml/2006/main">
            <a:off x="5943600"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Attach timestamps, provenance, and expiry.</a:t>
            </a:r>
          </a:p>
        </p:txBody>
      </p:sp>
      <p:sp>
        <p:nvSpPr>
          <p:cNvPr id="13" name="point-band-4">
            <a:extLst xmlns:a="http://schemas.openxmlformats.org/drawingml/2006/main">
              <a:ext uri="{FF2B5EF4-FFF2-40B4-BE49-F238E27FC236}">
                <a16:creationId xmlns:a16="http://schemas.microsoft.com/office/drawing/2014/main" id="{C9A782F4-3B66-4617-AEC8-2A8A96428B18}"/>
              </a:ext>
            </a:extLst>
          </p:cNvPr>
          <p:cNvSpPr>
            <a:spLocks xmlns:a="http://schemas.openxmlformats.org/drawingml/2006/main" noGrp="1"/>
          </p:cNvSpPr>
          <p:nvPr/>
        </p:nvSpPr>
        <p:spPr>
          <a:xfrm xmlns:a="http://schemas.openxmlformats.org/drawingml/2006/main">
            <a:off x="8720138" y="4048125"/>
            <a:ext cx="2509838"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4" name="point-4">
            <a:extLst xmlns:a="http://schemas.openxmlformats.org/drawingml/2006/main">
              <a:ext uri="{FF2B5EF4-FFF2-40B4-BE49-F238E27FC236}">
                <a16:creationId xmlns:a16="http://schemas.microsoft.com/office/drawing/2014/main" id="{33226E8A-5D7A-42FA-8DBC-B4DCED34539F}"/>
              </a:ext>
            </a:extLst>
          </p:cNvPr>
          <p:cNvSpPr>
            <a:spLocks xmlns:a="http://schemas.openxmlformats.org/drawingml/2006/main" noGrp="1"/>
          </p:cNvSpPr>
          <p:nvPr/>
        </p:nvSpPr>
        <p:spPr>
          <a:xfrm xmlns:a="http://schemas.openxmlformats.org/drawingml/2006/main">
            <a:off x="8720138"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Reflective consolidation turns noisy episodes into higher-level memories.</a:t>
            </a:r>
          </a:p>
        </p:txBody>
      </p:sp>
    </p:spTree>
    <p:extLst>
      <p:ext uri="{BB962C8B-B14F-4D97-AF65-F5344CB8AC3E}">
        <p14:creationId xmlns:p14="http://schemas.microsoft.com/office/powerpoint/2010/main" val="7169846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BE46B73D-0799-4549-86A7-FBC85428B5E4}"/>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109185AE-3FC3-40C9-BC5C-C86A3B5C114A}"/>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05  /  07</a:t>
            </a:r>
          </a:p>
        </p:txBody>
      </p:sp>
      <p:sp>
        <p:nvSpPr>
          <p:cNvPr id="3" name="slide-number">
            <a:extLst xmlns:a="http://schemas.openxmlformats.org/drawingml/2006/main">
              <a:ext uri="{FF2B5EF4-FFF2-40B4-BE49-F238E27FC236}">
                <a16:creationId xmlns:a16="http://schemas.microsoft.com/office/drawing/2014/main" id="{C333876D-D444-42AE-ACE0-F162E8C25CCB}"/>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07</a:t>
            </a:r>
          </a:p>
        </p:txBody>
      </p:sp>
      <p:sp>
        <p:nvSpPr>
          <p:cNvPr id="4" name="chapter-footer">
            <a:extLst xmlns:a="http://schemas.openxmlformats.org/drawingml/2006/main">
              <a:ext uri="{FF2B5EF4-FFF2-40B4-BE49-F238E27FC236}">
                <a16:creationId xmlns:a16="http://schemas.microsoft.com/office/drawing/2014/main" id="{7B728264-A150-405E-9243-AF3C81FC7C25}"/>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Memory, State, and Context Engineering</a:t>
            </a:r>
          </a:p>
        </p:txBody>
      </p:sp>
      <p:sp>
        <p:nvSpPr>
          <p:cNvPr id="5" name="section-title">
            <a:extLst xmlns:a="http://schemas.openxmlformats.org/drawingml/2006/main">
              <a:ext uri="{FF2B5EF4-FFF2-40B4-BE49-F238E27FC236}">
                <a16:creationId xmlns:a16="http://schemas.microsoft.com/office/drawing/2014/main" id="{F1BB6B34-7925-4755-949A-82EDE4A4E972}"/>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Context engineering treats tokens as scarce capacity</a:t>
            </a:r>
          </a:p>
        </p:txBody>
      </p:sp>
      <p:sp>
        <p:nvSpPr>
          <p:cNvPr id="6" name="section-explanation">
            <a:extLst xmlns:a="http://schemas.openxmlformats.org/drawingml/2006/main">
              <a:ext uri="{FF2B5EF4-FFF2-40B4-BE49-F238E27FC236}">
                <a16:creationId xmlns:a16="http://schemas.microsoft.com/office/drawing/2014/main" id="{5D0DDAFB-3100-4C55-887C-F44449738970}"/>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More context is not automatically better. Low-relevance history raises cost and latency and can create context rot. Long-context models provide more room but do not create cross-session persistence, selective recall, consent, or governance.</a:t>
            </a:r>
          </a:p>
        </p:txBody>
      </p:sp>
      <p:sp>
        <p:nvSpPr>
          <p:cNvPr id="7" name="column-rule">
            <a:extLst xmlns:a="http://schemas.openxmlformats.org/drawingml/2006/main">
              <a:ext uri="{FF2B5EF4-FFF2-40B4-BE49-F238E27FC236}">
                <a16:creationId xmlns:a16="http://schemas.microsoft.com/office/drawing/2014/main" id="{EF639E18-1AD1-43F8-8711-E525B957E53A}"/>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8" name="section-points">
            <a:extLst xmlns:a="http://schemas.openxmlformats.org/drawingml/2006/main">
              <a:ext uri="{FF2B5EF4-FFF2-40B4-BE49-F238E27FC236}">
                <a16:creationId xmlns:a16="http://schemas.microsoft.com/office/drawing/2014/main" id="{BB685E1F-68D4-45BB-87CF-567C7B34FF65}"/>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Relevance beats volume.</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Place critical instructions and evidence deliberately.</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Virtual-context architectures page information between window and store.</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04  Retrieval-based architectures recall memories by relevance.</a:t>
            </a:r>
          </a:p>
        </p:txBody>
      </p:sp>
    </p:spTree>
    <p:extLst>
      <p:ext uri="{BB962C8B-B14F-4D97-AF65-F5344CB8AC3E}">
        <p14:creationId xmlns:p14="http://schemas.microsoft.com/office/powerpoint/2010/main" val="1204789106"/>
      </p:ext>
    </p:extLst>
  </p:cSld>
</p:sld>
</file>

<file path=ppt/slides/slide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5" name="accent-line">
            <a:extLst xmlns:a="http://schemas.openxmlformats.org/drawingml/2006/main">
              <a:ext uri="{FF2B5EF4-FFF2-40B4-BE49-F238E27FC236}">
                <a16:creationId xmlns:a16="http://schemas.microsoft.com/office/drawing/2014/main" id="{8BBBE735-6022-4056-B777-0EC56069C78B}"/>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76369F42-FB84-4902-BD26-359FA3BCF34E}"/>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06  /  07</a:t>
            </a:r>
          </a:p>
        </p:txBody>
      </p:sp>
      <p:sp>
        <p:nvSpPr>
          <p:cNvPr id="3" name="slide-number">
            <a:extLst xmlns:a="http://schemas.openxmlformats.org/drawingml/2006/main">
              <a:ext uri="{FF2B5EF4-FFF2-40B4-BE49-F238E27FC236}">
                <a16:creationId xmlns:a16="http://schemas.microsoft.com/office/drawing/2014/main" id="{DA5CD865-61DB-41FF-8685-A00CEBFDB556}"/>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08</a:t>
            </a:r>
          </a:p>
        </p:txBody>
      </p:sp>
      <p:sp>
        <p:nvSpPr>
          <p:cNvPr id="4" name="chapter-footer">
            <a:extLst xmlns:a="http://schemas.openxmlformats.org/drawingml/2006/main">
              <a:ext uri="{FF2B5EF4-FFF2-40B4-BE49-F238E27FC236}">
                <a16:creationId xmlns:a16="http://schemas.microsoft.com/office/drawing/2014/main" id="{BB10B0F5-6511-4CE7-85A3-6BE42ED2AC15}"/>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Memory, State, and Context Engineering</a:t>
            </a:r>
          </a:p>
        </p:txBody>
      </p:sp>
      <p:sp>
        <p:nvSpPr>
          <p:cNvPr id="5" name="section-title">
            <a:extLst xmlns:a="http://schemas.openxmlformats.org/drawingml/2006/main">
              <a:ext uri="{FF2B5EF4-FFF2-40B4-BE49-F238E27FC236}">
                <a16:creationId xmlns:a16="http://schemas.microsoft.com/office/drawing/2014/main" id="{5E3A35B6-E781-4067-A29C-CB5282130331}"/>
              </a:ext>
            </a:extLst>
          </p:cNvPr>
          <p:cNvSpPr>
            <a:spLocks xmlns:a="http://schemas.openxmlformats.org/drawingml/2006/main" noGrp="1"/>
          </p:cNvSpPr>
          <p:nvPr/>
        </p:nvSpPr>
        <p:spPr>
          <a:xfrm xmlns:a="http://schemas.openxmlformats.org/drawingml/2006/main">
            <a:off x="390525" y="1000125"/>
            <a:ext cx="1114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Memory is also a privacy and security system</a:t>
            </a:r>
          </a:p>
        </p:txBody>
      </p:sp>
      <p:sp>
        <p:nvSpPr>
          <p:cNvPr id="6" name="section-explanation">
            <a:extLst xmlns:a="http://schemas.openxmlformats.org/drawingml/2006/main">
              <a:ext uri="{FF2B5EF4-FFF2-40B4-BE49-F238E27FC236}">
                <a16:creationId xmlns:a16="http://schemas.microsoft.com/office/drawing/2014/main" id="{392BE3D4-AC82-4014-86AC-DB27C3AEBBF0}"/>
              </a:ext>
            </a:extLst>
          </p:cNvPr>
          <p:cNvSpPr>
            <a:spLocks xmlns:a="http://schemas.openxmlformats.org/drawingml/2006/main" noGrp="1"/>
          </p:cNvSpPr>
          <p:nvPr/>
        </p:nvSpPr>
        <p:spPr>
          <a:xfrm xmlns:a="http://schemas.openxmlformats.org/drawingml/2006/main">
            <a:off x="1143000" y="2143125"/>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Persistent data requires consent, minimization, retention limits, deletion, and access control. Memory can become stale, contradictory, poisoned, or unbounded, so it needs evaluation and maintenance.</a:t>
            </a:r>
          </a:p>
        </p:txBody>
      </p:sp>
      <p:sp>
        <p:nvSpPr>
          <p:cNvPr id="7" name="point-band-1">
            <a:extLst xmlns:a="http://schemas.openxmlformats.org/drawingml/2006/main">
              <a:ext uri="{FF2B5EF4-FFF2-40B4-BE49-F238E27FC236}">
                <a16:creationId xmlns:a16="http://schemas.microsoft.com/office/drawing/2014/main" id="{AD1BE0BE-29F9-4160-A0BB-20275D1EC67B}"/>
              </a:ext>
            </a:extLst>
          </p:cNvPr>
          <p:cNvSpPr>
            <a:spLocks xmlns:a="http://schemas.openxmlformats.org/drawingml/2006/main" noGrp="1"/>
          </p:cNvSpPr>
          <p:nvPr/>
        </p:nvSpPr>
        <p:spPr>
          <a:xfrm xmlns:a="http://schemas.openxmlformats.org/drawingml/2006/main">
            <a:off x="390525" y="4048125"/>
            <a:ext cx="2509838"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8" name="point-1">
            <a:extLst xmlns:a="http://schemas.openxmlformats.org/drawingml/2006/main">
              <a:ext uri="{FF2B5EF4-FFF2-40B4-BE49-F238E27FC236}">
                <a16:creationId xmlns:a16="http://schemas.microsoft.com/office/drawing/2014/main" id="{D338B55C-C89E-4072-8FA5-342B25E7903A}"/>
              </a:ext>
            </a:extLst>
          </p:cNvPr>
          <p:cNvSpPr>
            <a:spLocks xmlns:a="http://schemas.openxmlformats.org/drawingml/2006/main" noGrp="1"/>
          </p:cNvSpPr>
          <p:nvPr/>
        </p:nvSpPr>
        <p:spPr>
          <a:xfrm xmlns:a="http://schemas.openxmlformats.org/drawingml/2006/main">
            <a:off x="390525"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Recall: retrieve the right memory at the right time.</a:t>
            </a:r>
          </a:p>
        </p:txBody>
      </p:sp>
      <p:sp>
        <p:nvSpPr>
          <p:cNvPr id="9" name="point-band-2">
            <a:extLst xmlns:a="http://schemas.openxmlformats.org/drawingml/2006/main">
              <a:ext uri="{FF2B5EF4-FFF2-40B4-BE49-F238E27FC236}">
                <a16:creationId xmlns:a16="http://schemas.microsoft.com/office/drawing/2014/main" id="{D88F9F57-4810-4AC5-9354-5D15FBB7285D}"/>
              </a:ext>
            </a:extLst>
          </p:cNvPr>
          <p:cNvSpPr>
            <a:spLocks xmlns:a="http://schemas.openxmlformats.org/drawingml/2006/main" noGrp="1"/>
          </p:cNvSpPr>
          <p:nvPr/>
        </p:nvSpPr>
        <p:spPr>
          <a:xfrm xmlns:a="http://schemas.openxmlformats.org/drawingml/2006/main">
            <a:off x="3167063" y="4048125"/>
            <a:ext cx="2509838"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0" name="point-2">
            <a:extLst xmlns:a="http://schemas.openxmlformats.org/drawingml/2006/main">
              <a:ext uri="{FF2B5EF4-FFF2-40B4-BE49-F238E27FC236}">
                <a16:creationId xmlns:a16="http://schemas.microsoft.com/office/drawing/2014/main" id="{7ACE2D7B-DDA0-4D66-913B-ED33197462F3}"/>
              </a:ext>
            </a:extLst>
          </p:cNvPr>
          <p:cNvSpPr>
            <a:spLocks xmlns:a="http://schemas.openxmlformats.org/drawingml/2006/main" noGrp="1"/>
          </p:cNvSpPr>
          <p:nvPr/>
        </p:nvSpPr>
        <p:spPr>
          <a:xfrm xmlns:a="http://schemas.openxmlformats.org/drawingml/2006/main">
            <a:off x="3167063"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Faithfulness: use the memory correctly.</a:t>
            </a:r>
          </a:p>
        </p:txBody>
      </p:sp>
      <p:sp>
        <p:nvSpPr>
          <p:cNvPr id="11" name="point-band-3">
            <a:extLst xmlns:a="http://schemas.openxmlformats.org/drawingml/2006/main">
              <a:ext uri="{FF2B5EF4-FFF2-40B4-BE49-F238E27FC236}">
                <a16:creationId xmlns:a16="http://schemas.microsoft.com/office/drawing/2014/main" id="{A53909B3-48B1-4557-93A4-69F5ACDDAAA4}"/>
              </a:ext>
            </a:extLst>
          </p:cNvPr>
          <p:cNvSpPr>
            <a:spLocks xmlns:a="http://schemas.openxmlformats.org/drawingml/2006/main" noGrp="1"/>
          </p:cNvSpPr>
          <p:nvPr/>
        </p:nvSpPr>
        <p:spPr>
          <a:xfrm xmlns:a="http://schemas.openxmlformats.org/drawingml/2006/main">
            <a:off x="5943600" y="4048125"/>
            <a:ext cx="2509838"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2" name="point-3">
            <a:extLst xmlns:a="http://schemas.openxmlformats.org/drawingml/2006/main">
              <a:ext uri="{FF2B5EF4-FFF2-40B4-BE49-F238E27FC236}">
                <a16:creationId xmlns:a16="http://schemas.microsoft.com/office/drawing/2014/main" id="{71DEFBF8-3748-4B15-ABF5-0400D2AF2665}"/>
              </a:ext>
            </a:extLst>
          </p:cNvPr>
          <p:cNvSpPr>
            <a:spLocks xmlns:a="http://schemas.openxmlformats.org/drawingml/2006/main" noGrp="1"/>
          </p:cNvSpPr>
          <p:nvPr/>
        </p:nvSpPr>
        <p:spPr>
          <a:xfrm xmlns:a="http://schemas.openxmlformats.org/drawingml/2006/main">
            <a:off x="5943600"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Forgetting: expire stale or irrelevant items.</a:t>
            </a:r>
          </a:p>
        </p:txBody>
      </p:sp>
      <p:sp>
        <p:nvSpPr>
          <p:cNvPr id="13" name="point-band-4">
            <a:extLst xmlns:a="http://schemas.openxmlformats.org/drawingml/2006/main">
              <a:ext uri="{FF2B5EF4-FFF2-40B4-BE49-F238E27FC236}">
                <a16:creationId xmlns:a16="http://schemas.microsoft.com/office/drawing/2014/main" id="{0EE0420D-68D1-455A-98F9-6A6958B6007C}"/>
              </a:ext>
            </a:extLst>
          </p:cNvPr>
          <p:cNvSpPr>
            <a:spLocks xmlns:a="http://schemas.openxmlformats.org/drawingml/2006/main" noGrp="1"/>
          </p:cNvSpPr>
          <p:nvPr/>
        </p:nvSpPr>
        <p:spPr>
          <a:xfrm xmlns:a="http://schemas.openxmlformats.org/drawingml/2006/main">
            <a:off x="8720138" y="4048125"/>
            <a:ext cx="2509838"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4" name="point-4">
            <a:extLst xmlns:a="http://schemas.openxmlformats.org/drawingml/2006/main">
              <a:ext uri="{FF2B5EF4-FFF2-40B4-BE49-F238E27FC236}">
                <a16:creationId xmlns:a16="http://schemas.microsoft.com/office/drawing/2014/main" id="{FB916064-F656-485A-8CE5-DADFE8855287}"/>
              </a:ext>
            </a:extLst>
          </p:cNvPr>
          <p:cNvSpPr>
            <a:spLocks xmlns:a="http://schemas.openxmlformats.org/drawingml/2006/main" noGrp="1"/>
          </p:cNvSpPr>
          <p:nvPr/>
        </p:nvSpPr>
        <p:spPr>
          <a:xfrm xmlns:a="http://schemas.openxmlformats.org/drawingml/2006/main">
            <a:off x="8720138"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Security: prevent unauthorized access and malicious persistence.</a:t>
            </a:r>
          </a:p>
        </p:txBody>
      </p:sp>
    </p:spTree>
    <p:extLst>
      <p:ext uri="{BB962C8B-B14F-4D97-AF65-F5344CB8AC3E}">
        <p14:creationId xmlns:p14="http://schemas.microsoft.com/office/powerpoint/2010/main" val="124409840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AE0994C5-6CDE-4BC8-962F-FD6F74BB6039}"/>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E4070D6D-7AF6-4E93-86AA-6D4799520771}"/>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07  /  07</a:t>
            </a:r>
          </a:p>
        </p:txBody>
      </p:sp>
      <p:sp>
        <p:nvSpPr>
          <p:cNvPr id="3" name="slide-number">
            <a:extLst xmlns:a="http://schemas.openxmlformats.org/drawingml/2006/main">
              <a:ext uri="{FF2B5EF4-FFF2-40B4-BE49-F238E27FC236}">
                <a16:creationId xmlns:a16="http://schemas.microsoft.com/office/drawing/2014/main" id="{C5A87D93-3AA0-403E-8866-91D545468ED6}"/>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09</a:t>
            </a:r>
          </a:p>
        </p:txBody>
      </p:sp>
      <p:sp>
        <p:nvSpPr>
          <p:cNvPr id="4" name="chapter-footer">
            <a:extLst xmlns:a="http://schemas.openxmlformats.org/drawingml/2006/main">
              <a:ext uri="{FF2B5EF4-FFF2-40B4-BE49-F238E27FC236}">
                <a16:creationId xmlns:a16="http://schemas.microsoft.com/office/drawing/2014/main" id="{3271F400-6415-4F9C-A753-A706F71BCEC8}"/>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Memory, State, and Context Engineering</a:t>
            </a:r>
          </a:p>
        </p:txBody>
      </p:sp>
      <p:sp>
        <p:nvSpPr>
          <p:cNvPr id="5" name="section-title">
            <a:extLst xmlns:a="http://schemas.openxmlformats.org/drawingml/2006/main">
              <a:ext uri="{FF2B5EF4-FFF2-40B4-BE49-F238E27FC236}">
                <a16:creationId xmlns:a16="http://schemas.microsoft.com/office/drawing/2014/main" id="{D1607DB6-4A23-4F1C-9F93-91723B999D52}"/>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Execution state and model context serve different purposes</a:t>
            </a:r>
          </a:p>
        </p:txBody>
      </p:sp>
      <p:sp>
        <p:nvSpPr>
          <p:cNvPr id="6" name="section-explanation">
            <a:extLst xmlns:a="http://schemas.openxmlformats.org/drawingml/2006/main">
              <a:ext uri="{FF2B5EF4-FFF2-40B4-BE49-F238E27FC236}">
                <a16:creationId xmlns:a16="http://schemas.microsoft.com/office/drawing/2014/main" id="{34215384-F578-4488-A9E6-10CB5149DEA9}"/>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A checkpoint stores workflow state for resumption. A context policy chooses what the next model call can see. Test these mechanisms separately. OpenAI's harness experiment motivates recording context settings as part of the evaluated system.</a:t>
            </a:r>
          </a:p>
        </p:txBody>
      </p:sp>
      <p:sp>
        <p:nvSpPr>
          <p:cNvPr id="7" name="column-rule">
            <a:extLst xmlns:a="http://schemas.openxmlformats.org/drawingml/2006/main">
              <a:ext uri="{FF2B5EF4-FFF2-40B4-BE49-F238E27FC236}">
                <a16:creationId xmlns:a16="http://schemas.microsoft.com/office/drawing/2014/main" id="{990D77B1-DADB-4C47-9B32-7BB93E253A51}"/>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8" name="section-points">
            <a:extLst xmlns:a="http://schemas.openxmlformats.org/drawingml/2006/main">
              <a:ext uri="{FF2B5EF4-FFF2-40B4-BE49-F238E27FC236}">
                <a16:creationId xmlns:a16="http://schemas.microsoft.com/office/drawing/2014/main" id="{33A961C2-AA9A-4844-BB66-9B71E2C32E95}"/>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Reopen a checkpoint before resuming approval.</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Keep side effects after the approval boundary.</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Compare context policies without changing the task set.</a:t>
            </a:r>
          </a:p>
        </p:txBody>
      </p:sp>
    </p:spTree>
    <p:extLst>
      <p:ext uri="{BB962C8B-B14F-4D97-AF65-F5344CB8AC3E}">
        <p14:creationId xmlns:p14="http://schemas.microsoft.com/office/powerpoint/2010/main" val="20927672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accent-line">
            <a:extLst xmlns:a="http://schemas.openxmlformats.org/drawingml/2006/main">
              <a:ext uri="{FF2B5EF4-FFF2-40B4-BE49-F238E27FC236}">
                <a16:creationId xmlns:a16="http://schemas.microsoft.com/office/drawing/2014/main" id="{31982E1A-9EEE-4881-99B2-610CF15B763E}"/>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D7D2A5BC-0B68-453B-B6DE-8F1B8A4DDB62}"/>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EXAM CHECK  /  07</a:t>
            </a:r>
          </a:p>
        </p:txBody>
      </p:sp>
      <p:sp>
        <p:nvSpPr>
          <p:cNvPr id="3" name="slide-number">
            <a:extLst xmlns:a="http://schemas.openxmlformats.org/drawingml/2006/main">
              <a:ext uri="{FF2B5EF4-FFF2-40B4-BE49-F238E27FC236}">
                <a16:creationId xmlns:a16="http://schemas.microsoft.com/office/drawing/2014/main" id="{B4BFB60E-F37D-43BC-9AA4-8AACD8B884D3}"/>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10</a:t>
            </a:r>
          </a:p>
        </p:txBody>
      </p:sp>
      <p:sp>
        <p:nvSpPr>
          <p:cNvPr id="4" name="chapter-footer">
            <a:extLst xmlns:a="http://schemas.openxmlformats.org/drawingml/2006/main">
              <a:ext uri="{FF2B5EF4-FFF2-40B4-BE49-F238E27FC236}">
                <a16:creationId xmlns:a16="http://schemas.microsoft.com/office/drawing/2014/main" id="{65307F83-504A-466F-A220-C3598FA79D59}"/>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Memory, State, and Context Engineering</a:t>
            </a:r>
          </a:p>
        </p:txBody>
      </p:sp>
      <p:sp>
        <p:nvSpPr>
          <p:cNvPr id="5" name="exam-title">
            <a:extLst xmlns:a="http://schemas.openxmlformats.org/drawingml/2006/main">
              <a:ext uri="{FF2B5EF4-FFF2-40B4-BE49-F238E27FC236}">
                <a16:creationId xmlns:a16="http://schemas.microsoft.com/office/drawing/2014/main" id="{F82DF25A-A4D9-4718-8464-0E51A38AD7CB}"/>
              </a:ext>
            </a:extLst>
          </p:cNvPr>
          <p:cNvSpPr>
            <a:spLocks xmlns:a="http://schemas.openxmlformats.org/drawingml/2006/main" noGrp="1"/>
          </p:cNvSpPr>
          <p:nvPr/>
        </p:nvSpPr>
        <p:spPr>
          <a:xfrm xmlns:a="http://schemas.openxmlformats.org/drawingml/2006/main">
            <a:off x="390525" y="981075"/>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Can you answer these without notes?</a:t>
            </a:r>
          </a:p>
        </p:txBody>
      </p:sp>
      <p:sp>
        <p:nvSpPr>
          <p:cNvPr id="6" name="exam-number-1">
            <a:extLst xmlns:a="http://schemas.openxmlformats.org/drawingml/2006/main">
              <a:ext uri="{FF2B5EF4-FFF2-40B4-BE49-F238E27FC236}">
                <a16:creationId xmlns:a16="http://schemas.microsoft.com/office/drawing/2014/main" id="{DE4C1152-6055-4ED8-846B-FEDF2DC87EA7}"/>
              </a:ext>
            </a:extLst>
          </p:cNvPr>
          <p:cNvSpPr>
            <a:spLocks xmlns:a="http://schemas.openxmlformats.org/drawingml/2006/main" noGrp="1"/>
          </p:cNvSpPr>
          <p:nvPr/>
        </p:nvSpPr>
        <p:spPr>
          <a:xfrm xmlns:a="http://schemas.openxmlformats.org/drawingml/2006/main">
            <a:off x="390525" y="22383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3C8FF"/>
                </a:solidFill>
                <a:latin typeface="Helvetica Neue"/>
                <a:ea typeface="Helvetica Neue"/>
                <a:cs typeface="Helvetica Neue"/>
              </a:defRPr>
            </a:pPr>
            <a:r>
              <a:rPr sz="1725" b="1">
                <a:solidFill>
                  <a:srgbClr val="73C8FF"/>
                </a:solidFill>
                <a:latin typeface="Helvetica Neue"/>
                <a:ea typeface="Helvetica Neue"/>
                <a:cs typeface="Helvetica Neue"/>
              </a:rPr>
              <a:t>01</a:t>
            </a:r>
          </a:p>
        </p:txBody>
      </p:sp>
      <p:sp>
        <p:nvSpPr>
          <p:cNvPr id="7" name="exam-question-1">
            <a:extLst xmlns:a="http://schemas.openxmlformats.org/drawingml/2006/main">
              <a:ext uri="{FF2B5EF4-FFF2-40B4-BE49-F238E27FC236}">
                <a16:creationId xmlns:a16="http://schemas.microsoft.com/office/drawing/2014/main" id="{48ADCA9A-FAED-45EC-BF86-782AEE2EA8DA}"/>
              </a:ext>
            </a:extLst>
          </p:cNvPr>
          <p:cNvSpPr>
            <a:spLocks xmlns:a="http://schemas.openxmlformats.org/drawingml/2006/main" noGrp="1"/>
          </p:cNvSpPr>
          <p:nvPr/>
        </p:nvSpPr>
        <p:spPr>
          <a:xfrm xmlns:a="http://schemas.openxmlformats.org/drawingml/2006/main">
            <a:off x="1076325" y="22383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Why does an LLM need an application-level memory system?</a:t>
            </a:r>
          </a:p>
        </p:txBody>
      </p:sp>
      <p:sp>
        <p:nvSpPr>
          <p:cNvPr id="8" name="exam-number-2">
            <a:extLst xmlns:a="http://schemas.openxmlformats.org/drawingml/2006/main">
              <a:ext uri="{FF2B5EF4-FFF2-40B4-BE49-F238E27FC236}">
                <a16:creationId xmlns:a16="http://schemas.microsoft.com/office/drawing/2014/main" id="{6E349674-4E97-4CD0-B0C3-52E1ECED011B}"/>
              </a:ext>
            </a:extLst>
          </p:cNvPr>
          <p:cNvSpPr>
            <a:spLocks xmlns:a="http://schemas.openxmlformats.org/drawingml/2006/main" noGrp="1"/>
          </p:cNvSpPr>
          <p:nvPr/>
        </p:nvSpPr>
        <p:spPr>
          <a:xfrm xmlns:a="http://schemas.openxmlformats.org/drawingml/2006/main">
            <a:off x="6191250" y="22383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3C8FF"/>
                </a:solidFill>
                <a:latin typeface="Helvetica Neue"/>
                <a:ea typeface="Helvetica Neue"/>
                <a:cs typeface="Helvetica Neue"/>
              </a:defRPr>
            </a:pPr>
            <a:r>
              <a:rPr sz="1725" b="1">
                <a:solidFill>
                  <a:srgbClr val="73C8FF"/>
                </a:solidFill>
                <a:latin typeface="Helvetica Neue"/>
                <a:ea typeface="Helvetica Neue"/>
                <a:cs typeface="Helvetica Neue"/>
              </a:rPr>
              <a:t>02</a:t>
            </a:r>
          </a:p>
        </p:txBody>
      </p:sp>
      <p:sp>
        <p:nvSpPr>
          <p:cNvPr id="9" name="exam-question-2">
            <a:extLst xmlns:a="http://schemas.openxmlformats.org/drawingml/2006/main">
              <a:ext uri="{FF2B5EF4-FFF2-40B4-BE49-F238E27FC236}">
                <a16:creationId xmlns:a16="http://schemas.microsoft.com/office/drawing/2014/main" id="{D3301349-3475-4357-A243-B7EFDD408BB9}"/>
              </a:ext>
            </a:extLst>
          </p:cNvPr>
          <p:cNvSpPr>
            <a:spLocks xmlns:a="http://schemas.openxmlformats.org/drawingml/2006/main" noGrp="1"/>
          </p:cNvSpPr>
          <p:nvPr/>
        </p:nvSpPr>
        <p:spPr>
          <a:xfrm xmlns:a="http://schemas.openxmlformats.org/drawingml/2006/main">
            <a:off x="6877050" y="22383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Compare episodic, semantic, and procedural memory.</a:t>
            </a:r>
          </a:p>
        </p:txBody>
      </p:sp>
      <p:sp>
        <p:nvSpPr>
          <p:cNvPr id="10" name="exam-number-3">
            <a:extLst xmlns:a="http://schemas.openxmlformats.org/drawingml/2006/main">
              <a:ext uri="{FF2B5EF4-FFF2-40B4-BE49-F238E27FC236}">
                <a16:creationId xmlns:a16="http://schemas.microsoft.com/office/drawing/2014/main" id="{EF5B0F43-3DE1-4AE2-BA8B-F08E65FBB6C3}"/>
              </a:ext>
            </a:extLst>
          </p:cNvPr>
          <p:cNvSpPr>
            <a:spLocks xmlns:a="http://schemas.openxmlformats.org/drawingml/2006/main" noGrp="1"/>
          </p:cNvSpPr>
          <p:nvPr/>
        </p:nvSpPr>
        <p:spPr>
          <a:xfrm xmlns:a="http://schemas.openxmlformats.org/drawingml/2006/main">
            <a:off x="390525" y="34956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3C8FF"/>
                </a:solidFill>
                <a:latin typeface="Helvetica Neue"/>
                <a:ea typeface="Helvetica Neue"/>
                <a:cs typeface="Helvetica Neue"/>
              </a:defRPr>
            </a:pPr>
            <a:r>
              <a:rPr sz="1725" b="1">
                <a:solidFill>
                  <a:srgbClr val="73C8FF"/>
                </a:solidFill>
                <a:latin typeface="Helvetica Neue"/>
                <a:ea typeface="Helvetica Neue"/>
                <a:cs typeface="Helvetica Neue"/>
              </a:rPr>
              <a:t>03</a:t>
            </a:r>
          </a:p>
        </p:txBody>
      </p:sp>
      <p:sp>
        <p:nvSpPr>
          <p:cNvPr id="11" name="exam-question-3">
            <a:extLst xmlns:a="http://schemas.openxmlformats.org/drawingml/2006/main">
              <a:ext uri="{FF2B5EF4-FFF2-40B4-BE49-F238E27FC236}">
                <a16:creationId xmlns:a16="http://schemas.microsoft.com/office/drawing/2014/main" id="{0CAB168A-9D85-4C54-8128-8581A78C27F5}"/>
              </a:ext>
            </a:extLst>
          </p:cNvPr>
          <p:cNvSpPr>
            <a:spLocks xmlns:a="http://schemas.openxmlformats.org/drawingml/2006/main" noGrp="1"/>
          </p:cNvSpPr>
          <p:nvPr/>
        </p:nvSpPr>
        <p:spPr>
          <a:xfrm xmlns:a="http://schemas.openxmlformats.org/drawingml/2006/main">
            <a:off x="1076325" y="34956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What are four ways to manage a full context window?</a:t>
            </a:r>
          </a:p>
        </p:txBody>
      </p:sp>
      <p:sp>
        <p:nvSpPr>
          <p:cNvPr id="12" name="exam-number-4">
            <a:extLst xmlns:a="http://schemas.openxmlformats.org/drawingml/2006/main">
              <a:ext uri="{FF2B5EF4-FFF2-40B4-BE49-F238E27FC236}">
                <a16:creationId xmlns:a16="http://schemas.microsoft.com/office/drawing/2014/main" id="{AEC02975-67D5-4336-BD90-CEB323B49D42}"/>
              </a:ext>
            </a:extLst>
          </p:cNvPr>
          <p:cNvSpPr>
            <a:spLocks xmlns:a="http://schemas.openxmlformats.org/drawingml/2006/main" noGrp="1"/>
          </p:cNvSpPr>
          <p:nvPr/>
        </p:nvSpPr>
        <p:spPr>
          <a:xfrm xmlns:a="http://schemas.openxmlformats.org/drawingml/2006/main">
            <a:off x="6191250" y="34956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3C8FF"/>
                </a:solidFill>
                <a:latin typeface="Helvetica Neue"/>
                <a:ea typeface="Helvetica Neue"/>
                <a:cs typeface="Helvetica Neue"/>
              </a:defRPr>
            </a:pPr>
            <a:r>
              <a:rPr sz="1725" b="1">
                <a:solidFill>
                  <a:srgbClr val="73C8FF"/>
                </a:solidFill>
                <a:latin typeface="Helvetica Neue"/>
                <a:ea typeface="Helvetica Neue"/>
                <a:cs typeface="Helvetica Neue"/>
              </a:rPr>
              <a:t>04</a:t>
            </a:r>
          </a:p>
        </p:txBody>
      </p:sp>
      <p:sp>
        <p:nvSpPr>
          <p:cNvPr id="13" name="exam-question-4">
            <a:extLst xmlns:a="http://schemas.openxmlformats.org/drawingml/2006/main">
              <a:ext uri="{FF2B5EF4-FFF2-40B4-BE49-F238E27FC236}">
                <a16:creationId xmlns:a16="http://schemas.microsoft.com/office/drawing/2014/main" id="{943A5E8C-AEF2-40D7-BD3C-4EDB2338208F}"/>
              </a:ext>
            </a:extLst>
          </p:cNvPr>
          <p:cNvSpPr>
            <a:spLocks xmlns:a="http://schemas.openxmlformats.org/drawingml/2006/main" noGrp="1"/>
          </p:cNvSpPr>
          <p:nvPr/>
        </p:nvSpPr>
        <p:spPr>
          <a:xfrm xmlns:a="http://schemas.openxmlformats.org/drawingml/2006/main">
            <a:off x="6877050" y="34956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When should an agent write a long-term memory?</a:t>
            </a:r>
          </a:p>
        </p:txBody>
      </p:sp>
      <p:sp>
        <p:nvSpPr>
          <p:cNvPr id="14" name="exam-number-5">
            <a:extLst xmlns:a="http://schemas.openxmlformats.org/drawingml/2006/main">
              <a:ext uri="{FF2B5EF4-FFF2-40B4-BE49-F238E27FC236}">
                <a16:creationId xmlns:a16="http://schemas.microsoft.com/office/drawing/2014/main" id="{63C8CCB3-5F36-43EE-A21F-26E55EE150D0}"/>
              </a:ext>
            </a:extLst>
          </p:cNvPr>
          <p:cNvSpPr>
            <a:spLocks xmlns:a="http://schemas.openxmlformats.org/drawingml/2006/main" noGrp="1"/>
          </p:cNvSpPr>
          <p:nvPr/>
        </p:nvSpPr>
        <p:spPr>
          <a:xfrm xmlns:a="http://schemas.openxmlformats.org/drawingml/2006/main">
            <a:off x="390525" y="47529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3C8FF"/>
                </a:solidFill>
                <a:latin typeface="Helvetica Neue"/>
                <a:ea typeface="Helvetica Neue"/>
                <a:cs typeface="Helvetica Neue"/>
              </a:defRPr>
            </a:pPr>
            <a:r>
              <a:rPr sz="1725" b="1">
                <a:solidFill>
                  <a:srgbClr val="73C8FF"/>
                </a:solidFill>
                <a:latin typeface="Helvetica Neue"/>
                <a:ea typeface="Helvetica Neue"/>
                <a:cs typeface="Helvetica Neue"/>
              </a:rPr>
              <a:t>05</a:t>
            </a:r>
          </a:p>
        </p:txBody>
      </p:sp>
      <p:sp>
        <p:nvSpPr>
          <p:cNvPr id="15" name="exam-question-5">
            <a:extLst xmlns:a="http://schemas.openxmlformats.org/drawingml/2006/main">
              <a:ext uri="{FF2B5EF4-FFF2-40B4-BE49-F238E27FC236}">
                <a16:creationId xmlns:a16="http://schemas.microsoft.com/office/drawing/2014/main" id="{CD4905C3-6887-4BB1-97CC-1EABB9F86572}"/>
              </a:ext>
            </a:extLst>
          </p:cNvPr>
          <p:cNvSpPr>
            <a:spLocks xmlns:a="http://schemas.openxmlformats.org/drawingml/2006/main" noGrp="1"/>
          </p:cNvSpPr>
          <p:nvPr/>
        </p:nvSpPr>
        <p:spPr>
          <a:xfrm xmlns:a="http://schemas.openxmlformats.org/drawingml/2006/main">
            <a:off x="1076325" y="47529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Why does a million-token context not eliminate memory architecture?</a:t>
            </a:r>
          </a:p>
        </p:txBody>
      </p:sp>
      <p:sp>
        <p:nvSpPr>
          <p:cNvPr id="16" name="exam-number-6">
            <a:extLst xmlns:a="http://schemas.openxmlformats.org/drawingml/2006/main">
              <a:ext uri="{FF2B5EF4-FFF2-40B4-BE49-F238E27FC236}">
                <a16:creationId xmlns:a16="http://schemas.microsoft.com/office/drawing/2014/main" id="{8EA421E5-50C3-47F2-81B3-13D70BE0AE1D}"/>
              </a:ext>
            </a:extLst>
          </p:cNvPr>
          <p:cNvSpPr>
            <a:spLocks xmlns:a="http://schemas.openxmlformats.org/drawingml/2006/main" noGrp="1"/>
          </p:cNvSpPr>
          <p:nvPr/>
        </p:nvSpPr>
        <p:spPr>
          <a:xfrm xmlns:a="http://schemas.openxmlformats.org/drawingml/2006/main">
            <a:off x="6191250" y="47529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3C8FF"/>
                </a:solidFill>
                <a:latin typeface="Helvetica Neue"/>
                <a:ea typeface="Helvetica Neue"/>
                <a:cs typeface="Helvetica Neue"/>
              </a:defRPr>
            </a:pPr>
            <a:r>
              <a:rPr sz="1725" b="1">
                <a:solidFill>
                  <a:srgbClr val="73C8FF"/>
                </a:solidFill>
                <a:latin typeface="Helvetica Neue"/>
                <a:ea typeface="Helvetica Neue"/>
                <a:cs typeface="Helvetica Neue"/>
              </a:rPr>
              <a:t>06</a:t>
            </a:r>
          </a:p>
        </p:txBody>
      </p:sp>
      <p:sp>
        <p:nvSpPr>
          <p:cNvPr id="17" name="exam-question-6">
            <a:extLst xmlns:a="http://schemas.openxmlformats.org/drawingml/2006/main">
              <a:ext uri="{FF2B5EF4-FFF2-40B4-BE49-F238E27FC236}">
                <a16:creationId xmlns:a16="http://schemas.microsoft.com/office/drawing/2014/main" id="{17CA7D53-BE15-48F4-B47C-2D0C1B2E27B4}"/>
              </a:ext>
            </a:extLst>
          </p:cNvPr>
          <p:cNvSpPr>
            <a:spLocks xmlns:a="http://schemas.openxmlformats.org/drawingml/2006/main" noGrp="1"/>
          </p:cNvSpPr>
          <p:nvPr/>
        </p:nvSpPr>
        <p:spPr>
          <a:xfrm xmlns:a="http://schemas.openxmlformats.org/drawingml/2006/main">
            <a:off x="6877050" y="47529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How can a workflow resume correctly while its next model call still lacks needed context?</a:t>
            </a:r>
          </a:p>
        </p:txBody>
      </p:sp>
    </p:spTree>
    <p:extLst>
      <p:ext uri="{BB962C8B-B14F-4D97-AF65-F5344CB8AC3E}">
        <p14:creationId xmlns:p14="http://schemas.microsoft.com/office/powerpoint/2010/main" val="660510243"/>
      </p:ext>
    </p:extLst>
  </p:cSld>
</p:sld>
</file>

<file path=ppt/slides/slide1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4" name="accent-line">
            <a:extLst xmlns:a="http://schemas.openxmlformats.org/drawingml/2006/main">
              <a:ext uri="{FF2B5EF4-FFF2-40B4-BE49-F238E27FC236}">
                <a16:creationId xmlns:a16="http://schemas.microsoft.com/office/drawing/2014/main" id="{FE071C33-E8D6-4DEB-A936-7081601E1199}"/>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95E690A3-1D5D-4A9A-AFCC-E21FC6E80E22}"/>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CHAPTER SYNTHESIS  /  07</a:t>
            </a:r>
          </a:p>
        </p:txBody>
      </p:sp>
      <p:sp>
        <p:nvSpPr>
          <p:cNvPr id="3" name="slide-number">
            <a:extLst xmlns:a="http://schemas.openxmlformats.org/drawingml/2006/main">
              <a:ext uri="{FF2B5EF4-FFF2-40B4-BE49-F238E27FC236}">
                <a16:creationId xmlns:a16="http://schemas.microsoft.com/office/drawing/2014/main" id="{6A234D43-4B7D-4BEB-87A9-6AD2695BA985}"/>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11</a:t>
            </a:r>
          </a:p>
        </p:txBody>
      </p:sp>
      <p:sp>
        <p:nvSpPr>
          <p:cNvPr id="4" name="chapter-footer">
            <a:extLst xmlns:a="http://schemas.openxmlformats.org/drawingml/2006/main">
              <a:ext uri="{FF2B5EF4-FFF2-40B4-BE49-F238E27FC236}">
                <a16:creationId xmlns:a16="http://schemas.microsoft.com/office/drawing/2014/main" id="{DE8CC3E1-44CA-404D-9BDA-75C59A93D882}"/>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Memory, State, and Context Engineering</a:t>
            </a:r>
          </a:p>
        </p:txBody>
      </p:sp>
      <p:sp>
        <p:nvSpPr>
          <p:cNvPr id="5" name="closing-title">
            <a:extLst xmlns:a="http://schemas.openxmlformats.org/drawingml/2006/main">
              <a:ext uri="{FF2B5EF4-FFF2-40B4-BE49-F238E27FC236}">
                <a16:creationId xmlns:a16="http://schemas.microsoft.com/office/drawing/2014/main" id="{58F1DE1F-29E8-41A0-9C3B-FA7DE4D7DE6B}"/>
              </a:ext>
            </a:extLst>
          </p:cNvPr>
          <p:cNvSpPr>
            <a:spLocks xmlns:a="http://schemas.openxmlformats.org/drawingml/2006/main" noGrp="1"/>
          </p:cNvSpPr>
          <p:nvPr/>
        </p:nvSpPr>
        <p:spPr>
          <a:xfrm xmlns:a="http://schemas.openxmlformats.org/drawingml/2006/main">
            <a:off x="390525" y="1047750"/>
            <a:ext cx="10287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What must remain after the details fade</a:t>
            </a:r>
          </a:p>
        </p:txBody>
      </p:sp>
      <p:sp>
        <p:nvSpPr>
          <p:cNvPr id="6" name="takeaway-number-1">
            <a:extLst xmlns:a="http://schemas.openxmlformats.org/drawingml/2006/main">
              <a:ext uri="{FF2B5EF4-FFF2-40B4-BE49-F238E27FC236}">
                <a16:creationId xmlns:a16="http://schemas.microsoft.com/office/drawing/2014/main" id="{F0BA68B9-1E44-4189-8F78-F175D56AE2A3}"/>
              </a:ext>
            </a:extLst>
          </p:cNvPr>
          <p:cNvSpPr>
            <a:spLocks xmlns:a="http://schemas.openxmlformats.org/drawingml/2006/main" noGrp="1"/>
          </p:cNvSpPr>
          <p:nvPr/>
        </p:nvSpPr>
        <p:spPr>
          <a:xfrm xmlns:a="http://schemas.openxmlformats.org/drawingml/2006/main">
            <a:off x="390525" y="23336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73C8FF"/>
                </a:solidFill>
                <a:latin typeface="Helvetica Neue"/>
                <a:ea typeface="Helvetica Neue"/>
                <a:cs typeface="Helvetica Neue"/>
              </a:defRPr>
            </a:pPr>
            <a:r>
              <a:rPr sz="2250" b="1">
                <a:solidFill>
                  <a:srgbClr val="73C8FF"/>
                </a:solidFill>
                <a:latin typeface="Helvetica Neue"/>
                <a:ea typeface="Helvetica Neue"/>
                <a:cs typeface="Helvetica Neue"/>
              </a:rPr>
              <a:t>01</a:t>
            </a:r>
          </a:p>
        </p:txBody>
      </p:sp>
      <p:sp>
        <p:nvSpPr>
          <p:cNvPr id="7" name="takeaway-1">
            <a:extLst xmlns:a="http://schemas.openxmlformats.org/drawingml/2006/main">
              <a:ext uri="{FF2B5EF4-FFF2-40B4-BE49-F238E27FC236}">
                <a16:creationId xmlns:a16="http://schemas.microsoft.com/office/drawing/2014/main" id="{8112C4BA-8610-49DE-87BF-3333F0646C9E}"/>
              </a:ext>
            </a:extLst>
          </p:cNvPr>
          <p:cNvSpPr>
            <a:spLocks xmlns:a="http://schemas.openxmlformats.org/drawingml/2006/main" noGrp="1"/>
          </p:cNvSpPr>
          <p:nvPr/>
        </p:nvSpPr>
        <p:spPr>
          <a:xfrm xmlns:a="http://schemas.openxmlformats.org/drawingml/2006/main">
            <a:off x="1257300" y="23145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Memory is context plus external stores and policies.</a:t>
            </a:r>
          </a:p>
        </p:txBody>
      </p:sp>
      <p:sp>
        <p:nvSpPr>
          <p:cNvPr id="8" name="takeaway-number-2">
            <a:extLst xmlns:a="http://schemas.openxmlformats.org/drawingml/2006/main">
              <a:ext uri="{FF2B5EF4-FFF2-40B4-BE49-F238E27FC236}">
                <a16:creationId xmlns:a16="http://schemas.microsoft.com/office/drawing/2014/main" id="{53C2DB9D-70B9-40B3-B063-BF09B02E6F0B}"/>
              </a:ext>
            </a:extLst>
          </p:cNvPr>
          <p:cNvSpPr>
            <a:spLocks xmlns:a="http://schemas.openxmlformats.org/drawingml/2006/main" noGrp="1"/>
          </p:cNvSpPr>
          <p:nvPr/>
        </p:nvSpPr>
        <p:spPr>
          <a:xfrm xmlns:a="http://schemas.openxmlformats.org/drawingml/2006/main">
            <a:off x="390525" y="32099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73C8FF"/>
                </a:solidFill>
                <a:latin typeface="Helvetica Neue"/>
                <a:ea typeface="Helvetica Neue"/>
                <a:cs typeface="Helvetica Neue"/>
              </a:defRPr>
            </a:pPr>
            <a:r>
              <a:rPr sz="2250" b="1">
                <a:solidFill>
                  <a:srgbClr val="73C8FF"/>
                </a:solidFill>
                <a:latin typeface="Helvetica Neue"/>
                <a:ea typeface="Helvetica Neue"/>
                <a:cs typeface="Helvetica Neue"/>
              </a:rPr>
              <a:t>02</a:t>
            </a:r>
          </a:p>
        </p:txBody>
      </p:sp>
      <p:sp>
        <p:nvSpPr>
          <p:cNvPr id="9" name="takeaway-2">
            <a:extLst xmlns:a="http://schemas.openxmlformats.org/drawingml/2006/main">
              <a:ext uri="{FF2B5EF4-FFF2-40B4-BE49-F238E27FC236}">
                <a16:creationId xmlns:a16="http://schemas.microsoft.com/office/drawing/2014/main" id="{9D7A899B-9D73-491F-B156-6FDF4D834AFC}"/>
              </a:ext>
            </a:extLst>
          </p:cNvPr>
          <p:cNvSpPr>
            <a:spLocks xmlns:a="http://schemas.openxmlformats.org/drawingml/2006/main" noGrp="1"/>
          </p:cNvSpPr>
          <p:nvPr/>
        </p:nvSpPr>
        <p:spPr>
          <a:xfrm xmlns:a="http://schemas.openxmlformats.org/drawingml/2006/main">
            <a:off x="1257300" y="31908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Short-term memory is curated; long-term memory is deliberate.</a:t>
            </a:r>
          </a:p>
        </p:txBody>
      </p:sp>
      <p:sp>
        <p:nvSpPr>
          <p:cNvPr id="10" name="takeaway-number-3">
            <a:extLst xmlns:a="http://schemas.openxmlformats.org/drawingml/2006/main">
              <a:ext uri="{FF2B5EF4-FFF2-40B4-BE49-F238E27FC236}">
                <a16:creationId xmlns:a16="http://schemas.microsoft.com/office/drawing/2014/main" id="{1995D6C3-7BC1-4800-8D0A-37EDBF268C21}"/>
              </a:ext>
            </a:extLst>
          </p:cNvPr>
          <p:cNvSpPr>
            <a:spLocks xmlns:a="http://schemas.openxmlformats.org/drawingml/2006/main" noGrp="1"/>
          </p:cNvSpPr>
          <p:nvPr/>
        </p:nvSpPr>
        <p:spPr>
          <a:xfrm xmlns:a="http://schemas.openxmlformats.org/drawingml/2006/main">
            <a:off x="390525" y="40862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73C8FF"/>
                </a:solidFill>
                <a:latin typeface="Helvetica Neue"/>
                <a:ea typeface="Helvetica Neue"/>
                <a:cs typeface="Helvetica Neue"/>
              </a:defRPr>
            </a:pPr>
            <a:r>
              <a:rPr sz="2250" b="1">
                <a:solidFill>
                  <a:srgbClr val="73C8FF"/>
                </a:solidFill>
                <a:latin typeface="Helvetica Neue"/>
                <a:ea typeface="Helvetica Neue"/>
                <a:cs typeface="Helvetica Neue"/>
              </a:rPr>
              <a:t>03</a:t>
            </a:r>
          </a:p>
        </p:txBody>
      </p:sp>
      <p:sp>
        <p:nvSpPr>
          <p:cNvPr id="11" name="takeaway-3">
            <a:extLst xmlns:a="http://schemas.openxmlformats.org/drawingml/2006/main">
              <a:ext uri="{FF2B5EF4-FFF2-40B4-BE49-F238E27FC236}">
                <a16:creationId xmlns:a16="http://schemas.microsoft.com/office/drawing/2014/main" id="{4F106137-A6B2-4F53-9B10-842736D0FDDB}"/>
              </a:ext>
            </a:extLst>
          </p:cNvPr>
          <p:cNvSpPr>
            <a:spLocks xmlns:a="http://schemas.openxmlformats.org/drawingml/2006/main" noGrp="1"/>
          </p:cNvSpPr>
          <p:nvPr/>
        </p:nvSpPr>
        <p:spPr>
          <a:xfrm xmlns:a="http://schemas.openxmlformats.org/drawingml/2006/main">
            <a:off x="1257300" y="40671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Long context complements but does not replace memory.</a:t>
            </a:r>
          </a:p>
        </p:txBody>
      </p:sp>
      <p:sp>
        <p:nvSpPr>
          <p:cNvPr id="12" name="takeaway-number-4">
            <a:extLst xmlns:a="http://schemas.openxmlformats.org/drawingml/2006/main">
              <a:ext uri="{FF2B5EF4-FFF2-40B4-BE49-F238E27FC236}">
                <a16:creationId xmlns:a16="http://schemas.microsoft.com/office/drawing/2014/main" id="{FA0C4EB8-159F-4743-A8B3-D24F36294AC9}"/>
              </a:ext>
            </a:extLst>
          </p:cNvPr>
          <p:cNvSpPr>
            <a:spLocks xmlns:a="http://schemas.openxmlformats.org/drawingml/2006/main" noGrp="1"/>
          </p:cNvSpPr>
          <p:nvPr/>
        </p:nvSpPr>
        <p:spPr>
          <a:xfrm xmlns:a="http://schemas.openxmlformats.org/drawingml/2006/main">
            <a:off x="390525" y="49625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73C8FF"/>
                </a:solidFill>
                <a:latin typeface="Helvetica Neue"/>
                <a:ea typeface="Helvetica Neue"/>
                <a:cs typeface="Helvetica Neue"/>
              </a:defRPr>
            </a:pPr>
            <a:r>
              <a:rPr sz="2250" b="1">
                <a:solidFill>
                  <a:srgbClr val="73C8FF"/>
                </a:solidFill>
                <a:latin typeface="Helvetica Neue"/>
                <a:ea typeface="Helvetica Neue"/>
                <a:cs typeface="Helvetica Neue"/>
              </a:rPr>
              <a:t>04</a:t>
            </a:r>
          </a:p>
        </p:txBody>
      </p:sp>
      <p:sp>
        <p:nvSpPr>
          <p:cNvPr id="13" name="takeaway-4">
            <a:extLst xmlns:a="http://schemas.openxmlformats.org/drawingml/2006/main">
              <a:ext uri="{FF2B5EF4-FFF2-40B4-BE49-F238E27FC236}">
                <a16:creationId xmlns:a16="http://schemas.microsoft.com/office/drawing/2014/main" id="{6110CCD5-D5E0-4EF8-BFA0-CA5995E5A45E}"/>
              </a:ext>
            </a:extLst>
          </p:cNvPr>
          <p:cNvSpPr>
            <a:spLocks xmlns:a="http://schemas.openxmlformats.org/drawingml/2006/main" noGrp="1"/>
          </p:cNvSpPr>
          <p:nvPr/>
        </p:nvSpPr>
        <p:spPr>
          <a:xfrm xmlns:a="http://schemas.openxmlformats.org/drawingml/2006/main">
            <a:off x="1257300" y="49434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Recall, consolidation, expiry, consent, and access control are first-class.</a:t>
            </a:r>
          </a:p>
        </p:txBody>
      </p:sp>
    </p:spTree>
    <p:extLst>
      <p:ext uri="{BB962C8B-B14F-4D97-AF65-F5344CB8AC3E}">
        <p14:creationId xmlns:p14="http://schemas.microsoft.com/office/powerpoint/2010/main" val="137187893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ccent-line">
            <a:extLst xmlns:a="http://schemas.openxmlformats.org/drawingml/2006/main">
              <a:ext uri="{FF2B5EF4-FFF2-40B4-BE49-F238E27FC236}">
                <a16:creationId xmlns:a16="http://schemas.microsoft.com/office/drawing/2014/main" id="{E80C254D-66DD-4C55-BA2B-06B37BA4BE1F}"/>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83FF40FC-3DBE-4AEA-8003-6133DE952EBF}"/>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PRACTICE AND READING  /  07</a:t>
            </a:r>
          </a:p>
        </p:txBody>
      </p:sp>
      <p:sp>
        <p:nvSpPr>
          <p:cNvPr id="3" name="slide-number">
            <a:extLst xmlns:a="http://schemas.openxmlformats.org/drawingml/2006/main">
              <a:ext uri="{FF2B5EF4-FFF2-40B4-BE49-F238E27FC236}">
                <a16:creationId xmlns:a16="http://schemas.microsoft.com/office/drawing/2014/main" id="{C47D6B5E-627E-47F7-B9B1-6BB52300EA52}"/>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12</a:t>
            </a:r>
          </a:p>
        </p:txBody>
      </p:sp>
      <p:sp>
        <p:nvSpPr>
          <p:cNvPr id="4" name="chapter-footer">
            <a:extLst xmlns:a="http://schemas.openxmlformats.org/drawingml/2006/main">
              <a:ext uri="{FF2B5EF4-FFF2-40B4-BE49-F238E27FC236}">
                <a16:creationId xmlns:a16="http://schemas.microsoft.com/office/drawing/2014/main" id="{B1FAEBE2-01B7-4F18-9CCA-CFACAFCD1231}"/>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Memory, State, and Context Engineering</a:t>
            </a:r>
          </a:p>
        </p:txBody>
      </p:sp>
      <p:sp>
        <p:nvSpPr>
          <p:cNvPr id="5" name="practice-title">
            <a:extLst xmlns:a="http://schemas.openxmlformats.org/drawingml/2006/main">
              <a:ext uri="{FF2B5EF4-FFF2-40B4-BE49-F238E27FC236}">
                <a16:creationId xmlns:a16="http://schemas.microsoft.com/office/drawing/2014/main" id="{4D714AE1-A6EA-4292-A1AA-9CF8CE64324B}"/>
              </a:ext>
            </a:extLst>
          </p:cNvPr>
          <p:cNvSpPr>
            <a:spLocks xmlns:a="http://schemas.openxmlformats.org/drawingml/2006/main" noGrp="1"/>
          </p:cNvSpPr>
          <p:nvPr/>
        </p:nvSpPr>
        <p:spPr>
          <a:xfrm xmlns:a="http://schemas.openxmlformats.org/drawingml/2006/main">
            <a:off x="390525" y="1000125"/>
            <a:ext cx="1114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Evidence to submit</a:t>
            </a:r>
          </a:p>
        </p:txBody>
      </p:sp>
      <p:sp>
        <p:nvSpPr>
          <p:cNvPr id="6" name="practice-task">
            <a:extLst xmlns:a="http://schemas.openxmlformats.org/drawingml/2006/main">
              <a:ext uri="{FF2B5EF4-FFF2-40B4-BE49-F238E27FC236}">
                <a16:creationId xmlns:a16="http://schemas.microsoft.com/office/drawing/2014/main" id="{9DCC2A95-C9F0-4AA7-A445-41F13FD2273E}"/>
              </a:ext>
            </a:extLst>
          </p:cNvPr>
          <p:cNvSpPr>
            <a:spLocks xmlns:a="http://schemas.openxmlformats.org/drawingml/2006/main" noGrp="1"/>
          </p:cNvSpPr>
          <p:nvPr/>
        </p:nvSpPr>
        <p:spPr>
          <a:xfrm xmlns:a="http://schemas.openxmlformats.org/drawingml/2006/main">
            <a:off x="390525" y="2000250"/>
            <a:ext cx="10953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Complete Lab 8's checkpoint test. As an extension, compare a fixed recent-history window with a structured task summary on the same lookup tasks.</a:t>
            </a:r>
          </a:p>
        </p:txBody>
      </p:sp>
      <p:sp>
        <p:nvSpPr>
          <p:cNvPr id="7" name="practice-check">
            <a:extLst xmlns:a="http://schemas.openxmlformats.org/drawingml/2006/main">
              <a:ext uri="{FF2B5EF4-FFF2-40B4-BE49-F238E27FC236}">
                <a16:creationId xmlns:a16="http://schemas.microsoft.com/office/drawing/2014/main" id="{0592157A-A16D-4D65-95E3-97BD498DC668}"/>
              </a:ext>
            </a:extLst>
          </p:cNvPr>
          <p:cNvSpPr>
            <a:spLocks xmlns:a="http://schemas.openxmlformats.org/drawingml/2006/main" noGrp="1"/>
          </p:cNvSpPr>
          <p:nvPr/>
        </p:nvSpPr>
        <p:spPr>
          <a:xfrm xmlns:a="http://schemas.openxmlformats.org/drawingml/2006/main">
            <a:off x="390525" y="3381375"/>
            <a:ext cx="10953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0">
                <a:solidFill>
                  <a:srgbClr val="5B5B57"/>
                </a:solidFill>
                <a:latin typeface="Helvetica Neue"/>
                <a:ea typeface="Helvetica Neue"/>
                <a:cs typeface="Helvetica Neue"/>
              </a:defRPr>
            </a:pPr>
            <a:r>
              <a:rPr sz="1800" b="0">
                <a:solidFill>
                  <a:srgbClr val="5B5B57"/>
                </a:solidFill>
                <a:latin typeface="Helvetica Neue"/>
                <a:ea typeface="Helvetica Neue"/>
                <a:cs typeface="Helvetica Neue"/>
              </a:rPr>
              <a:t>Show the pending state before resume and one committed effect after a retry. Do not generalize a context-policy result across providers.</a:t>
            </a:r>
          </a:p>
        </p:txBody>
      </p:sp>
      <p:sp>
        <p:nvSpPr>
          <p:cNvPr id="8" name="practice-readings">
            <a:extLst xmlns:a="http://schemas.openxmlformats.org/drawingml/2006/main">
              <a:ext uri="{FF2B5EF4-FFF2-40B4-BE49-F238E27FC236}">
                <a16:creationId xmlns:a16="http://schemas.microsoft.com/office/drawing/2014/main" id="{94E908C5-ED28-4DC3-AA2F-91D430529D24}"/>
              </a:ext>
            </a:extLst>
          </p:cNvPr>
          <p:cNvSpPr>
            <a:spLocks xmlns:a="http://schemas.openxmlformats.org/drawingml/2006/main" noGrp="1"/>
          </p:cNvSpPr>
          <p:nvPr/>
        </p:nvSpPr>
        <p:spPr>
          <a:xfrm xmlns:a="http://schemas.openxmlformats.org/drawingml/2006/main">
            <a:off x="390525" y="466725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S3  LangGraph interrupts</a:t>
            </a:r>
          </a:p>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R2  How enabling two settings tripled our scores on the ARC-AGI-3 benchmark</a:t>
            </a:r>
          </a:p>
        </p:txBody>
      </p:sp>
      <p:sp>
        <p:nvSpPr>
          <p:cNvPr id="9" name="practice-lab">
            <a:extLst xmlns:a="http://schemas.openxmlformats.org/drawingml/2006/main">
              <a:ext uri="{FF2B5EF4-FFF2-40B4-BE49-F238E27FC236}">
                <a16:creationId xmlns:a16="http://schemas.microsoft.com/office/drawing/2014/main" id="{F9C80970-D1C4-4412-93F8-F249F0502953}"/>
              </a:ext>
            </a:extLst>
          </p:cNvPr>
          <p:cNvSpPr>
            <a:spLocks xmlns:a="http://schemas.openxmlformats.org/drawingml/2006/main" noGrp="1"/>
          </p:cNvSpPr>
          <p:nvPr/>
        </p:nvSpPr>
        <p:spPr>
          <a:xfrm xmlns:a="http://schemas.openxmlformats.org/drawingml/2006/main">
            <a:off x="390525" y="5857875"/>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defRPr sz="1275" b="0">
                <a:solidFill>
                  <a:srgbClr val="5B5B57"/>
                </a:solidFill>
                <a:latin typeface="Helvetica Neue"/>
                <a:ea typeface="Helvetica Neue"/>
                <a:cs typeface="Helvetica Neue"/>
              </a:defRPr>
            </a:pPr>
            <a:r>
              <a:rPr sz="1275" b="0">
                <a:solidFill>
                  <a:srgbClr val="5B5B57"/>
                </a:solidFill>
                <a:latin typeface="Helvetica Neue"/>
                <a:ea typeface="Helvetica Neue"/>
                <a:cs typeface="Helvetica Neue"/>
              </a:rPr>
              <a:t>labs/08_langgraph_approval_security.ipynb</a:t>
            </a:r>
          </a:p>
        </p:txBody>
      </p:sp>
    </p:spTree>
    <p:extLst>
      <p:ext uri="{BB962C8B-B14F-4D97-AF65-F5344CB8AC3E}">
        <p14:creationId xmlns:p14="http://schemas.microsoft.com/office/powerpoint/2010/main" val="99264998"/>
      </p:ext>
    </p:extLst>
  </p:cSld>
</p:sld>
</file>

<file path=ppt/theme/theme1.xml><?xml version="1.0" encoding="utf-8"?>
<a:theme xmlns:a="http://schemas.openxmlformats.org/drawingml/2006/main" name="Course">
  <a:themeElements>
    <a:clrScheme name="Cours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our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07-memory-context</dc:title>
  <dcterms:created xsi:type="dcterms:W3CDTF">2026-09-09T16:56:46.3110000Z</dcterms:created>
  <dcterms:modified xsi:type="dcterms:W3CDTF">2026-09-09T16:56:46.3110000Z</dcterms:modified>
</coreProperties>
</file>