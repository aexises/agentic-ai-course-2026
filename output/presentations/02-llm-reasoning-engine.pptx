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cec8a23dc447e" /><Relationship Type="http://schemas.openxmlformats.org/officeDocument/2006/relationships/extended-properties" Target="/docProps/app.xml" Id="R098d5713e7744f5a" /><Relationship Type="http://schemas.openxmlformats.org/officeDocument/2006/relationships/officeDocument" Target="/ppt/presentation.xml" Id="Rdfcd5061d6b84f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c39b1c7c4473b"/>
  </p:sldMasterIdLst>
  <p:notesMasterIdLst>
    <p:notesMasterId xmlns:r="http://schemas.openxmlformats.org/officeDocument/2006/relationships" r:id="Rf3ccebdefb724510"/>
  </p:notesMasterIdLst>
  <p:sldIdLst>
    <p:sldId xmlns:r="http://schemas.openxmlformats.org/officeDocument/2006/relationships" id="256" r:id="Rbec15da611714a62"/>
    <p:sldId xmlns:r="http://schemas.openxmlformats.org/officeDocument/2006/relationships" id="257" r:id="Ra7304e5945494529"/>
    <p:sldId xmlns:r="http://schemas.openxmlformats.org/officeDocument/2006/relationships" id="258" r:id="R9c5e8e65c1b04e49"/>
    <p:sldId xmlns:r="http://schemas.openxmlformats.org/officeDocument/2006/relationships" id="259" r:id="R07ac0595175e47bd"/>
    <p:sldId xmlns:r="http://schemas.openxmlformats.org/officeDocument/2006/relationships" id="260" r:id="Rb8875916d18d48cd"/>
    <p:sldId xmlns:r="http://schemas.openxmlformats.org/officeDocument/2006/relationships" id="261" r:id="Rc80f34cc1a33424c"/>
    <p:sldId xmlns:r="http://schemas.openxmlformats.org/officeDocument/2006/relationships" id="262" r:id="Rb996bbbc7e584f97"/>
    <p:sldId xmlns:r="http://schemas.openxmlformats.org/officeDocument/2006/relationships" id="263" r:id="R70c4e832c6744d76"/>
    <p:sldId xmlns:r="http://schemas.openxmlformats.org/officeDocument/2006/relationships" id="264" r:id="R1e84b14dfb3d4cc9"/>
    <p:sldId xmlns:r="http://schemas.openxmlformats.org/officeDocument/2006/relationships" id="265" r:id="R212ed866b249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1d054fea2f48e5" /><Relationship Type="http://schemas.openxmlformats.org/officeDocument/2006/relationships/slideMaster" Target="/ppt/slideMasters/slideMaster1.xml" Id="R25cc39b1c7c4473b" /><Relationship Type="http://schemas.openxmlformats.org/officeDocument/2006/relationships/notesMaster" Target="/ppt/notesMasters/notesMaster1.xml" Id="Rf3ccebdefb724510" /><Relationship Type="http://schemas.openxmlformats.org/officeDocument/2006/relationships/presProps" Target="/ppt/presProps.xml" Id="Rff608d0e883a42fe" /><Relationship Type="http://schemas.openxmlformats.org/officeDocument/2006/relationships/tableStyles" Target="/ppt/tableStyles.xml" Id="Rf87c0962acbb40ca" /><Relationship Type="http://schemas.openxmlformats.org/officeDocument/2006/relationships/slide" Target="/ppt/slides/slide1.xml" Id="Rbec15da611714a62" /><Relationship Type="http://schemas.openxmlformats.org/officeDocument/2006/relationships/slide" Target="/ppt/slides/slide2.xml" Id="Ra7304e5945494529" /><Relationship Type="http://schemas.openxmlformats.org/officeDocument/2006/relationships/slide" Target="/ppt/slides/slide3.xml" Id="R9c5e8e65c1b04e49" /><Relationship Type="http://schemas.openxmlformats.org/officeDocument/2006/relationships/slide" Target="/ppt/slides/slide4.xml" Id="R07ac0595175e47bd" /><Relationship Type="http://schemas.openxmlformats.org/officeDocument/2006/relationships/slide" Target="/ppt/slides/slide5.xml" Id="Rb8875916d18d48cd" /><Relationship Type="http://schemas.openxmlformats.org/officeDocument/2006/relationships/slide" Target="/ppt/slides/slide6.xml" Id="Rc80f34cc1a33424c" /><Relationship Type="http://schemas.openxmlformats.org/officeDocument/2006/relationships/slide" Target="/ppt/slides/slide7.xml" Id="Rb996bbbc7e584f97" /><Relationship Type="http://schemas.openxmlformats.org/officeDocument/2006/relationships/slide" Target="/ppt/slides/slide8.xml" Id="R70c4e832c6744d76" /><Relationship Type="http://schemas.openxmlformats.org/officeDocument/2006/relationships/slide" Target="/ppt/slides/slide9.xml" Id="R1e84b14dfb3d4cc9" /><Relationship Type="http://schemas.openxmlformats.org/officeDocument/2006/relationships/slide" Target="/ppt/slides/slide10.xml" Id="R212ed866b249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039682d8f4d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897c48bf046cf" /><Relationship Type="http://schemas.openxmlformats.org/officeDocument/2006/relationships/notesMaster" Target="/ppt/notesMasters/notesMaster1.xml" Id="R5003f3a9fbd6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9d514160f4dfd" /><Relationship Type="http://schemas.openxmlformats.org/officeDocument/2006/relationships/notesMaster" Target="/ppt/notesMasters/notesMaster1.xml" Id="Rd7b88917adab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be69fa036d4d2c" /><Relationship Type="http://schemas.openxmlformats.org/officeDocument/2006/relationships/notesMaster" Target="/ppt/notesMasters/notesMaster1.xml" Id="Ra12c9ee83d9649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09803a9e63469f" /><Relationship Type="http://schemas.openxmlformats.org/officeDocument/2006/relationships/notesMaster" Target="/ppt/notesMasters/notesMaster1.xml" Id="Rf1d712995e58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581416f1cb4be2" /><Relationship Type="http://schemas.openxmlformats.org/officeDocument/2006/relationships/notesMaster" Target="/ppt/notesMasters/notesMaster1.xml" Id="R02f55d5f164645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433f99bd4c4541" /><Relationship Type="http://schemas.openxmlformats.org/officeDocument/2006/relationships/notesMaster" Target="/ppt/notesMasters/notesMaster1.xml" Id="R60d88afcd07640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31311f00744b9" /><Relationship Type="http://schemas.openxmlformats.org/officeDocument/2006/relationships/notesMaster" Target="/ppt/notesMasters/notesMaster1.xml" Id="R58b1e906929c4f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4d19051534b11" /><Relationship Type="http://schemas.openxmlformats.org/officeDocument/2006/relationships/notesMaster" Target="/ppt/notesMasters/notesMaster1.xml" Id="Rad12ebd8a2b342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9a599eee2e4622" /><Relationship Type="http://schemas.openxmlformats.org/officeDocument/2006/relationships/notesMaster" Target="/ppt/notesMasters/notesMaster1.xml" Id="R9cdbd293a11d48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d02f0d9bc74d2f" /><Relationship Type="http://schemas.openxmlformats.org/officeDocument/2006/relationships/notesMaster" Target="/ppt/notesMasters/notesMaster1.xml" Id="Rf41e19422325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chapter thesis and connect it to the previous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objectives as an advance organizer and as a checklist after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claim first, then use the numbered points as evidence and design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central statement, then connect the lower points as a single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retrieval practice. Ask for an answer that defines, compares, traces, and evaluates.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four durable ideas and linking forward to the next chapter.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source presentation: 02-llm-reasoning-engine.pdf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ca9e6798a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0cca882ba4d37" /><Relationship Type="http://schemas.openxmlformats.org/officeDocument/2006/relationships/slideLayout" Target="/ppt/slideLayouts/slideLayout1.xml" Id="Rb7d0da13379f47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0da13379f47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291637fff4c06" /><Relationship Type="http://schemas.openxmlformats.org/officeDocument/2006/relationships/notesSlide" Target="/ppt/notesSlides/notesSlide1.xml" Id="R5cb2189b62b44a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57f16b8794d84" /><Relationship Type="http://schemas.openxmlformats.org/officeDocument/2006/relationships/notesSlide" Target="/ppt/notesSlides/notesSlide2.xml" Id="R4274e9996d604f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aa7968c5e4462" /><Relationship Type="http://schemas.openxmlformats.org/officeDocument/2006/relationships/notesSlide" Target="/ppt/notesSlides/notesSlide3.xml" Id="R5a667c7c6780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66e5c9e6141ec" /><Relationship Type="http://schemas.openxmlformats.org/officeDocument/2006/relationships/notesSlide" Target="/ppt/notesSlides/notesSlide4.xml" Id="Rc9a8e9fde608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f4a7c9e684f5b" /><Relationship Type="http://schemas.openxmlformats.org/officeDocument/2006/relationships/notesSlide" Target="/ppt/notesSlides/notesSlide5.xml" Id="R7044ed8999d9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69682f8104251" /><Relationship Type="http://schemas.openxmlformats.org/officeDocument/2006/relationships/notesSlide" Target="/ppt/notesSlides/notesSlide6.xml" Id="Rd57d355c409740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043df4f154822" /><Relationship Type="http://schemas.openxmlformats.org/officeDocument/2006/relationships/notesSlide" Target="/ppt/notesSlides/notesSlide7.xml" Id="R2a0d6cfd5e7745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b293284e2440d" /><Relationship Type="http://schemas.openxmlformats.org/officeDocument/2006/relationships/notesSlide" Target="/ppt/notesSlides/notesSlide8.xml" Id="R115f361ba26942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332203bce4f23" /><Relationship Type="http://schemas.openxmlformats.org/officeDocument/2006/relationships/notesSlide" Target="/ppt/notesSlides/notesSlide9.xml" Id="Rc8b58bf445ad48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07e48a4824777" /><Relationship Type="http://schemas.openxmlformats.org/officeDocument/2006/relationships/notesSlide" Target="/ppt/notesSlides/notesSlide10.xml" Id="R26b8f00f053c4d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CAD085-7523-4738-8AD1-66888FE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ourse-title">
            <a:extLst xmlns:a="http://schemas.openxmlformats.org/drawingml/2006/main">
              <a:ext uri="{FF2B5EF4-FFF2-40B4-BE49-F238E27FC236}">
                <a16:creationId xmlns:a16="http://schemas.microsoft.com/office/drawing/2014/main" id="{DBF08186-5748-4A14-B976-9DE13172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AGENTIC AI</a:t>
            </a:r>
          </a:p>
        </p:txBody>
      </p:sp>
      <p:sp>
        <p:nvSpPr>
          <p:cNvPr id="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E76ED6DF-B8B7-4B1D-B782-6D6513E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26CB3DC0-FB1A-407C-9A6B-91A9E28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58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deck-thesis">
            <a:extLst xmlns:a="http://schemas.openxmlformats.org/drawingml/2006/main">
              <a:ext uri="{FF2B5EF4-FFF2-40B4-BE49-F238E27FC236}">
                <a16:creationId xmlns:a16="http://schemas.microsoft.com/office/drawing/2014/main" id="{E11829D3-F50C-43A7-A320-5959824C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52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Agents inherit the stochastic, token-based nature of LLMs; prompting, structured output, retrieval, and adaptation compensate for different limitations.</a:t>
            </a:r>
          </a:p>
        </p:txBody>
      </p:sp>
      <p:sp>
        <p:nvSpPr>
          <p:cNvPr id="6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A5A71B28-9DAE-4C00-BF94-6EC4E70D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7" name="title-marker-text">
            <a:extLst xmlns:a="http://schemas.openxmlformats.org/drawingml/2006/main">
              <a:ext uri="{FF2B5EF4-FFF2-40B4-BE49-F238E27FC236}">
                <a16:creationId xmlns:a16="http://schemas.microsoft.com/office/drawing/2014/main" id="{8B728D22-B43E-4796-88CF-8FFDB4BC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DECK</a:t>
            </a:r>
          </a:p>
        </p:txBody>
      </p:sp>
    </p:spTree>
    <p:extLst>
      <p:ext uri="{BB962C8B-B14F-4D97-AF65-F5344CB8AC3E}">
        <p14:creationId xmlns:p14="http://schemas.microsoft.com/office/powerpoint/2010/main" val="1136001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367107A-D958-4853-8BFF-2260C57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0CF86894-68AC-40EC-8EAF-449A7CD4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LEARNING MAP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C24DD9-8F4E-492A-88A0-45673B36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E29D8235-A0C2-4D37-AAB9-96CC4A2A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objectives-title">
            <a:extLst xmlns:a="http://schemas.openxmlformats.org/drawingml/2006/main">
              <a:ext uri="{FF2B5EF4-FFF2-40B4-BE49-F238E27FC236}">
                <a16:creationId xmlns:a16="http://schemas.microsoft.com/office/drawing/2014/main" id="{DDBAE6AD-D949-4C86-B20D-DC6C9675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you should be able to...</a:t>
            </a:r>
          </a:p>
        </p:txBody>
      </p:sp>
      <p:sp>
        <p:nvSpPr>
          <p:cNvPr id="6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E09F8BF6-DF8E-4391-AB05-BFB025F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15A3E362-7F29-4386-88D3-A1384B86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next-token prediction and sampling</a:t>
            </a:r>
          </a:p>
        </p:txBody>
      </p:sp>
      <p:sp>
        <p:nvSpPr>
          <p:cNvPr id="8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45D1E201-3D44-4395-98F3-4FB13213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A1943119-4103-4114-98E7-4B5BFD33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major prompting strategies appropriately</a:t>
            </a:r>
          </a:p>
        </p:txBody>
      </p:sp>
      <p:sp>
        <p:nvSpPr>
          <p:cNvPr id="10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07C60076-0C8E-47AD-AC74-43A74F7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6FF552B7-36F9-4191-BEB9-E1DCB9B9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Distinguish prompting, RAG, and fine-tuning</a:t>
            </a:r>
          </a:p>
        </p:txBody>
      </p:sp>
      <p:sp>
        <p:nvSpPr>
          <p:cNvPr id="12" name="objective-number-4">
            <a:extLst xmlns:a="http://schemas.openxmlformats.org/drawingml/2006/main">
              <a:ext uri="{FF2B5EF4-FFF2-40B4-BE49-F238E27FC236}">
                <a16:creationId xmlns:a16="http://schemas.microsoft.com/office/drawing/2014/main" id="{20F2E876-CD96-47E3-8F54-BF55B629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1EE6CCEF-01B2-4456-BE0E-1542402D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machine-readable outputs for control loops</a:t>
            </a:r>
          </a:p>
        </p:txBody>
      </p:sp>
    </p:spTree>
    <p:extLst>
      <p:ext uri="{BB962C8B-B14F-4D97-AF65-F5344CB8AC3E}">
        <p14:creationId xmlns:p14="http://schemas.microsoft.com/office/powerpoint/2010/main" val="1162215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FEBEB4BE-056C-45A5-B2A5-D0CDED19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439EF739-9EBC-48D1-93B1-998E0769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01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7FBD71-8C13-4078-B73F-A92EFBF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E77AAA80-8130-4789-A080-A3301A79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04A537A4-C427-449D-A495-89BFD147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engine predicts one token at a time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B336CF14-A172-4AA2-87AB-1EE39CB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An autoregressive LLM defines a probability distribution for the next token given previous tokens, samples one, appends it, and repeats. This makes agent behavior stochastic, gives the model no built-in persistent state, and represents plans, actions, and observations as tokens.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DB6D8DD1-E79D-4CAB-88F3-7A5DE7CD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AB7CB039-1A51-4AFB-A197-6906A98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Low temperature favors predictable control-loop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Top-p limits sampling to a probability-mass nucleus.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Input and output tokens both affect latency and cost.</a:t>
            </a:r>
          </a:p>
        </p:txBody>
      </p:sp>
    </p:spTree>
    <p:extLst>
      <p:ext uri="{BB962C8B-B14F-4D97-AF65-F5344CB8AC3E}">
        <p14:creationId xmlns:p14="http://schemas.microsoft.com/office/powerpoint/2010/main" val="2094354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line">
            <a:extLst xmlns:a="http://schemas.openxmlformats.org/drawingml/2006/main">
              <a:ext uri="{FF2B5EF4-FFF2-40B4-BE49-F238E27FC236}">
                <a16:creationId xmlns:a16="http://schemas.microsoft.com/office/drawing/2014/main" id="{8288404D-BB34-4E17-899D-0887721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34492EB9-2851-4307-83C6-CDFB624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02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1C9CE8-582B-467D-B84F-1A889E6C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035A86F5-6111-41AA-A865-2A870719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EF62816-CF3C-42C3-A435-FFEFA68D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context window is a shared budget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4D289D88-4735-4082-A6CF-EA37D87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System instructions, tool definitions, retrieved evidence, memory, conversation, and generated reasoning all compete for a fixed window. Agent loops resend a growing transcript, so relevance and compression matter.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7B55B0D8-B036-4BFE-9C0E-9762F397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35220CA4-8457-47AA-BFF9-4660594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 contexts cost more and take longer.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54995F31-21C8-4AA7-A1E4-D687DE9D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A6C34FE1-92D8-46B4-86F7-D447A1C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57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in the middle may be underused.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66018036-8BDE-4EA5-A1F7-26C5282C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48125"/>
            <a:ext cx="343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D609FC02-B1F4-43F9-B02B-34B776D9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24350"/>
            <a:ext cx="3435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cheapest token is the one the system does not send.</a:t>
            </a:r>
          </a:p>
        </p:txBody>
      </p:sp>
    </p:spTree>
    <p:extLst>
      <p:ext uri="{BB962C8B-B14F-4D97-AF65-F5344CB8AC3E}">
        <p14:creationId xmlns:p14="http://schemas.microsoft.com/office/powerpoint/2010/main" val="106494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6CEAA13-F80E-41F9-81BD-AAF96FD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01A20983-D5F0-43F9-A84B-B17824DC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03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769FFF-AC15-4570-B340-4A6403E5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ED167F49-B286-4787-908B-86259D3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B2079E1A-D498-4802-B81A-5DDE014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prompt programs behavior in context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E6D02115-E4E7-4A79-942D-60B3BFA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In-context learning teaches a task through instructions and examples without changing model weights. A robust prompt separates instruction, context, input, and output indicator; an agent profile also includes tool contracts and the protocol the harness parses.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F56B33EA-5BA8-4D89-BBB7-6CBEA61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8463EE2E-AFB4-4CAF-B402-C393711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Zero-shot is fast but can be brittle on edge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Few-shot demonstrations stabilize task pattern and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Clear output examples reduce parse failures.</a:t>
            </a:r>
          </a:p>
        </p:txBody>
      </p:sp>
    </p:spTree>
    <p:extLst>
      <p:ext uri="{BB962C8B-B14F-4D97-AF65-F5344CB8AC3E}">
        <p14:creationId xmlns:p14="http://schemas.microsoft.com/office/powerpoint/2010/main" val="1263336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4001D744-7CD7-43D8-A1C4-EC22FFC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26D95A08-F5C5-4924-AFB2-96CD9104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04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FEC0F7-E3AB-4638-9FF2-96BAA70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225131FD-D57C-4438-9B1C-AE83A280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3CB6D04-3B56-4FBC-95CA-5E114EE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Different reasoning techniques buy different guarantees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DC6EA88B-5F92-47FC-9A08-128973F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Chain-of-thought externalizes intermediate steps. Self-consistency samples several chains and votes. Program-aided language models generate code and delegate exact computation to an interpreter. Reasoning models spend additional test-time compute on difficult problems.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B92B438E-989A-43B3-80C7-7C202BB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DDB027D2-0FB7-46AF-87A2-BD6540FF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a single chain for ordinary multi-step reasoning.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2A8AE083-D7D9-4C55-9E41-7BAFD8A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EC0B08A9-EDF1-4CB3-BE01-774F09C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voting when a clear answer needs robustness.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C390FF00-78FC-49FF-BA4E-045BFB87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FA881AA7-D55B-453E-B527-B0FDE647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executable programs when exact computation matters.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A98842A2-5DF1-4D60-BFD2-1D909FF3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36792FA2-90B5-452C-A241-D778CB25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Pay for deliberate reasoning only on hard steps.</a:t>
            </a:r>
          </a:p>
        </p:txBody>
      </p:sp>
    </p:spTree>
    <p:extLst>
      <p:ext uri="{BB962C8B-B14F-4D97-AF65-F5344CB8AC3E}">
        <p14:creationId xmlns:p14="http://schemas.microsoft.com/office/powerpoint/2010/main" val="2105635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line">
            <a:extLst xmlns:a="http://schemas.openxmlformats.org/drawingml/2006/main">
              <a:ext uri="{FF2B5EF4-FFF2-40B4-BE49-F238E27FC236}">
                <a16:creationId xmlns:a16="http://schemas.microsoft.com/office/drawing/2014/main" id="{1CBA4390-FA65-4FDC-893F-B3AAED2A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6180510A-218F-4DF0-A223-0079204F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05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83CFFA-8949-4615-97AD-64D13103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E198B19A-0E49-4847-8EEA-15FCC76D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27662AE4-3AE3-450F-964D-FEFC7585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71550"/>
            <a:ext cx="1114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Structured output closes the software loop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9F268471-B039-4531-8CBA-D492BA49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4524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Free-form prose is difficult for a runtime to execute safely. Instructed JSON is brittle; constrained decoding enforces a grammar; native function calling produces provider-enforced structured calls. The runtime must still validate and authorize arguments.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BADDF771-877E-4288-9B37-5A37302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76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section-points">
            <a:extLst xmlns:a="http://schemas.openxmlformats.org/drawingml/2006/main">
              <a:ext uri="{FF2B5EF4-FFF2-40B4-BE49-F238E27FC236}">
                <a16:creationId xmlns:a16="http://schemas.microsoft.com/office/drawing/2014/main" id="{A23469E9-1045-4A2A-A5E9-2706FEF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5572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Schema validity is not semantic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Tool descriptions steer selection and argument filling.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The model requests; application code executes.</a:t>
            </a:r>
          </a:p>
        </p:txBody>
      </p:sp>
    </p:spTree>
    <p:extLst>
      <p:ext uri="{BB962C8B-B14F-4D97-AF65-F5344CB8AC3E}">
        <p14:creationId xmlns:p14="http://schemas.microsoft.com/office/powerpoint/2010/main" val="310898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2252B410-61B2-4876-B7DF-2D895BC3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E43A8FC4-3389-43A5-B95E-18FD1B5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CORE IDEA 06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4AE82C-14B2-4648-B19D-56207026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916C500A-6A43-4F7E-88E2-05DD8F9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3A2B75E7-F67D-46FB-8D98-32CC468C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2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Prompting, retrieval, and fine-tuning solve different problems</a:t>
            </a:r>
          </a:p>
        </p:txBody>
      </p:sp>
      <p:sp>
        <p:nvSpPr>
          <p:cNvPr id="6" name="section-explanation">
            <a:extLst xmlns:a="http://schemas.openxmlformats.org/drawingml/2006/main">
              <a:ext uri="{FF2B5EF4-FFF2-40B4-BE49-F238E27FC236}">
                <a16:creationId xmlns:a16="http://schemas.microsoft.com/office/drawing/2014/main" id="{9662E621-12AB-40DD-BAE0-2F535D10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4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Prompting changes behavior quickly. RAG injects current or private knowledge at query time. Fine-tuning changes model behavior in weights; LoRA learns small low-rank adapters and QLoRA combines adapters with a quantized base. Alignment methods such as SFT, RLHF, and DPO target preferred behavior.</a:t>
            </a:r>
          </a:p>
        </p:txBody>
      </p:sp>
      <p:sp>
        <p:nvSpPr>
          <p:cNvPr id="7" name="point-band-1">
            <a:extLst xmlns:a="http://schemas.openxmlformats.org/drawingml/2006/main">
              <a:ext uri="{FF2B5EF4-FFF2-40B4-BE49-F238E27FC236}">
                <a16:creationId xmlns:a16="http://schemas.microsoft.com/office/drawing/2014/main" id="{C71C94EA-FF24-4184-8FE6-A5D4C5A7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8" name="point-1">
            <a:extLst xmlns:a="http://schemas.openxmlformats.org/drawingml/2006/main">
              <a:ext uri="{FF2B5EF4-FFF2-40B4-BE49-F238E27FC236}">
                <a16:creationId xmlns:a16="http://schemas.microsoft.com/office/drawing/2014/main" id="{CE2F1298-D6D9-47A5-8B10-3F1086EE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prompting for format, role, or rapidly changing behavior.</a:t>
            </a:r>
          </a:p>
        </p:txBody>
      </p:sp>
      <p:sp>
        <p:nvSpPr>
          <p:cNvPr id="9" name="point-band-2">
            <a:extLst xmlns:a="http://schemas.openxmlformats.org/drawingml/2006/main">
              <a:ext uri="{FF2B5EF4-FFF2-40B4-BE49-F238E27FC236}">
                <a16:creationId xmlns:a16="http://schemas.microsoft.com/office/drawing/2014/main" id="{8565156E-A8F3-45FE-A2D6-AC3071E8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0" name="point-2">
            <a:extLst xmlns:a="http://schemas.openxmlformats.org/drawingml/2006/main">
              <a:ext uri="{FF2B5EF4-FFF2-40B4-BE49-F238E27FC236}">
                <a16:creationId xmlns:a16="http://schemas.microsoft.com/office/drawing/2014/main" id="{9F779F5E-FFC0-4027-A820-86E6AF7B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RAG for fresh, private, or citable knowledge.</a:t>
            </a:r>
          </a:p>
        </p:txBody>
      </p:sp>
      <p:sp>
        <p:nvSpPr>
          <p:cNvPr id="11" name="point-band-3">
            <a:extLst xmlns:a="http://schemas.openxmlformats.org/drawingml/2006/main">
              <a:ext uri="{FF2B5EF4-FFF2-40B4-BE49-F238E27FC236}">
                <a16:creationId xmlns:a16="http://schemas.microsoft.com/office/drawing/2014/main" id="{805BE8A7-5C35-4F93-BAAE-039EFA3F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2" name="point-3">
            <a:extLst xmlns:a="http://schemas.openxmlformats.org/drawingml/2006/main">
              <a:ext uri="{FF2B5EF4-FFF2-40B4-BE49-F238E27FC236}">
                <a16:creationId xmlns:a16="http://schemas.microsoft.com/office/drawing/2014/main" id="{15259C78-43CA-43A2-9DA8-3032384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fine-tuning for stable behavior at sufficient scale.</a:t>
            </a:r>
          </a:p>
        </p:txBody>
      </p:sp>
      <p:sp>
        <p:nvSpPr>
          <p:cNvPr id="13" name="point-band-4">
            <a:extLst xmlns:a="http://schemas.openxmlformats.org/drawingml/2006/main">
              <a:ext uri="{FF2B5EF4-FFF2-40B4-BE49-F238E27FC236}">
                <a16:creationId xmlns:a16="http://schemas.microsoft.com/office/drawing/2014/main" id="{C72AC4AD-5555-489E-AF0F-F2D65C6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048125"/>
            <a:ext cx="25098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14" name="point-4">
            <a:extLst xmlns:a="http://schemas.openxmlformats.org/drawingml/2006/main">
              <a:ext uri="{FF2B5EF4-FFF2-40B4-BE49-F238E27FC236}">
                <a16:creationId xmlns:a16="http://schemas.microsoft.com/office/drawing/2014/main" id="{0C750F5B-2187-4BE5-825D-FC31BFC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4324350"/>
            <a:ext cx="2509838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Ground hallucination; do not expect prompting alone to remove it.</a:t>
            </a:r>
          </a:p>
        </p:txBody>
      </p:sp>
    </p:spTree>
    <p:extLst>
      <p:ext uri="{BB962C8B-B14F-4D97-AF65-F5344CB8AC3E}">
        <p14:creationId xmlns:p14="http://schemas.microsoft.com/office/powerpoint/2010/main" val="1853374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line">
            <a:extLst xmlns:a="http://schemas.openxmlformats.org/drawingml/2006/main">
              <a:ext uri="{FF2B5EF4-FFF2-40B4-BE49-F238E27FC236}">
                <a16:creationId xmlns:a16="http://schemas.microsoft.com/office/drawing/2014/main" id="{B5516661-2777-4A0F-8A67-BD13B2AF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129362DA-E140-4DD4-B392-501E273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EXAM CHECK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B05F39-5742-4E21-AD6C-ABCD65DA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40FF4803-25C2-4432-A1B5-E83ECD6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exam-title">
            <a:extLst xmlns:a="http://schemas.openxmlformats.org/drawingml/2006/main">
              <a:ext uri="{FF2B5EF4-FFF2-40B4-BE49-F238E27FC236}">
                <a16:creationId xmlns:a16="http://schemas.microsoft.com/office/drawing/2014/main" id="{70379F70-EBB5-40A3-B3D2-5E76DBB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810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you answer these without notes?</a:t>
            </a:r>
          </a:p>
        </p:txBody>
      </p:sp>
      <p:sp>
        <p:nvSpPr>
          <p:cNvPr id="6" name="exam-number-1">
            <a:extLst xmlns:a="http://schemas.openxmlformats.org/drawingml/2006/main">
              <a:ext uri="{FF2B5EF4-FFF2-40B4-BE49-F238E27FC236}">
                <a16:creationId xmlns:a16="http://schemas.microsoft.com/office/drawing/2014/main" id="{A53DC136-3660-493A-B2AD-C4980596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exam-question-1">
            <a:extLst xmlns:a="http://schemas.openxmlformats.org/drawingml/2006/main">
              <a:ext uri="{FF2B5EF4-FFF2-40B4-BE49-F238E27FC236}">
                <a16:creationId xmlns:a16="http://schemas.microsoft.com/office/drawing/2014/main" id="{048EECA7-3D27-4EFE-83F6-89EB00A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do temperature and top-p affect an agent loop?</a:t>
            </a:r>
          </a:p>
        </p:txBody>
      </p:sp>
      <p:sp>
        <p:nvSpPr>
          <p:cNvPr id="8" name="exam-number-2">
            <a:extLst xmlns:a="http://schemas.openxmlformats.org/drawingml/2006/main">
              <a:ext uri="{FF2B5EF4-FFF2-40B4-BE49-F238E27FC236}">
                <a16:creationId xmlns:a16="http://schemas.microsoft.com/office/drawing/2014/main" id="{3ACCF07C-C02F-40DD-94DE-7E89F181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exam-question-2">
            <a:extLst xmlns:a="http://schemas.openxmlformats.org/drawingml/2006/main">
              <a:ext uri="{FF2B5EF4-FFF2-40B4-BE49-F238E27FC236}">
                <a16:creationId xmlns:a16="http://schemas.microsoft.com/office/drawing/2014/main" id="{DC377884-3AA2-4D62-A905-45D7B2A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competes for space in the context window?</a:t>
            </a:r>
          </a:p>
        </p:txBody>
      </p:sp>
      <p:sp>
        <p:nvSpPr>
          <p:cNvPr id="10" name="exam-number-3">
            <a:extLst xmlns:a="http://schemas.openxmlformats.org/drawingml/2006/main">
              <a:ext uri="{FF2B5EF4-FFF2-40B4-BE49-F238E27FC236}">
                <a16:creationId xmlns:a16="http://schemas.microsoft.com/office/drawing/2014/main" id="{025BF838-AA14-401F-B0B3-EB973918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exam-question-3">
            <a:extLst xmlns:a="http://schemas.openxmlformats.org/drawingml/2006/main">
              <a:ext uri="{FF2B5EF4-FFF2-40B4-BE49-F238E27FC236}">
                <a16:creationId xmlns:a16="http://schemas.microsoft.com/office/drawing/2014/main" id="{12A114F0-A204-41D5-8526-DB32964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zero-shot, few-shot, chain-of-thought, self-consistency, and PAL.</a:t>
            </a:r>
          </a:p>
        </p:txBody>
      </p:sp>
      <p:sp>
        <p:nvSpPr>
          <p:cNvPr id="12" name="exam-number-4">
            <a:extLst xmlns:a="http://schemas.openxmlformats.org/drawingml/2006/main">
              <a:ext uri="{FF2B5EF4-FFF2-40B4-BE49-F238E27FC236}">
                <a16:creationId xmlns:a16="http://schemas.microsoft.com/office/drawing/2014/main" id="{DAB3062F-8A12-4D71-B8E4-443D224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exam-question-4">
            <a:extLst xmlns:a="http://schemas.openxmlformats.org/drawingml/2006/main">
              <a:ext uri="{FF2B5EF4-FFF2-40B4-BE49-F238E27FC236}">
                <a16:creationId xmlns:a16="http://schemas.microsoft.com/office/drawing/2014/main" id="{6EA402F3-4F3B-4DC4-A009-D2258A9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956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is valid JSON insufficient as a security guarantee?</a:t>
            </a:r>
          </a:p>
        </p:txBody>
      </p:sp>
      <p:sp>
        <p:nvSpPr>
          <p:cNvPr id="14" name="exam-number-5">
            <a:extLst xmlns:a="http://schemas.openxmlformats.org/drawingml/2006/main">
              <a:ext uri="{FF2B5EF4-FFF2-40B4-BE49-F238E27FC236}">
                <a16:creationId xmlns:a16="http://schemas.microsoft.com/office/drawing/2014/main" id="{C085C9D9-A554-4407-83D3-90B50F8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exam-question-5">
            <a:extLst xmlns:a="http://schemas.openxmlformats.org/drawingml/2006/main">
              <a:ext uri="{FF2B5EF4-FFF2-40B4-BE49-F238E27FC236}">
                <a16:creationId xmlns:a16="http://schemas.microsoft.com/office/drawing/2014/main" id="{10DA145D-8F72-44A0-83B0-A616718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should an engineer choose RAG rather than fine-tuning?</a:t>
            </a:r>
          </a:p>
        </p:txBody>
      </p:sp>
      <p:sp>
        <p:nvSpPr>
          <p:cNvPr id="16" name="exam-number-6">
            <a:extLst xmlns:a="http://schemas.openxmlformats.org/drawingml/2006/main">
              <a:ext uri="{FF2B5EF4-FFF2-40B4-BE49-F238E27FC236}">
                <a16:creationId xmlns:a16="http://schemas.microsoft.com/office/drawing/2014/main" id="{0A1CDAC2-55B3-4D53-BD1D-45D8A3F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7" name="exam-question-6">
            <a:extLst xmlns:a="http://schemas.openxmlformats.org/drawingml/2006/main">
              <a:ext uri="{FF2B5EF4-FFF2-40B4-BE49-F238E27FC236}">
                <a16:creationId xmlns:a16="http://schemas.microsoft.com/office/drawing/2014/main" id="{08D60BD8-6715-49D9-BEC5-E6F7CB81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529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do LoRA and QLoRA change about fine-tuning economics?</a:t>
            </a:r>
          </a:p>
        </p:txBody>
      </p:sp>
    </p:spTree>
    <p:extLst>
      <p:ext uri="{BB962C8B-B14F-4D97-AF65-F5344CB8AC3E}">
        <p14:creationId xmlns:p14="http://schemas.microsoft.com/office/powerpoint/2010/main" val="1010515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line">
            <a:extLst xmlns:a="http://schemas.openxmlformats.org/drawingml/2006/main">
              <a:ext uri="{FF2B5EF4-FFF2-40B4-BE49-F238E27FC236}">
                <a16:creationId xmlns:a16="http://schemas.microsoft.com/office/drawing/2014/main" id="{2873ADA3-11AB-4873-BFA3-C7215D04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15B"/>
          </a:solidFill>
          <a:ln xmlns:a="http://schemas.openxmlformats.org/drawingml/2006/main" w="0">
            <a:solidFill>
              <a:srgbClr val="B9F15B"/>
            </a:solidFill>
            <a:prstDash val="solid"/>
          </a:ln>
        </p:spPr>
      </p:sp>
      <p:sp>
        <p:nvSpPr>
          <p:cNvPr id="2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F787E6D5-C05D-48D0-A9EC-004A9EB3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CHAPTER SYNTHESIS  /  02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E94CF3-C7BC-4781-9749-65D73C12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chapter-footer">
            <a:extLst xmlns:a="http://schemas.openxmlformats.org/drawingml/2006/main">
              <a:ext uri="{FF2B5EF4-FFF2-40B4-BE49-F238E27FC236}">
                <a16:creationId xmlns:a16="http://schemas.microsoft.com/office/drawing/2014/main" id="{008A74AF-0DC5-47DF-82C8-8625EE8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B57"/>
                </a:solidFill>
                <a:latin typeface="Helvetica Neue"/>
                <a:ea typeface="Helvetica Neue"/>
                <a:cs typeface="Helvetica Neue"/>
              </a:rPr>
              <a:t>The LLM as a Reasoning Engine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85C278F-BF49-47B6-976F-1FE4B9F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4775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must remain after the details fade</a:t>
            </a:r>
          </a:p>
        </p:txBody>
      </p:sp>
      <p:sp>
        <p:nvSpPr>
          <p:cNvPr id="6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64A33A64-62F0-47E1-9ADC-F104FA87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akeaway-1">
            <a:extLst xmlns:a="http://schemas.openxmlformats.org/drawingml/2006/main">
              <a:ext uri="{FF2B5EF4-FFF2-40B4-BE49-F238E27FC236}">
                <a16:creationId xmlns:a16="http://schemas.microsoft.com/office/drawing/2014/main" id="{829D6D7F-1B8D-4BD9-B751-28E8302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 LLM is stochastic and stateless; the agent harness supplies control and state.</a:t>
            </a:r>
          </a:p>
        </p:txBody>
      </p:sp>
      <p:sp>
        <p:nvSpPr>
          <p:cNvPr id="8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44DDDE34-E294-443A-8CE5-BB28C8FF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akeaway-2">
            <a:extLst xmlns:a="http://schemas.openxmlformats.org/drawingml/2006/main">
              <a:ext uri="{FF2B5EF4-FFF2-40B4-BE49-F238E27FC236}">
                <a16:creationId xmlns:a16="http://schemas.microsoft.com/office/drawing/2014/main" id="{41F7B015-2D85-43AE-A40F-367D62B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 structure and examples are the cheapest adaptation lever.</a:t>
            </a:r>
          </a:p>
        </p:txBody>
      </p:sp>
      <p:sp>
        <p:nvSpPr>
          <p:cNvPr id="10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F86706D7-0E42-4EB8-A059-DA4AA51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862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akeaway-3">
            <a:extLst xmlns:a="http://schemas.openxmlformats.org/drawingml/2006/main">
              <a:ext uri="{FF2B5EF4-FFF2-40B4-BE49-F238E27FC236}">
                <a16:creationId xmlns:a16="http://schemas.microsoft.com/office/drawing/2014/main" id="{F07C9BE9-A7CE-43E0-8D4E-05814BC9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Structured output and function calling make generations programmable.</a:t>
            </a:r>
          </a:p>
        </p:txBody>
      </p:sp>
      <p:sp>
        <p:nvSpPr>
          <p:cNvPr id="12" name="takeaway-number-4">
            <a:extLst xmlns:a="http://schemas.openxmlformats.org/drawingml/2006/main">
              <a:ext uri="{FF2B5EF4-FFF2-40B4-BE49-F238E27FC236}">
                <a16:creationId xmlns:a16="http://schemas.microsoft.com/office/drawing/2014/main" id="{CC4670FD-C4ED-4E39-89AA-CCAFD0E3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6252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1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takeaway-4">
            <a:extLst xmlns:a="http://schemas.openxmlformats.org/drawingml/2006/main">
              <a:ext uri="{FF2B5EF4-FFF2-40B4-BE49-F238E27FC236}">
                <a16:creationId xmlns:a16="http://schemas.microsoft.com/office/drawing/2014/main" id="{2173A532-FDFB-4245-9C6F-568A95E6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Prompting, RAG, and fine-tuning are complements, not substitutes.</a:t>
            </a:r>
          </a:p>
        </p:txBody>
      </p:sp>
    </p:spTree>
    <p:extLst>
      <p:ext uri="{BB962C8B-B14F-4D97-AF65-F5344CB8AC3E}">
        <p14:creationId xmlns:p14="http://schemas.microsoft.com/office/powerpoint/2010/main" val="1327855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2026-07-27T18:05:24.5790000Z</dcterms:created>
  <dcterms:modified xsi:type="dcterms:W3CDTF">2026-07-27T18:05:24.5790000Z</dcterms:modified>
</coreProperties>
</file>