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a17f1a5b8f4324" /><Relationship Type="http://schemas.openxmlformats.org/officeDocument/2006/relationships/extended-properties" Target="/docProps/app.xml" Id="R7c938d3c13434201" /><Relationship Type="http://schemas.openxmlformats.org/officeDocument/2006/relationships/officeDocument" Target="/ppt/presentation.xml" Id="R306990a994bb45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381ad31f0743b5"/>
  </p:sldMasterIdLst>
  <p:notesMasterIdLst>
    <p:notesMasterId xmlns:r="http://schemas.openxmlformats.org/officeDocument/2006/relationships" r:id="Rd7fad9b164ac4321"/>
  </p:notesMasterIdLst>
  <p:sldIdLst>
    <p:sldId xmlns:r="http://schemas.openxmlformats.org/officeDocument/2006/relationships" id="256" r:id="R92792453ef364458"/>
    <p:sldId xmlns:r="http://schemas.openxmlformats.org/officeDocument/2006/relationships" id="257" r:id="R3548673a00b0422d"/>
    <p:sldId xmlns:r="http://schemas.openxmlformats.org/officeDocument/2006/relationships" id="258" r:id="R3810494321194db0"/>
    <p:sldId xmlns:r="http://schemas.openxmlformats.org/officeDocument/2006/relationships" id="259" r:id="R86b8977a811d49b1"/>
    <p:sldId xmlns:r="http://schemas.openxmlformats.org/officeDocument/2006/relationships" id="260" r:id="Rce7bb0896dc14fa9"/>
    <p:sldId xmlns:r="http://schemas.openxmlformats.org/officeDocument/2006/relationships" id="261" r:id="R553e74ea87e94892"/>
    <p:sldId xmlns:r="http://schemas.openxmlformats.org/officeDocument/2006/relationships" id="262" r:id="Rd45871b235ab4829"/>
    <p:sldId xmlns:r="http://schemas.openxmlformats.org/officeDocument/2006/relationships" id="263" r:id="Rac9da8d3b3ce43d0"/>
    <p:sldId xmlns:r="http://schemas.openxmlformats.org/officeDocument/2006/relationships" id="264" r:id="Rd2b694f194674c0c"/>
    <p:sldId xmlns:r="http://schemas.openxmlformats.org/officeDocument/2006/relationships" id="265" r:id="Ra608dd697c7542d3"/>
    <p:sldId xmlns:r="http://schemas.openxmlformats.org/officeDocument/2006/relationships" id="266" r:id="R5bd6aca896ed4eec"/>
    <p:sldId xmlns:r="http://schemas.openxmlformats.org/officeDocument/2006/relationships" id="267" r:id="R0eaa1383a0274b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b9fc6264234b03" /><Relationship Type="http://schemas.openxmlformats.org/officeDocument/2006/relationships/slideMaster" Target="/ppt/slideMasters/slideMaster1.xml" Id="R94381ad31f0743b5" /><Relationship Type="http://schemas.openxmlformats.org/officeDocument/2006/relationships/notesMaster" Target="/ppt/notesMasters/notesMaster1.xml" Id="Rd7fad9b164ac4321" /><Relationship Type="http://schemas.openxmlformats.org/officeDocument/2006/relationships/presProps" Target="/ppt/presProps.xml" Id="R6640afd3d0cd4fcf" /><Relationship Type="http://schemas.openxmlformats.org/officeDocument/2006/relationships/tableStyles" Target="/ppt/tableStyles.xml" Id="Rc19c10ed8f6c4380" /><Relationship Type="http://schemas.openxmlformats.org/officeDocument/2006/relationships/slide" Target="/ppt/slides/slide1.xml" Id="R92792453ef364458" /><Relationship Type="http://schemas.openxmlformats.org/officeDocument/2006/relationships/slide" Target="/ppt/slides/slide2.xml" Id="R3548673a00b0422d" /><Relationship Type="http://schemas.openxmlformats.org/officeDocument/2006/relationships/slide" Target="/ppt/slides/slide3.xml" Id="R3810494321194db0" /><Relationship Type="http://schemas.openxmlformats.org/officeDocument/2006/relationships/slide" Target="/ppt/slides/slide4.xml" Id="R86b8977a811d49b1" /><Relationship Type="http://schemas.openxmlformats.org/officeDocument/2006/relationships/slide" Target="/ppt/slides/slide5.xml" Id="Rce7bb0896dc14fa9" /><Relationship Type="http://schemas.openxmlformats.org/officeDocument/2006/relationships/slide" Target="/ppt/slides/slide6.xml" Id="R553e74ea87e94892" /><Relationship Type="http://schemas.openxmlformats.org/officeDocument/2006/relationships/slide" Target="/ppt/slides/slide7.xml" Id="Rd45871b235ab4829" /><Relationship Type="http://schemas.openxmlformats.org/officeDocument/2006/relationships/slide" Target="/ppt/slides/slide8.xml" Id="Rac9da8d3b3ce43d0" /><Relationship Type="http://schemas.openxmlformats.org/officeDocument/2006/relationships/slide" Target="/ppt/slides/slide9.xml" Id="Rd2b694f194674c0c" /><Relationship Type="http://schemas.openxmlformats.org/officeDocument/2006/relationships/slide" Target="/ppt/slides/slide10.xml" Id="Ra608dd697c7542d3" /><Relationship Type="http://schemas.openxmlformats.org/officeDocument/2006/relationships/slide" Target="/ppt/slides/slide11.xml" Id="R5bd6aca896ed4eec" /><Relationship Type="http://schemas.openxmlformats.org/officeDocument/2006/relationships/slide" Target="/ppt/slides/slide12.xml" Id="R0eaa1383a0274b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2c3dcb2d6c4a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a30fc700d6436c" /><Relationship Type="http://schemas.openxmlformats.org/officeDocument/2006/relationships/notesMaster" Target="/ppt/notesMasters/notesMaster1.xml" Id="R333c965084e342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f7ee9ab33d43ab" /><Relationship Type="http://schemas.openxmlformats.org/officeDocument/2006/relationships/notesMaster" Target="/ppt/notesMasters/notesMaster1.xml" Id="R27e9619acaf045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49f929e5ae485f" /><Relationship Type="http://schemas.openxmlformats.org/officeDocument/2006/relationships/notesMaster" Target="/ppt/notesMasters/notesMaster1.xml" Id="R0a391ba923cd4c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21b17ab2f34143" /><Relationship Type="http://schemas.openxmlformats.org/officeDocument/2006/relationships/notesMaster" Target="/ppt/notesMasters/notesMaster1.xml" Id="R597922ae00b44d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8413626d184542" /><Relationship Type="http://schemas.openxmlformats.org/officeDocument/2006/relationships/notesMaster" Target="/ppt/notesMasters/notesMaster1.xml" Id="Rca46570e558a43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5152f46c1b4e5e" /><Relationship Type="http://schemas.openxmlformats.org/officeDocument/2006/relationships/notesMaster" Target="/ppt/notesMasters/notesMaster1.xml" Id="Re692dcf56fed47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d6f6025fba4f9c" /><Relationship Type="http://schemas.openxmlformats.org/officeDocument/2006/relationships/notesMaster" Target="/ppt/notesMasters/notesMaster1.xml" Id="R6ab604260df943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8c202ecf294a11" /><Relationship Type="http://schemas.openxmlformats.org/officeDocument/2006/relationships/notesMaster" Target="/ppt/notesMasters/notesMaster1.xml" Id="Ree9c5cbc174845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97ec8748d14454" /><Relationship Type="http://schemas.openxmlformats.org/officeDocument/2006/relationships/notesMaster" Target="/ppt/notesMasters/notesMaster1.xml" Id="R586726e5c53e43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df06074fd447af" /><Relationship Type="http://schemas.openxmlformats.org/officeDocument/2006/relationships/notesMaster" Target="/ppt/notesMasters/notesMaster1.xml" Id="R49555d6dcb3440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ebd7e33e8146c6" /><Relationship Type="http://schemas.openxmlformats.org/officeDocument/2006/relationships/notesMaster" Target="/ppt/notesMasters/notesMaster1.xml" Id="R56638d4c2d894f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8158c074a64c9b" /><Relationship Type="http://schemas.openxmlformats.org/officeDocument/2006/relationships/notesMaster" Target="/ppt/notesMasters/notesMaster1.xml" Id="R3659aed1d27f4f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 the submitted evidence with the stated acceptance check. Reading links and limitations follow.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02-llm-reasoning-engine.pdf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S4: Gemini structured outputs. Google documentation, accessed, 2026-09-09. https://ai.google.dev/gemini-api/docs/structured-output Supported schemas constrain structure. Application validation must check meaning and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Keep a factual task fixed and add one misleading cue. Predict whether the answer will change. Record both conditions and identify which check tests structure, evidence, or policy.</a:t>
            </a:r>
          </a:p>
          <a:p xmlns:a="http://schemas.openxmlformats.org/drawingml/2006/main">
            <a:r>
              <a:t>Acceptance: The submission contains paired inputs and a testable prediction. It does not treat verbal reasoning as ground truth.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8f95be4a248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1ca971b35a40ca" /><Relationship Type="http://schemas.openxmlformats.org/officeDocument/2006/relationships/slideLayout" Target="/ppt/slideLayouts/slideLayout1.xml" Id="Ra49ac49cada84e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9ac49cada84e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e6762bef54850" /><Relationship Type="http://schemas.openxmlformats.org/officeDocument/2006/relationships/notesSlide" Target="/ppt/notesSlides/notesSlide1.xml" Id="R89fe70700a8d4e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7aae344524153" /><Relationship Type="http://schemas.openxmlformats.org/officeDocument/2006/relationships/notesSlide" Target="/ppt/notesSlides/notesSlide2.xml" Id="Rf60e9fd877a446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053eec971f481d" /><Relationship Type="http://schemas.openxmlformats.org/officeDocument/2006/relationships/notesSlide" Target="/ppt/notesSlides/notesSlide3.xml" Id="R1849a273a0c945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72b07620e45c9" /><Relationship Type="http://schemas.openxmlformats.org/officeDocument/2006/relationships/notesSlide" Target="/ppt/notesSlides/notesSlide4.xml" Id="Ra9552af27eb547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c475daab94301" /><Relationship Type="http://schemas.openxmlformats.org/officeDocument/2006/relationships/notesSlide" Target="/ppt/notesSlides/notesSlide5.xml" Id="R23735f9cb0e24e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1be5b67ee4c91" /><Relationship Type="http://schemas.openxmlformats.org/officeDocument/2006/relationships/notesSlide" Target="/ppt/notesSlides/notesSlide6.xml" Id="Rb0f6059f96444e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0daf6b04b47ba" /><Relationship Type="http://schemas.openxmlformats.org/officeDocument/2006/relationships/notesSlide" Target="/ppt/notesSlides/notesSlide7.xml" Id="R59641c3b3e9047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fb9792e7e4200" /><Relationship Type="http://schemas.openxmlformats.org/officeDocument/2006/relationships/notesSlide" Target="/ppt/notesSlides/notesSlide8.xml" Id="Reaa587c5c49e49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927b8b3fe4c12" /><Relationship Type="http://schemas.openxmlformats.org/officeDocument/2006/relationships/notesSlide" Target="/ppt/notesSlides/notesSlide9.xml" Id="R0851923842a248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8837b7ef64c7c" /><Relationship Type="http://schemas.openxmlformats.org/officeDocument/2006/relationships/notesSlide" Target="/ppt/notesSlides/notesSlide10.xml" Id="R6840bfe9a4394b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4eb233b9846d0" /><Relationship Type="http://schemas.openxmlformats.org/officeDocument/2006/relationships/notesSlide" Target="/ppt/notesSlides/notesSlide11.xml" Id="R2767201c748b43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8c113a50f4a61" /><Relationship Type="http://schemas.openxmlformats.org/officeDocument/2006/relationships/notesSlide" Target="/ppt/notesSlides/notesSlide12.xml" Id="Rdec611a00c9741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AD665FD6-3BF5-40B7-8D69-CDB9F17A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DDB17FE0-045B-4C76-90B8-2C36E07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5581BF2D-DA36-495E-A086-076577CC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D1E00C3C-F69B-4BA7-BACF-17764252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FBDBAA47-3FB1-494E-BAEF-B08F5026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Agents inherit the stochastic, token-based nature of LLMs; prompting, structured output, retrieval, and adaptation compensate for different limitations.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ADDB6F86-DD3C-4547-AC87-4E26108D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C353B4EA-2BC6-402C-830F-3D23D4C4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10337100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239EED9D-9597-4833-AD61-3EF721F0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A104C0F-AE0C-451C-996B-17FE7AC3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3D4A18E-5459-447B-8032-3D1D37D5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4CCF5149-42D7-4D08-B9AC-A582D57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30969D0F-4820-442B-9AA5-0BB2B91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25C365CA-7F71-4E2B-A4CC-172698A1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5764EB65-36B3-4DB5-86DC-3EE94BBB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next-token prediction and sampling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8DE10B3C-B124-4EF6-B84D-3DE7C9F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4312398-185A-408C-8D5D-BD4BB91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major prompting strategies appropriately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33450F15-4C7A-42BB-BC6A-13F05736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6F7891FB-0B8D-478F-9E87-D5059D47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Distinguish prompting, RAG, and fine-tuning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156EEDB7-7DF6-4759-9BFC-AA3F6583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3E11D87-93A2-45D2-9595-91A33AB4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Design machine-readable outputs for control loops</a:t>
            </a:r>
          </a:p>
        </p:txBody>
      </p:sp>
    </p:spTree>
    <p:extLst>
      <p:ext uri="{BB962C8B-B14F-4D97-AF65-F5344CB8AC3E}">
        <p14:creationId xmlns:p14="http://schemas.microsoft.com/office/powerpoint/2010/main" val="11557488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34663D5B-D4B3-4543-833A-F93FABCC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5FC4B30-CB3C-40EC-ACA7-27385B49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B18F89F-D4B3-42A3-98D4-D9C674A9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1088373E-D4E3-4FA7-A3B4-FA617332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94DB5C4-3236-40FD-BEF6-D0C05794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engine predicts one token at a time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69DEB188-2CD5-4076-8FE0-343DD943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An autoregressive LLM defines a probability distribution for the next token given previous tokens, samples one, appends it, and repeats. This makes agent behavior stochastic, gives the model no built-in persistent state, and represents plans, actions, and observations as tokens.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B493CA12-EB76-4BC6-8CCB-28EB41F7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F288852F-54E0-4D62-B7C9-A05902C9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Low temperature favors predictable control-loop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Top-p limits sampling to a probability-mass nucleus.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Input and output tokens both affect latency and cost.</a:t>
            </a:r>
          </a:p>
        </p:txBody>
      </p:sp>
    </p:spTree>
    <p:extLst>
      <p:ext uri="{BB962C8B-B14F-4D97-AF65-F5344CB8AC3E}">
        <p14:creationId xmlns:p14="http://schemas.microsoft.com/office/powerpoint/2010/main" val="620078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C2D1F0DE-9851-4EFA-A2DA-3F9CE0E9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C0EAE5F-FDA2-424A-B944-7EDC5E36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1C0A1CE-0E21-4F54-BB30-9E3CAA48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814A4776-A657-41BD-B4A5-3C0664E2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99ECF47-BDCF-424C-898E-565E604B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context window is a shared budget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AA25EB55-F53C-42F1-8CC5-F0146915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System instructions, tool definitions, retrieved evidence, memory, conversation, and generated reasoning all compete for a fixed window. Agent loops resend a growing transcript, so relevance and compression matter.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0FD03A22-720B-4E8A-ABE6-FE38FE55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1836853F-F84D-4E8C-AC42-D6AD8123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Long contexts cost more and take longer.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0F48AAD9-F51C-4B41-BEC5-BB27EAF7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DEFE35C0-4545-4EAB-BCF0-54A5BB74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Evidence in the middle may be underused.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DB614210-C778-4EEF-91A7-5E593F66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17C5D6A1-4C9E-4067-95A8-5BD2B06A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cheapest token is the one the system does not send.</a:t>
            </a:r>
          </a:p>
        </p:txBody>
      </p:sp>
    </p:spTree>
    <p:extLst>
      <p:ext uri="{BB962C8B-B14F-4D97-AF65-F5344CB8AC3E}">
        <p14:creationId xmlns:p14="http://schemas.microsoft.com/office/powerpoint/2010/main" val="4877966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1B127C6-B448-420C-9C8F-032DB84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817FA0C-D8C2-4F42-A0FC-562233C1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2CBF1CA-6301-4522-B828-3BF67A8C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3CEEA469-BC91-4A63-8634-295AF2B5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8DB3741-84DD-480F-8920-BF8FBF3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prompt programs behavior in context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DBC8C1EB-9BF7-42BB-9482-38EAFC1D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In-context learning teaches a task through instructions and examples without changing model weights. A robust prompt separates instruction, context, input, and output indicator; an agent profile also includes tool contracts and the protocol the harness parses.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FA8B79D6-71D2-41AB-83FA-BF6D3FAB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A9AF2E8C-4093-4AEA-BD9F-A4D894B5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Zero-shot is fast but can be brittle on edge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Few-shot demonstrations stabilize task pattern and format.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Clear output examples reduce parse failures.</a:t>
            </a:r>
          </a:p>
        </p:txBody>
      </p:sp>
    </p:spTree>
    <p:extLst>
      <p:ext uri="{BB962C8B-B14F-4D97-AF65-F5344CB8AC3E}">
        <p14:creationId xmlns:p14="http://schemas.microsoft.com/office/powerpoint/2010/main" val="2315950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5DEF73E-EB14-4F0F-8E9C-6CD1F570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F56B069-F4CB-48DE-B14B-A70E579B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C80039-61C0-4983-8008-6E64DD13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04868170-EFC8-4E1F-9777-6D262D1B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B531F53-3451-4D46-AFA4-5882B283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Different reasoning techniques buy different guarantees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4E5483FC-C65C-4592-9A9F-1AFF30F0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Chain-of-thought externalizes intermediate steps. Self-consistency samples several chains and votes. Program-aided language models generate code and delegate exact computation to an interpreter. Reasoning models spend additional test-time compute on difficult problems.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F307E364-55A7-4567-9883-BA5BF592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85EDC8FF-5D4D-4330-8774-18266E3D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direct answers and reasoning prompts on the target task.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0AB40ED1-3AB7-4474-8376-906ECB1B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A37368BD-0E5C-4844-BEB6-685A766E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Test voting against a baseline with a declared call budget.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88E21C17-5B5F-4B99-BAD2-163CE747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D8CC169A-937B-4748-B76D-2444EE44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executable programs when exact computation matters.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0173C08C-ADEE-4620-B1A7-E492D4BD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C8BAD32D-BA14-41A2-A764-2B15F111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Pay for deliberate reasoning only on hard steps.</a:t>
            </a:r>
          </a:p>
        </p:txBody>
      </p:sp>
    </p:spTree>
    <p:extLst>
      <p:ext uri="{BB962C8B-B14F-4D97-AF65-F5344CB8AC3E}">
        <p14:creationId xmlns:p14="http://schemas.microsoft.com/office/powerpoint/2010/main" val="5367846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E1680557-0E6A-4C77-A679-E245071E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0204B9AB-F5B9-454E-8BB4-938E7A6D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799626-6A79-45EA-AA00-3DFD597F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C50AE8D4-607A-46BA-B8FB-E719CE04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649FA02-1BC9-4D5E-B36B-98EF5271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Structured output closes the software loop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7AD61C04-0A89-4507-86CB-F650FA30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Structured-output support varies by provider, model, and schema. Native function calling supplies a protocol for tool requests. The application must validate arguments, check policy, and handle invalid or incomplete responses.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D7504A9B-1F99-4787-9D50-BE5DBE0F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1F151A5F-A27A-4A14-B8BF-8C77B905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Schema validity is not semantic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Tool descriptions steer selection and argument filling.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The model requests; application code executes.</a:t>
            </a:r>
          </a:p>
        </p:txBody>
      </p:sp>
    </p:spTree>
    <p:extLst>
      <p:ext uri="{BB962C8B-B14F-4D97-AF65-F5344CB8AC3E}">
        <p14:creationId xmlns:p14="http://schemas.microsoft.com/office/powerpoint/2010/main" val="12972292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A5601924-5F95-45D9-B37E-6BBE01C5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DC16095-7AE8-4B4C-9D68-EFA354C6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6B12450-E50B-466C-ABD9-7A44A077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637C6121-1AB5-452F-B57A-4E5B2803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8688AFEF-34D4-4369-8BFC-94FBB72D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29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Prompting, retrieval, and fine-tuning solve different problems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DE3F431E-7AE2-4913-91B1-6D5D77DB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6941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Prompting changes behavior quickly. RAG injects current or private knowledge at query time. Fine-tuning changes model behavior in weights; LoRA learns small low-rank adapters and QLoRA combines adapters with a quantized base. Alignment methods such as SFT, RLHF, and DPO target preferred behavior.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192FB680-0F41-421E-A0C5-2A2EC744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EE767FA6-4874-42F8-816B-630C3480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prompting for format, role, or rapidly changing behavior.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0CDC1546-7536-45C6-B191-D37B968B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D9731CAB-7ABB-45D8-9BF4-FC77F221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RAG for fresh, private, or citable knowledge.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F487AF37-10A1-4B27-AA4A-59DFD24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07D04ECD-CABB-4631-A582-41497164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fine-tuning for stable behavior at sufficient scale.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352682A0-45C9-4509-BB54-1164E844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441A325E-9B26-4CEE-8C4C-E96571CB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Ground hallucination; do not expect prompting alone to remove it.</a:t>
            </a:r>
          </a:p>
        </p:txBody>
      </p:sp>
    </p:spTree>
    <p:extLst>
      <p:ext uri="{BB962C8B-B14F-4D97-AF65-F5344CB8AC3E}">
        <p14:creationId xmlns:p14="http://schemas.microsoft.com/office/powerpoint/2010/main" val="13035246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3AE4F542-E395-425D-9A03-1D2C8530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B8F8D6B-84F6-4BB1-BB9B-604F5923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07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707F8F3-EC76-41DF-8CFC-59998DBE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1559E342-6B64-4D84-B0D8-BF971874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6CEC2BA-3BD7-468F-AF36-0CB0E321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Behavioral claims need an external check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56788BDD-AEDA-4578-B358-B724DBC5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CHIVE investigates model behavior by editing prompts and measuring the resulting responses. In this course, a plausible explanation is a hypothesis to test. Schema checks, factual checks, and policy checks answer different questions.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0F79AB13-90F9-483F-9581-66577281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D93E52C8-D8DA-4313-BA83-D0BD0BED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Predict the effect of one prompt edit.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Score the response with a stated criterion.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Distinguish measured behavior from a causal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378377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CBDF2CD3-4940-4FA4-8E3F-7AF26B00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364D624-CA72-4250-85D2-489CB3C6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4A5F98C-AD93-4A03-8AE3-5595440C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95BFFE60-9C6F-4F19-B01E-D7E74D1C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E68C5D46-5752-4A8D-9422-E1F87FF9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A678862D-5651-4110-9E89-913D5EFA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E06370DF-BE0E-4B47-A3F9-E21311E2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do temperature and top-p affect an agent loop?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62B5F73A-EDEC-4769-A94E-4329ED51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A543E338-9E64-499D-93F6-83C1F112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competes for space in the context window?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99841326-CC2B-4ABA-B7FD-2190B03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A67E97E9-5C6C-44FA-A8CA-1EBC653C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zero-shot, few-shot, chain-of-thought, self-consistency, and PAL.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086E485A-DC93-4511-83AC-C783315F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848102BF-DA06-4ED4-9603-5B5E3236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is valid JSON insufficient as a security guarantee?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209B6BD5-EBC1-4FAF-B915-3550B113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044685BD-3272-4313-A5D0-082FE930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When should an engineer choose RAG rather than fine-tuning?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4640A2AE-6E9E-4A1D-B595-DA248A6B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BBFD0364-2B07-4BC9-B0BC-04EF5DFF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can a valid schema and a plausible explanation still accompany a wrong answer?</a:t>
            </a:r>
          </a:p>
        </p:txBody>
      </p:sp>
    </p:spTree>
    <p:extLst>
      <p:ext uri="{BB962C8B-B14F-4D97-AF65-F5344CB8AC3E}">
        <p14:creationId xmlns:p14="http://schemas.microsoft.com/office/powerpoint/2010/main" val="20046758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83D9E3C9-BBD5-4F0D-9A29-EEFD8D79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18177D8-B73C-4D7E-8CDC-5807C964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65A715C-A856-4267-9F49-0D156156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DCF66FC5-C11D-40D1-8F82-421E9554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000ED990-6207-4F58-B596-C0540819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7DF7483B-9FA6-4096-8B7F-8CA7EA4D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1B47E2C6-D9FB-4603-BDB2-4682B7FD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7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 LLM is stochastic and stateless; the agent harness supplies control and state.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976EE22C-2D12-47B5-B49A-36B87188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9D2949AD-0776-4EC5-A2FA-0355EDA9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structure and examples are the cheapest adaptation lever.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60A6F4F9-5352-4522-92BE-B5039E8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E5AC1623-4969-48FB-83F9-0A16D35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Structured output and function calling make generations programmable.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1DACA89F-8D21-438B-A887-9806DD94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B40140CE-7876-437E-84FD-4FA995F9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Prompting, RAG, and fine-tuning are complements, not substitutes.</a:t>
            </a:r>
          </a:p>
        </p:txBody>
      </p:sp>
    </p:spTree>
    <p:extLst>
      <p:ext uri="{BB962C8B-B14F-4D97-AF65-F5344CB8AC3E}">
        <p14:creationId xmlns:p14="http://schemas.microsoft.com/office/powerpoint/2010/main" val="16503479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E9A5857-DB50-4EBE-83CE-31D372EC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EC48DDA-78E5-48CD-921E-1CCF5506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PRACTICE AND READING  /  02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6DE7ACE-4BD5-4862-9A8B-B6BF35FD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A47AE563-BAA0-4BCC-9239-C3D72043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LLM as a Reasoning Engine</a:t>
            </a:r>
          </a:p>
        </p:txBody>
      </p:sp>
      <p:sp>
        <p:nvSpPr>
          <p:cNvPr id="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8B32783B-4FA4-4A6D-9621-10C63819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Evidence to submit</a:t>
            </a:r>
          </a:p>
        </p:txBody>
      </p:sp>
      <p:sp>
        <p:nvSpPr>
          <p:cNvPr id="6" name="practice-task">
            <a:extLst xmlns:a="http://schemas.openxmlformats.org/drawingml/2006/main">
              <a:ext uri="{FF2B5EF4-FFF2-40B4-BE49-F238E27FC236}">
                <a16:creationId xmlns:a16="http://schemas.microsoft.com/office/drawing/2014/main" id="{16D090F6-AE2B-4954-B30C-9743F22D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00250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Keep a factual task fixed and add one misleading cue. Predict whether the answer will change. Record both conditions and identify which check tests structure, evidence, or policy.</a:t>
            </a:r>
          </a:p>
        </p:txBody>
      </p:sp>
      <p:sp>
        <p:nvSpPr>
          <p:cNvPr id="7" name="practice-check">
            <a:extLst xmlns:a="http://schemas.openxmlformats.org/drawingml/2006/main">
              <a:ext uri="{FF2B5EF4-FFF2-40B4-BE49-F238E27FC236}">
                <a16:creationId xmlns:a16="http://schemas.microsoft.com/office/drawing/2014/main" id="{6C8D602E-1A40-4C1E-9510-C0D01462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8137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submission contains paired inputs and a testable prediction. It does not treat verbal reasoning as ground truth.</a:t>
            </a:r>
          </a:p>
        </p:txBody>
      </p:sp>
      <p:sp>
        <p:nvSpPr>
          <p:cNvPr id="8" name="practice-readings">
            <a:extLst xmlns:a="http://schemas.openxmlformats.org/drawingml/2006/main">
              <a:ext uri="{FF2B5EF4-FFF2-40B4-BE49-F238E27FC236}">
                <a16:creationId xmlns:a16="http://schemas.microsoft.com/office/drawing/2014/main" id="{F71BAF86-10B3-4AD8-89AE-4613E486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P3  Would this change your answer?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S4  Gemini structured outputs</a:t>
            </a:r>
          </a:p>
        </p:txBody>
      </p:sp>
      <p:sp>
        <p:nvSpPr>
          <p:cNvPr id="9" name="practice-lab">
            <a:extLst xmlns:a="http://schemas.openxmlformats.org/drawingml/2006/main">
              <a:ext uri="{FF2B5EF4-FFF2-40B4-BE49-F238E27FC236}">
                <a16:creationId xmlns:a16="http://schemas.microsoft.com/office/drawing/2014/main" id="{86A7D1FC-6908-4584-B217-33D1CA36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57875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labs/07_agents_sdk_evaluation.ipynb</a:t>
            </a:r>
          </a:p>
        </p:txBody>
      </p:sp>
    </p:spTree>
    <p:extLst>
      <p:ext uri="{BB962C8B-B14F-4D97-AF65-F5344CB8AC3E}">
        <p14:creationId xmlns:p14="http://schemas.microsoft.com/office/powerpoint/2010/main" val="827896392"/>
      </p:ext>
    </p:extLst>
  </p:cSld>
</p:sld>
</file>

<file path=ppt/theme/theme1.xml><?xml version="1.0" encoding="utf-8"?>
<a:theme xmlns:a="http://schemas.openxmlformats.org/drawingml/2006/main" name="Course">
  <a:themeElements>
    <a:clrScheme name="Cours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02-llm-reasoning-engine</dc:title>
  <dcterms:created xsi:type="dcterms:W3CDTF">2026-09-09T16:56:36.2220000Z</dcterms:created>
  <dcterms:modified xsi:type="dcterms:W3CDTF">2026-09-09T16:56:36.2220000Z</dcterms:modified>
</coreProperties>
</file>