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ee0423663346ab" /><Relationship Type="http://schemas.openxmlformats.org/officeDocument/2006/relationships/extended-properties" Target="/docProps/app.xml" Id="Rfa1bfbbb373445f0" /><Relationship Type="http://schemas.openxmlformats.org/officeDocument/2006/relationships/officeDocument" Target="/ppt/presentation.xml" Id="Rd2c34cdfd3324ba5" /></Relationships>
</file>

<file path=ppt/presentation.xml><?xml version="1.0" encoding="utf-8"?>
<p:presentation xmlns:p="http://schemas.openxmlformats.org/presentationml/2006/main">
  <p:sldMasterIdLst>
    <p:sldMasterId xmlns:r="http://schemas.openxmlformats.org/officeDocument/2006/relationships" id="2147483648" r:id="R5df92c2491f04be4"/>
  </p:sldMasterIdLst>
  <p:notesMasterIdLst>
    <p:notesMasterId xmlns:r="http://schemas.openxmlformats.org/officeDocument/2006/relationships" r:id="R90184986c46545a8"/>
  </p:notesMasterIdLst>
  <p:sldIdLst>
    <p:sldId xmlns:r="http://schemas.openxmlformats.org/officeDocument/2006/relationships" id="256" r:id="R0656a2b2c81b4a48"/>
    <p:sldId xmlns:r="http://schemas.openxmlformats.org/officeDocument/2006/relationships" id="257" r:id="R32ae1a0cb8624787"/>
    <p:sldId xmlns:r="http://schemas.openxmlformats.org/officeDocument/2006/relationships" id="258" r:id="Rab0e677a037b4144"/>
    <p:sldId xmlns:r="http://schemas.openxmlformats.org/officeDocument/2006/relationships" id="259" r:id="R00ee8ed0d5624862"/>
    <p:sldId xmlns:r="http://schemas.openxmlformats.org/officeDocument/2006/relationships" id="260" r:id="Rbb26be267cf442f8"/>
    <p:sldId xmlns:r="http://schemas.openxmlformats.org/officeDocument/2006/relationships" id="261" r:id="R47c78fe87b804fd6"/>
    <p:sldId xmlns:r="http://schemas.openxmlformats.org/officeDocument/2006/relationships" id="262" r:id="R0fa825770d9a4e98"/>
    <p:sldId xmlns:r="http://schemas.openxmlformats.org/officeDocument/2006/relationships" id="263" r:id="R6d39dd6282a843b6"/>
    <p:sldId xmlns:r="http://schemas.openxmlformats.org/officeDocument/2006/relationships" id="264" r:id="R6fe2fdbe35924c04"/>
    <p:sldId xmlns:r="http://schemas.openxmlformats.org/officeDocument/2006/relationships" id="265" r:id="Rd09c47a72d934d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23c73bffc34935" /><Relationship Type="http://schemas.openxmlformats.org/officeDocument/2006/relationships/slideMaster" Target="/ppt/slideMasters/slideMaster1.xml" Id="R5df92c2491f04be4" /><Relationship Type="http://schemas.openxmlformats.org/officeDocument/2006/relationships/notesMaster" Target="/ppt/notesMasters/notesMaster1.xml" Id="R90184986c46545a8" /><Relationship Type="http://schemas.openxmlformats.org/officeDocument/2006/relationships/presProps" Target="/ppt/presProps.xml" Id="Rb9d3cce349624586" /><Relationship Type="http://schemas.openxmlformats.org/officeDocument/2006/relationships/tableStyles" Target="/ppt/tableStyles.xml" Id="R102583db996d4b3b" /><Relationship Type="http://schemas.openxmlformats.org/officeDocument/2006/relationships/slide" Target="/ppt/slides/slide1.xml" Id="R0656a2b2c81b4a48" /><Relationship Type="http://schemas.openxmlformats.org/officeDocument/2006/relationships/slide" Target="/ppt/slides/slide2.xml" Id="R32ae1a0cb8624787" /><Relationship Type="http://schemas.openxmlformats.org/officeDocument/2006/relationships/slide" Target="/ppt/slides/slide3.xml" Id="Rab0e677a037b4144" /><Relationship Type="http://schemas.openxmlformats.org/officeDocument/2006/relationships/slide" Target="/ppt/slides/slide4.xml" Id="R00ee8ed0d5624862" /><Relationship Type="http://schemas.openxmlformats.org/officeDocument/2006/relationships/slide" Target="/ppt/slides/slide5.xml" Id="Rbb26be267cf442f8" /><Relationship Type="http://schemas.openxmlformats.org/officeDocument/2006/relationships/slide" Target="/ppt/slides/slide6.xml" Id="R47c78fe87b804fd6" /><Relationship Type="http://schemas.openxmlformats.org/officeDocument/2006/relationships/slide" Target="/ppt/slides/slide7.xml" Id="R0fa825770d9a4e98" /><Relationship Type="http://schemas.openxmlformats.org/officeDocument/2006/relationships/slide" Target="/ppt/slides/slide8.xml" Id="R6d39dd6282a843b6" /><Relationship Type="http://schemas.openxmlformats.org/officeDocument/2006/relationships/slide" Target="/ppt/slides/slide9.xml" Id="R6fe2fdbe35924c04" /><Relationship Type="http://schemas.openxmlformats.org/officeDocument/2006/relationships/slide" Target="/ppt/slides/slide10.xml" Id="Rd09c47a72d934d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9460da877d43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8708e5c4a54ebe" /><Relationship Type="http://schemas.openxmlformats.org/officeDocument/2006/relationships/notesMaster" Target="/ppt/notesMasters/notesMaster1.xml" Id="Ra79626febc7f46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a4aaeb3f1e4c16" /><Relationship Type="http://schemas.openxmlformats.org/officeDocument/2006/relationships/notesMaster" Target="/ppt/notesMasters/notesMaster1.xml" Id="R83e894c6dba441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7d173a9dd64a3d" /><Relationship Type="http://schemas.openxmlformats.org/officeDocument/2006/relationships/notesMaster" Target="/ppt/notesMasters/notesMaster1.xml" Id="Rb7de93d7e58b48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6aa25037a54a8f" /><Relationship Type="http://schemas.openxmlformats.org/officeDocument/2006/relationships/notesMaster" Target="/ppt/notesMasters/notesMaster1.xml" Id="R564a14aa26084a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53f0bc81194912" /><Relationship Type="http://schemas.openxmlformats.org/officeDocument/2006/relationships/notesMaster" Target="/ppt/notesMasters/notesMaster1.xml" Id="Rc7ac2bbe614441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df7f3e8622488e" /><Relationship Type="http://schemas.openxmlformats.org/officeDocument/2006/relationships/notesMaster" Target="/ppt/notesMasters/notesMaster1.xml" Id="Rd2ef9b596d834a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82ab20992f45a9" /><Relationship Type="http://schemas.openxmlformats.org/officeDocument/2006/relationships/notesMaster" Target="/ppt/notesMasters/notesMaster1.xml" Id="Rd6d0915a56cf40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1c63c30f8b461e" /><Relationship Type="http://schemas.openxmlformats.org/officeDocument/2006/relationships/notesMaster" Target="/ppt/notesMasters/notesMaster1.xml" Id="R7e345fc06d284e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5bd3e8d7ac4425a" /><Relationship Type="http://schemas.openxmlformats.org/officeDocument/2006/relationships/notesMaster" Target="/ppt/notesMasters/notesMaster1.xml" Id="Rfd1408dab22241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2d861e19a34b6e" /><Relationship Type="http://schemas.openxmlformats.org/officeDocument/2006/relationships/notesMaster" Target="/ppt/notesMasters/notesMaster1.xml" Id="Radc080a3570548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[Sources]</a:t>
            </a:r>
          </a:p>
          <a:p xmlns:a="http://schemas.openxmlformats.org/drawingml/2006/main">
            <a:r>
              <a:t>- Supplied source presentation: 03-anatomy-react.pdf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fba1de939443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4c122591b64d5f" /><Relationship Type="http://schemas.openxmlformats.org/officeDocument/2006/relationships/slideLayout" Target="/ppt/slideLayouts/slideLayout1.xml" Id="R05192503b12e41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192503b12e41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182331b2e9842ff" /><Relationship Type="http://schemas.openxmlformats.org/officeDocument/2006/relationships/notesSlide" Target="/ppt/notesSlides/notesSlide1.xml" Id="R85808c152c8f40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27b0e6fb8c44799" /><Relationship Type="http://schemas.openxmlformats.org/officeDocument/2006/relationships/notesSlide" Target="/ppt/notesSlides/notesSlide2.xml" Id="R9a2c44192aaa4d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26ee1f7b284a7b" /><Relationship Type="http://schemas.openxmlformats.org/officeDocument/2006/relationships/notesSlide" Target="/ppt/notesSlides/notesSlide3.xml" Id="Rce93f07b51e54e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49b4d53065849c0" /><Relationship Type="http://schemas.openxmlformats.org/officeDocument/2006/relationships/notesSlide" Target="/ppt/notesSlides/notesSlide4.xml" Id="R0f141f37363940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15e9cafab04b1d" /><Relationship Type="http://schemas.openxmlformats.org/officeDocument/2006/relationships/notesSlide" Target="/ppt/notesSlides/notesSlide5.xml" Id="Re2c926cfdca74fe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6d5764143f490b" /><Relationship Type="http://schemas.openxmlformats.org/officeDocument/2006/relationships/notesSlide" Target="/ppt/notesSlides/notesSlide6.xml" Id="R1b5f5190555f46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7629624269a4ebe" /><Relationship Type="http://schemas.openxmlformats.org/officeDocument/2006/relationships/notesSlide" Target="/ppt/notesSlides/notesSlide7.xml" Id="R7c0697edd48441f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6293a2c961e471f" /><Relationship Type="http://schemas.openxmlformats.org/officeDocument/2006/relationships/notesSlide" Target="/ppt/notesSlides/notesSlide8.xml" Id="Rb8202dddc43c4f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65e427560fd4039" /><Relationship Type="http://schemas.openxmlformats.org/officeDocument/2006/relationships/notesSlide" Target="/ppt/notesSlides/notesSlide9.xml" Id="R69ed90d202f14a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4819ed9304f4f9c" /><Relationship Type="http://schemas.openxmlformats.org/officeDocument/2006/relationships/notesSlide" Target="/ppt/notesSlides/notesSlide10.xml" Id="Rf2211f2593de49b2"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0EBA46F7-1BB3-4D5E-A763-FE19C55AA15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ourse-title">
            <a:extLst xmlns:a="http://schemas.openxmlformats.org/drawingml/2006/main">
              <a:ext uri="{FF2B5EF4-FFF2-40B4-BE49-F238E27FC236}">
                <a16:creationId xmlns:a16="http://schemas.microsoft.com/office/drawing/2014/main" id="{16A1CBEA-7D3E-4CDB-98D3-565A5951D876}"/>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6A6F6A1B-A794-4F0A-A65D-50206CBDA70C}"/>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03</a:t>
            </a:r>
          </a:p>
        </p:txBody>
      </p:sp>
      <p:sp>
        <p:nvSpPr>
          <p:cNvPr id="4" name="deck-title">
            <a:extLst xmlns:a="http://schemas.openxmlformats.org/drawingml/2006/main">
              <a:ext uri="{FF2B5EF4-FFF2-40B4-BE49-F238E27FC236}">
                <a16:creationId xmlns:a16="http://schemas.microsoft.com/office/drawing/2014/main" id="{29757BEC-B291-4C95-81B2-8AC5E8EE229B}"/>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Agent Anatomy and ReAct</a:t>
            </a:r>
          </a:p>
        </p:txBody>
      </p:sp>
      <p:sp>
        <p:nvSpPr>
          <p:cNvPr id="5" name="deck-thesis">
            <a:extLst xmlns:a="http://schemas.openxmlformats.org/drawingml/2006/main">
              <a:ext uri="{FF2B5EF4-FFF2-40B4-BE49-F238E27FC236}">
                <a16:creationId xmlns:a16="http://schemas.microsoft.com/office/drawing/2014/main" id="{2899B9CA-B30B-4792-B0A6-04C904CF7F4F}"/>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ReAct operationalizes agency as a bounded Thought-Action-Observation cycle whose evidence comes from the runtime, not the model.</a:t>
            </a:r>
          </a:p>
        </p:txBody>
      </p:sp>
      <p:sp>
        <p:nvSpPr>
          <p:cNvPr id="6" name="title-marker">
            <a:extLst xmlns:a="http://schemas.openxmlformats.org/drawingml/2006/main">
              <a:ext uri="{FF2B5EF4-FFF2-40B4-BE49-F238E27FC236}">
                <a16:creationId xmlns:a16="http://schemas.microsoft.com/office/drawing/2014/main" id="{A44BC852-3BB9-4167-B788-D54D2EC16063}"/>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7" name="title-marker-text">
            <a:extLst xmlns:a="http://schemas.openxmlformats.org/drawingml/2006/main">
              <a:ext uri="{FF2B5EF4-FFF2-40B4-BE49-F238E27FC236}">
                <a16:creationId xmlns:a16="http://schemas.microsoft.com/office/drawing/2014/main" id="{3849F12C-1D5F-4265-BB08-402F9E25E3A2}"/>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1132533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B1845606-CCA2-46B0-9628-CDEBD0A7755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F5F384DB-0A54-41F9-9DBA-F34629267CB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03</a:t>
            </a:r>
          </a:p>
        </p:txBody>
      </p:sp>
      <p:sp>
        <p:nvSpPr>
          <p:cNvPr id="3" name="slide-number">
            <a:extLst xmlns:a="http://schemas.openxmlformats.org/drawingml/2006/main">
              <a:ext uri="{FF2B5EF4-FFF2-40B4-BE49-F238E27FC236}">
                <a16:creationId xmlns:a16="http://schemas.microsoft.com/office/drawing/2014/main" id="{D1E761F8-8987-481D-B470-4962CA100657}"/>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ECDB84F8-9A39-43F4-B310-356F1C80016B}"/>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objectives-title">
            <a:extLst xmlns:a="http://schemas.openxmlformats.org/drawingml/2006/main">
              <a:ext uri="{FF2B5EF4-FFF2-40B4-BE49-F238E27FC236}">
                <a16:creationId xmlns:a16="http://schemas.microsoft.com/office/drawing/2014/main" id="{BE45C003-06F6-49A5-BEBB-325BBE7D752B}"/>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0DF52602-EAC0-4648-B4A8-E8ED2866A56E}"/>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B9F15B"/>
                </a:solidFill>
                <a:latin typeface="Helvetica Neue"/>
                <a:ea typeface="Helvetica Neue"/>
                <a:cs typeface="Helvetica Neue"/>
              </a:defRPr>
            </a:pPr>
            <a:r>
              <a:rPr sz="3450" b="1">
                <a:solidFill>
                  <a:srgbClr val="B9F15B"/>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A178F4EF-F817-423C-9B86-805920815140}"/>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Engineer the four agent components</a:t>
            </a:r>
          </a:p>
        </p:txBody>
      </p:sp>
      <p:sp>
        <p:nvSpPr>
          <p:cNvPr id="8" name="objective-number-2">
            <a:extLst xmlns:a="http://schemas.openxmlformats.org/drawingml/2006/main">
              <a:ext uri="{FF2B5EF4-FFF2-40B4-BE49-F238E27FC236}">
                <a16:creationId xmlns:a16="http://schemas.microsoft.com/office/drawing/2014/main" id="{C0C2848D-BB67-4E59-BFC9-902D1B4E3740}"/>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B9F15B"/>
                </a:solidFill>
                <a:latin typeface="Helvetica Neue"/>
                <a:ea typeface="Helvetica Neue"/>
                <a:cs typeface="Helvetica Neue"/>
              </a:defRPr>
            </a:pPr>
            <a:r>
              <a:rPr sz="3450" b="1">
                <a:solidFill>
                  <a:srgbClr val="B9F15B"/>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A260B025-EC81-4658-9E76-62F1E1103096}"/>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Trace a ReAct episode</a:t>
            </a:r>
          </a:p>
        </p:txBody>
      </p:sp>
      <p:sp>
        <p:nvSpPr>
          <p:cNvPr id="10" name="objective-number-3">
            <a:extLst xmlns:a="http://schemas.openxmlformats.org/drawingml/2006/main">
              <a:ext uri="{FF2B5EF4-FFF2-40B4-BE49-F238E27FC236}">
                <a16:creationId xmlns:a16="http://schemas.microsoft.com/office/drawing/2014/main" id="{F476F3E6-967B-452D-98EA-5008EB88529D}"/>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B9F15B"/>
                </a:solidFill>
                <a:latin typeface="Helvetica Neue"/>
                <a:ea typeface="Helvetica Neue"/>
                <a:cs typeface="Helvetica Neue"/>
              </a:defRPr>
            </a:pPr>
            <a:r>
              <a:rPr sz="3450" b="1">
                <a:solidFill>
                  <a:srgbClr val="B9F15B"/>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9667861A-8143-471F-9EF8-1111FE9EE57E}"/>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Implement safe parsing and termination</a:t>
            </a:r>
          </a:p>
        </p:txBody>
      </p:sp>
      <p:sp>
        <p:nvSpPr>
          <p:cNvPr id="12" name="objective-number-4">
            <a:extLst xmlns:a="http://schemas.openxmlformats.org/drawingml/2006/main">
              <a:ext uri="{FF2B5EF4-FFF2-40B4-BE49-F238E27FC236}">
                <a16:creationId xmlns:a16="http://schemas.microsoft.com/office/drawing/2014/main" id="{3879E46F-6A38-4002-AE2C-CB9538142CD6}"/>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B9F15B"/>
                </a:solidFill>
                <a:latin typeface="Helvetica Neue"/>
                <a:ea typeface="Helvetica Neue"/>
                <a:cs typeface="Helvetica Neue"/>
              </a:defRPr>
            </a:pPr>
            <a:r>
              <a:rPr sz="3450" b="1">
                <a:solidFill>
                  <a:srgbClr val="B9F15B"/>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D6ABD711-9C2A-49A2-A569-0584025604D7}"/>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Recognize horizon and format failures</a:t>
            </a:r>
          </a:p>
        </p:txBody>
      </p:sp>
    </p:spTree>
    <p:extLst>
      <p:ext uri="{BB962C8B-B14F-4D97-AF65-F5344CB8AC3E}">
        <p14:creationId xmlns:p14="http://schemas.microsoft.com/office/powerpoint/2010/main" val="1272892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61A380A0-42D8-4747-BFFF-071AB5D135BE}"/>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1D0619DE-F5AB-40AC-9EBC-9B86317D65FB}"/>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03</a:t>
            </a:r>
          </a:p>
        </p:txBody>
      </p:sp>
      <p:sp>
        <p:nvSpPr>
          <p:cNvPr id="3" name="slide-number">
            <a:extLst xmlns:a="http://schemas.openxmlformats.org/drawingml/2006/main">
              <a:ext uri="{FF2B5EF4-FFF2-40B4-BE49-F238E27FC236}">
                <a16:creationId xmlns:a16="http://schemas.microsoft.com/office/drawing/2014/main" id="{700CEADE-6C08-4BBD-8DAA-E576E7805CF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F6905C74-1C6B-4047-8B42-5AA91F7996B7}"/>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7AFDF7EA-FBCE-44B9-A413-933DDB371C5C}"/>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The profile is an executable contract</a:t>
            </a:r>
          </a:p>
        </p:txBody>
      </p:sp>
      <p:sp>
        <p:nvSpPr>
          <p:cNvPr id="6" name="section-explanation">
            <a:extLst xmlns:a="http://schemas.openxmlformats.org/drawingml/2006/main">
              <a:ext uri="{FF2B5EF4-FFF2-40B4-BE49-F238E27FC236}">
                <a16:creationId xmlns:a16="http://schemas.microsoft.com/office/drawing/2014/main" id="{FBA38B4B-10AC-4D32-895B-561F9A3B2D4E}"/>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The system prompt defines role, objective, tool menu, output protocol, constraints, stopping behavior, and escalation. It should read like a precise specification for a careful colleague, with examples where the protocol is easy to misunderstand.</a:t>
            </a:r>
          </a:p>
        </p:txBody>
      </p:sp>
      <p:sp>
        <p:nvSpPr>
          <p:cNvPr id="7" name="column-rule">
            <a:extLst xmlns:a="http://schemas.openxmlformats.org/drawingml/2006/main">
              <a:ext uri="{FF2B5EF4-FFF2-40B4-BE49-F238E27FC236}">
                <a16:creationId xmlns:a16="http://schemas.microsoft.com/office/drawing/2014/main" id="{016DA89E-85C7-4149-ACFB-F527919BEA32}"/>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section-points">
            <a:extLst xmlns:a="http://schemas.openxmlformats.org/drawingml/2006/main">
              <a:ext uri="{FF2B5EF4-FFF2-40B4-BE49-F238E27FC236}">
                <a16:creationId xmlns:a16="http://schemas.microsoft.com/office/drawing/2014/main" id="{C774DAF5-288A-40D9-8B58-D1E925052F8C}"/>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State success before listing implementation details.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Give each tool a description and example call.</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Specify an exact output protocol and stopping condition.</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Add guardrails and human escalation rules.</a:t>
            </a:r>
          </a:p>
        </p:txBody>
      </p:sp>
    </p:spTree>
    <p:extLst>
      <p:ext uri="{BB962C8B-B14F-4D97-AF65-F5344CB8AC3E}">
        <p14:creationId xmlns:p14="http://schemas.microsoft.com/office/powerpoint/2010/main" val="489899320"/>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68DE45AB-7D14-4E01-BB4B-6BE4FD2B448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BE4D1AAB-1CAF-4B0F-8D29-7F19CB16B73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03</a:t>
            </a:r>
          </a:p>
        </p:txBody>
      </p:sp>
      <p:sp>
        <p:nvSpPr>
          <p:cNvPr id="3" name="slide-number">
            <a:extLst xmlns:a="http://schemas.openxmlformats.org/drawingml/2006/main">
              <a:ext uri="{FF2B5EF4-FFF2-40B4-BE49-F238E27FC236}">
                <a16:creationId xmlns:a16="http://schemas.microsoft.com/office/drawing/2014/main" id="{18AE1C69-1DC6-4EE2-8ED2-D0EEB1B78ABC}"/>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65A17535-4F26-481B-B211-9E80BDF1767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E232477E-596B-4701-9BF2-3DF2ABBF12AC}"/>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Memory turns a stateless model into a stateful system</a:t>
            </a:r>
          </a:p>
        </p:txBody>
      </p:sp>
      <p:sp>
        <p:nvSpPr>
          <p:cNvPr id="6" name="section-explanation">
            <a:extLst xmlns:a="http://schemas.openxmlformats.org/drawingml/2006/main">
              <a:ext uri="{FF2B5EF4-FFF2-40B4-BE49-F238E27FC236}">
                <a16:creationId xmlns:a16="http://schemas.microsoft.com/office/drawing/2014/main" id="{0EB4A04F-4E5B-4267-9136-09E872745D7B}"/>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Short-term memory is the running context; long-term memory is an external store read and written through tools. The transcript is the immediate state of ReAct because each next decision depends on prior actions and observations.</a:t>
            </a:r>
          </a:p>
        </p:txBody>
      </p:sp>
      <p:sp>
        <p:nvSpPr>
          <p:cNvPr id="7" name="point-band-1">
            <a:extLst xmlns:a="http://schemas.openxmlformats.org/drawingml/2006/main">
              <a:ext uri="{FF2B5EF4-FFF2-40B4-BE49-F238E27FC236}">
                <a16:creationId xmlns:a16="http://schemas.microsoft.com/office/drawing/2014/main" id="{8326D1C0-ABA4-4D97-B02D-9914042F9E85}"/>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point-1">
            <a:extLst xmlns:a="http://schemas.openxmlformats.org/drawingml/2006/main">
              <a:ext uri="{FF2B5EF4-FFF2-40B4-BE49-F238E27FC236}">
                <a16:creationId xmlns:a16="http://schemas.microsoft.com/office/drawing/2014/main" id="{EE38AAC4-AA70-4A27-888A-88B47A7EC04F}"/>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Short-term memory is automatic but bounded.</a:t>
            </a:r>
          </a:p>
        </p:txBody>
      </p:sp>
      <p:sp>
        <p:nvSpPr>
          <p:cNvPr id="9" name="point-band-2">
            <a:extLst xmlns:a="http://schemas.openxmlformats.org/drawingml/2006/main">
              <a:ext uri="{FF2B5EF4-FFF2-40B4-BE49-F238E27FC236}">
                <a16:creationId xmlns:a16="http://schemas.microsoft.com/office/drawing/2014/main" id="{804CC455-8881-4DBC-A7E8-8C1165379425}"/>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0" name="point-2">
            <a:extLst xmlns:a="http://schemas.openxmlformats.org/drawingml/2006/main">
              <a:ext uri="{FF2B5EF4-FFF2-40B4-BE49-F238E27FC236}">
                <a16:creationId xmlns:a16="http://schemas.microsoft.com/office/drawing/2014/main" id="{631007D9-0E1D-459D-BA4A-498EC4E3DB2D}"/>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Long-term memory is scalable but requires explicit retrieval.</a:t>
            </a:r>
          </a:p>
        </p:txBody>
      </p:sp>
      <p:sp>
        <p:nvSpPr>
          <p:cNvPr id="11" name="point-band-3">
            <a:extLst xmlns:a="http://schemas.openxmlformats.org/drawingml/2006/main">
              <a:ext uri="{FF2B5EF4-FFF2-40B4-BE49-F238E27FC236}">
                <a16:creationId xmlns:a16="http://schemas.microsoft.com/office/drawing/2014/main" id="{3AA34379-D9F7-4C7B-BC97-B5291DA8945F}"/>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2" name="point-3">
            <a:extLst xmlns:a="http://schemas.openxmlformats.org/drawingml/2006/main">
              <a:ext uri="{FF2B5EF4-FFF2-40B4-BE49-F238E27FC236}">
                <a16:creationId xmlns:a16="http://schemas.microsoft.com/office/drawing/2014/main" id="{D6D1C044-0A46-4922-A2B7-5E896B4FD556}"/>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Only re-supplied information can influence the next model call.</a:t>
            </a:r>
          </a:p>
        </p:txBody>
      </p:sp>
    </p:spTree>
    <p:extLst>
      <p:ext uri="{BB962C8B-B14F-4D97-AF65-F5344CB8AC3E}">
        <p14:creationId xmlns:p14="http://schemas.microsoft.com/office/powerpoint/2010/main" val="5509128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AFF41259-4698-40EA-8213-6E6FFB129406}"/>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58BD8F27-4143-4E04-9FD1-37D61F56F56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03</a:t>
            </a:r>
          </a:p>
        </p:txBody>
      </p:sp>
      <p:sp>
        <p:nvSpPr>
          <p:cNvPr id="3" name="slide-number">
            <a:extLst xmlns:a="http://schemas.openxmlformats.org/drawingml/2006/main">
              <a:ext uri="{FF2B5EF4-FFF2-40B4-BE49-F238E27FC236}">
                <a16:creationId xmlns:a16="http://schemas.microsoft.com/office/drawing/2014/main" id="{E8B29E83-F495-4B52-BBCC-76A26E524495}"/>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AB40D0C3-6850-469B-9E09-9936414E48AF}"/>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F54E4D84-7F74-4305-AD23-682995770BA9}"/>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Planning ranges from next-step choice to search</a:t>
            </a:r>
          </a:p>
        </p:txBody>
      </p:sp>
      <p:sp>
        <p:nvSpPr>
          <p:cNvPr id="6" name="section-explanation">
            <a:extLst xmlns:a="http://schemas.openxmlformats.org/drawingml/2006/main">
              <a:ext uri="{FF2B5EF4-FFF2-40B4-BE49-F238E27FC236}">
                <a16:creationId xmlns:a16="http://schemas.microsoft.com/office/drawing/2014/main" id="{31A8E6C6-1DC9-4971-B737-C1AD4F812241}"/>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Decomposition creates subgoals, reasoning chooses actions, reflection critiques progress, and search explores alternatives. ReAct uses the simplest planner: decide only the next action from current evidence.</a:t>
            </a:r>
          </a:p>
        </p:txBody>
      </p:sp>
      <p:sp>
        <p:nvSpPr>
          <p:cNvPr id="7" name="column-rule">
            <a:extLst xmlns:a="http://schemas.openxmlformats.org/drawingml/2006/main">
              <a:ext uri="{FF2B5EF4-FFF2-40B4-BE49-F238E27FC236}">
                <a16:creationId xmlns:a16="http://schemas.microsoft.com/office/drawing/2014/main" id="{E83B2544-3E44-4FBD-969E-358D66F6EEEC}"/>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section-points">
            <a:extLst xmlns:a="http://schemas.openxmlformats.org/drawingml/2006/main">
              <a:ext uri="{FF2B5EF4-FFF2-40B4-BE49-F238E27FC236}">
                <a16:creationId xmlns:a16="http://schemas.microsoft.com/office/drawing/2014/main" id="{F4963A5B-F1B5-4961-A611-15307FCEBD14}"/>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Reactive planning adapts quickly to observations.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One-step lookahead is efficient but myopic.</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Reflection and plan-and-execute address longer horizons.</a:t>
            </a:r>
          </a:p>
        </p:txBody>
      </p:sp>
    </p:spTree>
    <p:extLst>
      <p:ext uri="{BB962C8B-B14F-4D97-AF65-F5344CB8AC3E}">
        <p14:creationId xmlns:p14="http://schemas.microsoft.com/office/powerpoint/2010/main" val="861972508"/>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1DE624DC-6F2A-4202-AADB-84A5C7D24E1F}"/>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7E07F80A-4AC8-4690-9CA1-D282874740FC}"/>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03</a:t>
            </a:r>
          </a:p>
        </p:txBody>
      </p:sp>
      <p:sp>
        <p:nvSpPr>
          <p:cNvPr id="3" name="slide-number">
            <a:extLst xmlns:a="http://schemas.openxmlformats.org/drawingml/2006/main">
              <a:ext uri="{FF2B5EF4-FFF2-40B4-BE49-F238E27FC236}">
                <a16:creationId xmlns:a16="http://schemas.microsoft.com/office/drawing/2014/main" id="{E4F53782-95EA-471C-AEB6-628D05A5561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CAFEBF7D-8402-45D6-B93E-3C08FEF2AE7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E66E6EF6-27B5-43AB-90D5-EA8C022A2FF1}"/>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The runtime owns the action boundary</a:t>
            </a:r>
          </a:p>
        </p:txBody>
      </p:sp>
      <p:sp>
        <p:nvSpPr>
          <p:cNvPr id="6" name="section-explanation">
            <a:extLst xmlns:a="http://schemas.openxmlformats.org/drawingml/2006/main">
              <a:ext uri="{FF2B5EF4-FFF2-40B4-BE49-F238E27FC236}">
                <a16:creationId xmlns:a16="http://schemas.microsoft.com/office/drawing/2014/main" id="{7041DFD5-191D-40D9-BD8D-54542648FDA5}"/>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The model proposes a tool and arguments. The runtime parses or receives the structured call, validates types and policy, authorizes it, executes the tool, and appends the real result as an observation. The model must never fabricate the observation.</a:t>
            </a:r>
          </a:p>
        </p:txBody>
      </p:sp>
      <p:sp>
        <p:nvSpPr>
          <p:cNvPr id="7" name="point-band-1">
            <a:extLst xmlns:a="http://schemas.openxmlformats.org/drawingml/2006/main">
              <a:ext uri="{FF2B5EF4-FFF2-40B4-BE49-F238E27FC236}">
                <a16:creationId xmlns:a16="http://schemas.microsoft.com/office/drawing/2014/main" id="{AA132544-4625-4D57-8308-A96315865D70}"/>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point-1">
            <a:extLst xmlns:a="http://schemas.openxmlformats.org/drawingml/2006/main">
              <a:ext uri="{FF2B5EF4-FFF2-40B4-BE49-F238E27FC236}">
                <a16:creationId xmlns:a16="http://schemas.microsoft.com/office/drawing/2014/main" id="{B564FB1A-C7B0-4885-847E-E478EA8431D0}"/>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Use stop sequences in a text protocol.</a:t>
            </a:r>
          </a:p>
        </p:txBody>
      </p:sp>
      <p:sp>
        <p:nvSpPr>
          <p:cNvPr id="9" name="point-band-2">
            <a:extLst xmlns:a="http://schemas.openxmlformats.org/drawingml/2006/main">
              <a:ext uri="{FF2B5EF4-FFF2-40B4-BE49-F238E27FC236}">
                <a16:creationId xmlns:a16="http://schemas.microsoft.com/office/drawing/2014/main" id="{882BBA5A-4867-46B9-95FC-4D4EFD95FB5E}"/>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0" name="point-2">
            <a:extLst xmlns:a="http://schemas.openxmlformats.org/drawingml/2006/main">
              <a:ext uri="{FF2B5EF4-FFF2-40B4-BE49-F238E27FC236}">
                <a16:creationId xmlns:a16="http://schemas.microsoft.com/office/drawing/2014/main" id="{E0278373-FB95-41B9-AF19-9732028B1B39}"/>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Prefer native tool calling in production when available.</a:t>
            </a:r>
          </a:p>
        </p:txBody>
      </p:sp>
      <p:sp>
        <p:nvSpPr>
          <p:cNvPr id="11" name="point-band-3">
            <a:extLst xmlns:a="http://schemas.openxmlformats.org/drawingml/2006/main">
              <a:ext uri="{FF2B5EF4-FFF2-40B4-BE49-F238E27FC236}">
                <a16:creationId xmlns:a16="http://schemas.microsoft.com/office/drawing/2014/main" id="{A34B7926-CAFC-4A25-9476-BA75A266D43D}"/>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2" name="point-3">
            <a:extLst xmlns:a="http://schemas.openxmlformats.org/drawingml/2006/main">
              <a:ext uri="{FF2B5EF4-FFF2-40B4-BE49-F238E27FC236}">
                <a16:creationId xmlns:a16="http://schemas.microsoft.com/office/drawing/2014/main" id="{97408EBC-1BED-4701-B7B0-78D65524E193}"/>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Sandbox, scope permissions, and confirm consequential actions.</a:t>
            </a:r>
          </a:p>
        </p:txBody>
      </p:sp>
    </p:spTree>
    <p:extLst>
      <p:ext uri="{BB962C8B-B14F-4D97-AF65-F5344CB8AC3E}">
        <p14:creationId xmlns:p14="http://schemas.microsoft.com/office/powerpoint/2010/main" val="3121080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CD15358B-9C6E-4A36-A566-254FE7E9A77A}"/>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6E4B2A37-0450-409F-A207-B9485827F7E1}"/>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03</a:t>
            </a:r>
          </a:p>
        </p:txBody>
      </p:sp>
      <p:sp>
        <p:nvSpPr>
          <p:cNvPr id="3" name="slide-number">
            <a:extLst xmlns:a="http://schemas.openxmlformats.org/drawingml/2006/main">
              <a:ext uri="{FF2B5EF4-FFF2-40B4-BE49-F238E27FC236}">
                <a16:creationId xmlns:a16="http://schemas.microsoft.com/office/drawing/2014/main" id="{F02B8AA7-DEF9-448F-AB16-6229297D2F5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F6C8C530-7AD0-4DC4-B7BE-0EE0ACD032D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B931563E-0F25-4A62-9A18-B1E1408EDB72}"/>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ReAct interleaves deliberation and grounding</a:t>
            </a:r>
          </a:p>
        </p:txBody>
      </p:sp>
      <p:sp>
        <p:nvSpPr>
          <p:cNvPr id="6" name="section-explanation">
            <a:extLst xmlns:a="http://schemas.openxmlformats.org/drawingml/2006/main">
              <a:ext uri="{FF2B5EF4-FFF2-40B4-BE49-F238E27FC236}">
                <a16:creationId xmlns:a16="http://schemas.microsoft.com/office/drawing/2014/main" id="{9128873D-4853-4F82-9B13-4039DD2B8BEB}"/>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Each iteration contains a Thought from the model, an Action from the model, and an Observation from the environment. Acting grounds later reasoning in evidence, while reasoning improves tool selection compared with an act-only policy.</a:t>
            </a:r>
          </a:p>
        </p:txBody>
      </p:sp>
      <p:sp>
        <p:nvSpPr>
          <p:cNvPr id="7" name="column-rule">
            <a:extLst xmlns:a="http://schemas.openxmlformats.org/drawingml/2006/main">
              <a:ext uri="{FF2B5EF4-FFF2-40B4-BE49-F238E27FC236}">
                <a16:creationId xmlns:a16="http://schemas.microsoft.com/office/drawing/2014/main" id="{64AAE558-EC43-46C1-B8AB-C1AB1CF6687F}"/>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section-points">
            <a:extLst xmlns:a="http://schemas.openxmlformats.org/drawingml/2006/main">
              <a:ext uri="{FF2B5EF4-FFF2-40B4-BE49-F238E27FC236}">
                <a16:creationId xmlns:a16="http://schemas.microsoft.com/office/drawing/2014/main" id="{418E4B2F-E6D0-4034-A53C-9035C46DCEA4}"/>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Thought chooses the next step.</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Action names and parameterizes a tool.</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Observation records the runtime result.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Final Answer ends the episode.</a:t>
            </a:r>
          </a:p>
        </p:txBody>
      </p:sp>
    </p:spTree>
    <p:extLst>
      <p:ext uri="{BB962C8B-B14F-4D97-AF65-F5344CB8AC3E}">
        <p14:creationId xmlns:p14="http://schemas.microsoft.com/office/powerpoint/2010/main" val="1241718743"/>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7A39787B-0F21-433B-8241-69AE0F1C0DE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0F3147C2-0F3D-499F-BF76-611DD97B23F4}"/>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03</a:t>
            </a:r>
          </a:p>
        </p:txBody>
      </p:sp>
      <p:sp>
        <p:nvSpPr>
          <p:cNvPr id="3" name="slide-number">
            <a:extLst xmlns:a="http://schemas.openxmlformats.org/drawingml/2006/main">
              <a:ext uri="{FF2B5EF4-FFF2-40B4-BE49-F238E27FC236}">
                <a16:creationId xmlns:a16="http://schemas.microsoft.com/office/drawing/2014/main" id="{CEABB4CB-ED40-4A46-9383-5944CFA978D6}"/>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7C503A2A-C279-46FE-AD3A-0F3E8D823995}"/>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section-title">
            <a:extLst xmlns:a="http://schemas.openxmlformats.org/drawingml/2006/main">
              <a:ext uri="{FF2B5EF4-FFF2-40B4-BE49-F238E27FC236}">
                <a16:creationId xmlns:a16="http://schemas.microsoft.com/office/drawing/2014/main" id="{FE093084-CB2A-402C-9913-6D6564E44E14}"/>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 correct loop is bounded and observable</a:t>
            </a:r>
          </a:p>
        </p:txBody>
      </p:sp>
      <p:sp>
        <p:nvSpPr>
          <p:cNvPr id="6" name="section-explanation">
            <a:extLst xmlns:a="http://schemas.openxmlformats.org/drawingml/2006/main">
              <a:ext uri="{FF2B5EF4-FFF2-40B4-BE49-F238E27FC236}">
                <a16:creationId xmlns:a16="http://schemas.microsoft.com/office/drawing/2014/main" id="{9F75104B-58B2-4A48-9AB4-3F22DEE3ECDC}"/>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Termination must include a final-answer condition plus hard step, token, cost, or time budgets. The trace should be captured so evaluators can inspect tool choice, observations, errors, efficiency, and whether the final claim is grounded.</a:t>
            </a:r>
          </a:p>
        </p:txBody>
      </p:sp>
      <p:sp>
        <p:nvSpPr>
          <p:cNvPr id="7" name="point-band-1">
            <a:extLst xmlns:a="http://schemas.openxmlformats.org/drawingml/2006/main">
              <a:ext uri="{FF2B5EF4-FFF2-40B4-BE49-F238E27FC236}">
                <a16:creationId xmlns:a16="http://schemas.microsoft.com/office/drawing/2014/main" id="{1E395769-B71B-4F79-871C-8C2CA8FE84A3}"/>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8" name="point-1">
            <a:extLst xmlns:a="http://schemas.openxmlformats.org/drawingml/2006/main">
              <a:ext uri="{FF2B5EF4-FFF2-40B4-BE49-F238E27FC236}">
                <a16:creationId xmlns:a16="http://schemas.microsoft.com/office/drawing/2014/main" id="{E199744C-08BC-48A3-AB97-2110E50AB7E6}"/>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Common failures: format drift, greedy parsing, fabricated observations.</a:t>
            </a:r>
          </a:p>
        </p:txBody>
      </p:sp>
      <p:sp>
        <p:nvSpPr>
          <p:cNvPr id="9" name="point-band-2">
            <a:extLst xmlns:a="http://schemas.openxmlformats.org/drawingml/2006/main">
              <a:ext uri="{FF2B5EF4-FFF2-40B4-BE49-F238E27FC236}">
                <a16:creationId xmlns:a16="http://schemas.microsoft.com/office/drawing/2014/main" id="{45713723-10E2-42B3-B8F0-171BC7AFE1B2}"/>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0" name="point-2">
            <a:extLst xmlns:a="http://schemas.openxmlformats.org/drawingml/2006/main">
              <a:ext uri="{FF2B5EF4-FFF2-40B4-BE49-F238E27FC236}">
                <a16:creationId xmlns:a16="http://schemas.microsoft.com/office/drawing/2014/main" id="{6DABEA2A-36F8-46F6-B644-C17718BC12D0}"/>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Long horizons compound errors and can make the agent lose the goal.</a:t>
            </a:r>
          </a:p>
        </p:txBody>
      </p:sp>
      <p:sp>
        <p:nvSpPr>
          <p:cNvPr id="11" name="point-band-3">
            <a:extLst xmlns:a="http://schemas.openxmlformats.org/drawingml/2006/main">
              <a:ext uri="{FF2B5EF4-FFF2-40B4-BE49-F238E27FC236}">
                <a16:creationId xmlns:a16="http://schemas.microsoft.com/office/drawing/2014/main" id="{81D74CE8-6ED6-4348-AB12-B3EDAF3E0629}"/>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2" name="point-3">
            <a:extLst xmlns:a="http://schemas.openxmlformats.org/drawingml/2006/main">
              <a:ext uri="{FF2B5EF4-FFF2-40B4-BE49-F238E27FC236}">
                <a16:creationId xmlns:a16="http://schemas.microsoft.com/office/drawing/2014/main" id="{173652AE-9C84-434D-BA1C-5FDA7C094083}"/>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No backtracking means a bad line may persist.</a:t>
            </a:r>
          </a:p>
        </p:txBody>
      </p:sp>
      <p:sp>
        <p:nvSpPr>
          <p:cNvPr id="13" name="point-band-4">
            <a:extLst xmlns:a="http://schemas.openxmlformats.org/drawingml/2006/main">
              <a:ext uri="{FF2B5EF4-FFF2-40B4-BE49-F238E27FC236}">
                <a16:creationId xmlns:a16="http://schemas.microsoft.com/office/drawing/2014/main" id="{35F5DEEB-006E-4DE9-9C06-7716916329F6}"/>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14" name="point-4">
            <a:extLst xmlns:a="http://schemas.openxmlformats.org/drawingml/2006/main">
              <a:ext uri="{FF2B5EF4-FFF2-40B4-BE49-F238E27FC236}">
                <a16:creationId xmlns:a16="http://schemas.microsoft.com/office/drawing/2014/main" id="{48350493-F508-4FC7-991C-5C92BF43BC04}"/>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Native schemas reduce format drift but not reasoning errors.</a:t>
            </a:r>
          </a:p>
        </p:txBody>
      </p:sp>
    </p:spTree>
    <p:extLst>
      <p:ext uri="{BB962C8B-B14F-4D97-AF65-F5344CB8AC3E}">
        <p14:creationId xmlns:p14="http://schemas.microsoft.com/office/powerpoint/2010/main" val="14542323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16011D7D-0080-4A44-AD44-FE0F0828D4C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F3A20409-F56B-4B8D-8070-AA3DF6EF1B3D}"/>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03</a:t>
            </a:r>
          </a:p>
        </p:txBody>
      </p:sp>
      <p:sp>
        <p:nvSpPr>
          <p:cNvPr id="3" name="slide-number">
            <a:extLst xmlns:a="http://schemas.openxmlformats.org/drawingml/2006/main">
              <a:ext uri="{FF2B5EF4-FFF2-40B4-BE49-F238E27FC236}">
                <a16:creationId xmlns:a16="http://schemas.microsoft.com/office/drawing/2014/main" id="{01FBD3ED-A0C7-44B5-A105-2923AA760496}"/>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AC64C58E-046B-4B95-AFFF-AFF7F21479FA}"/>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exam-title">
            <a:extLst xmlns:a="http://schemas.openxmlformats.org/drawingml/2006/main">
              <a:ext uri="{FF2B5EF4-FFF2-40B4-BE49-F238E27FC236}">
                <a16:creationId xmlns:a16="http://schemas.microsoft.com/office/drawing/2014/main" id="{AEE9AD2F-E939-44B0-A291-F5AE3D4C4895}"/>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ECDB6192-9ABA-4C8B-BB87-2B67DB67C05D}"/>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F2750767-E884-4949-8B4C-55D6F6373057}"/>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belongs in a robust agent profile?</a:t>
            </a:r>
          </a:p>
        </p:txBody>
      </p:sp>
      <p:sp>
        <p:nvSpPr>
          <p:cNvPr id="8" name="exam-number-2">
            <a:extLst xmlns:a="http://schemas.openxmlformats.org/drawingml/2006/main">
              <a:ext uri="{FF2B5EF4-FFF2-40B4-BE49-F238E27FC236}">
                <a16:creationId xmlns:a16="http://schemas.microsoft.com/office/drawing/2014/main" id="{4B961064-3A99-4540-809E-8F828E8A9D51}"/>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7E25CA55-29D8-4737-9AB0-DD9C46532C63}"/>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Who produces each part of Thought-Action-Observation?</a:t>
            </a:r>
          </a:p>
        </p:txBody>
      </p:sp>
      <p:sp>
        <p:nvSpPr>
          <p:cNvPr id="10" name="exam-number-3">
            <a:extLst xmlns:a="http://schemas.openxmlformats.org/drawingml/2006/main">
              <a:ext uri="{FF2B5EF4-FFF2-40B4-BE49-F238E27FC236}">
                <a16:creationId xmlns:a16="http://schemas.microsoft.com/office/drawing/2014/main" id="{744FDB8C-1D9E-44F1-B106-4969FBB1646E}"/>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EA737C02-564E-4B62-82E2-D8ACBB62F569}"/>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is a stop sequence needed in text ReAct?</a:t>
            </a:r>
          </a:p>
        </p:txBody>
      </p:sp>
      <p:sp>
        <p:nvSpPr>
          <p:cNvPr id="12" name="exam-number-4">
            <a:extLst xmlns:a="http://schemas.openxmlformats.org/drawingml/2006/main">
              <a:ext uri="{FF2B5EF4-FFF2-40B4-BE49-F238E27FC236}">
                <a16:creationId xmlns:a16="http://schemas.microsoft.com/office/drawing/2014/main" id="{9D3936F2-73ED-4D32-8741-3175EA3FFFE2}"/>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8EB45503-5E2B-45E6-BEE3-AB997C6F5D81}"/>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text parsing with native function calling.</a:t>
            </a:r>
          </a:p>
        </p:txBody>
      </p:sp>
      <p:sp>
        <p:nvSpPr>
          <p:cNvPr id="14" name="exam-number-5">
            <a:extLst xmlns:a="http://schemas.openxmlformats.org/drawingml/2006/main">
              <a:ext uri="{FF2B5EF4-FFF2-40B4-BE49-F238E27FC236}">
                <a16:creationId xmlns:a16="http://schemas.microsoft.com/office/drawing/2014/main" id="{2E654E0C-5FD2-449E-B7DF-CE87CD41036C}"/>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671A1790-E73B-4F11-A6AA-0211E9DC12D4}"/>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List the required termination conditions for a safe loop.</a:t>
            </a:r>
          </a:p>
        </p:txBody>
      </p:sp>
      <p:sp>
        <p:nvSpPr>
          <p:cNvPr id="16" name="exam-number-6">
            <a:extLst xmlns:a="http://schemas.openxmlformats.org/drawingml/2006/main">
              <a:ext uri="{FF2B5EF4-FFF2-40B4-BE49-F238E27FC236}">
                <a16:creationId xmlns:a16="http://schemas.microsoft.com/office/drawing/2014/main" id="{D395B7A3-E0E8-47F1-9C65-2840910D674F}"/>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B9F15B"/>
                </a:solidFill>
                <a:latin typeface="Helvetica Neue"/>
                <a:ea typeface="Helvetica Neue"/>
                <a:cs typeface="Helvetica Neue"/>
              </a:defRPr>
            </a:pPr>
            <a:r>
              <a:rPr sz="1725" b="1">
                <a:solidFill>
                  <a:srgbClr val="B9F15B"/>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0FA405A9-B3C8-40D4-9E8B-96C9AA593FA5}"/>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does ReAct reduce hallucination yet remain myopic?</a:t>
            </a:r>
          </a:p>
        </p:txBody>
      </p:sp>
    </p:spTree>
    <p:extLst>
      <p:ext uri="{BB962C8B-B14F-4D97-AF65-F5344CB8AC3E}">
        <p14:creationId xmlns:p14="http://schemas.microsoft.com/office/powerpoint/2010/main" val="278347032"/>
      </p:ext>
    </p:extLst>
  </p:cSld>
</p:sld>
</file>

<file path=ppt/slides/slide1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38A0BE04-AD85-4235-9B04-0EBA7AAFD0B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B9F15B"/>
          </a:solidFill>
          <a:ln xmlns:a="http://schemas.openxmlformats.org/drawingml/2006/main" w="0">
            <a:solidFill>
              <a:srgbClr val="B9F15B"/>
            </a:solidFill>
            <a:prstDash val="solid"/>
          </a:ln>
        </p:spPr>
      </p:sp>
      <p:sp>
        <p:nvSpPr>
          <p:cNvPr id="2" name="chapter-label">
            <a:extLst xmlns:a="http://schemas.openxmlformats.org/drawingml/2006/main">
              <a:ext uri="{FF2B5EF4-FFF2-40B4-BE49-F238E27FC236}">
                <a16:creationId xmlns:a16="http://schemas.microsoft.com/office/drawing/2014/main" id="{93B9A2A3-D62D-4BD6-9FA6-668B69E19511}"/>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03</a:t>
            </a:r>
          </a:p>
        </p:txBody>
      </p:sp>
      <p:sp>
        <p:nvSpPr>
          <p:cNvPr id="3" name="slide-number">
            <a:extLst xmlns:a="http://schemas.openxmlformats.org/drawingml/2006/main">
              <a:ext uri="{FF2B5EF4-FFF2-40B4-BE49-F238E27FC236}">
                <a16:creationId xmlns:a16="http://schemas.microsoft.com/office/drawing/2014/main" id="{0CC3CE41-1922-4869-ADFE-B70294731FC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14C17764-8B82-4878-AEAA-8C5C09BC5DC1}"/>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 Anatomy and ReAct</a:t>
            </a:r>
          </a:p>
        </p:txBody>
      </p:sp>
      <p:sp>
        <p:nvSpPr>
          <p:cNvPr id="5" name="closing-title">
            <a:extLst xmlns:a="http://schemas.openxmlformats.org/drawingml/2006/main">
              <a:ext uri="{FF2B5EF4-FFF2-40B4-BE49-F238E27FC236}">
                <a16:creationId xmlns:a16="http://schemas.microsoft.com/office/drawing/2014/main" id="{847F674C-574E-453A-AC0C-719235B182E8}"/>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F4664660-2C7F-40F1-8A01-929449A8EC27}"/>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B9F15B"/>
                </a:solidFill>
                <a:latin typeface="Helvetica Neue"/>
                <a:ea typeface="Helvetica Neue"/>
                <a:cs typeface="Helvetica Neue"/>
              </a:defRPr>
            </a:pPr>
            <a:r>
              <a:rPr sz="2250" b="1">
                <a:solidFill>
                  <a:srgbClr val="B9F15B"/>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833A86AB-AB68-43B5-B9F3-58F3E0B02687}"/>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The model proposes actions; the runtime validates and executes.</a:t>
            </a:r>
          </a:p>
        </p:txBody>
      </p:sp>
      <p:sp>
        <p:nvSpPr>
          <p:cNvPr id="8" name="takeaway-number-2">
            <a:extLst xmlns:a="http://schemas.openxmlformats.org/drawingml/2006/main">
              <a:ext uri="{FF2B5EF4-FFF2-40B4-BE49-F238E27FC236}">
                <a16:creationId xmlns:a16="http://schemas.microsoft.com/office/drawing/2014/main" id="{CA63FB5A-6074-44E5-A2A5-AF86456BF2B5}"/>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B9F15B"/>
                </a:solidFill>
                <a:latin typeface="Helvetica Neue"/>
                <a:ea typeface="Helvetica Neue"/>
                <a:cs typeface="Helvetica Neue"/>
              </a:defRPr>
            </a:pPr>
            <a:r>
              <a:rPr sz="2250" b="1">
                <a:solidFill>
                  <a:srgbClr val="B9F15B"/>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B2020530-6B30-4EE7-9A7C-733095104AA2}"/>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ReAct alternates Thought, Action, and real Observation.</a:t>
            </a:r>
          </a:p>
        </p:txBody>
      </p:sp>
      <p:sp>
        <p:nvSpPr>
          <p:cNvPr id="10" name="takeaway-number-3">
            <a:extLst xmlns:a="http://schemas.openxmlformats.org/drawingml/2006/main">
              <a:ext uri="{FF2B5EF4-FFF2-40B4-BE49-F238E27FC236}">
                <a16:creationId xmlns:a16="http://schemas.microsoft.com/office/drawing/2014/main" id="{33DE702B-294E-4B7E-8657-5013CBAF631D}"/>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B9F15B"/>
                </a:solidFill>
                <a:latin typeface="Helvetica Neue"/>
                <a:ea typeface="Helvetica Neue"/>
                <a:cs typeface="Helvetica Neue"/>
              </a:defRPr>
            </a:pPr>
            <a:r>
              <a:rPr sz="2250" b="1">
                <a:solidFill>
                  <a:srgbClr val="B9F15B"/>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27C8748D-ECDD-44FE-B009-F99CA77C1363}"/>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Stop sequences and budgets are correctness features.</a:t>
            </a:r>
          </a:p>
        </p:txBody>
      </p:sp>
      <p:sp>
        <p:nvSpPr>
          <p:cNvPr id="12" name="takeaway-number-4">
            <a:extLst xmlns:a="http://schemas.openxmlformats.org/drawingml/2006/main">
              <a:ext uri="{FF2B5EF4-FFF2-40B4-BE49-F238E27FC236}">
                <a16:creationId xmlns:a16="http://schemas.microsoft.com/office/drawing/2014/main" id="{F248F9C9-47CC-4305-A981-01AE8CF2540F}"/>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B9F15B"/>
                </a:solidFill>
                <a:latin typeface="Helvetica Neue"/>
                <a:ea typeface="Helvetica Neue"/>
                <a:cs typeface="Helvetica Neue"/>
              </a:defRPr>
            </a:pPr>
            <a:r>
              <a:rPr sz="2250" b="1">
                <a:solidFill>
                  <a:srgbClr val="B9F15B"/>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65C7EAB3-E7EE-4A80-9768-F762A97C3500}"/>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Tracing reveals both outcome and trajectory failures.</a:t>
            </a:r>
          </a:p>
        </p:txBody>
      </p:sp>
    </p:spTree>
    <p:extLst>
      <p:ext uri="{BB962C8B-B14F-4D97-AF65-F5344CB8AC3E}">
        <p14:creationId xmlns:p14="http://schemas.microsoft.com/office/powerpoint/2010/main" val="8264230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2026-07-27T18:05:26.3760000Z</dcterms:created>
  <dcterms:modified xsi:type="dcterms:W3CDTF">2026-07-27T18:05:26.3760000Z</dcterms:modified>
</coreProperties>
</file>