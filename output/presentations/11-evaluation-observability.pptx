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62afee6ad1147ad" /><Relationship Type="http://schemas.openxmlformats.org/officeDocument/2006/relationships/extended-properties" Target="/docProps/app.xml" Id="Rdfce83468d8b4a37" /><Relationship Type="http://schemas.openxmlformats.org/officeDocument/2006/relationships/officeDocument" Target="/ppt/presentation.xml" Id="Rbe560f5b46d84a8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3f5f263cf5c455a"/>
  </p:sldMasterIdLst>
  <p:notesMasterIdLst>
    <p:notesMasterId xmlns:r="http://schemas.openxmlformats.org/officeDocument/2006/relationships" r:id="Rc0da66dfdc9540de"/>
  </p:notesMasterIdLst>
  <p:sldIdLst>
    <p:sldId xmlns:r="http://schemas.openxmlformats.org/officeDocument/2006/relationships" id="256" r:id="R689c4a30a7b547ed"/>
    <p:sldId xmlns:r="http://schemas.openxmlformats.org/officeDocument/2006/relationships" id="257" r:id="Rfece4af047ee49b1"/>
    <p:sldId xmlns:r="http://schemas.openxmlformats.org/officeDocument/2006/relationships" id="258" r:id="Rfe21ceb47ac54af1"/>
    <p:sldId xmlns:r="http://schemas.openxmlformats.org/officeDocument/2006/relationships" id="259" r:id="Rc84ddd733c574b8a"/>
    <p:sldId xmlns:r="http://schemas.openxmlformats.org/officeDocument/2006/relationships" id="260" r:id="R0c48559d5cc24d14"/>
    <p:sldId xmlns:r="http://schemas.openxmlformats.org/officeDocument/2006/relationships" id="261" r:id="R938746434a5a4629"/>
    <p:sldId xmlns:r="http://schemas.openxmlformats.org/officeDocument/2006/relationships" id="262" r:id="R11f7f14a0f3e4df6"/>
    <p:sldId xmlns:r="http://schemas.openxmlformats.org/officeDocument/2006/relationships" id="263" r:id="Refd6f73879f84a5e"/>
    <p:sldId xmlns:r="http://schemas.openxmlformats.org/officeDocument/2006/relationships" id="264" r:id="R534641cc0f0147ee"/>
    <p:sldId xmlns:r="http://schemas.openxmlformats.org/officeDocument/2006/relationships" id="265" r:id="R812fd4977a72466d"/>
    <p:sldId xmlns:r="http://schemas.openxmlformats.org/officeDocument/2006/relationships" id="266" r:id="R97f3a22527ba4dca"/>
    <p:sldId xmlns:r="http://schemas.openxmlformats.org/officeDocument/2006/relationships" id="267" r:id="R756d675ed7c842d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07f004478374834" /><Relationship Type="http://schemas.openxmlformats.org/officeDocument/2006/relationships/slideMaster" Target="/ppt/slideMasters/slideMaster1.xml" Id="R13f5f263cf5c455a" /><Relationship Type="http://schemas.openxmlformats.org/officeDocument/2006/relationships/notesMaster" Target="/ppt/notesMasters/notesMaster1.xml" Id="Rc0da66dfdc9540de" /><Relationship Type="http://schemas.openxmlformats.org/officeDocument/2006/relationships/presProps" Target="/ppt/presProps.xml" Id="Rfa4e69c5f0ac44d8" /><Relationship Type="http://schemas.openxmlformats.org/officeDocument/2006/relationships/tableStyles" Target="/ppt/tableStyles.xml" Id="R993d6872f4024182" /><Relationship Type="http://schemas.openxmlformats.org/officeDocument/2006/relationships/slide" Target="/ppt/slides/slide1.xml" Id="R689c4a30a7b547ed" /><Relationship Type="http://schemas.openxmlformats.org/officeDocument/2006/relationships/slide" Target="/ppt/slides/slide2.xml" Id="Rfece4af047ee49b1" /><Relationship Type="http://schemas.openxmlformats.org/officeDocument/2006/relationships/slide" Target="/ppt/slides/slide3.xml" Id="Rfe21ceb47ac54af1" /><Relationship Type="http://schemas.openxmlformats.org/officeDocument/2006/relationships/slide" Target="/ppt/slides/slide4.xml" Id="Rc84ddd733c574b8a" /><Relationship Type="http://schemas.openxmlformats.org/officeDocument/2006/relationships/slide" Target="/ppt/slides/slide5.xml" Id="R0c48559d5cc24d14" /><Relationship Type="http://schemas.openxmlformats.org/officeDocument/2006/relationships/slide" Target="/ppt/slides/slide6.xml" Id="R938746434a5a4629" /><Relationship Type="http://schemas.openxmlformats.org/officeDocument/2006/relationships/slide" Target="/ppt/slides/slide7.xml" Id="R11f7f14a0f3e4df6" /><Relationship Type="http://schemas.openxmlformats.org/officeDocument/2006/relationships/slide" Target="/ppt/slides/slide8.xml" Id="Refd6f73879f84a5e" /><Relationship Type="http://schemas.openxmlformats.org/officeDocument/2006/relationships/slide" Target="/ppt/slides/slide9.xml" Id="R534641cc0f0147ee" /><Relationship Type="http://schemas.openxmlformats.org/officeDocument/2006/relationships/slide" Target="/ppt/slides/slide10.xml" Id="R812fd4977a72466d" /><Relationship Type="http://schemas.openxmlformats.org/officeDocument/2006/relationships/slide" Target="/ppt/slides/slide11.xml" Id="R97f3a22527ba4dca" /><Relationship Type="http://schemas.openxmlformats.org/officeDocument/2006/relationships/slide" Target="/ppt/slides/slide12.xml" Id="R756d675ed7c842d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d897651e6eb4c6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e6919a7a52d480c" /><Relationship Type="http://schemas.openxmlformats.org/officeDocument/2006/relationships/notesMaster" Target="/ppt/notesMasters/notesMaster1.xml" Id="R96817cf640104ba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7f7c8431ba2445c" /><Relationship Type="http://schemas.openxmlformats.org/officeDocument/2006/relationships/notesMaster" Target="/ppt/notesMasters/notesMaster1.xml" Id="R26184b3307424cc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a1b1bcc93d340db" /><Relationship Type="http://schemas.openxmlformats.org/officeDocument/2006/relationships/notesMaster" Target="/ppt/notesMasters/notesMaster1.xml" Id="R36d971a138d2479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e00001a9a154623" /><Relationship Type="http://schemas.openxmlformats.org/officeDocument/2006/relationships/notesMaster" Target="/ppt/notesMasters/notesMaster1.xml" Id="Ra48e9b5103b7441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beaf8e2579e4276" /><Relationship Type="http://schemas.openxmlformats.org/officeDocument/2006/relationships/notesMaster" Target="/ppt/notesMasters/notesMaster1.xml" Id="R716bb5dfc07f4c6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77bc625ae49430a" /><Relationship Type="http://schemas.openxmlformats.org/officeDocument/2006/relationships/notesMaster" Target="/ppt/notesMasters/notesMaster1.xml" Id="Re8d6917c9c51457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2c88fa8b6044228" /><Relationship Type="http://schemas.openxmlformats.org/officeDocument/2006/relationships/notesMaster" Target="/ppt/notesMasters/notesMaster1.xml" Id="Rd38da4e6cdfd48b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40a557edfe0482f" /><Relationship Type="http://schemas.openxmlformats.org/officeDocument/2006/relationships/notesMaster" Target="/ppt/notesMasters/notesMaster1.xml" Id="Recc271bb0040423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e38f4f589384852" /><Relationship Type="http://schemas.openxmlformats.org/officeDocument/2006/relationships/notesMaster" Target="/ppt/notesMasters/notesMaster1.xml" Id="R12c9228e43b24c8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a126a093ce24232" /><Relationship Type="http://schemas.openxmlformats.org/officeDocument/2006/relationships/notesMaster" Target="/ppt/notesMasters/notesMaster1.xml" Id="Rf41cbc97582d48a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0dd413e40104414" /><Relationship Type="http://schemas.openxmlformats.org/officeDocument/2006/relationships/notesMaster" Target="/ppt/notesMasters/notesMaster1.xml" Id="Rc3ac2e55d5b5409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d5cadf30da14ee8" /><Relationship Type="http://schemas.openxmlformats.org/officeDocument/2006/relationships/notesMaster" Target="/ppt/notesMasters/notesMaster1.xml" Id="R8e3b28a0b72543a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chapter thesis and connect it to the previous chapter.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11-evaluation-observability.pdf</a:t>
            </a:r>
          </a:p>
          <a:p xmlns:a="http://schemas.openxmlformats.org/drawingml/2006/main">
            <a:r>
              <a:t>- P3: Would this change your answer?. Anthropic/Fellows preprint, arXiv v1, 2026-08-17. https://arxiv.org/abs/2608.16747 CHIVE tests counterfactual prompt changes. Generated explanations remain hypotheses. Official post: August 21.</a:t>
            </a:r>
          </a:p>
          <a:p xmlns:a="http://schemas.openxmlformats.org/drawingml/2006/main">
            <a:r>
              <a:t>- R2: How enabling two settings tripled our scores on the ARC-AGI-3 benchmark. OpenAI research post, 2026-07-29. https://openai.com/index/how-two-settings-tripled-our-arc-agi-3-scores/ A specific harness experiment. Its result does not estimate the effect of context changes in Gemini.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Run the offline evaluation command, inspect its JSONL records, and test the failure path. For live inference, predeclare a model and budget before using the held-out split.</a:t>
            </a:r>
          </a:p>
          <a:p xmlns:a="http://schemas.openxmlformats.org/drawingml/2006/main">
            <a:r>
              <a:t>Acceptance: A fresh rerun produces a manifest and one record per attempted case. Interrupted or failed requests do not disappear from the denominator.</a:t>
            </a:r>
          </a:p>
          <a:p xmlns:a="http://schemas.openxmlformats.org/drawingml/2006/main">
            <a:r>
              <a:t>Lab: labs/07_agents_sdk_evaluation.ipynb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these objectives as an advance organizer and as a checklist after the deck.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11-evaluation-observability.pdf</a:t>
            </a:r>
          </a:p>
          <a:p xmlns:a="http://schemas.openxmlformats.org/drawingml/2006/main">
            <a:r>
              <a:t>- P3: Would this change your answer?. Anthropic/Fellows preprint, arXiv v1, 2026-08-17. https://arxiv.org/abs/2608.16747 CHIVE tests counterfactual prompt changes. Generated explanations remain hypotheses. Official post: August 21.</a:t>
            </a:r>
          </a:p>
          <a:p xmlns:a="http://schemas.openxmlformats.org/drawingml/2006/main">
            <a:r>
              <a:t>- R2: How enabling two settings tripled our scores on the ARC-AGI-3 benchmark. OpenAI research post, 2026-07-29. https://openai.com/index/how-two-settings-tripled-our-arc-agi-3-scores/ A specific harness experiment. Its result does not estimate the effect of context changes in Gemini.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Run the offline evaluation command, inspect its JSONL records, and test the failure path. For live inference, predeclare a model and budget before using the held-out split.</a:t>
            </a:r>
          </a:p>
          <a:p xmlns:a="http://schemas.openxmlformats.org/drawingml/2006/main">
            <a:r>
              <a:t>Acceptance: A fresh rerun produces a manifest and one record per attempted case. Interrupted or failed requests do not disappear from the denominator.</a:t>
            </a:r>
          </a:p>
          <a:p xmlns:a="http://schemas.openxmlformats.org/drawingml/2006/main">
            <a:r>
              <a:t>Lab: labs/07_agents_sdk_evaluation.ipynb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claim first, then use the numbered points as evidence and design consequences.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11-evaluation-observability.pdf</a:t>
            </a:r>
          </a:p>
          <a:p xmlns:a="http://schemas.openxmlformats.org/drawingml/2006/main">
            <a:r>
              <a:t>- P3: Would this change your answer?. Anthropic/Fellows preprint, arXiv v1, 2026-08-17. https://arxiv.org/abs/2608.16747 CHIVE tests counterfactual prompt changes. Generated explanations remain hypotheses. Official post: August 21.</a:t>
            </a:r>
          </a:p>
          <a:p xmlns:a="http://schemas.openxmlformats.org/drawingml/2006/main">
            <a:r>
              <a:t>- R2: How enabling two settings tripled our scores on the ARC-AGI-3 benchmark. OpenAI research post, 2026-07-29. https://openai.com/index/how-two-settings-tripled-our-arc-agi-3-scores/ A specific harness experiment. Its result does not estimate the effect of context changes in Gemini.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Run the offline evaluation command, inspect its JSONL records, and test the failure path. For live inference, predeclare a model and budget before using the held-out split.</a:t>
            </a:r>
          </a:p>
          <a:p xmlns:a="http://schemas.openxmlformats.org/drawingml/2006/main">
            <a:r>
              <a:t>Acceptance: A fresh rerun produces a manifest and one record per attempted case. Interrupted or failed requests do not disappear from the denominator.</a:t>
            </a:r>
          </a:p>
          <a:p xmlns:a="http://schemas.openxmlformats.org/drawingml/2006/main">
            <a:r>
              <a:t>Lab: labs/07_agents_sdk_evaluation.ipynb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Pause on the central statement, then connect the lower points as a single mental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11-evaluation-observability.pdf</a:t>
            </a:r>
          </a:p>
          <a:p xmlns:a="http://schemas.openxmlformats.org/drawingml/2006/main">
            <a:r>
              <a:t>- P3: Would this change your answer?. Anthropic/Fellows preprint, arXiv v1, 2026-08-17. https://arxiv.org/abs/2608.16747 CHIVE tests counterfactual prompt changes. Generated explanations remain hypotheses. Official post: August 21.</a:t>
            </a:r>
          </a:p>
          <a:p xmlns:a="http://schemas.openxmlformats.org/drawingml/2006/main">
            <a:r>
              <a:t>- R2: How enabling two settings tripled our scores on the ARC-AGI-3 benchmark. OpenAI research post, 2026-07-29. https://openai.com/index/how-two-settings-tripled-our-arc-agi-3-scores/ A specific harness experiment. Its result does not estimate the effect of context changes in Gemini.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Run the offline evaluation command, inspect its JSONL records, and test the failure path. For live inference, predeclare a model and budget before using the held-out split.</a:t>
            </a:r>
          </a:p>
          <a:p xmlns:a="http://schemas.openxmlformats.org/drawingml/2006/main">
            <a:r>
              <a:t>Acceptance: A fresh rerun produces a manifest and one record per attempted case. Interrupted or failed requests do not disappear from the denominator.</a:t>
            </a:r>
          </a:p>
          <a:p xmlns:a="http://schemas.openxmlformats.org/drawingml/2006/main">
            <a:r>
              <a:t>Lab: labs/07_agents_sdk_evaluation.ipynb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claim first, then use the numbered points as evidence and design consequences.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11-evaluation-observability.pdf</a:t>
            </a:r>
          </a:p>
          <a:p xmlns:a="http://schemas.openxmlformats.org/drawingml/2006/main">
            <a:r>
              <a:t>- P3: Would this change your answer?. Anthropic/Fellows preprint, arXiv v1, 2026-08-17. https://arxiv.org/abs/2608.16747 CHIVE tests counterfactual prompt changes. Generated explanations remain hypotheses. Official post: August 21.</a:t>
            </a:r>
          </a:p>
          <a:p xmlns:a="http://schemas.openxmlformats.org/drawingml/2006/main">
            <a:r>
              <a:t>- R2: How enabling two settings tripled our scores on the ARC-AGI-3 benchmark. OpenAI research post, 2026-07-29. https://openai.com/index/how-two-settings-tripled-our-arc-agi-3-scores/ A specific harness experiment. Its result does not estimate the effect of context changes in Gemini.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Run the offline evaluation command, inspect its JSONL records, and test the failure path. For live inference, predeclare a model and budget before using the held-out split.</a:t>
            </a:r>
          </a:p>
          <a:p xmlns:a="http://schemas.openxmlformats.org/drawingml/2006/main">
            <a:r>
              <a:t>Acceptance: A fresh rerun produces a manifest and one record per attempted case. Interrupted or failed requests do not disappear from the denominator.</a:t>
            </a:r>
          </a:p>
          <a:p xmlns:a="http://schemas.openxmlformats.org/drawingml/2006/main">
            <a:r>
              <a:t>Lab: labs/07_agents_sdk_evaluation.ipynb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Pause on the central statement, then connect the lower points as a single mental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11-evaluation-observability.pdf</a:t>
            </a:r>
          </a:p>
          <a:p xmlns:a="http://schemas.openxmlformats.org/drawingml/2006/main">
            <a:r>
              <a:t>- P3: Would this change your answer?. Anthropic/Fellows preprint, arXiv v1, 2026-08-17. https://arxiv.org/abs/2608.16747 CHIVE tests counterfactual prompt changes. Generated explanations remain hypotheses. Official post: August 21.</a:t>
            </a:r>
          </a:p>
          <a:p xmlns:a="http://schemas.openxmlformats.org/drawingml/2006/main">
            <a:r>
              <a:t>- R2: How enabling two settings tripled our scores on the ARC-AGI-3 benchmark. OpenAI research post, 2026-07-29. https://openai.com/index/how-two-settings-tripled-our-arc-agi-3-scores/ A specific harness experiment. Its result does not estimate the effect of context changes in Gemini.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Run the offline evaluation command, inspect its JSONL records, and test the failure path. For live inference, predeclare a model and budget before using the held-out split.</a:t>
            </a:r>
          </a:p>
          <a:p xmlns:a="http://schemas.openxmlformats.org/drawingml/2006/main">
            <a:r>
              <a:t>Acceptance: A fresh rerun produces a manifest and one record per attempted case. Interrupted or failed requests do not disappear from the denominator.</a:t>
            </a:r>
          </a:p>
          <a:p xmlns:a="http://schemas.openxmlformats.org/drawingml/2006/main">
            <a:r>
              <a:t>Lab: labs/07_agents_sdk_evaluation.ipynb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claim first, then use the numbered points as evidence and design consequences.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11-evaluation-observability.pdf</a:t>
            </a:r>
          </a:p>
          <a:p xmlns:a="http://schemas.openxmlformats.org/drawingml/2006/main">
            <a:r>
              <a:t>- P3: Would this change your answer?. Anthropic/Fellows preprint, arXiv v1, 2026-08-17. https://arxiv.org/abs/2608.16747 CHIVE tests counterfactual prompt changes. Generated explanations remain hypotheses. Official post: August 21.</a:t>
            </a:r>
          </a:p>
          <a:p xmlns:a="http://schemas.openxmlformats.org/drawingml/2006/main">
            <a:r>
              <a:t>- R2: How enabling two settings tripled our scores on the ARC-AGI-3 benchmark. OpenAI research post, 2026-07-29. https://openai.com/index/how-two-settings-tripled-our-arc-agi-3-scores/ A specific harness experiment. Its result does not estimate the effect of context changes in Gemini.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Run the offline evaluation command, inspect its JSONL records, and test the failure path. For live inference, predeclare a model and budget before using the held-out split.</a:t>
            </a:r>
          </a:p>
          <a:p xmlns:a="http://schemas.openxmlformats.org/drawingml/2006/main">
            <a:r>
              <a:t>Acceptance: A fresh rerun produces a manifest and one record per attempted case. Interrupted or failed requests do not disappear from the denominator.</a:t>
            </a:r>
          </a:p>
          <a:p xmlns:a="http://schemas.openxmlformats.org/drawingml/2006/main">
            <a:r>
              <a:t>Lab: labs/07_agents_sdk_evaluation.ipynb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Pause on the central statement, then connect the lower points as a single mental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11-evaluation-observability.pdf</a:t>
            </a:r>
          </a:p>
          <a:p xmlns:a="http://schemas.openxmlformats.org/drawingml/2006/main">
            <a:r>
              <a:t>- P3: Would this change your answer?. Anthropic/Fellows preprint, arXiv v1, 2026-08-17. https://arxiv.org/abs/2608.16747 CHIVE tests counterfactual prompt changes. Generated explanations remain hypotheses. Official post: August 21.</a:t>
            </a:r>
          </a:p>
          <a:p xmlns:a="http://schemas.openxmlformats.org/drawingml/2006/main">
            <a:r>
              <a:t>- R2: How enabling two settings tripled our scores on the ARC-AGI-3 benchmark. OpenAI research post, 2026-07-29. https://openai.com/index/how-two-settings-tripled-our-arc-agi-3-scores/ A specific harness experiment. Its result does not estimate the effect of context changes in Gemini.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Run the offline evaluation command, inspect its JSONL records, and test the failure path. For live inference, predeclare a model and budget before using the held-out split.</a:t>
            </a:r>
          </a:p>
          <a:p xmlns:a="http://schemas.openxmlformats.org/drawingml/2006/main">
            <a:r>
              <a:t>Acceptance: A fresh rerun produces a manifest and one record per attempted case. Interrupted or failed requests do not disappear from the denominator.</a:t>
            </a:r>
          </a:p>
          <a:p xmlns:a="http://schemas.openxmlformats.org/drawingml/2006/main">
            <a:r>
              <a:t>Lab: labs/07_agents_sdk_evaluation.ipynb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claim first, then use the numbered points as evidence and design consequences.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11-evaluation-observability.pdf</a:t>
            </a:r>
          </a:p>
          <a:p xmlns:a="http://schemas.openxmlformats.org/drawingml/2006/main">
            <a:r>
              <a:t>- P3: Would this change your answer?. Anthropic/Fellows preprint, arXiv v1, 2026-08-17. https://arxiv.org/abs/2608.16747 CHIVE tests counterfactual prompt changes. Generated explanations remain hypotheses. Official post: August 21.</a:t>
            </a:r>
          </a:p>
          <a:p xmlns:a="http://schemas.openxmlformats.org/drawingml/2006/main">
            <a:r>
              <a:t>- R2: How enabling two settings tripled our scores on the ARC-AGI-3 benchmark. OpenAI research post, 2026-07-29. https://openai.com/index/how-two-settings-tripled-our-arc-agi-3-scores/ A specific harness experiment. Its result does not estimate the effect of context changes in Gemini.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Run the offline evaluation command, inspect its JSONL records, and test the failure path. For live inference, predeclare a model and budget before using the held-out split.</a:t>
            </a:r>
          </a:p>
          <a:p xmlns:a="http://schemas.openxmlformats.org/drawingml/2006/main">
            <a:r>
              <a:t>Acceptance: A fresh rerun produces a manifest and one record per attempted case. Interrupted or failed requests do not disappear from the denominator.</a:t>
            </a:r>
          </a:p>
          <a:p xmlns:a="http://schemas.openxmlformats.org/drawingml/2006/main">
            <a:r>
              <a:t>Lab: labs/07_agents_sdk_evaluation.ipynb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as retrieval practice. Ask for an answer that defines, compares, traces, and evaluates.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11-evaluation-observability.pdf</a:t>
            </a:r>
          </a:p>
          <a:p xmlns:a="http://schemas.openxmlformats.org/drawingml/2006/main">
            <a:r>
              <a:t>- P3: Would this change your answer?. Anthropic/Fellows preprint, arXiv v1, 2026-08-17. https://arxiv.org/abs/2608.16747 CHIVE tests counterfactual prompt changes. Generated explanations remain hypotheses. Official post: August 21.</a:t>
            </a:r>
          </a:p>
          <a:p xmlns:a="http://schemas.openxmlformats.org/drawingml/2006/main">
            <a:r>
              <a:t>- R2: How enabling two settings tripled our scores on the ARC-AGI-3 benchmark. OpenAI research post, 2026-07-29. https://openai.com/index/how-two-settings-tripled-our-arc-agi-3-scores/ A specific harness experiment. Its result does not estimate the effect of context changes in Gemini.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Run the offline evaluation command, inspect its JSONL records, and test the failure path. For live inference, predeclare a model and budget before using the held-out split.</a:t>
            </a:r>
          </a:p>
          <a:p xmlns:a="http://schemas.openxmlformats.org/drawingml/2006/main">
            <a:r>
              <a:t>Acceptance: A fresh rerun produces a manifest and one record per attempted case. Interrupted or failed requests do not disappear from the denominator.</a:t>
            </a:r>
          </a:p>
          <a:p xmlns:a="http://schemas.openxmlformats.org/drawingml/2006/main">
            <a:r>
              <a:t>Lab: labs/07_agents_sdk_evaluation.ipynb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restating the four durable ideas and linking forward to the next chapter.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11-evaluation-observability.pdf</a:t>
            </a:r>
          </a:p>
          <a:p xmlns:a="http://schemas.openxmlformats.org/drawingml/2006/main">
            <a:r>
              <a:t>- P3: Would this change your answer?. Anthropic/Fellows preprint, arXiv v1, 2026-08-17. https://arxiv.org/abs/2608.16747 CHIVE tests counterfactual prompt changes. Generated explanations remain hypotheses. Official post: August 21.</a:t>
            </a:r>
          </a:p>
          <a:p xmlns:a="http://schemas.openxmlformats.org/drawingml/2006/main">
            <a:r>
              <a:t>- R2: How enabling two settings tripled our scores on the ARC-AGI-3 benchmark. OpenAI research post, 2026-07-29. https://openai.com/index/how-two-settings-tripled-our-arc-agi-3-scores/ A specific harness experiment. Its result does not estimate the effect of context changes in Gemini.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Run the offline evaluation command, inspect its JSONL records, and test the failure path. For live inference, predeclare a model and budget before using the held-out split.</a:t>
            </a:r>
          </a:p>
          <a:p xmlns:a="http://schemas.openxmlformats.org/drawingml/2006/main">
            <a:r>
              <a:t>Acceptance: A fresh rerun produces a manifest and one record per attempted case. Interrupted or failed requests do not disappear from the denominator.</a:t>
            </a:r>
          </a:p>
          <a:p xmlns:a="http://schemas.openxmlformats.org/drawingml/2006/main">
            <a:r>
              <a:t>Lab: labs/07_agents_sdk_evaluation.ipynb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Assess the submitted evidence with the stated acceptance check. Reading links and limitations follow.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11-evaluation-observability.pdf</a:t>
            </a:r>
          </a:p>
          <a:p xmlns:a="http://schemas.openxmlformats.org/drawingml/2006/main">
            <a:r>
              <a:t>- P3: Would this change your answer?. Anthropic/Fellows preprint, arXiv v1, 2026-08-17. https://arxiv.org/abs/2608.16747 CHIVE tests counterfactual prompt changes. Generated explanations remain hypotheses. Official post: August 21.</a:t>
            </a:r>
          </a:p>
          <a:p xmlns:a="http://schemas.openxmlformats.org/drawingml/2006/main">
            <a:r>
              <a:t>- R2: How enabling two settings tripled our scores on the ARC-AGI-3 benchmark. OpenAI research post, 2026-07-29. https://openai.com/index/how-two-settings-tripled-our-arc-agi-3-scores/ A specific harness experiment. Its result does not estimate the effect of context changes in Gemini.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Run the offline evaluation command, inspect its JSONL records, and test the failure path. For live inference, predeclare a model and budget before using the held-out split.</a:t>
            </a:r>
          </a:p>
          <a:p xmlns:a="http://schemas.openxmlformats.org/drawingml/2006/main">
            <a:r>
              <a:t>Acceptance: A fresh rerun produces a manifest and one record per attempted case. Interrupted or failed requests do not disappear from the denominator.</a:t>
            </a:r>
          </a:p>
          <a:p xmlns:a="http://schemas.openxmlformats.org/drawingml/2006/main">
            <a:r>
              <a:t>Lab: labs/07_agents_sdk_evaluation.ipynb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6f5249816346e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ec323945f2c4954" /><Relationship Type="http://schemas.openxmlformats.org/officeDocument/2006/relationships/slideLayout" Target="/ppt/slideLayouts/slideLayout1.xml" Id="Rb2e052c004684e1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2e052c004684e1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09c777abc0437c" /><Relationship Type="http://schemas.openxmlformats.org/officeDocument/2006/relationships/notesSlide" Target="/ppt/notesSlides/notesSlide1.xml" Id="R1eed82b716e5430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f1601283134bbb" /><Relationship Type="http://schemas.openxmlformats.org/officeDocument/2006/relationships/notesSlide" Target="/ppt/notesSlides/notesSlide2.xml" Id="R63470a2e91f34bb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643a08d0374049" /><Relationship Type="http://schemas.openxmlformats.org/officeDocument/2006/relationships/notesSlide" Target="/ppt/notesSlides/notesSlide3.xml" Id="Rc86b4c3630534e4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5cd69196b64d28" /><Relationship Type="http://schemas.openxmlformats.org/officeDocument/2006/relationships/notesSlide" Target="/ppt/notesSlides/notesSlide4.xml" Id="Ra047d561c9fe4ac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31f46e351f49a2" /><Relationship Type="http://schemas.openxmlformats.org/officeDocument/2006/relationships/notesSlide" Target="/ppt/notesSlides/notesSlide5.xml" Id="Rdf5031f50d3246c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7848f70d16430e" /><Relationship Type="http://schemas.openxmlformats.org/officeDocument/2006/relationships/notesSlide" Target="/ppt/notesSlides/notesSlide6.xml" Id="Re0ff936a2a0246b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9025f41f7646dd" /><Relationship Type="http://schemas.openxmlformats.org/officeDocument/2006/relationships/notesSlide" Target="/ppt/notesSlides/notesSlide7.xml" Id="Rc17e213be0554e2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f499174cf04475" /><Relationship Type="http://schemas.openxmlformats.org/officeDocument/2006/relationships/notesSlide" Target="/ppt/notesSlides/notesSlide8.xml" Id="R8b0a56ce09724dc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59a4218b314b17" /><Relationship Type="http://schemas.openxmlformats.org/officeDocument/2006/relationships/notesSlide" Target="/ppt/notesSlides/notesSlide9.xml" Id="R7493738473df4c1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f71e8f1f89431b" /><Relationship Type="http://schemas.openxmlformats.org/officeDocument/2006/relationships/notesSlide" Target="/ppt/notesSlides/notesSlide10.xml" Id="Raedf4d65fe2b46e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ee0f4d61b54956" /><Relationship Type="http://schemas.openxmlformats.org/officeDocument/2006/relationships/notesSlide" Target="/ppt/notesSlides/notesSlide11.xml" Id="R61974daac0d249c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3ff9883ed24e22" /><Relationship Type="http://schemas.openxmlformats.org/officeDocument/2006/relationships/notesSlide" Target="/ppt/notesSlides/notesSlide12.xml" Id="R0125107d71334b2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3D838D4D-D2AF-436B-9CA1-5A9BAA4B5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2" name="course-title">
            <a:extLst xmlns:a="http://schemas.openxmlformats.org/drawingml/2006/main">
              <a:ext uri="{FF2B5EF4-FFF2-40B4-BE49-F238E27FC236}">
                <a16:creationId xmlns:a16="http://schemas.microsoft.com/office/drawing/2014/main" id="{0CF7D7E9-E671-4022-ACF8-B1137091D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AGENTIC AI</a:t>
            </a:r>
          </a:p>
        </p:txBody>
      </p:sp>
      <p:sp>
        <p:nvSpPr>
          <p:cNvPr id="3" name="chapter-number">
            <a:extLst xmlns:a="http://schemas.openxmlformats.org/drawingml/2006/main">
              <a:ext uri="{FF2B5EF4-FFF2-40B4-BE49-F238E27FC236}">
                <a16:creationId xmlns:a16="http://schemas.microsoft.com/office/drawing/2014/main" id="{3F51D450-367D-4C73-83DB-248496C31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61950"/>
            <a:ext cx="1676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sp>
        <p:nvSpPr>
          <p:cNvPr id="4" name="deck-title">
            <a:extLst xmlns:a="http://schemas.openxmlformats.org/drawingml/2006/main">
              <a:ext uri="{FF2B5EF4-FFF2-40B4-BE49-F238E27FC236}">
                <a16:creationId xmlns:a16="http://schemas.microsoft.com/office/drawing/2014/main" id="{74D262AA-1949-47F6-AE95-BA523B51B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9858375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Evaluation and Observability</a:t>
            </a:r>
          </a:p>
        </p:txBody>
      </p:sp>
      <p:sp>
        <p:nvSpPr>
          <p:cNvPr id="5" name="deck-thesis">
            <a:extLst xmlns:a="http://schemas.openxmlformats.org/drawingml/2006/main">
              <a:ext uri="{FF2B5EF4-FFF2-40B4-BE49-F238E27FC236}">
                <a16:creationId xmlns:a16="http://schemas.microsoft.com/office/drawing/2014/main" id="{311FC417-471C-418C-98D7-6CF6B212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10100"/>
            <a:ext cx="852487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Agent quality requires systematic measurement of both final outcomes and the trajectories that produced them, supported by complete traces.</a:t>
            </a:r>
          </a:p>
        </p:txBody>
      </p:sp>
      <p:sp>
        <p:nvSpPr>
          <p:cNvPr id="6" name="title-marker">
            <a:extLst xmlns:a="http://schemas.openxmlformats.org/drawingml/2006/main">
              <a:ext uri="{FF2B5EF4-FFF2-40B4-BE49-F238E27FC236}">
                <a16:creationId xmlns:a16="http://schemas.microsoft.com/office/drawing/2014/main" id="{AA67A7D3-D125-4D04-86FA-2E8E914A3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610100"/>
            <a:ext cx="22669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7" name="title-marker-text">
            <a:extLst xmlns:a="http://schemas.openxmlformats.org/drawingml/2006/main">
              <a:ext uri="{FF2B5EF4-FFF2-40B4-BE49-F238E27FC236}">
                <a16:creationId xmlns:a16="http://schemas.microsoft.com/office/drawing/2014/main" id="{5EEC9F25-4B9C-4534-A0D7-4898CAEA3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762500"/>
            <a:ext cx="1809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STUDY</a:t>
            </a:r>
          </a:p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DECK</a:t>
            </a:r>
          </a:p>
        </p:txBody>
      </p:sp>
    </p:spTree>
    <p:extLst>
      <p:ext uri="{BB962C8B-B14F-4D97-AF65-F5344CB8AC3E}">
        <p14:creationId xmlns:p14="http://schemas.microsoft.com/office/powerpoint/2010/main" val="77565646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cent-line">
            <a:extLst xmlns:a="http://schemas.openxmlformats.org/drawingml/2006/main">
              <a:ext uri="{FF2B5EF4-FFF2-40B4-BE49-F238E27FC236}">
                <a16:creationId xmlns:a16="http://schemas.microsoft.com/office/drawing/2014/main" id="{F7470CF9-C9EB-4099-BE7D-8DE9C4A29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D116F542-7FEF-4FCD-93CF-F58E99FBF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LEARNING MAP  /  11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26A470BC-F31E-44F3-A28A-E41D07B5E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4C4043DA-9010-44BB-90D4-898D7C362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Evaluation and Observability</a:t>
            </a:r>
          </a:p>
        </p:txBody>
      </p:sp>
      <p:sp>
        <p:nvSpPr>
          <p:cNvPr id="5" name="objectives-title">
            <a:extLst xmlns:a="http://schemas.openxmlformats.org/drawingml/2006/main">
              <a:ext uri="{FF2B5EF4-FFF2-40B4-BE49-F238E27FC236}">
                <a16:creationId xmlns:a16="http://schemas.microsoft.com/office/drawing/2014/main" id="{AF39235B-5157-4AEF-A3A2-6E04E8C88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9060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By the end, you should be able to...</a:t>
            </a:r>
          </a:p>
        </p:txBody>
      </p:sp>
      <p:sp>
        <p:nvSpPr>
          <p:cNvPr id="6" name="objective-number-1">
            <a:extLst xmlns:a="http://schemas.openxmlformats.org/drawingml/2006/main">
              <a:ext uri="{FF2B5EF4-FFF2-40B4-BE49-F238E27FC236}">
                <a16:creationId xmlns:a16="http://schemas.microsoft.com/office/drawing/2014/main" id="{85807A9A-4942-4281-B3F9-79497C0F6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81250"/>
            <a:ext cx="200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7" name="objective-1">
            <a:extLst xmlns:a="http://schemas.openxmlformats.org/drawingml/2006/main">
              <a:ext uri="{FF2B5EF4-FFF2-40B4-BE49-F238E27FC236}">
                <a16:creationId xmlns:a16="http://schemas.microsoft.com/office/drawing/2014/main" id="{BADFDC96-D233-4050-BA31-10D9BFDC1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143250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Design outcome and trajectory metrics</a:t>
            </a:r>
          </a:p>
        </p:txBody>
      </p:sp>
      <p:sp>
        <p:nvSpPr>
          <p:cNvPr id="8" name="objective-number-2">
            <a:extLst xmlns:a="http://schemas.openxmlformats.org/drawingml/2006/main">
              <a:ext uri="{FF2B5EF4-FFF2-40B4-BE49-F238E27FC236}">
                <a16:creationId xmlns:a16="http://schemas.microsoft.com/office/drawing/2014/main" id="{F6160326-BD2B-4558-A76C-915F01A1A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381250"/>
            <a:ext cx="200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9" name="objective-2">
            <a:extLst xmlns:a="http://schemas.openxmlformats.org/drawingml/2006/main">
              <a:ext uri="{FF2B5EF4-FFF2-40B4-BE49-F238E27FC236}">
                <a16:creationId xmlns:a16="http://schemas.microsoft.com/office/drawing/2014/main" id="{43B49CC8-E684-4A32-B4D7-2668B3469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143250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Read benchmarks critically</a:t>
            </a:r>
          </a:p>
        </p:txBody>
      </p:sp>
      <p:sp>
        <p:nvSpPr>
          <p:cNvPr id="10" name="objective-number-3">
            <a:extLst xmlns:a="http://schemas.openxmlformats.org/drawingml/2006/main">
              <a:ext uri="{FF2B5EF4-FFF2-40B4-BE49-F238E27FC236}">
                <a16:creationId xmlns:a16="http://schemas.microsoft.com/office/drawing/2014/main" id="{4351A44B-941E-4D62-BFCF-3BDD99F8F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81250"/>
            <a:ext cx="200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1" name="objective-3">
            <a:extLst xmlns:a="http://schemas.openxmlformats.org/drawingml/2006/main">
              <a:ext uri="{FF2B5EF4-FFF2-40B4-BE49-F238E27FC236}">
                <a16:creationId xmlns:a16="http://schemas.microsoft.com/office/drawing/2014/main" id="{DA515FA3-4ECB-4EAF-9C5C-C1EE2C4B4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143250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Use LLM judges with safeguards</a:t>
            </a:r>
          </a:p>
        </p:txBody>
      </p:sp>
      <p:sp>
        <p:nvSpPr>
          <p:cNvPr id="12" name="objective-number-4">
            <a:extLst xmlns:a="http://schemas.openxmlformats.org/drawingml/2006/main">
              <a:ext uri="{FF2B5EF4-FFF2-40B4-BE49-F238E27FC236}">
                <a16:creationId xmlns:a16="http://schemas.microsoft.com/office/drawing/2014/main" id="{D7BB463D-CCA4-4D65-B8B9-133C27D54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81250"/>
            <a:ext cx="200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3" name="objective-4">
            <a:extLst xmlns:a="http://schemas.openxmlformats.org/drawingml/2006/main">
              <a:ext uri="{FF2B5EF4-FFF2-40B4-BE49-F238E27FC236}">
                <a16:creationId xmlns:a16="http://schemas.microsoft.com/office/drawing/2014/main" id="{BBC49702-E275-4F05-AA05-18C6D6F17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143250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Build offline, online, and CI evaluation</a:t>
            </a:r>
          </a:p>
        </p:txBody>
      </p:sp>
    </p:spTree>
    <p:extLst>
      <p:ext uri="{BB962C8B-B14F-4D97-AF65-F5344CB8AC3E}">
        <p14:creationId xmlns:p14="http://schemas.microsoft.com/office/powerpoint/2010/main" val="12593160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accent-line">
            <a:extLst xmlns:a="http://schemas.openxmlformats.org/drawingml/2006/main">
              <a:ext uri="{FF2B5EF4-FFF2-40B4-BE49-F238E27FC236}">
                <a16:creationId xmlns:a16="http://schemas.microsoft.com/office/drawing/2014/main" id="{43D4B94C-7340-4C1D-BB59-33DDC8E01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AAE731C0-2BD3-4E70-881A-D4396318D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01  /  11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32568B37-A64E-41A6-B44C-6A2E1092C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4294B419-9F0F-47F2-9248-CCB04AA32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Evaluation and Observability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41FDA183-D459-47E8-9308-25950D770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71550"/>
            <a:ext cx="11144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Agent evaluation is difficult for structural reasons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18FBF09B-91C9-4BC5-903A-E0F06F7FB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81250"/>
            <a:ext cx="4524375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Runs are non-deterministic, outputs are open-ended, tasks are multi-step, and correctness, cost, latency, and safety can conflict. Models, tools, and prompts also change, so anecdotal testing cannot distinguish progress from regression.</a:t>
            </a:r>
          </a:p>
        </p:txBody>
      </p:sp>
      <p:sp>
        <p:nvSpPr>
          <p:cNvPr id="7" name="column-rule">
            <a:extLst xmlns:a="http://schemas.openxmlformats.org/drawingml/2006/main">
              <a:ext uri="{FF2B5EF4-FFF2-40B4-BE49-F238E27FC236}">
                <a16:creationId xmlns:a16="http://schemas.microsoft.com/office/drawing/2014/main" id="{6CF14D02-5373-44FC-844E-65EDE52C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43150"/>
            <a:ext cx="47625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8" name="section-points">
            <a:extLst xmlns:a="http://schemas.openxmlformats.org/drawingml/2006/main">
              <a:ext uri="{FF2B5EF4-FFF2-40B4-BE49-F238E27FC236}">
                <a16:creationId xmlns:a16="http://schemas.microsoft.com/office/drawing/2014/main" id="{0FCDCB0C-ABDD-4E50-94EC-5F045BC5B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343150"/>
            <a:ext cx="5572125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01  Use repeated runs where variance matters.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02  Define several metrics rather than one headline score.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03  Version the complete system under evaluation.</a:t>
            </a:r>
          </a:p>
        </p:txBody>
      </p:sp>
    </p:spTree>
    <p:extLst>
      <p:ext uri="{BB962C8B-B14F-4D97-AF65-F5344CB8AC3E}">
        <p14:creationId xmlns:p14="http://schemas.microsoft.com/office/powerpoint/2010/main" val="177451522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cent-line">
            <a:extLst xmlns:a="http://schemas.openxmlformats.org/drawingml/2006/main">
              <a:ext uri="{FF2B5EF4-FFF2-40B4-BE49-F238E27FC236}">
                <a16:creationId xmlns:a16="http://schemas.microsoft.com/office/drawing/2014/main" id="{7B388CF1-F5BE-444C-B9BB-9F5348ACF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0632F2DC-8982-43DD-953C-11FB09D23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02  /  11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B305A114-D6F7-4757-BA75-2A2FB3454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EFFA4289-BF6B-44B9-8D5F-5094B57C2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Evaluation and Observability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21AD7ED6-D501-4693-BF33-B0AB7846C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00125"/>
            <a:ext cx="11144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Outcome and trajectory answer different questions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E1206C8B-F80D-496C-835E-C2C502BBB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43125"/>
            <a:ext cx="990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Outcome evaluation asks whether the final answer or task result is correct. Trajectory evaluation asks whether the agent used appropriate tools, safe actions, efficient steps, and acceptable time and cost.</a:t>
            </a:r>
          </a:p>
        </p:txBody>
      </p:sp>
      <p:sp>
        <p:nvSpPr>
          <p:cNvPr id="7" name="point-band-1">
            <a:extLst xmlns:a="http://schemas.openxmlformats.org/drawingml/2006/main">
              <a:ext uri="{FF2B5EF4-FFF2-40B4-BE49-F238E27FC236}">
                <a16:creationId xmlns:a16="http://schemas.microsoft.com/office/drawing/2014/main" id="{780D495D-766E-42CE-9009-4C9686B68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8" name="point-1">
            <a:extLst xmlns:a="http://schemas.openxmlformats.org/drawingml/2006/main">
              <a:ext uri="{FF2B5EF4-FFF2-40B4-BE49-F238E27FC236}">
                <a16:creationId xmlns:a16="http://schemas.microsoft.com/office/drawing/2014/main" id="{E7DCB404-B959-4082-A1B1-D4104CB3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Exact match suits unambiguous answers.</a:t>
            </a:r>
          </a:p>
        </p:txBody>
      </p:sp>
      <p:sp>
        <p:nvSpPr>
          <p:cNvPr id="9" name="point-band-2">
            <a:extLst xmlns:a="http://schemas.openxmlformats.org/drawingml/2006/main">
              <a:ext uri="{FF2B5EF4-FFF2-40B4-BE49-F238E27FC236}">
                <a16:creationId xmlns:a16="http://schemas.microsoft.com/office/drawing/2014/main" id="{4B333644-D535-4758-93D4-D8E59B05A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063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10" name="point-2">
            <a:extLst xmlns:a="http://schemas.openxmlformats.org/drawingml/2006/main">
              <a:ext uri="{FF2B5EF4-FFF2-40B4-BE49-F238E27FC236}">
                <a16:creationId xmlns:a16="http://schemas.microsoft.com/office/drawing/2014/main" id="{98ED3113-3BD9-490A-8B1F-53ABBE7BD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063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Execution tests suit code and queries.</a:t>
            </a:r>
          </a:p>
        </p:txBody>
      </p:sp>
      <p:sp>
        <p:nvSpPr>
          <p:cNvPr id="11" name="point-band-3">
            <a:extLst xmlns:a="http://schemas.openxmlformats.org/drawingml/2006/main">
              <a:ext uri="{FF2B5EF4-FFF2-40B4-BE49-F238E27FC236}">
                <a16:creationId xmlns:a16="http://schemas.microsoft.com/office/drawing/2014/main" id="{79CAE361-B6FB-4678-A798-0A715909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12" name="point-3">
            <a:extLst xmlns:a="http://schemas.openxmlformats.org/drawingml/2006/main">
              <a:ext uri="{FF2B5EF4-FFF2-40B4-BE49-F238E27FC236}">
                <a16:creationId xmlns:a16="http://schemas.microsoft.com/office/drawing/2014/main" id="{4907AB8A-C7AC-46B5-B9AB-73ACEF0A8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Trajectory metrics localize the failing step.</a:t>
            </a:r>
          </a:p>
        </p:txBody>
      </p:sp>
      <p:sp>
        <p:nvSpPr>
          <p:cNvPr id="13" name="point-band-4">
            <a:extLst xmlns:a="http://schemas.openxmlformats.org/drawingml/2006/main">
              <a:ext uri="{FF2B5EF4-FFF2-40B4-BE49-F238E27FC236}">
                <a16:creationId xmlns:a16="http://schemas.microsoft.com/office/drawing/2014/main" id="{00CC6A4D-8185-4B63-81C3-3498645BD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14" name="point-4">
            <a:extLst xmlns:a="http://schemas.openxmlformats.org/drawingml/2006/main">
              <a:ext uri="{FF2B5EF4-FFF2-40B4-BE49-F238E27FC236}">
                <a16:creationId xmlns:a16="http://schemas.microsoft.com/office/drawing/2014/main" id="{86971087-5550-48B8-944A-A4568550E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Safety and policy adherence belong in trajectory evaluation.</a:t>
            </a:r>
          </a:p>
        </p:txBody>
      </p:sp>
    </p:spTree>
    <p:extLst>
      <p:ext uri="{BB962C8B-B14F-4D97-AF65-F5344CB8AC3E}">
        <p14:creationId xmlns:p14="http://schemas.microsoft.com/office/powerpoint/2010/main" val="114104980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accent-line">
            <a:extLst xmlns:a="http://schemas.openxmlformats.org/drawingml/2006/main">
              <a:ext uri="{FF2B5EF4-FFF2-40B4-BE49-F238E27FC236}">
                <a16:creationId xmlns:a16="http://schemas.microsoft.com/office/drawing/2014/main" id="{5EAB2EAB-8F71-457F-9C90-9FCA7824D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9055C6A7-6AF2-4864-85E4-9412FA196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03  /  11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607AC61-42E6-4FA7-9B68-2653F2674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F11BBDED-5C67-4901-939A-DB18BE50A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Evaluation and Observability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4B0F180D-0FC7-49EC-ADD1-4C3565510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71550"/>
            <a:ext cx="11144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Objective scorers are preferable where available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DADFBB17-0C92-44D5-9C2D-6F75CF122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81250"/>
            <a:ext cx="4524375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Execution-based and exact scoring are easier to reproduce than reference similarity or an LLM judge. For RAG, retrieval and generation need separate metrics; for memory and multi-agent systems, evaluate recall, handoffs, agent-specific errors, and total cost.</a:t>
            </a:r>
          </a:p>
        </p:txBody>
      </p:sp>
      <p:sp>
        <p:nvSpPr>
          <p:cNvPr id="7" name="column-rule">
            <a:extLst xmlns:a="http://schemas.openxmlformats.org/drawingml/2006/main">
              <a:ext uri="{FF2B5EF4-FFF2-40B4-BE49-F238E27FC236}">
                <a16:creationId xmlns:a16="http://schemas.microsoft.com/office/drawing/2014/main" id="{898C4DBE-5DFE-4E29-9537-D29C4609D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43150"/>
            <a:ext cx="47625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8" name="section-points">
            <a:extLst xmlns:a="http://schemas.openxmlformats.org/drawingml/2006/main">
              <a:ext uri="{FF2B5EF4-FFF2-40B4-BE49-F238E27FC236}">
                <a16:creationId xmlns:a16="http://schemas.microsoft.com/office/drawing/2014/main" id="{0713CF09-9F7D-403E-A731-15658EEC6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343150"/>
            <a:ext cx="5572125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01  RAG: retrieval recall/precision/MRR plus faithfulness and relevance.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02  Memory: right item, right time, correct use, appropriate forgetting.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03  Multi-agent: handoff quality, ownership, synthesis, and call budget.</a:t>
            </a:r>
          </a:p>
        </p:txBody>
      </p:sp>
    </p:spTree>
    <p:extLst>
      <p:ext uri="{BB962C8B-B14F-4D97-AF65-F5344CB8AC3E}">
        <p14:creationId xmlns:p14="http://schemas.microsoft.com/office/powerpoint/2010/main" val="17511049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cent-line">
            <a:extLst xmlns:a="http://schemas.openxmlformats.org/drawingml/2006/main">
              <a:ext uri="{FF2B5EF4-FFF2-40B4-BE49-F238E27FC236}">
                <a16:creationId xmlns:a16="http://schemas.microsoft.com/office/drawing/2014/main" id="{1B33C1DE-1308-4514-88B5-EBF2EEB8A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C0E321AD-288E-4D3E-A9D2-C3EED4A35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04  /  11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5F63F50C-FC33-4AE1-A276-209144E3E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6BF76D45-CBED-45AD-A0A2-70E5FF771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Evaluation and Observability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8A63B7A6-3257-47CB-8272-998E3A8EA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00125"/>
            <a:ext cx="11144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Benchmarks measure systems, not just base models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8EB7E25F-6792-4867-83E5-9C5BB6BDB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43125"/>
            <a:ext cx="990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GAIA tests multi-step assistant behavior, SWE-bench Verified tests repository issue resolution through execution, and tool-dialogue benchmarks test policy adherence. Scores depend on the model, prompt, tools, interface, scaffold, and evaluation harness.</a:t>
            </a:r>
          </a:p>
        </p:txBody>
      </p:sp>
      <p:sp>
        <p:nvSpPr>
          <p:cNvPr id="7" name="point-band-1">
            <a:extLst xmlns:a="http://schemas.openxmlformats.org/drawingml/2006/main">
              <a:ext uri="{FF2B5EF4-FFF2-40B4-BE49-F238E27FC236}">
                <a16:creationId xmlns:a16="http://schemas.microsoft.com/office/drawing/2014/main" id="{76D220FB-89D7-463B-AC4E-3135D823A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8" name="point-1">
            <a:extLst xmlns:a="http://schemas.openxmlformats.org/drawingml/2006/main">
              <a:ext uri="{FF2B5EF4-FFF2-40B4-BE49-F238E27FC236}">
                <a16:creationId xmlns:a16="http://schemas.microsoft.com/office/drawing/2014/main" id="{8F41FA5B-A50A-4CC5-A93F-81FC948AA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Watch for training-data contamination.</a:t>
            </a:r>
          </a:p>
        </p:txBody>
      </p:sp>
      <p:sp>
        <p:nvSpPr>
          <p:cNvPr id="9" name="point-band-2">
            <a:extLst xmlns:a="http://schemas.openxmlformats.org/drawingml/2006/main">
              <a:ext uri="{FF2B5EF4-FFF2-40B4-BE49-F238E27FC236}">
                <a16:creationId xmlns:a16="http://schemas.microsoft.com/office/drawing/2014/main" id="{332A93C3-6B17-4E42-97B4-561C40C04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063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10" name="point-2">
            <a:extLst xmlns:a="http://schemas.openxmlformats.org/drawingml/2006/main">
              <a:ext uri="{FF2B5EF4-FFF2-40B4-BE49-F238E27FC236}">
                <a16:creationId xmlns:a16="http://schemas.microsoft.com/office/drawing/2014/main" id="{E5C3AFB4-9B4E-4332-B77E-3E485633E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063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Weak tests may accept incorrect solutions.</a:t>
            </a:r>
          </a:p>
        </p:txBody>
      </p:sp>
      <p:sp>
        <p:nvSpPr>
          <p:cNvPr id="11" name="point-band-3">
            <a:extLst xmlns:a="http://schemas.openxmlformats.org/drawingml/2006/main">
              <a:ext uri="{FF2B5EF4-FFF2-40B4-BE49-F238E27FC236}">
                <a16:creationId xmlns:a16="http://schemas.microsoft.com/office/drawing/2014/main" id="{343E9F92-5E11-401F-945F-04365F6F2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12" name="point-3">
            <a:extLst xmlns:a="http://schemas.openxmlformats.org/drawingml/2006/main">
              <a:ext uri="{FF2B5EF4-FFF2-40B4-BE49-F238E27FC236}">
                <a16:creationId xmlns:a16="http://schemas.microsoft.com/office/drawing/2014/main" id="{9B2137AA-1AC9-4F2D-86A5-E320B53CF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Benchmark tasks may not match production distribution.</a:t>
            </a:r>
          </a:p>
        </p:txBody>
      </p:sp>
      <p:sp>
        <p:nvSpPr>
          <p:cNvPr id="13" name="point-band-4">
            <a:extLst xmlns:a="http://schemas.openxmlformats.org/drawingml/2006/main">
              <a:ext uri="{FF2B5EF4-FFF2-40B4-BE49-F238E27FC236}">
                <a16:creationId xmlns:a16="http://schemas.microsoft.com/office/drawing/2014/main" id="{CB8F9561-8615-4916-A5B9-BDCEAA656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14" name="point-4">
            <a:extLst xmlns:a="http://schemas.openxmlformats.org/drawingml/2006/main">
              <a:ext uri="{FF2B5EF4-FFF2-40B4-BE49-F238E27FC236}">
                <a16:creationId xmlns:a16="http://schemas.microsoft.com/office/drawing/2014/main" id="{265E503C-BBDC-4164-9E2B-B89D81AE4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Ask whose system produced the number.</a:t>
            </a:r>
          </a:p>
        </p:txBody>
      </p:sp>
    </p:spTree>
    <p:extLst>
      <p:ext uri="{BB962C8B-B14F-4D97-AF65-F5344CB8AC3E}">
        <p14:creationId xmlns:p14="http://schemas.microsoft.com/office/powerpoint/2010/main" val="62725736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accent-line">
            <a:extLst xmlns:a="http://schemas.openxmlformats.org/drawingml/2006/main">
              <a:ext uri="{FF2B5EF4-FFF2-40B4-BE49-F238E27FC236}">
                <a16:creationId xmlns:a16="http://schemas.microsoft.com/office/drawing/2014/main" id="{5CF56166-FF5D-4533-BABF-E4D8115FF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B61D0F71-C1FB-48C6-92AE-FEC5BEB4F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05  /  11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CE41478E-31E3-4EE3-9721-38EAE43C9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93B9CD1E-7569-4580-A232-54CA8577C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Evaluation and Observability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B180A9EB-B54E-47F1-9ABF-7F399FCFD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71550"/>
            <a:ext cx="11144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LLM-as-judge is flexible but biased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12131065-3892-4BBA-9439-A8373A88C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81250"/>
            <a:ext cx="4524375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A judge model can score open-ended work at scale, but may favor position, verbosity, style, or its own outputs. Explicit rubrics, pairwise comparisons, swapped order, calibration against humans, and multiple judges reduce these risks.</a:t>
            </a:r>
          </a:p>
        </p:txBody>
      </p:sp>
      <p:sp>
        <p:nvSpPr>
          <p:cNvPr id="7" name="column-rule">
            <a:extLst xmlns:a="http://schemas.openxmlformats.org/drawingml/2006/main">
              <a:ext uri="{FF2B5EF4-FFF2-40B4-BE49-F238E27FC236}">
                <a16:creationId xmlns:a16="http://schemas.microsoft.com/office/drawing/2014/main" id="{AD582F9D-E674-4CDA-A29B-2BFE6595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43150"/>
            <a:ext cx="47625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8" name="section-points">
            <a:extLst xmlns:a="http://schemas.openxmlformats.org/drawingml/2006/main">
              <a:ext uri="{FF2B5EF4-FFF2-40B4-BE49-F238E27FC236}">
                <a16:creationId xmlns:a16="http://schemas.microsoft.com/office/drawing/2014/main" id="{7ED2A519-D344-4A2A-B98B-316B13F73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343150"/>
            <a:ext cx="5572125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01  Prefer checkable criteria over a vague quality score.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02  Blind the judge to irrelevant identity information.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03  Audit disagreements and drift.</a:t>
            </a:r>
          </a:p>
        </p:txBody>
      </p:sp>
    </p:spTree>
    <p:extLst>
      <p:ext uri="{BB962C8B-B14F-4D97-AF65-F5344CB8AC3E}">
        <p14:creationId xmlns:p14="http://schemas.microsoft.com/office/powerpoint/2010/main" val="171054139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cent-line">
            <a:extLst xmlns:a="http://schemas.openxmlformats.org/drawingml/2006/main">
              <a:ext uri="{FF2B5EF4-FFF2-40B4-BE49-F238E27FC236}">
                <a16:creationId xmlns:a16="http://schemas.microsoft.com/office/drawing/2014/main" id="{7B60FA47-A2D7-4F09-BD73-1B25E2389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5C8D44E8-2172-43E4-94FE-C0A0D2C8E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06  /  11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4A7F3811-2D55-4597-8200-7A159536F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009202D2-C13B-4E9F-8ED4-5805C441A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Evaluation and Observability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89053D53-690D-4C81-A522-CBC29984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00125"/>
            <a:ext cx="11144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Tracing turns evaluation into engineering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3B5988D4-D899-42FD-936F-4FECCF21B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43125"/>
            <a:ext cx="990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run trace is a tree of spans for model calls, tools, retrieval, and agents. Each span records inputs, outputs, timing, tokens, cost, errors, and relevant metadata. Offline eval protects releases; online eval monitors live behavior; CI gates block regressions.</a:t>
            </a:r>
          </a:p>
        </p:txBody>
      </p:sp>
      <p:sp>
        <p:nvSpPr>
          <p:cNvPr id="7" name="point-band-1">
            <a:extLst xmlns:a="http://schemas.openxmlformats.org/drawingml/2006/main">
              <a:ext uri="{FF2B5EF4-FFF2-40B4-BE49-F238E27FC236}">
                <a16:creationId xmlns:a16="http://schemas.microsoft.com/office/drawing/2014/main" id="{B9D38E36-88DF-4737-BA8C-59F2F9D07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8" name="point-1">
            <a:extLst xmlns:a="http://schemas.openxmlformats.org/drawingml/2006/main">
              <a:ext uri="{FF2B5EF4-FFF2-40B4-BE49-F238E27FC236}">
                <a16:creationId xmlns:a16="http://schemas.microsoft.com/office/drawing/2014/main" id="{74576A42-2382-4C3E-877A-2CFEA284D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Build representative tasks with expected outcomes.</a:t>
            </a:r>
          </a:p>
        </p:txBody>
      </p:sp>
      <p:sp>
        <p:nvSpPr>
          <p:cNvPr id="9" name="point-band-2">
            <a:extLst xmlns:a="http://schemas.openxmlformats.org/drawingml/2006/main">
              <a:ext uri="{FF2B5EF4-FFF2-40B4-BE49-F238E27FC236}">
                <a16:creationId xmlns:a16="http://schemas.microsoft.com/office/drawing/2014/main" id="{6096C719-930F-42C0-A328-2E53CBA97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063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10" name="point-2">
            <a:extLst xmlns:a="http://schemas.openxmlformats.org/drawingml/2006/main">
              <a:ext uri="{FF2B5EF4-FFF2-40B4-BE49-F238E27FC236}">
                <a16:creationId xmlns:a16="http://schemas.microsoft.com/office/drawing/2014/main" id="{AA42C408-DA12-4F57-80F3-D3716A3A0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063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Include hard, edge, adversarial, and safety cases.</a:t>
            </a:r>
          </a:p>
        </p:txBody>
      </p:sp>
      <p:sp>
        <p:nvSpPr>
          <p:cNvPr id="11" name="point-band-3">
            <a:extLst xmlns:a="http://schemas.openxmlformats.org/drawingml/2006/main">
              <a:ext uri="{FF2B5EF4-FFF2-40B4-BE49-F238E27FC236}">
                <a16:creationId xmlns:a16="http://schemas.microsoft.com/office/drawing/2014/main" id="{ACDFA9BB-FF7F-4538-8E42-D457F82DB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12" name="point-3">
            <a:extLst xmlns:a="http://schemas.openxmlformats.org/drawingml/2006/main">
              <a:ext uri="{FF2B5EF4-FFF2-40B4-BE49-F238E27FC236}">
                <a16:creationId xmlns:a16="http://schemas.microsoft.com/office/drawing/2014/main" id="{FE5C34AC-CCB7-4390-BA7E-2C6C2D3B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Run the same set on prompt, model, tool, or dependency changes.</a:t>
            </a:r>
          </a:p>
        </p:txBody>
      </p:sp>
      <p:sp>
        <p:nvSpPr>
          <p:cNvPr id="13" name="point-band-4">
            <a:extLst xmlns:a="http://schemas.openxmlformats.org/drawingml/2006/main">
              <a:ext uri="{FF2B5EF4-FFF2-40B4-BE49-F238E27FC236}">
                <a16:creationId xmlns:a16="http://schemas.microsoft.com/office/drawing/2014/main" id="{2BBE974C-9DD5-43B8-877E-7AA4C6874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14" name="point-4">
            <a:extLst xmlns:a="http://schemas.openxmlformats.org/drawingml/2006/main">
              <a:ext uri="{FF2B5EF4-FFF2-40B4-BE49-F238E27FC236}">
                <a16:creationId xmlns:a16="http://schemas.microsoft.com/office/drawing/2014/main" id="{6A54332E-ED53-4F7C-885E-C43A8A4AB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Alert on quality, latency, cost, and safety drift.</a:t>
            </a:r>
          </a:p>
        </p:txBody>
      </p:sp>
    </p:spTree>
    <p:extLst>
      <p:ext uri="{BB962C8B-B14F-4D97-AF65-F5344CB8AC3E}">
        <p14:creationId xmlns:p14="http://schemas.microsoft.com/office/powerpoint/2010/main" val="156757714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accent-line">
            <a:extLst xmlns:a="http://schemas.openxmlformats.org/drawingml/2006/main">
              <a:ext uri="{FF2B5EF4-FFF2-40B4-BE49-F238E27FC236}">
                <a16:creationId xmlns:a16="http://schemas.microsoft.com/office/drawing/2014/main" id="{5274279A-B71F-44D2-95DA-D65D5F837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662D1F89-FD63-48BE-831C-1F00141B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07  /  11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FF88EE5E-1F2C-4CDB-A66F-7F7F9D92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71145BE2-31D8-4582-AB27-6B00E3BB6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Evaluation and Observability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EDCA3A32-FB97-4936-B193-60AA3E51F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71550"/>
            <a:ext cx="11144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run manifest makes comparisons reviewable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00337414-3FD6-4C73-A9C5-34C4DA520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81250"/>
            <a:ext cx="4524375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Record the complete setup and every attempted run. A completed answer can be wrong, and an infrastructure failure is a different outcome. Fixed cases and explicit denominators make a comparison inspectable.</a:t>
            </a:r>
          </a:p>
        </p:txBody>
      </p:sp>
      <p:sp>
        <p:nvSpPr>
          <p:cNvPr id="7" name="column-rule">
            <a:extLst xmlns:a="http://schemas.openxmlformats.org/drawingml/2006/main">
              <a:ext uri="{FF2B5EF4-FFF2-40B4-BE49-F238E27FC236}">
                <a16:creationId xmlns:a16="http://schemas.microsoft.com/office/drawing/2014/main" id="{0CE56DD6-2E4E-4DC6-B074-F4355B2DA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43150"/>
            <a:ext cx="47625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8" name="section-points">
            <a:extLst xmlns:a="http://schemas.openxmlformats.org/drawingml/2006/main">
              <a:ext uri="{FF2B5EF4-FFF2-40B4-BE49-F238E27FC236}">
                <a16:creationId xmlns:a16="http://schemas.microsoft.com/office/drawing/2014/main" id="{75378CEE-AF25-43A3-A649-A52743043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343150"/>
            <a:ext cx="5572125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01  Store model ID, prompt hash, and dependency versions.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02  Record attempted and completed runs separately.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03  Keep outcome scoring separate from resource use.</a:t>
            </a:r>
          </a:p>
        </p:txBody>
      </p:sp>
    </p:spTree>
    <p:extLst>
      <p:ext uri="{BB962C8B-B14F-4D97-AF65-F5344CB8AC3E}">
        <p14:creationId xmlns:p14="http://schemas.microsoft.com/office/powerpoint/2010/main" val="118417305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cent-line">
            <a:extLst xmlns:a="http://schemas.openxmlformats.org/drawingml/2006/main">
              <a:ext uri="{FF2B5EF4-FFF2-40B4-BE49-F238E27FC236}">
                <a16:creationId xmlns:a16="http://schemas.microsoft.com/office/drawing/2014/main" id="{439E0233-68DA-4916-B697-E873AACCF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4EDFFA63-856F-498F-97EA-A97B7B4B9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EXAM CHECK  /  11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3EE6159A-4978-4A3E-88DC-5D5CFEEFB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B041290A-B12B-4354-B2C0-30015250A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Evaluation and Observability</a:t>
            </a:r>
          </a:p>
        </p:txBody>
      </p:sp>
      <p:sp>
        <p:nvSpPr>
          <p:cNvPr id="5" name="exam-title">
            <a:extLst xmlns:a="http://schemas.openxmlformats.org/drawingml/2006/main">
              <a:ext uri="{FF2B5EF4-FFF2-40B4-BE49-F238E27FC236}">
                <a16:creationId xmlns:a16="http://schemas.microsoft.com/office/drawing/2014/main" id="{1CD7881E-2511-408B-B5CC-6BD49778F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81075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 you answer these without notes?</a:t>
            </a:r>
          </a:p>
        </p:txBody>
      </p:sp>
      <p:sp>
        <p:nvSpPr>
          <p:cNvPr id="6" name="exam-number-1">
            <a:extLst xmlns:a="http://schemas.openxmlformats.org/drawingml/2006/main">
              <a:ext uri="{FF2B5EF4-FFF2-40B4-BE49-F238E27FC236}">
                <a16:creationId xmlns:a16="http://schemas.microsoft.com/office/drawing/2014/main" id="{DE00FB34-E30A-4060-B881-2842D19B8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238375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7" name="exam-question-1">
            <a:extLst xmlns:a="http://schemas.openxmlformats.org/drawingml/2006/main">
              <a:ext uri="{FF2B5EF4-FFF2-40B4-BE49-F238E27FC236}">
                <a16:creationId xmlns:a16="http://schemas.microsoft.com/office/drawing/2014/main" id="{D96C8362-B9A6-42D2-BD04-A52CD15CA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23837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Why is agent evaluation harder than single-answer evaluation?</a:t>
            </a:r>
          </a:p>
        </p:txBody>
      </p:sp>
      <p:sp>
        <p:nvSpPr>
          <p:cNvPr id="8" name="exam-number-2">
            <a:extLst xmlns:a="http://schemas.openxmlformats.org/drawingml/2006/main">
              <a:ext uri="{FF2B5EF4-FFF2-40B4-BE49-F238E27FC236}">
                <a16:creationId xmlns:a16="http://schemas.microsoft.com/office/drawing/2014/main" id="{36CC090A-3911-4553-907D-A5EB2BC30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38375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9" name="exam-question-2">
            <a:extLst xmlns:a="http://schemas.openxmlformats.org/drawingml/2006/main">
              <a:ext uri="{FF2B5EF4-FFF2-40B4-BE49-F238E27FC236}">
                <a16:creationId xmlns:a16="http://schemas.microsoft.com/office/drawing/2014/main" id="{70200F34-C3C5-4F34-8458-4EA6B9B08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23837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Give four outcome metrics and four trajectory metrics.</a:t>
            </a:r>
          </a:p>
        </p:txBody>
      </p:sp>
      <p:sp>
        <p:nvSpPr>
          <p:cNvPr id="10" name="exam-number-3">
            <a:extLst xmlns:a="http://schemas.openxmlformats.org/drawingml/2006/main">
              <a:ext uri="{FF2B5EF4-FFF2-40B4-BE49-F238E27FC236}">
                <a16:creationId xmlns:a16="http://schemas.microsoft.com/office/drawing/2014/main" id="{95D18E55-C37B-4922-B4DF-9F76C385D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95675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1" name="exam-question-3">
            <a:extLst xmlns:a="http://schemas.openxmlformats.org/drawingml/2006/main">
              <a:ext uri="{FF2B5EF4-FFF2-40B4-BE49-F238E27FC236}">
                <a16:creationId xmlns:a16="http://schemas.microsoft.com/office/drawing/2014/main" id="{CD1AC438-5B52-413D-B194-4F9EEDA2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49567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What makes execution-based evaluation strong?</a:t>
            </a:r>
          </a:p>
        </p:txBody>
      </p:sp>
      <p:sp>
        <p:nvSpPr>
          <p:cNvPr id="12" name="exam-number-4">
            <a:extLst xmlns:a="http://schemas.openxmlformats.org/drawingml/2006/main">
              <a:ext uri="{FF2B5EF4-FFF2-40B4-BE49-F238E27FC236}">
                <a16:creationId xmlns:a16="http://schemas.microsoft.com/office/drawing/2014/main" id="{5CC62E09-0EF9-42C8-B32C-9AC0E36DE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95675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3" name="exam-question-4">
            <a:extLst xmlns:a="http://schemas.openxmlformats.org/drawingml/2006/main">
              <a:ext uri="{FF2B5EF4-FFF2-40B4-BE49-F238E27FC236}">
                <a16:creationId xmlns:a16="http://schemas.microsoft.com/office/drawing/2014/main" id="{F9CBBEA3-DB7D-4A2A-8433-94C87A0CC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49567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How can benchmark contamination and weak tests mislead?</a:t>
            </a:r>
          </a:p>
        </p:txBody>
      </p:sp>
      <p:sp>
        <p:nvSpPr>
          <p:cNvPr id="14" name="exam-number-5">
            <a:extLst xmlns:a="http://schemas.openxmlformats.org/drawingml/2006/main">
              <a:ext uri="{FF2B5EF4-FFF2-40B4-BE49-F238E27FC236}">
                <a16:creationId xmlns:a16="http://schemas.microsoft.com/office/drawing/2014/main" id="{3FAFF344-8CBB-4FA5-B574-5B9EA424D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752975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15" name="exam-question-5">
            <a:extLst xmlns:a="http://schemas.openxmlformats.org/drawingml/2006/main">
              <a:ext uri="{FF2B5EF4-FFF2-40B4-BE49-F238E27FC236}">
                <a16:creationId xmlns:a16="http://schemas.microsoft.com/office/drawing/2014/main" id="{CCA20C4B-F709-43B8-BD6E-ADFBFEEE8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75297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What biases affect LLM-as-judge?</a:t>
            </a:r>
          </a:p>
        </p:txBody>
      </p:sp>
      <p:sp>
        <p:nvSpPr>
          <p:cNvPr id="16" name="exam-number-6">
            <a:extLst xmlns:a="http://schemas.openxmlformats.org/drawingml/2006/main">
              <a:ext uri="{FF2B5EF4-FFF2-40B4-BE49-F238E27FC236}">
                <a16:creationId xmlns:a16="http://schemas.microsoft.com/office/drawing/2014/main" id="{5CCFA098-7914-4F7A-88B0-261F78413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52975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17" name="exam-question-6">
            <a:extLst xmlns:a="http://schemas.openxmlformats.org/drawingml/2006/main">
              <a:ext uri="{FF2B5EF4-FFF2-40B4-BE49-F238E27FC236}">
                <a16:creationId xmlns:a16="http://schemas.microsoft.com/office/drawing/2014/main" id="{EAD304BC-CE7E-47B2-A2D0-899AA6679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75297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How should an evaluation distinguish a wrong answer from an API failure?</a:t>
            </a:r>
          </a:p>
        </p:txBody>
      </p:sp>
    </p:spTree>
    <p:extLst>
      <p:ext uri="{BB962C8B-B14F-4D97-AF65-F5344CB8AC3E}">
        <p14:creationId xmlns:p14="http://schemas.microsoft.com/office/powerpoint/2010/main" val="78360535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cent-line">
            <a:extLst xmlns:a="http://schemas.openxmlformats.org/drawingml/2006/main">
              <a:ext uri="{FF2B5EF4-FFF2-40B4-BE49-F238E27FC236}">
                <a16:creationId xmlns:a16="http://schemas.microsoft.com/office/drawing/2014/main" id="{02968E6B-8D21-4504-A36F-68D9FE88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BFF52A64-B8D8-401F-A7A0-36DFCE251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CHAPTER SYNTHESIS  /  11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B6B3A9E-8D13-4024-B4FD-278A9068C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AE9BB9B4-B85A-4FCD-97C9-A38D08D15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Evaluation and Observability</a:t>
            </a:r>
          </a:p>
        </p:txBody>
      </p:sp>
      <p:sp>
        <p:nvSpPr>
          <p:cNvPr id="5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AEF9FEDE-2C9B-4CD6-8FC0-5359309F6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47750"/>
            <a:ext cx="10287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What must remain after the details fade</a:t>
            </a:r>
          </a:p>
        </p:txBody>
      </p:sp>
      <p:sp>
        <p:nvSpPr>
          <p:cNvPr id="6" name="takeaway-number-1">
            <a:extLst xmlns:a="http://schemas.openxmlformats.org/drawingml/2006/main">
              <a:ext uri="{FF2B5EF4-FFF2-40B4-BE49-F238E27FC236}">
                <a16:creationId xmlns:a16="http://schemas.microsoft.com/office/drawing/2014/main" id="{043DED88-A605-4BBD-BA5C-D1C27831B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33625"/>
            <a:ext cx="704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7" name="takeaway-1">
            <a:extLst xmlns:a="http://schemas.openxmlformats.org/drawingml/2006/main">
              <a:ext uri="{FF2B5EF4-FFF2-40B4-BE49-F238E27FC236}">
                <a16:creationId xmlns:a16="http://schemas.microsoft.com/office/drawing/2014/main" id="{46ADB194-5362-42D6-9511-FD1150D53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314575"/>
            <a:ext cx="952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Evaluation is continuous system steering, not a final phase.</a:t>
            </a:r>
          </a:p>
        </p:txBody>
      </p:sp>
      <p:sp>
        <p:nvSpPr>
          <p:cNvPr id="8" name="takeaway-number-2">
            <a:extLst xmlns:a="http://schemas.openxmlformats.org/drawingml/2006/main">
              <a:ext uri="{FF2B5EF4-FFF2-40B4-BE49-F238E27FC236}">
                <a16:creationId xmlns:a16="http://schemas.microsoft.com/office/drawing/2014/main" id="{26E632CB-C8FA-46D0-8F41-8FBA35FDB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9925"/>
            <a:ext cx="704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9" name="takeaway-2">
            <a:extLst xmlns:a="http://schemas.openxmlformats.org/drawingml/2006/main">
              <a:ext uri="{FF2B5EF4-FFF2-40B4-BE49-F238E27FC236}">
                <a16:creationId xmlns:a16="http://schemas.microsoft.com/office/drawing/2014/main" id="{4521FE0A-E747-44EF-A512-8BF6A9117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90875"/>
            <a:ext cx="952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Measure both task success and the path taken.</a:t>
            </a:r>
          </a:p>
        </p:txBody>
      </p:sp>
      <p:sp>
        <p:nvSpPr>
          <p:cNvPr id="10" name="takeaway-number-3">
            <a:extLst xmlns:a="http://schemas.openxmlformats.org/drawingml/2006/main">
              <a:ext uri="{FF2B5EF4-FFF2-40B4-BE49-F238E27FC236}">
                <a16:creationId xmlns:a16="http://schemas.microsoft.com/office/drawing/2014/main" id="{7F3AB078-FABE-44FF-A727-313278A83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086225"/>
            <a:ext cx="704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1" name="takeaway-3">
            <a:extLst xmlns:a="http://schemas.openxmlformats.org/drawingml/2006/main">
              <a:ext uri="{FF2B5EF4-FFF2-40B4-BE49-F238E27FC236}">
                <a16:creationId xmlns:a16="http://schemas.microsoft.com/office/drawing/2014/main" id="{5AE7C400-8CFC-4F75-A669-DE5D2EFD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67175"/>
            <a:ext cx="952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Treat benchmark scores as scaffold-dependent evidence.</a:t>
            </a:r>
          </a:p>
        </p:txBody>
      </p:sp>
      <p:sp>
        <p:nvSpPr>
          <p:cNvPr id="12" name="takeaway-number-4">
            <a:extLst xmlns:a="http://schemas.openxmlformats.org/drawingml/2006/main">
              <a:ext uri="{FF2B5EF4-FFF2-40B4-BE49-F238E27FC236}">
                <a16:creationId xmlns:a16="http://schemas.microsoft.com/office/drawing/2014/main" id="{64C8A898-442D-4DA2-B4C9-2D1FFBF59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962525"/>
            <a:ext cx="704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3" name="takeaway-4">
            <a:extLst xmlns:a="http://schemas.openxmlformats.org/drawingml/2006/main">
              <a:ext uri="{FF2B5EF4-FFF2-40B4-BE49-F238E27FC236}">
                <a16:creationId xmlns:a16="http://schemas.microsoft.com/office/drawing/2014/main" id="{6A61F5C2-3ADB-47DE-9999-E78E60CC0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943475"/>
            <a:ext cx="952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Trace every model, tool, retrieval, and agent step.</a:t>
            </a:r>
          </a:p>
        </p:txBody>
      </p:sp>
    </p:spTree>
    <p:extLst>
      <p:ext uri="{BB962C8B-B14F-4D97-AF65-F5344CB8AC3E}">
        <p14:creationId xmlns:p14="http://schemas.microsoft.com/office/powerpoint/2010/main" val="89471301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accent-line">
            <a:extLst xmlns:a="http://schemas.openxmlformats.org/drawingml/2006/main">
              <a:ext uri="{FF2B5EF4-FFF2-40B4-BE49-F238E27FC236}">
                <a16:creationId xmlns:a16="http://schemas.microsoft.com/office/drawing/2014/main" id="{E638A137-85B1-45F6-BF50-A0E968775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5FC8627F-C290-41A8-AD13-32F9D1F56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PRACTICE AND READING  /  11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9F9C814-6870-46BD-AEAA-89E6D0BE1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CD3F6C17-906D-443E-BFFB-D0957458C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Evaluation and Observability</a:t>
            </a:r>
          </a:p>
        </p:txBody>
      </p:sp>
      <p:sp>
        <p:nvSpPr>
          <p:cNvPr id="5" name="practice-title">
            <a:extLst xmlns:a="http://schemas.openxmlformats.org/drawingml/2006/main">
              <a:ext uri="{FF2B5EF4-FFF2-40B4-BE49-F238E27FC236}">
                <a16:creationId xmlns:a16="http://schemas.microsoft.com/office/drawing/2014/main" id="{413CE755-A5D3-4795-BDAE-99F6D7D37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00125"/>
            <a:ext cx="11144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Evidence to submit</a:t>
            </a:r>
          </a:p>
        </p:txBody>
      </p:sp>
      <p:sp>
        <p:nvSpPr>
          <p:cNvPr id="6" name="practice-task">
            <a:extLst xmlns:a="http://schemas.openxmlformats.org/drawingml/2006/main">
              <a:ext uri="{FF2B5EF4-FFF2-40B4-BE49-F238E27FC236}">
                <a16:creationId xmlns:a16="http://schemas.microsoft.com/office/drawing/2014/main" id="{BBBF20BA-62FD-4212-B125-448145609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000250"/>
            <a:ext cx="10953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Run the offline evaluation command, inspect its JSONL records, and test the failure path. For live inference, predeclare a model and budget before using the held-out split.</a:t>
            </a:r>
          </a:p>
        </p:txBody>
      </p:sp>
      <p:sp>
        <p:nvSpPr>
          <p:cNvPr id="7" name="practice-check">
            <a:extLst xmlns:a="http://schemas.openxmlformats.org/drawingml/2006/main">
              <a:ext uri="{FF2B5EF4-FFF2-40B4-BE49-F238E27FC236}">
                <a16:creationId xmlns:a16="http://schemas.microsoft.com/office/drawing/2014/main" id="{8082EF0B-5BE8-4F11-A664-BB5FCDA20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81375"/>
            <a:ext cx="1095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A fresh rerun produces a manifest and one record per attempted case. Interrupted or failed requests do not disappear from the denominator.</a:t>
            </a:r>
          </a:p>
        </p:txBody>
      </p:sp>
      <p:sp>
        <p:nvSpPr>
          <p:cNvPr id="8" name="practice-readings">
            <a:extLst xmlns:a="http://schemas.openxmlformats.org/drawingml/2006/main">
              <a:ext uri="{FF2B5EF4-FFF2-40B4-BE49-F238E27FC236}">
                <a16:creationId xmlns:a16="http://schemas.microsoft.com/office/drawing/2014/main" id="{7DA2B8EA-02A6-4AE0-AD42-61010D5E2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P3  Would this change your answer?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R2  How enabling two settings tripled our scores on the ARC-AGI-3 benchmark</a:t>
            </a:r>
          </a:p>
        </p:txBody>
      </p:sp>
      <p:sp>
        <p:nvSpPr>
          <p:cNvPr id="9" name="practice-lab">
            <a:extLst xmlns:a="http://schemas.openxmlformats.org/drawingml/2006/main">
              <a:ext uri="{FF2B5EF4-FFF2-40B4-BE49-F238E27FC236}">
                <a16:creationId xmlns:a16="http://schemas.microsoft.com/office/drawing/2014/main" id="{F0068B5B-7541-4D03-A039-4657B68B0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857875"/>
            <a:ext cx="1095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labs/07_agents_sdk_evaluation.ipynb</a:t>
            </a:r>
          </a:p>
        </p:txBody>
      </p:sp>
    </p:spTree>
    <p:extLst>
      <p:ext uri="{BB962C8B-B14F-4D97-AF65-F5344CB8AC3E}">
        <p14:creationId xmlns:p14="http://schemas.microsoft.com/office/powerpoint/2010/main" val="1460056729"/>
      </p:ext>
    </p:extLst>
  </p:cSld>
</p:sld>
</file>

<file path=ppt/theme/theme1.xml><?xml version="1.0" encoding="utf-8"?>
<a:theme xmlns:a="http://schemas.openxmlformats.org/drawingml/2006/main" name="Course">
  <a:themeElements>
    <a:clrScheme name="Cours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ours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/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/>
  <lastModifiedBy/>
  <dc:title>11-evaluation-observability</dc:title>
  <dcterms:created xsi:type="dcterms:W3CDTF">2026-09-09T16:56:53.5880000Z</dcterms:created>
  <dcterms:modified xsi:type="dcterms:W3CDTF">2026-09-09T16:56:53.5880000Z</dcterms:modified>
</coreProperties>
</file>