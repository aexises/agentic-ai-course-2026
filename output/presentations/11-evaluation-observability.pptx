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93fec4c35842a1" /><Relationship Type="http://schemas.openxmlformats.org/officeDocument/2006/relationships/extended-properties" Target="/docProps/app.xml" Id="R8be16141e3a24e2a" /><Relationship Type="http://schemas.openxmlformats.org/officeDocument/2006/relationships/officeDocument" Target="/ppt/presentation.xml" Id="R258c5fc2098e47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3046c04c9b4cdc"/>
  </p:sldMasterIdLst>
  <p:notesMasterIdLst>
    <p:notesMasterId xmlns:r="http://schemas.openxmlformats.org/officeDocument/2006/relationships" r:id="Rc978c1630cb3429f"/>
  </p:notesMasterIdLst>
  <p:sldIdLst>
    <p:sldId xmlns:r="http://schemas.openxmlformats.org/officeDocument/2006/relationships" id="256" r:id="R5b71eeddbb434709"/>
    <p:sldId xmlns:r="http://schemas.openxmlformats.org/officeDocument/2006/relationships" id="257" r:id="Rfd8a2f3c0bbe4b05"/>
    <p:sldId xmlns:r="http://schemas.openxmlformats.org/officeDocument/2006/relationships" id="258" r:id="Rd30d0c0d8c974d66"/>
    <p:sldId xmlns:r="http://schemas.openxmlformats.org/officeDocument/2006/relationships" id="259" r:id="R520cfa0b21e84550"/>
    <p:sldId xmlns:r="http://schemas.openxmlformats.org/officeDocument/2006/relationships" id="260" r:id="Rd670be6fc2a14138"/>
    <p:sldId xmlns:r="http://schemas.openxmlformats.org/officeDocument/2006/relationships" id="261" r:id="R50e995e23d504031"/>
    <p:sldId xmlns:r="http://schemas.openxmlformats.org/officeDocument/2006/relationships" id="262" r:id="Raac84d0d870d4567"/>
    <p:sldId xmlns:r="http://schemas.openxmlformats.org/officeDocument/2006/relationships" id="263" r:id="Rb74c7bcebf54462c"/>
    <p:sldId xmlns:r="http://schemas.openxmlformats.org/officeDocument/2006/relationships" id="264" r:id="Rf5a6b0ab5d0c4ba6"/>
    <p:sldId xmlns:r="http://schemas.openxmlformats.org/officeDocument/2006/relationships" id="265" r:id="Ra71efdaf903944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c69949c5824a9d" /><Relationship Type="http://schemas.openxmlformats.org/officeDocument/2006/relationships/slideMaster" Target="/ppt/slideMasters/slideMaster1.xml" Id="Rb03046c04c9b4cdc" /><Relationship Type="http://schemas.openxmlformats.org/officeDocument/2006/relationships/notesMaster" Target="/ppt/notesMasters/notesMaster1.xml" Id="Rc978c1630cb3429f" /><Relationship Type="http://schemas.openxmlformats.org/officeDocument/2006/relationships/presProps" Target="/ppt/presProps.xml" Id="Ra0004bfdc41b444d" /><Relationship Type="http://schemas.openxmlformats.org/officeDocument/2006/relationships/tableStyles" Target="/ppt/tableStyles.xml" Id="R1e0911150e8a4691" /><Relationship Type="http://schemas.openxmlformats.org/officeDocument/2006/relationships/slide" Target="/ppt/slides/slide1.xml" Id="R5b71eeddbb434709" /><Relationship Type="http://schemas.openxmlformats.org/officeDocument/2006/relationships/slide" Target="/ppt/slides/slide2.xml" Id="Rfd8a2f3c0bbe4b05" /><Relationship Type="http://schemas.openxmlformats.org/officeDocument/2006/relationships/slide" Target="/ppt/slides/slide3.xml" Id="Rd30d0c0d8c974d66" /><Relationship Type="http://schemas.openxmlformats.org/officeDocument/2006/relationships/slide" Target="/ppt/slides/slide4.xml" Id="R520cfa0b21e84550" /><Relationship Type="http://schemas.openxmlformats.org/officeDocument/2006/relationships/slide" Target="/ppt/slides/slide5.xml" Id="Rd670be6fc2a14138" /><Relationship Type="http://schemas.openxmlformats.org/officeDocument/2006/relationships/slide" Target="/ppt/slides/slide6.xml" Id="R50e995e23d504031" /><Relationship Type="http://schemas.openxmlformats.org/officeDocument/2006/relationships/slide" Target="/ppt/slides/slide7.xml" Id="Raac84d0d870d4567" /><Relationship Type="http://schemas.openxmlformats.org/officeDocument/2006/relationships/slide" Target="/ppt/slides/slide8.xml" Id="Rb74c7bcebf54462c" /><Relationship Type="http://schemas.openxmlformats.org/officeDocument/2006/relationships/slide" Target="/ppt/slides/slide9.xml" Id="Rf5a6b0ab5d0c4ba6" /><Relationship Type="http://schemas.openxmlformats.org/officeDocument/2006/relationships/slide" Target="/ppt/slides/slide10.xml" Id="Ra71efdaf903944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0c2df98bcb4b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c98a6062fe45c5" /><Relationship Type="http://schemas.openxmlformats.org/officeDocument/2006/relationships/notesMaster" Target="/ppt/notesMasters/notesMaster1.xml" Id="Rdb7eee4a69e047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c99b94ad394c54" /><Relationship Type="http://schemas.openxmlformats.org/officeDocument/2006/relationships/notesMaster" Target="/ppt/notesMasters/notesMaster1.xml" Id="R1bf98505c98a4c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eb26e671fd4fa3" /><Relationship Type="http://schemas.openxmlformats.org/officeDocument/2006/relationships/notesMaster" Target="/ppt/notesMasters/notesMaster1.xml" Id="R97ca64373fcf42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366de0f56d4e47" /><Relationship Type="http://schemas.openxmlformats.org/officeDocument/2006/relationships/notesMaster" Target="/ppt/notesMasters/notesMaster1.xml" Id="R2ac2b7f4d41a44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9695500db649ba" /><Relationship Type="http://schemas.openxmlformats.org/officeDocument/2006/relationships/notesMaster" Target="/ppt/notesMasters/notesMaster1.xml" Id="R9491b5582bee43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0bd9164dbd4b13" /><Relationship Type="http://schemas.openxmlformats.org/officeDocument/2006/relationships/notesMaster" Target="/ppt/notesMasters/notesMaster1.xml" Id="R1672b819f66f4e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9073ce5c14432e" /><Relationship Type="http://schemas.openxmlformats.org/officeDocument/2006/relationships/notesMaster" Target="/ppt/notesMasters/notesMaster1.xml" Id="Rcf8bed85fb9349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8abd6de9c94eae" /><Relationship Type="http://schemas.openxmlformats.org/officeDocument/2006/relationships/notesMaster" Target="/ppt/notesMasters/notesMaster1.xml" Id="Rbde99583252148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a6e230e4b24900" /><Relationship Type="http://schemas.openxmlformats.org/officeDocument/2006/relationships/notesMaster" Target="/ppt/notesMasters/notesMaster1.xml" Id="Rf02f3d0a404543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0d5a44ab3c417d" /><Relationship Type="http://schemas.openxmlformats.org/officeDocument/2006/relationships/notesMaster" Target="/ppt/notesMasters/notesMaster1.xml" Id="Re3657a9601cd4c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chapter thesis and connect it to the previous chapter.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11-evaluation-observability.pdf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objectives as an advance organizer and as a checklist after the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11-evaluation-observability.pdf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claim first, then use the numbered points as evidence and design consequences.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11-evaluation-observability.pdf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the central statement, then connect the lower points as a single mental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11-evaluation-observability.pdf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claim first, then use the numbered points as evidence and design consequences.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11-evaluation-observability.pdf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the central statement, then connect the lower points as a single mental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11-evaluation-observability.pdf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claim first, then use the numbered points as evidence and design consequences.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11-evaluation-observability.pdf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the central statement, then connect the lower points as a single mental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11-evaluation-observability.pdf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as retrieval practice. Ask for an answer that defines, compares, traces, and evaluates.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11-evaluation-observability.pdf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restating the four durable ideas and linking forward to the next chapter.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11-evaluation-observability.pdf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4aa52378ec4c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67839e3fd44fbc" /><Relationship Type="http://schemas.openxmlformats.org/officeDocument/2006/relationships/slideLayout" Target="/ppt/slideLayouts/slideLayout1.xml" Id="Rb3175d46cd6649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175d46cd6649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bb6d3788547db" /><Relationship Type="http://schemas.openxmlformats.org/officeDocument/2006/relationships/notesSlide" Target="/ppt/notesSlides/notesSlide1.xml" Id="R474c3a7a2a5f4b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e2d23fbdc437f" /><Relationship Type="http://schemas.openxmlformats.org/officeDocument/2006/relationships/notesSlide" Target="/ppt/notesSlides/notesSlide2.xml" Id="Re0f329f0407b45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ef6d95e1849a9" /><Relationship Type="http://schemas.openxmlformats.org/officeDocument/2006/relationships/notesSlide" Target="/ppt/notesSlides/notesSlide3.xml" Id="R936b8d2e350044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13e182f21406d" /><Relationship Type="http://schemas.openxmlformats.org/officeDocument/2006/relationships/notesSlide" Target="/ppt/notesSlides/notesSlide4.xml" Id="R8692c333ace246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2c672fdf049fa" /><Relationship Type="http://schemas.openxmlformats.org/officeDocument/2006/relationships/notesSlide" Target="/ppt/notesSlides/notesSlide5.xml" Id="Rb03cd6f8a5bc45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9df54cdfe4073" /><Relationship Type="http://schemas.openxmlformats.org/officeDocument/2006/relationships/notesSlide" Target="/ppt/notesSlides/notesSlide6.xml" Id="Ra10fd7a2dba942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a102946f9424f" /><Relationship Type="http://schemas.openxmlformats.org/officeDocument/2006/relationships/notesSlide" Target="/ppt/notesSlides/notesSlide7.xml" Id="R2a0ba04d291147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c5a40ef40419f" /><Relationship Type="http://schemas.openxmlformats.org/officeDocument/2006/relationships/notesSlide" Target="/ppt/notesSlides/notesSlide8.xml" Id="Rc4ab820190c242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68f1216224853" /><Relationship Type="http://schemas.openxmlformats.org/officeDocument/2006/relationships/notesSlide" Target="/ppt/notesSlides/notesSlide9.xml" Id="Raae90a3f72af4b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9c336a54c4fa4" /><Relationship Type="http://schemas.openxmlformats.org/officeDocument/2006/relationships/notesSlide" Target="/ppt/notesSlides/notesSlide10.xml" Id="R7c6429ec4ab34d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6C865BE-FA4D-4EB4-8B7C-CC95FDCB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ourse-title">
            <a:extLst xmlns:a="http://schemas.openxmlformats.org/drawingml/2006/main">
              <a:ext uri="{FF2B5EF4-FFF2-40B4-BE49-F238E27FC236}">
                <a16:creationId xmlns:a16="http://schemas.microsoft.com/office/drawing/2014/main" id="{032EFBBB-3F2B-437C-99F6-3627771B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AGENTIC AI</a:t>
            </a:r>
          </a:p>
        </p:txBody>
      </p:sp>
      <p:sp>
        <p:nvSpPr>
          <p:cNvPr id="3" name="chapter-number">
            <a:extLst xmlns:a="http://schemas.openxmlformats.org/drawingml/2006/main">
              <a:ext uri="{FF2B5EF4-FFF2-40B4-BE49-F238E27FC236}">
                <a16:creationId xmlns:a16="http://schemas.microsoft.com/office/drawing/2014/main" id="{919B365D-6E97-4155-A9D5-AED8327B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195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5E4AFF9D-BECD-41FC-9CFC-234B30F1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98583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Evaluation and Observability</a:t>
            </a:r>
          </a:p>
        </p:txBody>
      </p:sp>
      <p:sp>
        <p:nvSpPr>
          <p:cNvPr id="5" name="deck-thesis">
            <a:extLst xmlns:a="http://schemas.openxmlformats.org/drawingml/2006/main">
              <a:ext uri="{FF2B5EF4-FFF2-40B4-BE49-F238E27FC236}">
                <a16:creationId xmlns:a16="http://schemas.microsoft.com/office/drawing/2014/main" id="{DC0624A5-DFC0-429F-99B7-6EAA6465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8524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Agent quality requires systematic measurement of both final outcomes and the trajectories that produced them, supported by complete traces.</a:t>
            </a:r>
          </a:p>
        </p:txBody>
      </p:sp>
      <p:sp>
        <p:nvSpPr>
          <p:cNvPr id="6" name="title-marker">
            <a:extLst xmlns:a="http://schemas.openxmlformats.org/drawingml/2006/main">
              <a:ext uri="{FF2B5EF4-FFF2-40B4-BE49-F238E27FC236}">
                <a16:creationId xmlns:a16="http://schemas.microsoft.com/office/drawing/2014/main" id="{445AB2AC-2605-4F55-B8C2-E829AC6E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10100"/>
            <a:ext cx="2266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7" name="title-marker-text">
            <a:extLst xmlns:a="http://schemas.openxmlformats.org/drawingml/2006/main">
              <a:ext uri="{FF2B5EF4-FFF2-40B4-BE49-F238E27FC236}">
                <a16:creationId xmlns:a16="http://schemas.microsoft.com/office/drawing/2014/main" id="{31A90530-99C7-4CAE-AB31-4D185EE0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7625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STUDY</a:t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DECK</a:t>
            </a:r>
          </a:p>
        </p:txBody>
      </p:sp>
    </p:spTree>
    <p:extLst>
      <p:ext uri="{BB962C8B-B14F-4D97-AF65-F5344CB8AC3E}">
        <p14:creationId xmlns:p14="http://schemas.microsoft.com/office/powerpoint/2010/main" val="18664128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line">
            <a:extLst xmlns:a="http://schemas.openxmlformats.org/drawingml/2006/main">
              <a:ext uri="{FF2B5EF4-FFF2-40B4-BE49-F238E27FC236}">
                <a16:creationId xmlns:a16="http://schemas.microsoft.com/office/drawing/2014/main" id="{AD6FE570-43D6-4BDE-9884-595C4C01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AD56DCD0-AD66-48B9-B7AD-AD6C2B2F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LEARNING MAP  /  11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AB67B3F-9507-45D4-AD05-87D26F3B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212B3034-6849-4B94-A3AA-C13FD7CF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Evaluation and Observability</a:t>
            </a:r>
          </a:p>
        </p:txBody>
      </p:sp>
      <p:sp>
        <p:nvSpPr>
          <p:cNvPr id="5" name="objectives-title">
            <a:extLst xmlns:a="http://schemas.openxmlformats.org/drawingml/2006/main">
              <a:ext uri="{FF2B5EF4-FFF2-40B4-BE49-F238E27FC236}">
                <a16:creationId xmlns:a16="http://schemas.microsoft.com/office/drawing/2014/main" id="{0D2D9456-CCFF-4CD2-9CE3-406D1BA9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By the end, you should be able to...</a:t>
            </a:r>
          </a:p>
        </p:txBody>
      </p:sp>
      <p:sp>
        <p:nvSpPr>
          <p:cNvPr id="6" name="objective-number-1">
            <a:extLst xmlns:a="http://schemas.openxmlformats.org/drawingml/2006/main">
              <a:ext uri="{FF2B5EF4-FFF2-40B4-BE49-F238E27FC236}">
                <a16:creationId xmlns:a16="http://schemas.microsoft.com/office/drawing/2014/main" id="{53FFE72E-B32B-4AE5-B78D-500B5236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objective-1">
            <a:extLst xmlns:a="http://schemas.openxmlformats.org/drawingml/2006/main">
              <a:ext uri="{FF2B5EF4-FFF2-40B4-BE49-F238E27FC236}">
                <a16:creationId xmlns:a16="http://schemas.microsoft.com/office/drawing/2014/main" id="{05EC73BD-C2BC-45C6-A880-92E972C2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432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Design outcome and trajectory metrics</a:t>
            </a:r>
          </a:p>
        </p:txBody>
      </p:sp>
      <p:sp>
        <p:nvSpPr>
          <p:cNvPr id="8" name="objective-number-2">
            <a:extLst xmlns:a="http://schemas.openxmlformats.org/drawingml/2006/main">
              <a:ext uri="{FF2B5EF4-FFF2-40B4-BE49-F238E27FC236}">
                <a16:creationId xmlns:a16="http://schemas.microsoft.com/office/drawing/2014/main" id="{06BAEE31-89D2-4F46-BAF1-350108B0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812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objective-2">
            <a:extLst xmlns:a="http://schemas.openxmlformats.org/drawingml/2006/main">
              <a:ext uri="{FF2B5EF4-FFF2-40B4-BE49-F238E27FC236}">
                <a16:creationId xmlns:a16="http://schemas.microsoft.com/office/drawing/2014/main" id="{0A8A6312-1A3A-4131-B403-C4539F2C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432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Read benchmarks critically</a:t>
            </a:r>
          </a:p>
        </p:txBody>
      </p:sp>
      <p:sp>
        <p:nvSpPr>
          <p:cNvPr id="10" name="objective-number-3">
            <a:extLst xmlns:a="http://schemas.openxmlformats.org/drawingml/2006/main">
              <a:ext uri="{FF2B5EF4-FFF2-40B4-BE49-F238E27FC236}">
                <a16:creationId xmlns:a16="http://schemas.microsoft.com/office/drawing/2014/main" id="{67D4D3F5-748D-4BC6-AF0F-88C10174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812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objective-3">
            <a:extLst xmlns:a="http://schemas.openxmlformats.org/drawingml/2006/main">
              <a:ext uri="{FF2B5EF4-FFF2-40B4-BE49-F238E27FC236}">
                <a16:creationId xmlns:a16="http://schemas.microsoft.com/office/drawing/2014/main" id="{E371EE93-09B0-4EBD-9D44-127EE7FB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1432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Use LLM judges with safeguards</a:t>
            </a:r>
          </a:p>
        </p:txBody>
      </p:sp>
      <p:sp>
        <p:nvSpPr>
          <p:cNvPr id="12" name="objective-number-4">
            <a:extLst xmlns:a="http://schemas.openxmlformats.org/drawingml/2006/main">
              <a:ext uri="{FF2B5EF4-FFF2-40B4-BE49-F238E27FC236}">
                <a16:creationId xmlns:a16="http://schemas.microsoft.com/office/drawing/2014/main" id="{55F91860-77D8-4C84-B723-F3C5B20E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objective-4">
            <a:extLst xmlns:a="http://schemas.openxmlformats.org/drawingml/2006/main">
              <a:ext uri="{FF2B5EF4-FFF2-40B4-BE49-F238E27FC236}">
                <a16:creationId xmlns:a16="http://schemas.microsoft.com/office/drawing/2014/main" id="{78C103EC-91C0-4475-9087-0273A623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Build offline, online, and CI evaluation</a:t>
            </a:r>
          </a:p>
        </p:txBody>
      </p:sp>
    </p:spTree>
    <p:extLst>
      <p:ext uri="{BB962C8B-B14F-4D97-AF65-F5344CB8AC3E}">
        <p14:creationId xmlns:p14="http://schemas.microsoft.com/office/powerpoint/2010/main" val="10564217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line">
            <a:extLst xmlns:a="http://schemas.openxmlformats.org/drawingml/2006/main">
              <a:ext uri="{FF2B5EF4-FFF2-40B4-BE49-F238E27FC236}">
                <a16:creationId xmlns:a16="http://schemas.microsoft.com/office/drawing/2014/main" id="{5284F6C6-A90B-44A1-8709-A46793C5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2F0493C6-DB72-42DC-841A-B0895E0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01  /  11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1C5F5BF-9E8F-4857-A7C3-0620A62B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68CD1D75-B00D-42FC-B685-265FCA23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Evaluation and Observability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944C68C5-AC60-4BC0-8229-563F9C60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71550"/>
            <a:ext cx="1114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Agent evaluation is difficult for structural reasons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EE50BA56-EDB6-4C02-9A23-C36B0712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45243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Runs are non-deterministic, outputs are open-ended, tasks are multi-step, and correctness, cost, latency, and safety can conflict. Models, tools, and prompts also change, so anecdotal testing cannot distinguish progress from regression.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FE1CC404-86AA-49EB-BD2B-0F5AB5D8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4762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8" name="section-points">
            <a:extLst xmlns:a="http://schemas.openxmlformats.org/drawingml/2006/main">
              <a:ext uri="{FF2B5EF4-FFF2-40B4-BE49-F238E27FC236}">
                <a16:creationId xmlns:a16="http://schemas.microsoft.com/office/drawing/2014/main" id="{7F77614F-2DD5-455D-9CA1-754698BB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43150"/>
            <a:ext cx="557212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01  Use repeated runs where variance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  Define several metrics rather than one headline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03  Version the complete system under evaluation.</a:t>
            </a:r>
          </a:p>
        </p:txBody>
      </p:sp>
    </p:spTree>
    <p:extLst>
      <p:ext uri="{BB962C8B-B14F-4D97-AF65-F5344CB8AC3E}">
        <p14:creationId xmlns:p14="http://schemas.microsoft.com/office/powerpoint/2010/main" val="1458442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ccent-line">
            <a:extLst xmlns:a="http://schemas.openxmlformats.org/drawingml/2006/main">
              <a:ext uri="{FF2B5EF4-FFF2-40B4-BE49-F238E27FC236}">
                <a16:creationId xmlns:a16="http://schemas.microsoft.com/office/drawing/2014/main" id="{8E0B7B09-5032-4ADB-A178-AC357569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151D9500-C9A4-4D8D-B873-E03BA025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02  /  11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DB8ED5C-65CE-4E7D-B459-B5E3452B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64F4992F-420D-4351-A684-8C232233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Evaluation and Observability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967ED3B9-DD22-463C-B70C-B147475A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00125"/>
            <a:ext cx="1114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Outcome and trajectory answer different questions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D1AC0AA5-F78E-4DA9-8DF7-6C840230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Outcome evaluation asks whether the final answer or task result is correct. Trajectory evaluation asks whether the agent used appropriate tools, safe actions, efficient steps, and acceptable time and cost.</a:t>
            </a:r>
          </a:p>
        </p:txBody>
      </p:sp>
      <p:sp>
        <p:nvSpPr>
          <p:cNvPr id="7" name="point-band-1">
            <a:extLst xmlns:a="http://schemas.openxmlformats.org/drawingml/2006/main">
              <a:ext uri="{FF2B5EF4-FFF2-40B4-BE49-F238E27FC236}">
                <a16:creationId xmlns:a16="http://schemas.microsoft.com/office/drawing/2014/main" id="{3A2E1808-5BEF-4053-93C9-0A9C9BED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8" name="point-1">
            <a:extLst xmlns:a="http://schemas.openxmlformats.org/drawingml/2006/main">
              <a:ext uri="{FF2B5EF4-FFF2-40B4-BE49-F238E27FC236}">
                <a16:creationId xmlns:a16="http://schemas.microsoft.com/office/drawing/2014/main" id="{E279F8EE-EB2A-45B6-9017-165D126B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Exact match suits unambiguous answers.</a:t>
            </a:r>
          </a:p>
        </p:txBody>
      </p:sp>
      <p:sp>
        <p:nvSpPr>
          <p:cNvPr id="9" name="point-band-2">
            <a:extLst xmlns:a="http://schemas.openxmlformats.org/drawingml/2006/main">
              <a:ext uri="{FF2B5EF4-FFF2-40B4-BE49-F238E27FC236}">
                <a16:creationId xmlns:a16="http://schemas.microsoft.com/office/drawing/2014/main" id="{A2CEFE42-BCD7-4B0C-B712-45B0394C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10" name="point-2">
            <a:extLst xmlns:a="http://schemas.openxmlformats.org/drawingml/2006/main">
              <a:ext uri="{FF2B5EF4-FFF2-40B4-BE49-F238E27FC236}">
                <a16:creationId xmlns:a16="http://schemas.microsoft.com/office/drawing/2014/main" id="{BE762698-3432-44F5-85DE-C3278CD2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Execution tests suit code and queries.</a:t>
            </a:r>
          </a:p>
        </p:txBody>
      </p:sp>
      <p:sp>
        <p:nvSpPr>
          <p:cNvPr id="11" name="point-band-3">
            <a:extLst xmlns:a="http://schemas.openxmlformats.org/drawingml/2006/main">
              <a:ext uri="{FF2B5EF4-FFF2-40B4-BE49-F238E27FC236}">
                <a16:creationId xmlns:a16="http://schemas.microsoft.com/office/drawing/2014/main" id="{773EEDCF-8721-42EB-9846-F52885F1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12" name="point-3">
            <a:extLst xmlns:a="http://schemas.openxmlformats.org/drawingml/2006/main">
              <a:ext uri="{FF2B5EF4-FFF2-40B4-BE49-F238E27FC236}">
                <a16:creationId xmlns:a16="http://schemas.microsoft.com/office/drawing/2014/main" id="{96DD810E-B66E-4443-B0EB-40146EE0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Trajectory metrics localize the failing step.</a:t>
            </a:r>
          </a:p>
        </p:txBody>
      </p:sp>
      <p:sp>
        <p:nvSpPr>
          <p:cNvPr id="13" name="point-band-4">
            <a:extLst xmlns:a="http://schemas.openxmlformats.org/drawingml/2006/main">
              <a:ext uri="{FF2B5EF4-FFF2-40B4-BE49-F238E27FC236}">
                <a16:creationId xmlns:a16="http://schemas.microsoft.com/office/drawing/2014/main" id="{483A1A4E-348E-4A24-9ADB-D3B4CC22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14" name="point-4">
            <a:extLst xmlns:a="http://schemas.openxmlformats.org/drawingml/2006/main">
              <a:ext uri="{FF2B5EF4-FFF2-40B4-BE49-F238E27FC236}">
                <a16:creationId xmlns:a16="http://schemas.microsoft.com/office/drawing/2014/main" id="{AEEB1BE9-DB75-4DD8-8ADD-436B6E7F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Safety and policy adherence belong in trajectory evaluation.</a:t>
            </a:r>
          </a:p>
        </p:txBody>
      </p:sp>
    </p:spTree>
    <p:extLst>
      <p:ext uri="{BB962C8B-B14F-4D97-AF65-F5344CB8AC3E}">
        <p14:creationId xmlns:p14="http://schemas.microsoft.com/office/powerpoint/2010/main" val="5629180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line">
            <a:extLst xmlns:a="http://schemas.openxmlformats.org/drawingml/2006/main">
              <a:ext uri="{FF2B5EF4-FFF2-40B4-BE49-F238E27FC236}">
                <a16:creationId xmlns:a16="http://schemas.microsoft.com/office/drawing/2014/main" id="{579F7E89-81EE-422E-9095-B8D5AB4B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1BC18737-4F62-4B6E-B392-F6B7F3EE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03  /  11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94CFE0D-3EBD-4567-AE7E-E3321187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B46B6033-271C-460C-982C-9301AFE0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Evaluation and Observability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B9347F6B-091B-44C4-8B6B-9B1DEC5A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71550"/>
            <a:ext cx="1114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Objective scorers are preferable where available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F6B14222-FACA-4FD0-9630-C8776C1B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45243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Execution-based and exact scoring are easier to reproduce than reference similarity or an LLM judge. For RAG, retrieval and generation need separate metrics; for memory and multi-agent systems, evaluate recall, handoffs, agent-specific errors, and total cost.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3DB7A15E-987E-4D87-9372-4F9437A9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4762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8" name="section-points">
            <a:extLst xmlns:a="http://schemas.openxmlformats.org/drawingml/2006/main">
              <a:ext uri="{FF2B5EF4-FFF2-40B4-BE49-F238E27FC236}">
                <a16:creationId xmlns:a16="http://schemas.microsoft.com/office/drawing/2014/main" id="{980DEF7C-F884-475A-A098-CE0D2355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43150"/>
            <a:ext cx="557212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01  RAG: retrieval recall/precision/MRR plus faithfulness and relevance.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  Memory: right item, right time, correct use, appropriate forgetting.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03  Multi-agent: handoff quality, ownership, synthesis, and call budget.</a:t>
            </a:r>
          </a:p>
        </p:txBody>
      </p:sp>
    </p:spTree>
    <p:extLst>
      <p:ext uri="{BB962C8B-B14F-4D97-AF65-F5344CB8AC3E}">
        <p14:creationId xmlns:p14="http://schemas.microsoft.com/office/powerpoint/2010/main" val="21108905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ccent-line">
            <a:extLst xmlns:a="http://schemas.openxmlformats.org/drawingml/2006/main">
              <a:ext uri="{FF2B5EF4-FFF2-40B4-BE49-F238E27FC236}">
                <a16:creationId xmlns:a16="http://schemas.microsoft.com/office/drawing/2014/main" id="{00FDD79E-060B-447B-A994-BBFC7B82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26FE601C-67B8-4AE4-859B-5905F60C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04  /  11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FE96C16-05B2-4D65-8F9F-0A852C9C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C4B0B65F-17FF-4F38-B3A2-64F64AAB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Evaluation and Observability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D10E5FB2-FC71-4929-B383-E282B910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00125"/>
            <a:ext cx="1114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Benchmarks measure systems, not just base models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F5C80B49-6E6F-4AA7-BAE5-E8D335E6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GAIA tests multi-step assistant behavior, SWE-bench Verified tests repository issue resolution through execution, and tool-dialogue benchmarks test policy adherence. Scores depend on the model, prompt, tools, interface, scaffold, and evaluation harness.</a:t>
            </a:r>
          </a:p>
        </p:txBody>
      </p:sp>
      <p:sp>
        <p:nvSpPr>
          <p:cNvPr id="7" name="point-band-1">
            <a:extLst xmlns:a="http://schemas.openxmlformats.org/drawingml/2006/main">
              <a:ext uri="{FF2B5EF4-FFF2-40B4-BE49-F238E27FC236}">
                <a16:creationId xmlns:a16="http://schemas.microsoft.com/office/drawing/2014/main" id="{AA304E82-9C25-4BB1-8654-4F1B8042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8" name="point-1">
            <a:extLst xmlns:a="http://schemas.openxmlformats.org/drawingml/2006/main">
              <a:ext uri="{FF2B5EF4-FFF2-40B4-BE49-F238E27FC236}">
                <a16:creationId xmlns:a16="http://schemas.microsoft.com/office/drawing/2014/main" id="{7CC51E5C-EB11-40AB-B9FA-627E2342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Watch for training-data contamination.</a:t>
            </a:r>
          </a:p>
        </p:txBody>
      </p:sp>
      <p:sp>
        <p:nvSpPr>
          <p:cNvPr id="9" name="point-band-2">
            <a:extLst xmlns:a="http://schemas.openxmlformats.org/drawingml/2006/main">
              <a:ext uri="{FF2B5EF4-FFF2-40B4-BE49-F238E27FC236}">
                <a16:creationId xmlns:a16="http://schemas.microsoft.com/office/drawing/2014/main" id="{C7BF90F2-B404-4520-AEC2-80F04306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10" name="point-2">
            <a:extLst xmlns:a="http://schemas.openxmlformats.org/drawingml/2006/main">
              <a:ext uri="{FF2B5EF4-FFF2-40B4-BE49-F238E27FC236}">
                <a16:creationId xmlns:a16="http://schemas.microsoft.com/office/drawing/2014/main" id="{BC727B59-CD39-4FCD-BF9A-A8682325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Weak tests may accept incorrect solutions.</a:t>
            </a:r>
          </a:p>
        </p:txBody>
      </p:sp>
      <p:sp>
        <p:nvSpPr>
          <p:cNvPr id="11" name="point-band-3">
            <a:extLst xmlns:a="http://schemas.openxmlformats.org/drawingml/2006/main">
              <a:ext uri="{FF2B5EF4-FFF2-40B4-BE49-F238E27FC236}">
                <a16:creationId xmlns:a16="http://schemas.microsoft.com/office/drawing/2014/main" id="{7E212476-F785-4A75-8613-BC623473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12" name="point-3">
            <a:extLst xmlns:a="http://schemas.openxmlformats.org/drawingml/2006/main">
              <a:ext uri="{FF2B5EF4-FFF2-40B4-BE49-F238E27FC236}">
                <a16:creationId xmlns:a16="http://schemas.microsoft.com/office/drawing/2014/main" id="{61286AFA-43FB-48DF-BB2B-9C36558E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Benchmark tasks may not match production distribution.</a:t>
            </a:r>
          </a:p>
        </p:txBody>
      </p:sp>
      <p:sp>
        <p:nvSpPr>
          <p:cNvPr id="13" name="point-band-4">
            <a:extLst xmlns:a="http://schemas.openxmlformats.org/drawingml/2006/main">
              <a:ext uri="{FF2B5EF4-FFF2-40B4-BE49-F238E27FC236}">
                <a16:creationId xmlns:a16="http://schemas.microsoft.com/office/drawing/2014/main" id="{1B20A271-4FAA-4FEA-BA5A-E968768C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14" name="point-4">
            <a:extLst xmlns:a="http://schemas.openxmlformats.org/drawingml/2006/main">
              <a:ext uri="{FF2B5EF4-FFF2-40B4-BE49-F238E27FC236}">
                <a16:creationId xmlns:a16="http://schemas.microsoft.com/office/drawing/2014/main" id="{D5FE6767-A9C4-4FE9-B91C-9B057ED3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Ask whose system produced the number.</a:t>
            </a:r>
          </a:p>
        </p:txBody>
      </p:sp>
    </p:spTree>
    <p:extLst>
      <p:ext uri="{BB962C8B-B14F-4D97-AF65-F5344CB8AC3E}">
        <p14:creationId xmlns:p14="http://schemas.microsoft.com/office/powerpoint/2010/main" val="14511137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line">
            <a:extLst xmlns:a="http://schemas.openxmlformats.org/drawingml/2006/main">
              <a:ext uri="{FF2B5EF4-FFF2-40B4-BE49-F238E27FC236}">
                <a16:creationId xmlns:a16="http://schemas.microsoft.com/office/drawing/2014/main" id="{C7EF5AA7-328F-43A5-BA80-389C2784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99C23AB1-3F60-4395-A3A5-47E5AE21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05  /  11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7744242-6419-4DF4-AD81-29BE2CFF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1DA1926B-03EB-469A-8DC9-27F6F3F8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Evaluation and Observability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1D4210E0-49C9-4A22-BD50-818BF5C2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71550"/>
            <a:ext cx="1114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LLM-as-judge is flexible but biased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1338E9EB-80F4-4C97-9CAA-E36E4893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45243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A judge model can score open-ended work at scale, but may favor position, verbosity, style, or its own outputs. Explicit rubrics, pairwise comparisons, swapped order, calibration against humans, and multiple judges reduce these risks.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75032879-CF6D-4984-8642-D3A074E7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4762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8" name="section-points">
            <a:extLst xmlns:a="http://schemas.openxmlformats.org/drawingml/2006/main">
              <a:ext uri="{FF2B5EF4-FFF2-40B4-BE49-F238E27FC236}">
                <a16:creationId xmlns:a16="http://schemas.microsoft.com/office/drawing/2014/main" id="{D9E2CB5B-5B00-4340-BFF6-C50FD700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43150"/>
            <a:ext cx="557212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01  Prefer checkable criteria over a vague quality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  Blind the judge to irrelevant identity information.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03  Audit disagreements and drift.</a:t>
            </a:r>
          </a:p>
        </p:txBody>
      </p:sp>
    </p:spTree>
    <p:extLst>
      <p:ext uri="{BB962C8B-B14F-4D97-AF65-F5344CB8AC3E}">
        <p14:creationId xmlns:p14="http://schemas.microsoft.com/office/powerpoint/2010/main" val="10299238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ccent-line">
            <a:extLst xmlns:a="http://schemas.openxmlformats.org/drawingml/2006/main">
              <a:ext uri="{FF2B5EF4-FFF2-40B4-BE49-F238E27FC236}">
                <a16:creationId xmlns:a16="http://schemas.microsoft.com/office/drawing/2014/main" id="{62E3B579-9697-4AFE-83B5-39356008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7887826C-2A41-4B8D-B7F7-61F95D03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06  /  11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8A14724-B410-4434-B10D-889279DF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A84EAEEB-5FB8-4BCA-A1C6-D814F131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Evaluation and Observability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6C717BC8-6202-4672-8543-35C0F611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00125"/>
            <a:ext cx="1114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Tracing turns evaluation into engineering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6A6CE604-3C4A-4EEF-B1DC-2051F7D1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run trace is a tree of spans for model calls, tools, retrieval, and agents. Each span records inputs, outputs, timing, tokens, cost, errors, and relevant metadata. Offline eval protects releases; online eval monitors live behavior; CI gates block regressions.</a:t>
            </a:r>
          </a:p>
        </p:txBody>
      </p:sp>
      <p:sp>
        <p:nvSpPr>
          <p:cNvPr id="7" name="point-band-1">
            <a:extLst xmlns:a="http://schemas.openxmlformats.org/drawingml/2006/main">
              <a:ext uri="{FF2B5EF4-FFF2-40B4-BE49-F238E27FC236}">
                <a16:creationId xmlns:a16="http://schemas.microsoft.com/office/drawing/2014/main" id="{DF1A494D-C207-49DA-ABCC-F9555E4B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8" name="point-1">
            <a:extLst xmlns:a="http://schemas.openxmlformats.org/drawingml/2006/main">
              <a:ext uri="{FF2B5EF4-FFF2-40B4-BE49-F238E27FC236}">
                <a16:creationId xmlns:a16="http://schemas.microsoft.com/office/drawing/2014/main" id="{B2A35C02-7FF9-4706-8255-A3CA78B9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Build representative tasks with expected outcomes.</a:t>
            </a:r>
          </a:p>
        </p:txBody>
      </p:sp>
      <p:sp>
        <p:nvSpPr>
          <p:cNvPr id="9" name="point-band-2">
            <a:extLst xmlns:a="http://schemas.openxmlformats.org/drawingml/2006/main">
              <a:ext uri="{FF2B5EF4-FFF2-40B4-BE49-F238E27FC236}">
                <a16:creationId xmlns:a16="http://schemas.microsoft.com/office/drawing/2014/main" id="{A84B404A-74D6-46B9-87AB-2994B6EE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10" name="point-2">
            <a:extLst xmlns:a="http://schemas.openxmlformats.org/drawingml/2006/main">
              <a:ext uri="{FF2B5EF4-FFF2-40B4-BE49-F238E27FC236}">
                <a16:creationId xmlns:a16="http://schemas.microsoft.com/office/drawing/2014/main" id="{FC8AC74D-73D5-47B3-83C5-7B9A0874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Include hard, edge, adversarial, and safety cases.</a:t>
            </a:r>
          </a:p>
        </p:txBody>
      </p:sp>
      <p:sp>
        <p:nvSpPr>
          <p:cNvPr id="11" name="point-band-3">
            <a:extLst xmlns:a="http://schemas.openxmlformats.org/drawingml/2006/main">
              <a:ext uri="{FF2B5EF4-FFF2-40B4-BE49-F238E27FC236}">
                <a16:creationId xmlns:a16="http://schemas.microsoft.com/office/drawing/2014/main" id="{787F7C9A-0177-47B0-91B0-03D6AFDD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12" name="point-3">
            <a:extLst xmlns:a="http://schemas.openxmlformats.org/drawingml/2006/main">
              <a:ext uri="{FF2B5EF4-FFF2-40B4-BE49-F238E27FC236}">
                <a16:creationId xmlns:a16="http://schemas.microsoft.com/office/drawing/2014/main" id="{FA2448AB-3A70-4F49-9945-8169D9AF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Run the same set on prompt, model, tool, or dependency changes.</a:t>
            </a:r>
          </a:p>
        </p:txBody>
      </p:sp>
      <p:sp>
        <p:nvSpPr>
          <p:cNvPr id="13" name="point-band-4">
            <a:extLst xmlns:a="http://schemas.openxmlformats.org/drawingml/2006/main">
              <a:ext uri="{FF2B5EF4-FFF2-40B4-BE49-F238E27FC236}">
                <a16:creationId xmlns:a16="http://schemas.microsoft.com/office/drawing/2014/main" id="{95D93227-57F3-447F-AA2D-C85E7B95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14" name="point-4">
            <a:extLst xmlns:a="http://schemas.openxmlformats.org/drawingml/2006/main">
              <a:ext uri="{FF2B5EF4-FFF2-40B4-BE49-F238E27FC236}">
                <a16:creationId xmlns:a16="http://schemas.microsoft.com/office/drawing/2014/main" id="{5A20938D-338A-4564-A9BF-DEA386DD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Alert on quality, latency, cost, and safety drift.</a:t>
            </a:r>
          </a:p>
        </p:txBody>
      </p:sp>
    </p:spTree>
    <p:extLst>
      <p:ext uri="{BB962C8B-B14F-4D97-AF65-F5344CB8AC3E}">
        <p14:creationId xmlns:p14="http://schemas.microsoft.com/office/powerpoint/2010/main" val="14338302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accent-line">
            <a:extLst xmlns:a="http://schemas.openxmlformats.org/drawingml/2006/main">
              <a:ext uri="{FF2B5EF4-FFF2-40B4-BE49-F238E27FC236}">
                <a16:creationId xmlns:a16="http://schemas.microsoft.com/office/drawing/2014/main" id="{0CF29642-0E66-4D4E-B6CB-2FC8C4E2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62A04E1A-A6B5-48B3-8C75-E55D857C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EXAM CHECK  /  11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C9A86D9-0A5D-4057-8584-73EEE7AA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62A58783-41BD-4FD2-BB0D-5E749D96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Evaluation and Observability</a:t>
            </a:r>
          </a:p>
        </p:txBody>
      </p:sp>
      <p:sp>
        <p:nvSpPr>
          <p:cNvPr id="5" name="exam-title">
            <a:extLst xmlns:a="http://schemas.openxmlformats.org/drawingml/2006/main">
              <a:ext uri="{FF2B5EF4-FFF2-40B4-BE49-F238E27FC236}">
                <a16:creationId xmlns:a16="http://schemas.microsoft.com/office/drawing/2014/main" id="{1B05CBB6-7217-4BE9-B1AA-F0AF860C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81075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 you answer these without notes?</a:t>
            </a:r>
          </a:p>
        </p:txBody>
      </p:sp>
      <p:sp>
        <p:nvSpPr>
          <p:cNvPr id="6" name="exam-number-1">
            <a:extLst xmlns:a="http://schemas.openxmlformats.org/drawingml/2006/main">
              <a:ext uri="{FF2B5EF4-FFF2-40B4-BE49-F238E27FC236}">
                <a16:creationId xmlns:a16="http://schemas.microsoft.com/office/drawing/2014/main" id="{5DD84430-7477-4677-9716-0D4E4FE4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383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exam-question-1">
            <a:extLst xmlns:a="http://schemas.openxmlformats.org/drawingml/2006/main">
              <a:ext uri="{FF2B5EF4-FFF2-40B4-BE49-F238E27FC236}">
                <a16:creationId xmlns:a16="http://schemas.microsoft.com/office/drawing/2014/main" id="{80099BD2-1D1B-4C08-86D1-CD5CB256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2383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Why is agent evaluation harder than single-answer evaluation?</a:t>
            </a:r>
          </a:p>
        </p:txBody>
      </p:sp>
      <p:sp>
        <p:nvSpPr>
          <p:cNvPr id="8" name="exam-number-2">
            <a:extLst xmlns:a="http://schemas.openxmlformats.org/drawingml/2006/main">
              <a:ext uri="{FF2B5EF4-FFF2-40B4-BE49-F238E27FC236}">
                <a16:creationId xmlns:a16="http://schemas.microsoft.com/office/drawing/2014/main" id="{EE8E318C-F521-444A-A9F7-0E07B543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exam-question-2">
            <a:extLst xmlns:a="http://schemas.openxmlformats.org/drawingml/2006/main">
              <a:ext uri="{FF2B5EF4-FFF2-40B4-BE49-F238E27FC236}">
                <a16:creationId xmlns:a16="http://schemas.microsoft.com/office/drawing/2014/main" id="{7C6D880B-3157-447A-89C7-ABBA125A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383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Give four outcome metrics and four trajectory metrics.</a:t>
            </a:r>
          </a:p>
        </p:txBody>
      </p:sp>
      <p:sp>
        <p:nvSpPr>
          <p:cNvPr id="10" name="exam-number-3">
            <a:extLst xmlns:a="http://schemas.openxmlformats.org/drawingml/2006/main">
              <a:ext uri="{FF2B5EF4-FFF2-40B4-BE49-F238E27FC236}">
                <a16:creationId xmlns:a16="http://schemas.microsoft.com/office/drawing/2014/main" id="{7A6ECDA5-714A-44B9-994D-3FE9AD83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956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exam-question-3">
            <a:extLst xmlns:a="http://schemas.openxmlformats.org/drawingml/2006/main">
              <a:ext uri="{FF2B5EF4-FFF2-40B4-BE49-F238E27FC236}">
                <a16:creationId xmlns:a16="http://schemas.microsoft.com/office/drawing/2014/main" id="{11AD2970-98B4-442E-8E9F-F8E5E74B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4956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makes execution-based evaluation strong?</a:t>
            </a:r>
          </a:p>
        </p:txBody>
      </p:sp>
      <p:sp>
        <p:nvSpPr>
          <p:cNvPr id="12" name="exam-number-4">
            <a:extLst xmlns:a="http://schemas.openxmlformats.org/drawingml/2006/main">
              <a:ext uri="{FF2B5EF4-FFF2-40B4-BE49-F238E27FC236}">
                <a16:creationId xmlns:a16="http://schemas.microsoft.com/office/drawing/2014/main" id="{BBF5872E-1D7D-4475-8A4F-165B1387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956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exam-question-4">
            <a:extLst xmlns:a="http://schemas.openxmlformats.org/drawingml/2006/main">
              <a:ext uri="{FF2B5EF4-FFF2-40B4-BE49-F238E27FC236}">
                <a16:creationId xmlns:a16="http://schemas.microsoft.com/office/drawing/2014/main" id="{1F94ED1A-F54E-4BCA-B5D6-4988CC00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956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How can benchmark contamination and weak tests mislead?</a:t>
            </a:r>
          </a:p>
        </p:txBody>
      </p:sp>
      <p:sp>
        <p:nvSpPr>
          <p:cNvPr id="14" name="exam-number-5">
            <a:extLst xmlns:a="http://schemas.openxmlformats.org/drawingml/2006/main">
              <a:ext uri="{FF2B5EF4-FFF2-40B4-BE49-F238E27FC236}">
                <a16:creationId xmlns:a16="http://schemas.microsoft.com/office/drawing/2014/main" id="{4E26E127-ED48-4FFC-A069-1C718722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529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5" name="exam-question-5">
            <a:extLst xmlns:a="http://schemas.openxmlformats.org/drawingml/2006/main">
              <a:ext uri="{FF2B5EF4-FFF2-40B4-BE49-F238E27FC236}">
                <a16:creationId xmlns:a16="http://schemas.microsoft.com/office/drawing/2014/main" id="{DDBFD447-787F-4FD2-BCFF-B18F332B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7529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biases affect LLM-as-judge?</a:t>
            </a:r>
          </a:p>
        </p:txBody>
      </p:sp>
      <p:sp>
        <p:nvSpPr>
          <p:cNvPr id="16" name="exam-number-6">
            <a:extLst xmlns:a="http://schemas.openxmlformats.org/drawingml/2006/main">
              <a:ext uri="{FF2B5EF4-FFF2-40B4-BE49-F238E27FC236}">
                <a16:creationId xmlns:a16="http://schemas.microsoft.com/office/drawing/2014/main" id="{D3F72480-CF65-4747-B704-F6F82B1E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529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17" name="exam-question-6">
            <a:extLst xmlns:a="http://schemas.openxmlformats.org/drawingml/2006/main">
              <a:ext uri="{FF2B5EF4-FFF2-40B4-BE49-F238E27FC236}">
                <a16:creationId xmlns:a16="http://schemas.microsoft.com/office/drawing/2014/main" id="{46F29CD6-92B5-49C6-B2E3-70FA57B3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7529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should a trace span record, and how does eval-in-CI use it?</a:t>
            </a:r>
          </a:p>
        </p:txBody>
      </p:sp>
    </p:spTree>
    <p:extLst>
      <p:ext uri="{BB962C8B-B14F-4D97-AF65-F5344CB8AC3E}">
        <p14:creationId xmlns:p14="http://schemas.microsoft.com/office/powerpoint/2010/main" val="8539468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line">
            <a:extLst xmlns:a="http://schemas.openxmlformats.org/drawingml/2006/main">
              <a:ext uri="{FF2B5EF4-FFF2-40B4-BE49-F238E27FC236}">
                <a16:creationId xmlns:a16="http://schemas.microsoft.com/office/drawing/2014/main" id="{03641E5A-BE49-4347-8320-D4236709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576CECEB-0ECA-4BBB-89FB-A5D9C934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CHAPTER SYNTHESIS  /  11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DFE5E56-9184-4C41-AC68-677BECB2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10EED516-7F52-4271-9945-1853ECF9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Evaluation and Observability</a:t>
            </a:r>
          </a:p>
        </p:txBody>
      </p:sp>
      <p:sp>
        <p:nvSpPr>
          <p:cNvPr id="5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FDA51122-44B2-473C-A7E2-566EE9D7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4775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must remain after the details fade</a:t>
            </a:r>
          </a:p>
        </p:txBody>
      </p:sp>
      <p:sp>
        <p:nvSpPr>
          <p:cNvPr id="6" name="takeaway-number-1">
            <a:extLst xmlns:a="http://schemas.openxmlformats.org/drawingml/2006/main">
              <a:ext uri="{FF2B5EF4-FFF2-40B4-BE49-F238E27FC236}">
                <a16:creationId xmlns:a16="http://schemas.microsoft.com/office/drawing/2014/main" id="{296D9553-B775-41D9-829B-D477900F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3362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takeaway-1">
            <a:extLst xmlns:a="http://schemas.openxmlformats.org/drawingml/2006/main">
              <a:ext uri="{FF2B5EF4-FFF2-40B4-BE49-F238E27FC236}">
                <a16:creationId xmlns:a16="http://schemas.microsoft.com/office/drawing/2014/main" id="{93992574-B175-49BC-9B2C-BAE69FB5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145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Evaluation is continuous system steering, not a final phase.</a:t>
            </a:r>
          </a:p>
        </p:txBody>
      </p:sp>
      <p:sp>
        <p:nvSpPr>
          <p:cNvPr id="8" name="takeaway-number-2">
            <a:extLst xmlns:a="http://schemas.openxmlformats.org/drawingml/2006/main">
              <a:ext uri="{FF2B5EF4-FFF2-40B4-BE49-F238E27FC236}">
                <a16:creationId xmlns:a16="http://schemas.microsoft.com/office/drawing/2014/main" id="{BFD845F2-C047-4BC2-8CA5-F4B5EC78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0992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akeaway-2">
            <a:extLst xmlns:a="http://schemas.openxmlformats.org/drawingml/2006/main">
              <a:ext uri="{FF2B5EF4-FFF2-40B4-BE49-F238E27FC236}">
                <a16:creationId xmlns:a16="http://schemas.microsoft.com/office/drawing/2014/main" id="{D5EE4D4F-D72D-4B62-A68E-C4908C8C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908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Measure both task success and the path taken.</a:t>
            </a:r>
          </a:p>
        </p:txBody>
      </p:sp>
      <p:sp>
        <p:nvSpPr>
          <p:cNvPr id="10" name="takeaway-number-3">
            <a:extLst xmlns:a="http://schemas.openxmlformats.org/drawingml/2006/main">
              <a:ext uri="{FF2B5EF4-FFF2-40B4-BE49-F238E27FC236}">
                <a16:creationId xmlns:a16="http://schemas.microsoft.com/office/drawing/2014/main" id="{CFEE0751-977D-413C-8E33-7C4F2B6F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8622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takeaway-3">
            <a:extLst xmlns:a="http://schemas.openxmlformats.org/drawingml/2006/main">
              <a:ext uri="{FF2B5EF4-FFF2-40B4-BE49-F238E27FC236}">
                <a16:creationId xmlns:a16="http://schemas.microsoft.com/office/drawing/2014/main" id="{CECE80B0-C026-4F74-A5C9-484064F0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671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Treat benchmark scores as scaffold-dependent evidence.</a:t>
            </a:r>
          </a:p>
        </p:txBody>
      </p:sp>
      <p:sp>
        <p:nvSpPr>
          <p:cNvPr id="12" name="takeaway-number-4">
            <a:extLst xmlns:a="http://schemas.openxmlformats.org/drawingml/2006/main">
              <a:ext uri="{FF2B5EF4-FFF2-40B4-BE49-F238E27FC236}">
                <a16:creationId xmlns:a16="http://schemas.microsoft.com/office/drawing/2014/main" id="{80A8116C-7C1D-4FC5-8A88-05835B9D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6252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takeaway-4">
            <a:extLst xmlns:a="http://schemas.openxmlformats.org/drawingml/2006/main">
              <a:ext uri="{FF2B5EF4-FFF2-40B4-BE49-F238E27FC236}">
                <a16:creationId xmlns:a16="http://schemas.microsoft.com/office/drawing/2014/main" id="{C108DF99-429F-462B-8955-8384C3B3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434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Trace every model, tool, retrieval, and agent step.</a:t>
            </a:r>
          </a:p>
        </p:txBody>
      </p:sp>
    </p:spTree>
    <p:extLst>
      <p:ext uri="{BB962C8B-B14F-4D97-AF65-F5344CB8AC3E}">
        <p14:creationId xmlns:p14="http://schemas.microsoft.com/office/powerpoint/2010/main" val="1559497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2026-07-27T18:05:39.9430000Z</dcterms:created>
  <dcterms:modified xsi:type="dcterms:W3CDTF">2026-07-27T18:05:39.9430000Z</dcterms:modified>
</coreProperties>
</file>