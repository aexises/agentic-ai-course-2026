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c338784ee4ee7" /><Relationship Type="http://schemas.openxmlformats.org/officeDocument/2006/relationships/extended-properties" Target="/docProps/app.xml" Id="R11bdfe840d334777" /><Relationship Type="http://schemas.openxmlformats.org/officeDocument/2006/relationships/officeDocument" Target="/ppt/presentation.xml" Id="Rf588de89ccb447e8" /></Relationships>
</file>

<file path=ppt/presentation.xml><?xml version="1.0" encoding="utf-8"?>
<p:presentation xmlns:p="http://schemas.openxmlformats.org/presentationml/2006/main">
  <p:sldMasterIdLst>
    <p:sldMasterId xmlns:r="http://schemas.openxmlformats.org/officeDocument/2006/relationships" id="2147483648" r:id="R96c048e91c6f4890"/>
  </p:sldMasterIdLst>
  <p:notesMasterIdLst>
    <p:notesMasterId xmlns:r="http://schemas.openxmlformats.org/officeDocument/2006/relationships" r:id="R66f8381f58db43ed"/>
  </p:notesMasterIdLst>
  <p:sldIdLst>
    <p:sldId xmlns:r="http://schemas.openxmlformats.org/officeDocument/2006/relationships" id="256" r:id="R98f09a8042a2409d"/>
    <p:sldId xmlns:r="http://schemas.openxmlformats.org/officeDocument/2006/relationships" id="257" r:id="Rafd8140cc6f74f17"/>
    <p:sldId xmlns:r="http://schemas.openxmlformats.org/officeDocument/2006/relationships" id="258" r:id="Rb27352d305044cff"/>
    <p:sldId xmlns:r="http://schemas.openxmlformats.org/officeDocument/2006/relationships" id="259" r:id="R3a7184630f7e4af3"/>
    <p:sldId xmlns:r="http://schemas.openxmlformats.org/officeDocument/2006/relationships" id="260" r:id="Rb013f9dfd29344e5"/>
    <p:sldId xmlns:r="http://schemas.openxmlformats.org/officeDocument/2006/relationships" id="261" r:id="R0e255b1e5a094162"/>
    <p:sldId xmlns:r="http://schemas.openxmlformats.org/officeDocument/2006/relationships" id="262" r:id="R9db20f92522948eb"/>
    <p:sldId xmlns:r="http://schemas.openxmlformats.org/officeDocument/2006/relationships" id="263" r:id="Rca944689c142470c"/>
    <p:sldId xmlns:r="http://schemas.openxmlformats.org/officeDocument/2006/relationships" id="264" r:id="R85cf2f8732ce4b19"/>
    <p:sldId xmlns:r="http://schemas.openxmlformats.org/officeDocument/2006/relationships" id="265" r:id="Rd18c595e1b6d4c84"/>
    <p:sldId xmlns:r="http://schemas.openxmlformats.org/officeDocument/2006/relationships" id="266" r:id="Rffc3dcb15bae4de4"/>
    <p:sldId xmlns:r="http://schemas.openxmlformats.org/officeDocument/2006/relationships" id="267" r:id="Rb6132d19c86842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b1b4d7dab04f6f" /><Relationship Type="http://schemas.openxmlformats.org/officeDocument/2006/relationships/slideMaster" Target="/ppt/slideMasters/slideMaster1.xml" Id="R96c048e91c6f4890" /><Relationship Type="http://schemas.openxmlformats.org/officeDocument/2006/relationships/notesMaster" Target="/ppt/notesMasters/notesMaster1.xml" Id="R66f8381f58db43ed" /><Relationship Type="http://schemas.openxmlformats.org/officeDocument/2006/relationships/presProps" Target="/ppt/presProps.xml" Id="R903fc7ae41844586" /><Relationship Type="http://schemas.openxmlformats.org/officeDocument/2006/relationships/tableStyles" Target="/ppt/tableStyles.xml" Id="Rc2c50e109c594621" /><Relationship Type="http://schemas.openxmlformats.org/officeDocument/2006/relationships/slide" Target="/ppt/slides/slide1.xml" Id="R98f09a8042a2409d" /><Relationship Type="http://schemas.openxmlformats.org/officeDocument/2006/relationships/slide" Target="/ppt/slides/slide2.xml" Id="Rafd8140cc6f74f17" /><Relationship Type="http://schemas.openxmlformats.org/officeDocument/2006/relationships/slide" Target="/ppt/slides/slide3.xml" Id="Rb27352d305044cff" /><Relationship Type="http://schemas.openxmlformats.org/officeDocument/2006/relationships/slide" Target="/ppt/slides/slide4.xml" Id="R3a7184630f7e4af3" /><Relationship Type="http://schemas.openxmlformats.org/officeDocument/2006/relationships/slide" Target="/ppt/slides/slide5.xml" Id="Rb013f9dfd29344e5" /><Relationship Type="http://schemas.openxmlformats.org/officeDocument/2006/relationships/slide" Target="/ppt/slides/slide6.xml" Id="R0e255b1e5a094162" /><Relationship Type="http://schemas.openxmlformats.org/officeDocument/2006/relationships/slide" Target="/ppt/slides/slide7.xml" Id="R9db20f92522948eb" /><Relationship Type="http://schemas.openxmlformats.org/officeDocument/2006/relationships/slide" Target="/ppt/slides/slide8.xml" Id="Rca944689c142470c" /><Relationship Type="http://schemas.openxmlformats.org/officeDocument/2006/relationships/slide" Target="/ppt/slides/slide9.xml" Id="R85cf2f8732ce4b19" /><Relationship Type="http://schemas.openxmlformats.org/officeDocument/2006/relationships/slide" Target="/ppt/slides/slide10.xml" Id="Rd18c595e1b6d4c84" /><Relationship Type="http://schemas.openxmlformats.org/officeDocument/2006/relationships/slide" Target="/ppt/slides/slide11.xml" Id="Rffc3dcb15bae4de4" /><Relationship Type="http://schemas.openxmlformats.org/officeDocument/2006/relationships/slide" Target="/ppt/slides/slide12.xml" Id="Rb6132d19c86842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13912dfd4946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dda197c5d497f" /><Relationship Type="http://schemas.openxmlformats.org/officeDocument/2006/relationships/notesMaster" Target="/ppt/notesMasters/notesMaster1.xml" Id="R94903c2e7e4e4d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a2955d87e64a42" /><Relationship Type="http://schemas.openxmlformats.org/officeDocument/2006/relationships/notesMaster" Target="/ppt/notesMasters/notesMaster1.xml" Id="R1efef47bb77341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72c9bb6f91491f" /><Relationship Type="http://schemas.openxmlformats.org/officeDocument/2006/relationships/notesMaster" Target="/ppt/notesMasters/notesMaster1.xml" Id="R3f239929bf7a40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8ffeb16610488f" /><Relationship Type="http://schemas.openxmlformats.org/officeDocument/2006/relationships/notesMaster" Target="/ppt/notesMasters/notesMaster1.xml" Id="R206c75fb1db74e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a996c4842940dd" /><Relationship Type="http://schemas.openxmlformats.org/officeDocument/2006/relationships/notesMaster" Target="/ppt/notesMasters/notesMaster1.xml" Id="Rbcf3ad48c61240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795e12444e4f48" /><Relationship Type="http://schemas.openxmlformats.org/officeDocument/2006/relationships/notesMaster" Target="/ppt/notesMasters/notesMaster1.xml" Id="Rc2ea686b81c547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0674421cba4589" /><Relationship Type="http://schemas.openxmlformats.org/officeDocument/2006/relationships/notesMaster" Target="/ppt/notesMasters/notesMaster1.xml" Id="R6a0533cfa30b49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9b408ad601454e" /><Relationship Type="http://schemas.openxmlformats.org/officeDocument/2006/relationships/notesMaster" Target="/ppt/notesMasters/notesMaster1.xml" Id="R7b69596013be4c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eb7c81a7ac4738" /><Relationship Type="http://schemas.openxmlformats.org/officeDocument/2006/relationships/notesMaster" Target="/ppt/notesMasters/notesMaster1.xml" Id="R6cad466bb0204b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8af0ee002400e" /><Relationship Type="http://schemas.openxmlformats.org/officeDocument/2006/relationships/notesMaster" Target="/ppt/notesMasters/notesMaster1.xml" Id="Rc5f2a4ff287e45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987aec97404059" /><Relationship Type="http://schemas.openxmlformats.org/officeDocument/2006/relationships/notesMaster" Target="/ppt/notesMasters/notesMaster1.xml" Id="Rd494cd03f4fc40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72e8ae6c5e400f" /><Relationship Type="http://schemas.openxmlformats.org/officeDocument/2006/relationships/notesMaster" Target="/ppt/notesMasters/notesMaster1.xml" Id="R5ca47dbcb36444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 the submitted evidence with the stated acceptance check. Reading links and limitations follow.</a:t>
            </a:r>
          </a:p>
          <a:p xmlns:a="http://schemas.openxmlformats.org/drawingml/2006/main">
            <a:r>
              <a:t/>
            </a:r>
          </a:p>
          <a:p xmlns:a="http://schemas.openxmlformats.org/drawingml/2006/main">
            <a:r>
              <a:t>Edition: 2026-09-09</a:t>
            </a:r>
          </a:p>
          <a:p xmlns:a="http://schemas.openxmlformats.org/drawingml/2006/main">
            <a:r>
              <a:t/>
            </a:r>
          </a:p>
          <a:p xmlns:a="http://schemas.openxmlformats.org/drawingml/2006/main">
            <a:r>
              <a:t>[Sources]</a:t>
            </a:r>
          </a:p>
          <a:p xmlns:a="http://schemas.openxmlformats.org/drawingml/2006/main">
            <a:r>
              <a:t>- Original source presentation: 06-rag-agentic-rag.pdf</a:t>
            </a:r>
          </a:p>
          <a:p xmlns:a="http://schemas.openxmlformats.org/drawingml/2006/main">
            <a:r>
              <a:t>- S4: Gemini structured outputs. Google documentation, accessed, 2026-09-09. https://ai.google.dev/gemini-api/docs/structured-output Supported schemas constrain structure. Application validation must check meaning and policy.</a:t>
            </a:r>
          </a:p>
          <a:p xmlns:a="http://schemas.openxmlformats.org/drawingml/2006/main">
            <a:r>
              <a:t/>
            </a:r>
          </a:p>
          <a:p xmlns:a="http://schemas.openxmlformats.org/drawingml/2006/main">
            <a:r>
              <a:t>[Assessed practice]</a:t>
            </a:r>
          </a:p>
          <a:p xmlns:a="http://schemas.openxmlformats.org/drawingml/2006/main">
            <a:r>
              <a:t>Complete Lab 6 and add unknown, conflicting, and irrelevant records. Compare zero repair with one repair using a fixed question set.</a:t>
            </a:r>
          </a:p>
          <a:p xmlns:a="http://schemas.openxmlformats.org/drawingml/2006/main">
            <a:r>
              <a:t>Acceptance: Report retrieval hits, unsupported answers, abstentions, and attempts separately. A known citation ID alone does not count as grounded correctness.</a:t>
            </a:r>
          </a:p>
          <a:p xmlns:a="http://schemas.openxmlformats.org/drawingml/2006/main">
            <a:r>
              <a:t>Lab: labs/06_langgraph_corrective_rag.ipynb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a4e0b3f81041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5313227a574732" /><Relationship Type="http://schemas.openxmlformats.org/officeDocument/2006/relationships/slideLayout" Target="/ppt/slideLayouts/slideLayout1.xml" Id="Ra87833cd17ec496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7833cd17ec496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330d91f4a8430e" /><Relationship Type="http://schemas.openxmlformats.org/officeDocument/2006/relationships/notesSlide" Target="/ppt/notesSlides/notesSlide1.xml" Id="R1d042d36f08940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b59b30bfe1491f" /><Relationship Type="http://schemas.openxmlformats.org/officeDocument/2006/relationships/notesSlide" Target="/ppt/notesSlides/notesSlide2.xml" Id="Rbaf0a63c559c45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582c07be074cfd" /><Relationship Type="http://schemas.openxmlformats.org/officeDocument/2006/relationships/notesSlide" Target="/ppt/notesSlides/notesSlide3.xml" Id="R014edb0c94694a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b37cf76fc042ea" /><Relationship Type="http://schemas.openxmlformats.org/officeDocument/2006/relationships/notesSlide" Target="/ppt/notesSlides/notesSlide4.xml" Id="R124fc883c43c41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483648b6e045b0" /><Relationship Type="http://schemas.openxmlformats.org/officeDocument/2006/relationships/notesSlide" Target="/ppt/notesSlides/notesSlide5.xml" Id="R9f29173910af49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b20a281b1b481c" /><Relationship Type="http://schemas.openxmlformats.org/officeDocument/2006/relationships/notesSlide" Target="/ppt/notesSlides/notesSlide6.xml" Id="R9f16aecb2b3246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4e3aae7eb241ba" /><Relationship Type="http://schemas.openxmlformats.org/officeDocument/2006/relationships/notesSlide" Target="/ppt/notesSlides/notesSlide7.xml" Id="R49db958dc59e41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0e1eb04304ba5" /><Relationship Type="http://schemas.openxmlformats.org/officeDocument/2006/relationships/notesSlide" Target="/ppt/notesSlides/notesSlide8.xml" Id="R639acb4c895b47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01d3d5e0364e64" /><Relationship Type="http://schemas.openxmlformats.org/officeDocument/2006/relationships/notesSlide" Target="/ppt/notesSlides/notesSlide9.xml" Id="Rfaac9d3d4b094f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eaf7ca4143471f" /><Relationship Type="http://schemas.openxmlformats.org/officeDocument/2006/relationships/notesSlide" Target="/ppt/notesSlides/notesSlide10.xml" Id="R9cab2402477444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9db3ddc74e4ee6" /><Relationship Type="http://schemas.openxmlformats.org/officeDocument/2006/relationships/notesSlide" Target="/ppt/notesSlides/notesSlide11.xml" Id="Rb6d342f2e11847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a728ddcaf1e4cc2" /><Relationship Type="http://schemas.openxmlformats.org/officeDocument/2006/relationships/notesSlide" Target="/ppt/notesSlides/notesSlide12.xml" Id="R1b001ce15e964178"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0C3957AB-C7A8-46E1-B5FF-A655DF57CA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ourse-title">
            <a:extLst xmlns:a="http://schemas.openxmlformats.org/drawingml/2006/main">
              <a:ext uri="{FF2B5EF4-FFF2-40B4-BE49-F238E27FC236}">
                <a16:creationId xmlns:a16="http://schemas.microsoft.com/office/drawing/2014/main" id="{B6CEFB81-E782-4976-BB63-BC1191AA1366}"/>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4AEA6F0B-EE71-4D65-B250-F741ED75C2AA}"/>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06</a:t>
            </a:r>
          </a:p>
        </p:txBody>
      </p:sp>
      <p:sp>
        <p:nvSpPr>
          <p:cNvPr id="4" name="deck-title">
            <a:extLst xmlns:a="http://schemas.openxmlformats.org/drawingml/2006/main">
              <a:ext uri="{FF2B5EF4-FFF2-40B4-BE49-F238E27FC236}">
                <a16:creationId xmlns:a16="http://schemas.microsoft.com/office/drawing/2014/main" id="{764FAEDE-32B1-4452-85AA-89AC896B87B6}"/>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RAG and Agentic RAG</a:t>
            </a:r>
          </a:p>
        </p:txBody>
      </p:sp>
      <p:sp>
        <p:nvSpPr>
          <p:cNvPr id="5" name="deck-thesis">
            <a:extLst xmlns:a="http://schemas.openxmlformats.org/drawingml/2006/main">
              <a:ext uri="{FF2B5EF4-FFF2-40B4-BE49-F238E27FC236}">
                <a16:creationId xmlns:a16="http://schemas.microsoft.com/office/drawing/2014/main" id="{46A61542-D98A-441B-8D58-ADA67D25E1F1}"/>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RAG grounds generation in controlled evidence; agentic RAG adds decisions about whether, what, and how to retrieve.</a:t>
            </a:r>
          </a:p>
        </p:txBody>
      </p:sp>
      <p:sp>
        <p:nvSpPr>
          <p:cNvPr id="6" name="title-marker">
            <a:extLst xmlns:a="http://schemas.openxmlformats.org/drawingml/2006/main">
              <a:ext uri="{FF2B5EF4-FFF2-40B4-BE49-F238E27FC236}">
                <a16:creationId xmlns:a16="http://schemas.microsoft.com/office/drawing/2014/main" id="{FB90BA22-26A2-4997-A9FE-E54E24A68F38}"/>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7" name="title-marker-text">
            <a:extLst xmlns:a="http://schemas.openxmlformats.org/drawingml/2006/main">
              <a:ext uri="{FF2B5EF4-FFF2-40B4-BE49-F238E27FC236}">
                <a16:creationId xmlns:a16="http://schemas.microsoft.com/office/drawing/2014/main" id="{62879D8B-3233-45BD-87EB-0A5E1346106F}"/>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6718936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282BAE77-C585-4E5E-8851-FB74981D843C}"/>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686D01AA-9BCA-4214-B3EB-B0667530495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06</a:t>
            </a:r>
          </a:p>
        </p:txBody>
      </p:sp>
      <p:sp>
        <p:nvSpPr>
          <p:cNvPr id="3" name="slide-number">
            <a:extLst xmlns:a="http://schemas.openxmlformats.org/drawingml/2006/main">
              <a:ext uri="{FF2B5EF4-FFF2-40B4-BE49-F238E27FC236}">
                <a16:creationId xmlns:a16="http://schemas.microsoft.com/office/drawing/2014/main" id="{C6579EF0-E8AE-4EE1-B980-9F2FE9DB3BF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9EF57541-9EDD-4362-97AB-22B0B638C853}"/>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objectives-title">
            <a:extLst xmlns:a="http://schemas.openxmlformats.org/drawingml/2006/main">
              <a:ext uri="{FF2B5EF4-FFF2-40B4-BE49-F238E27FC236}">
                <a16:creationId xmlns:a16="http://schemas.microsoft.com/office/drawing/2014/main" id="{E552A181-6C7D-4D7D-A930-1E542D42DC45}"/>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9675D11D-71D9-406A-BE68-8606886EEA3B}"/>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8EFAC7E6-11D3-4B22-976A-6054827C9408}"/>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Explain the classic RAG pipeline</a:t>
            </a:r>
          </a:p>
        </p:txBody>
      </p:sp>
      <p:sp>
        <p:nvSpPr>
          <p:cNvPr id="8" name="objective-number-2">
            <a:extLst xmlns:a="http://schemas.openxmlformats.org/drawingml/2006/main">
              <a:ext uri="{FF2B5EF4-FFF2-40B4-BE49-F238E27FC236}">
                <a16:creationId xmlns:a16="http://schemas.microsoft.com/office/drawing/2014/main" id="{C06A1626-92DA-41E9-B144-3575B1722847}"/>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BBB694C3-8759-4B5A-A37E-1E36134D047B}"/>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Tune chunking and retrieval</a:t>
            </a:r>
          </a:p>
        </p:txBody>
      </p:sp>
      <p:sp>
        <p:nvSpPr>
          <p:cNvPr id="10" name="objective-number-3">
            <a:extLst xmlns:a="http://schemas.openxmlformats.org/drawingml/2006/main">
              <a:ext uri="{FF2B5EF4-FFF2-40B4-BE49-F238E27FC236}">
                <a16:creationId xmlns:a16="http://schemas.microsoft.com/office/drawing/2014/main" id="{E972139A-FC20-4BC3-9138-1ACBB7B85DCC}"/>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A27589A0-319D-4A1A-B214-E14AD558DEF9}"/>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Evaluate retrieval and generation separately</a:t>
            </a:r>
          </a:p>
        </p:txBody>
      </p:sp>
      <p:sp>
        <p:nvSpPr>
          <p:cNvPr id="12" name="objective-number-4">
            <a:extLst xmlns:a="http://schemas.openxmlformats.org/drawingml/2006/main">
              <a:ext uri="{FF2B5EF4-FFF2-40B4-BE49-F238E27FC236}">
                <a16:creationId xmlns:a16="http://schemas.microsoft.com/office/drawing/2014/main" id="{9F6014F3-C10C-49CD-B3FD-B4E5C106EBEB}"/>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73C8FF"/>
                </a:solidFill>
                <a:latin typeface="Helvetica Neue"/>
                <a:ea typeface="Helvetica Neue"/>
                <a:cs typeface="Helvetica Neue"/>
              </a:defRPr>
            </a:pPr>
            <a:r>
              <a:rPr sz="3450" b="1">
                <a:solidFill>
                  <a:srgbClr val="73C8FF"/>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8D301128-01E3-4CF6-86CA-0330BE9350F6}"/>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Compare vector, agentic, and graph retrieval</a:t>
            </a:r>
          </a:p>
        </p:txBody>
      </p:sp>
    </p:spTree>
    <p:extLst>
      <p:ext uri="{BB962C8B-B14F-4D97-AF65-F5344CB8AC3E}">
        <p14:creationId xmlns:p14="http://schemas.microsoft.com/office/powerpoint/2010/main" val="891249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92069CFE-CA07-48A4-947F-67341E7E874D}"/>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413ADC1A-7B9C-41B0-A3ED-EB162311ABB7}"/>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06</a:t>
            </a:r>
          </a:p>
        </p:txBody>
      </p:sp>
      <p:sp>
        <p:nvSpPr>
          <p:cNvPr id="3" name="slide-number">
            <a:extLst xmlns:a="http://schemas.openxmlformats.org/drawingml/2006/main">
              <a:ext uri="{FF2B5EF4-FFF2-40B4-BE49-F238E27FC236}">
                <a16:creationId xmlns:a16="http://schemas.microsoft.com/office/drawing/2014/main" id="{13B55679-22CC-47D6-A27A-DA52A579F2C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22F7598C-4FFC-48BF-8204-A554D0F55A1E}"/>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8E6E8B2D-0091-45F0-ABB3-7FA303F05D98}"/>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Retrieval addresses the limits of parametric memory</a:t>
            </a:r>
          </a:p>
        </p:txBody>
      </p:sp>
      <p:sp>
        <p:nvSpPr>
          <p:cNvPr id="6" name="section-explanation">
            <a:extLst xmlns:a="http://schemas.openxmlformats.org/drawingml/2006/main">
              <a:ext uri="{FF2B5EF4-FFF2-40B4-BE49-F238E27FC236}">
                <a16:creationId xmlns:a16="http://schemas.microsoft.com/office/drawing/2014/main" id="{0EAAB8D4-C972-4C2B-A0EF-3DD4EDEBF97C}"/>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Knowledge stored in weights can be outdated, unavailable for private corpora, unreliable on rare facts, and difficult to verify. RAG fetches evidence at query time and includes it in context so generation can be grounded and cited.</a:t>
            </a:r>
          </a:p>
        </p:txBody>
      </p:sp>
      <p:sp>
        <p:nvSpPr>
          <p:cNvPr id="7" name="column-rule">
            <a:extLst xmlns:a="http://schemas.openxmlformats.org/drawingml/2006/main">
              <a:ext uri="{FF2B5EF4-FFF2-40B4-BE49-F238E27FC236}">
                <a16:creationId xmlns:a16="http://schemas.microsoft.com/office/drawing/2014/main" id="{08E5F401-172B-4424-B677-30B3A28174A0}"/>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5B5AE800-81F1-431F-BD4D-A27A29D63DCB}"/>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Domain accuracy comes from a controlled corpus.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Freshness comes from updating the index.</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Traceability comes from source metadata and citations.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Privacy requires access control before retrieval reaches the model.</a:t>
            </a:r>
          </a:p>
        </p:txBody>
      </p:sp>
    </p:spTree>
    <p:extLst>
      <p:ext uri="{BB962C8B-B14F-4D97-AF65-F5344CB8AC3E}">
        <p14:creationId xmlns:p14="http://schemas.microsoft.com/office/powerpoint/2010/main" val="1762817927"/>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0327ECDA-1DED-412D-9023-B561E699FEBF}"/>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71F9C47B-8F11-45DA-95B2-25916991B5E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06</a:t>
            </a:r>
          </a:p>
        </p:txBody>
      </p:sp>
      <p:sp>
        <p:nvSpPr>
          <p:cNvPr id="3" name="slide-number">
            <a:extLst xmlns:a="http://schemas.openxmlformats.org/drawingml/2006/main">
              <a:ext uri="{FF2B5EF4-FFF2-40B4-BE49-F238E27FC236}">
                <a16:creationId xmlns:a16="http://schemas.microsoft.com/office/drawing/2014/main" id="{D994F249-5C52-4361-B881-75D550EB7C7F}"/>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232C8563-8F90-4DBA-AF3F-3E9D9A49462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9A2222F8-2FD4-46EF-997B-4928773DF252}"/>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Classic RAG is an ingestion and query pipeline</a:t>
            </a:r>
          </a:p>
        </p:txBody>
      </p:sp>
      <p:sp>
        <p:nvSpPr>
          <p:cNvPr id="6" name="section-explanation">
            <a:extLst xmlns:a="http://schemas.openxmlformats.org/drawingml/2006/main">
              <a:ext uri="{FF2B5EF4-FFF2-40B4-BE49-F238E27FC236}">
                <a16:creationId xmlns:a16="http://schemas.microsoft.com/office/drawing/2014/main" id="{179D800D-B9C4-422B-875D-405C29E317CF}"/>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Documents are loaded and normalized, split into chunks, embedded, and stored. At query time the question is embedded, relevant chunks are retrieved, the prompt is augmented, and the LLM generates an answer from that evidence.</a:t>
            </a:r>
          </a:p>
        </p:txBody>
      </p:sp>
      <p:sp>
        <p:nvSpPr>
          <p:cNvPr id="7" name="point-band-1">
            <a:extLst xmlns:a="http://schemas.openxmlformats.org/drawingml/2006/main">
              <a:ext uri="{FF2B5EF4-FFF2-40B4-BE49-F238E27FC236}">
                <a16:creationId xmlns:a16="http://schemas.microsoft.com/office/drawing/2014/main" id="{D5B90D74-9BF0-439D-B43C-98D31F393E9F}"/>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C0A0CECD-09DB-416E-A33E-F1B4464E4015}"/>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Loaders preserve metadata such as source, date, and permissions.</a:t>
            </a:r>
          </a:p>
        </p:txBody>
      </p:sp>
      <p:sp>
        <p:nvSpPr>
          <p:cNvPr id="9" name="point-band-2">
            <a:extLst xmlns:a="http://schemas.openxmlformats.org/drawingml/2006/main">
              <a:ext uri="{FF2B5EF4-FFF2-40B4-BE49-F238E27FC236}">
                <a16:creationId xmlns:a16="http://schemas.microsoft.com/office/drawing/2014/main" id="{BE1C3F8F-8264-4C56-8B6A-589530E9FDD3}"/>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616FEDA9-29FF-43DF-A762-28E9521FC09D}"/>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Vector indexes support semantic nearest-neighbor search.</a:t>
            </a:r>
          </a:p>
        </p:txBody>
      </p:sp>
      <p:sp>
        <p:nvSpPr>
          <p:cNvPr id="11" name="point-band-3">
            <a:extLst xmlns:a="http://schemas.openxmlformats.org/drawingml/2006/main">
              <a:ext uri="{FF2B5EF4-FFF2-40B4-BE49-F238E27FC236}">
                <a16:creationId xmlns:a16="http://schemas.microsoft.com/office/drawing/2014/main" id="{D69C88F7-94F6-462E-BDAB-B355005EE602}"/>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45C49831-A7E4-4127-B40A-13FFC5E46F85}"/>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The generated answer should cite the retrieved source.</a:t>
            </a:r>
          </a:p>
        </p:txBody>
      </p:sp>
    </p:spTree>
    <p:extLst>
      <p:ext uri="{BB962C8B-B14F-4D97-AF65-F5344CB8AC3E}">
        <p14:creationId xmlns:p14="http://schemas.microsoft.com/office/powerpoint/2010/main" val="17503301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28FD50CF-E7C1-47B0-B5A8-2486C7D53C2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5E63613E-0371-4C84-B9B9-8770E733860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06</a:t>
            </a:r>
          </a:p>
        </p:txBody>
      </p:sp>
      <p:sp>
        <p:nvSpPr>
          <p:cNvPr id="3" name="slide-number">
            <a:extLst xmlns:a="http://schemas.openxmlformats.org/drawingml/2006/main">
              <a:ext uri="{FF2B5EF4-FFF2-40B4-BE49-F238E27FC236}">
                <a16:creationId xmlns:a16="http://schemas.microsoft.com/office/drawing/2014/main" id="{665369D8-1940-4B35-9ECF-15311C6FE92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58E862A1-9E06-4C0F-9D73-7108A6473DF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1BCC186E-89DF-46D4-A7ED-E310322B5DE1}"/>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Chunking sets the ceiling for retrieval</a:t>
            </a:r>
          </a:p>
        </p:txBody>
      </p:sp>
      <p:sp>
        <p:nvSpPr>
          <p:cNvPr id="6" name="section-explanation">
            <a:extLst xmlns:a="http://schemas.openxmlformats.org/drawingml/2006/main">
              <a:ext uri="{FF2B5EF4-FFF2-40B4-BE49-F238E27FC236}">
                <a16:creationId xmlns:a16="http://schemas.microsoft.com/office/drawing/2014/main" id="{682F5CD8-A11A-4F24-B29B-D9D810F14E01}"/>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Chunks must fit budgets without cutting away the relationships needed to answer. Fixed-size windows are a practical default; hierarchical or sentence strategies fit structured or precise material. Overlap reduces boundary loss at additional index cost.</a:t>
            </a:r>
          </a:p>
        </p:txBody>
      </p:sp>
      <p:sp>
        <p:nvSpPr>
          <p:cNvPr id="7" name="column-rule">
            <a:extLst xmlns:a="http://schemas.openxmlformats.org/drawingml/2006/main">
              <a:ext uri="{FF2B5EF4-FFF2-40B4-BE49-F238E27FC236}">
                <a16:creationId xmlns:a16="http://schemas.microsoft.com/office/drawing/2014/main" id="{E618E6ED-B32B-4078-8072-C8526E60CD2C}"/>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B8BA167A-00BA-4FA0-9CEE-DD5461FDD956}"/>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Too-small chunks lose context.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Too-large chunks dilute relevance.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Answers spanning boundaries may require overlap or parent-child retrieval.</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Metadata captured during loading enables filters.</a:t>
            </a:r>
          </a:p>
        </p:txBody>
      </p:sp>
    </p:spTree>
    <p:extLst>
      <p:ext uri="{BB962C8B-B14F-4D97-AF65-F5344CB8AC3E}">
        <p14:creationId xmlns:p14="http://schemas.microsoft.com/office/powerpoint/2010/main" val="474672185"/>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6428D1DD-96BD-4D80-8B3A-857E835FB81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BD154EBF-B1A6-47FB-A613-4E41B2AE2197}"/>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06</a:t>
            </a:r>
          </a:p>
        </p:txBody>
      </p:sp>
      <p:sp>
        <p:nvSpPr>
          <p:cNvPr id="3" name="slide-number">
            <a:extLst xmlns:a="http://schemas.openxmlformats.org/drawingml/2006/main">
              <a:ext uri="{FF2B5EF4-FFF2-40B4-BE49-F238E27FC236}">
                <a16:creationId xmlns:a16="http://schemas.microsoft.com/office/drawing/2014/main" id="{8AC1472A-E5A7-4775-82C4-8074DEB1DBB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06337DA0-3DEA-49F1-B803-D026FEB8689E}"/>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6511A720-59E8-4074-8AB8-D9F0B2C1A903}"/>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Naive top-k retrieval is only a baseline</a:t>
            </a:r>
          </a:p>
        </p:txBody>
      </p:sp>
      <p:sp>
        <p:nvSpPr>
          <p:cNvPr id="6" name="section-explanation">
            <a:extLst xmlns:a="http://schemas.openxmlformats.org/drawingml/2006/main">
              <a:ext uri="{FF2B5EF4-FFF2-40B4-BE49-F238E27FC236}">
                <a16:creationId xmlns:a16="http://schemas.microsoft.com/office/drawing/2014/main" id="{D66B46CD-81AF-4BE4-B63D-717134E2CA4A}"/>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Semantic similarity can miss exact terms and return redundant or weak evidence. Hybrid search combines vector and lexical retrieval; reranking improves precision; query transformation, expansion, multi-query, and HyDE improve recall.</a:t>
            </a:r>
          </a:p>
        </p:txBody>
      </p:sp>
      <p:sp>
        <p:nvSpPr>
          <p:cNvPr id="7" name="point-band-1">
            <a:extLst xmlns:a="http://schemas.openxmlformats.org/drawingml/2006/main">
              <a:ext uri="{FF2B5EF4-FFF2-40B4-BE49-F238E27FC236}">
                <a16:creationId xmlns:a16="http://schemas.microsoft.com/office/drawing/2014/main" id="{07E735C4-0145-49C2-A123-816AA2C7E18D}"/>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46F47ED6-7B9B-4BB8-98A7-6CAE71FD9B7D}"/>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Top-k trades missed evidence against context dilution.</a:t>
            </a:r>
          </a:p>
        </p:txBody>
      </p:sp>
      <p:sp>
        <p:nvSpPr>
          <p:cNvPr id="9" name="point-band-2">
            <a:extLst xmlns:a="http://schemas.openxmlformats.org/drawingml/2006/main">
              <a:ext uri="{FF2B5EF4-FFF2-40B4-BE49-F238E27FC236}">
                <a16:creationId xmlns:a16="http://schemas.microsoft.com/office/drawing/2014/main" id="{C0A52D59-BCC7-44E5-9D4D-F89BC1D3785F}"/>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66E8D6B6-563A-4180-BFB0-45943C3C9D85}"/>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Filter permissions before semantic ranking.</a:t>
            </a:r>
          </a:p>
        </p:txBody>
      </p:sp>
      <p:sp>
        <p:nvSpPr>
          <p:cNvPr id="11" name="point-band-3">
            <a:extLst xmlns:a="http://schemas.openxmlformats.org/drawingml/2006/main">
              <a:ext uri="{FF2B5EF4-FFF2-40B4-BE49-F238E27FC236}">
                <a16:creationId xmlns:a16="http://schemas.microsoft.com/office/drawing/2014/main" id="{DD0051AA-704D-47C5-A5BB-36DA02B9343D}"/>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E999B1C4-AE6E-45D0-9A7F-DCFA90EF7202}"/>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Rerank a candidate set rather than the whole corpus.</a:t>
            </a:r>
          </a:p>
        </p:txBody>
      </p:sp>
    </p:spTree>
    <p:extLst>
      <p:ext uri="{BB962C8B-B14F-4D97-AF65-F5344CB8AC3E}">
        <p14:creationId xmlns:p14="http://schemas.microsoft.com/office/powerpoint/2010/main" val="146813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09A1892A-C76A-4F5C-BBAC-494CE8B33CE1}"/>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BCE76A07-F8BC-4CCE-97A8-4189DCC04378}"/>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06</a:t>
            </a:r>
          </a:p>
        </p:txBody>
      </p:sp>
      <p:sp>
        <p:nvSpPr>
          <p:cNvPr id="3" name="slide-number">
            <a:extLst xmlns:a="http://schemas.openxmlformats.org/drawingml/2006/main">
              <a:ext uri="{FF2B5EF4-FFF2-40B4-BE49-F238E27FC236}">
                <a16:creationId xmlns:a16="http://schemas.microsoft.com/office/drawing/2014/main" id="{0EC77DA9-FF7D-4368-9A18-62662704819E}"/>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261A89B2-389F-40D2-A05C-D15387103C7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0EFD6A27-07D5-48AF-8D4F-16D1866FCC58}"/>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Evaluate the retriever and generator separately</a:t>
            </a:r>
          </a:p>
        </p:txBody>
      </p:sp>
      <p:sp>
        <p:nvSpPr>
          <p:cNvPr id="6" name="section-explanation">
            <a:extLst xmlns:a="http://schemas.openxmlformats.org/drawingml/2006/main">
              <a:ext uri="{FF2B5EF4-FFF2-40B4-BE49-F238E27FC236}">
                <a16:creationId xmlns:a16="http://schemas.microsoft.com/office/drawing/2014/main" id="{864C98E3-94C1-40A7-A084-E4B4997F6D12}"/>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Retrieval metrics such as recall, precision, and MRR ask whether relevant evidence was fetched. Generation metrics ask whether the answer is relevant and faithful to that evidence. Diagnosing the two stages separately prevents prompt changes from hiding retrieval failures.</a:t>
            </a:r>
          </a:p>
        </p:txBody>
      </p:sp>
      <p:sp>
        <p:nvSpPr>
          <p:cNvPr id="7" name="column-rule">
            <a:extLst xmlns:a="http://schemas.openxmlformats.org/drawingml/2006/main">
              <a:ext uri="{FF2B5EF4-FFF2-40B4-BE49-F238E27FC236}">
                <a16:creationId xmlns:a16="http://schemas.microsoft.com/office/drawing/2014/main" id="{9D21C6EC-2D2C-45AB-8C18-E15C450E6ADE}"/>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DAAAA85A-6B75-42A0-9AF2-9AAED9583589}"/>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Faithfulness directly measures unsupported claims.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Citations make human verification possible.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Production evaluation should include freshness and permission behavior.</a:t>
            </a:r>
          </a:p>
        </p:txBody>
      </p:sp>
    </p:spTree>
    <p:extLst>
      <p:ext uri="{BB962C8B-B14F-4D97-AF65-F5344CB8AC3E}">
        <p14:creationId xmlns:p14="http://schemas.microsoft.com/office/powerpoint/2010/main" val="748392032"/>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3EC4FE53-6721-424A-8656-365E721FA4A4}"/>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40A250D0-FC9A-423E-8738-3543FF2989DB}"/>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06</a:t>
            </a:r>
          </a:p>
        </p:txBody>
      </p:sp>
      <p:sp>
        <p:nvSpPr>
          <p:cNvPr id="3" name="slide-number">
            <a:extLst xmlns:a="http://schemas.openxmlformats.org/drawingml/2006/main">
              <a:ext uri="{FF2B5EF4-FFF2-40B4-BE49-F238E27FC236}">
                <a16:creationId xmlns:a16="http://schemas.microsoft.com/office/drawing/2014/main" id="{DCA5329C-53F4-46A8-9108-389EA392F03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EEF08482-ECFD-4497-B7D1-1F21108CDBFD}"/>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434AF172-3CDF-447C-848B-8D96E0237E08}"/>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Agentic and graph retrieval solve different hard cases</a:t>
            </a:r>
          </a:p>
        </p:txBody>
      </p:sp>
      <p:sp>
        <p:nvSpPr>
          <p:cNvPr id="6" name="section-explanation">
            <a:extLst xmlns:a="http://schemas.openxmlformats.org/drawingml/2006/main">
              <a:ext uri="{FF2B5EF4-FFF2-40B4-BE49-F238E27FC236}">
                <a16:creationId xmlns:a16="http://schemas.microsoft.com/office/drawing/2014/main" id="{BF08D9C5-5470-479E-8375-B0317FC9E3F2}"/>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Agentic RAG lets the model decide whether to retrieve, rewrite or decompose queries, grade evidence, and retrieve again. GraphRAG extracts entities and relationships and retrieves connected subgraphs, which helps multi-hop questions and hidden connections.</a:t>
            </a:r>
          </a:p>
        </p:txBody>
      </p:sp>
      <p:sp>
        <p:nvSpPr>
          <p:cNvPr id="7" name="point-band-1">
            <a:extLst xmlns:a="http://schemas.openxmlformats.org/drawingml/2006/main">
              <a:ext uri="{FF2B5EF4-FFF2-40B4-BE49-F238E27FC236}">
                <a16:creationId xmlns:a16="http://schemas.microsoft.com/office/drawing/2014/main" id="{7B533848-EF8D-4A8D-B76A-20E4A5F4A5CB}"/>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point-1">
            <a:extLst xmlns:a="http://schemas.openxmlformats.org/drawingml/2006/main">
              <a:ext uri="{FF2B5EF4-FFF2-40B4-BE49-F238E27FC236}">
                <a16:creationId xmlns:a16="http://schemas.microsoft.com/office/drawing/2014/main" id="{1D280811-8EEB-4521-86FA-C4C0B6C400AC}"/>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Self-RAG decides and critiques retrieval.</a:t>
            </a:r>
          </a:p>
        </p:txBody>
      </p:sp>
      <p:sp>
        <p:nvSpPr>
          <p:cNvPr id="9" name="point-band-2">
            <a:extLst xmlns:a="http://schemas.openxmlformats.org/drawingml/2006/main">
              <a:ext uri="{FF2B5EF4-FFF2-40B4-BE49-F238E27FC236}">
                <a16:creationId xmlns:a16="http://schemas.microsoft.com/office/drawing/2014/main" id="{DA713D3A-0905-413F-8A83-968694C7C796}"/>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0" name="point-2">
            <a:extLst xmlns:a="http://schemas.openxmlformats.org/drawingml/2006/main">
              <a:ext uri="{FF2B5EF4-FFF2-40B4-BE49-F238E27FC236}">
                <a16:creationId xmlns:a16="http://schemas.microsoft.com/office/drawing/2014/main" id="{AAA396DE-8642-4F48-A716-5FDF9C650020}"/>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Corrective RAG grades evidence and uses a fallback when weak.</a:t>
            </a:r>
          </a:p>
        </p:txBody>
      </p:sp>
      <p:sp>
        <p:nvSpPr>
          <p:cNvPr id="11" name="point-band-3">
            <a:extLst xmlns:a="http://schemas.openxmlformats.org/drawingml/2006/main">
              <a:ext uri="{FF2B5EF4-FFF2-40B4-BE49-F238E27FC236}">
                <a16:creationId xmlns:a16="http://schemas.microsoft.com/office/drawing/2014/main" id="{F5C7AB52-0A94-4B78-B1D6-8F6358334DEC}"/>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2" name="point-3">
            <a:extLst xmlns:a="http://schemas.openxmlformats.org/drawingml/2006/main">
              <a:ext uri="{FF2B5EF4-FFF2-40B4-BE49-F238E27FC236}">
                <a16:creationId xmlns:a16="http://schemas.microsoft.com/office/drawing/2014/main" id="{A7D77987-1116-421B-A547-4AD0C257E449}"/>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Vector RAG finds semantically relevant text.</a:t>
            </a:r>
          </a:p>
        </p:txBody>
      </p:sp>
      <p:sp>
        <p:nvSpPr>
          <p:cNvPr id="13" name="point-band-4">
            <a:extLst xmlns:a="http://schemas.openxmlformats.org/drawingml/2006/main">
              <a:ext uri="{FF2B5EF4-FFF2-40B4-BE49-F238E27FC236}">
                <a16:creationId xmlns:a16="http://schemas.microsoft.com/office/drawing/2014/main" id="{0F204128-7120-4C50-A74A-AB6AD74F587E}"/>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14" name="point-4">
            <a:extLst xmlns:a="http://schemas.openxmlformats.org/drawingml/2006/main">
              <a:ext uri="{FF2B5EF4-FFF2-40B4-BE49-F238E27FC236}">
                <a16:creationId xmlns:a16="http://schemas.microsoft.com/office/drawing/2014/main" id="{FAEF35D5-0985-4F3E-B70D-9DDC78873996}"/>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GraphRAG follows relationships at higher build cost.</a:t>
            </a:r>
          </a:p>
        </p:txBody>
      </p:sp>
    </p:spTree>
    <p:extLst>
      <p:ext uri="{BB962C8B-B14F-4D97-AF65-F5344CB8AC3E}">
        <p14:creationId xmlns:p14="http://schemas.microsoft.com/office/powerpoint/2010/main" val="16378070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9E971E1C-94CA-497D-BC78-0F7ABFC46226}"/>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CC59C869-4C79-4C66-8F77-324AFA4EFA58}"/>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07  /  06</a:t>
            </a:r>
          </a:p>
        </p:txBody>
      </p:sp>
      <p:sp>
        <p:nvSpPr>
          <p:cNvPr id="3" name="slide-number">
            <a:extLst xmlns:a="http://schemas.openxmlformats.org/drawingml/2006/main">
              <a:ext uri="{FF2B5EF4-FFF2-40B4-BE49-F238E27FC236}">
                <a16:creationId xmlns:a16="http://schemas.microsoft.com/office/drawing/2014/main" id="{81164CDA-BCE0-4B9F-BE14-99FDF8B4D195}"/>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672DBF64-39C0-44E0-A479-93D35FF82C88}"/>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section-title">
            <a:extLst xmlns:a="http://schemas.openxmlformats.org/drawingml/2006/main">
              <a:ext uri="{FF2B5EF4-FFF2-40B4-BE49-F238E27FC236}">
                <a16:creationId xmlns:a16="http://schemas.microsoft.com/office/drawing/2014/main" id="{EED894D4-FEC6-470A-8C79-C5F37695FFEA}"/>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Provenance and abstention make retrieval auditable</a:t>
            </a:r>
          </a:p>
        </p:txBody>
      </p:sp>
      <p:sp>
        <p:nvSpPr>
          <p:cNvPr id="6" name="section-explanation">
            <a:extLst xmlns:a="http://schemas.openxmlformats.org/drawingml/2006/main">
              <a:ext uri="{FF2B5EF4-FFF2-40B4-BE49-F238E27FC236}">
                <a16:creationId xmlns:a16="http://schemas.microsoft.com/office/drawing/2014/main" id="{EABA255A-1FFD-465A-A94C-700FBD39A8A2}"/>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Carry source IDs and text through every retrieval step. Check whether the evidence supports the answer separately from whether a citation ID exists. A bounded repair attempt should end in an answer or an explicit abstention.</a:t>
            </a:r>
          </a:p>
        </p:txBody>
      </p:sp>
      <p:sp>
        <p:nvSpPr>
          <p:cNvPr id="7" name="column-rule">
            <a:extLst xmlns:a="http://schemas.openxmlformats.org/drawingml/2006/main">
              <a:ext uri="{FF2B5EF4-FFF2-40B4-BE49-F238E27FC236}">
                <a16:creationId xmlns:a16="http://schemas.microsoft.com/office/drawing/2014/main" id="{319C0897-6F07-4BED-8FDA-1AC9B7A3F4AC}"/>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8" name="section-points">
            <a:extLst xmlns:a="http://schemas.openxmlformats.org/drawingml/2006/main">
              <a:ext uri="{FF2B5EF4-FFF2-40B4-BE49-F238E27FC236}">
                <a16:creationId xmlns:a16="http://schemas.microsoft.com/office/drawing/2014/main" id="{133E20B6-F3E7-464F-89AB-312A7CBBCCDD}"/>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Compare against static retrieval on the same questions.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Keep conflicting evidence visible.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Treat a rewrite as optional and measurable.</a:t>
            </a:r>
          </a:p>
        </p:txBody>
      </p:sp>
    </p:spTree>
    <p:extLst>
      <p:ext uri="{BB962C8B-B14F-4D97-AF65-F5344CB8AC3E}">
        <p14:creationId xmlns:p14="http://schemas.microsoft.com/office/powerpoint/2010/main" val="1588250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7B71C9FF-59D6-42E1-B803-301ABB14D32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58FA2343-2ABC-4472-A074-D0DE861D4B6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06</a:t>
            </a:r>
          </a:p>
        </p:txBody>
      </p:sp>
      <p:sp>
        <p:nvSpPr>
          <p:cNvPr id="3" name="slide-number">
            <a:extLst xmlns:a="http://schemas.openxmlformats.org/drawingml/2006/main">
              <a:ext uri="{FF2B5EF4-FFF2-40B4-BE49-F238E27FC236}">
                <a16:creationId xmlns:a16="http://schemas.microsoft.com/office/drawing/2014/main" id="{088BD54B-4CCD-4259-8D8E-F7F848CEFACD}"/>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DDB17E2E-7E3A-4E8E-8174-128998D511A3}"/>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exam-title">
            <a:extLst xmlns:a="http://schemas.openxmlformats.org/drawingml/2006/main">
              <a:ext uri="{FF2B5EF4-FFF2-40B4-BE49-F238E27FC236}">
                <a16:creationId xmlns:a16="http://schemas.microsoft.com/office/drawing/2014/main" id="{D966D6C8-3D66-414F-82CD-0F1F5FF8C628}"/>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07534F31-A7CF-429E-A72C-3F56FC7F2BDF}"/>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14A5A756-C8BC-4052-AD65-398CDB338298}"/>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Describe the RAG pipeline from ingestion to answer.</a:t>
            </a:r>
          </a:p>
        </p:txBody>
      </p:sp>
      <p:sp>
        <p:nvSpPr>
          <p:cNvPr id="8" name="exam-number-2">
            <a:extLst xmlns:a="http://schemas.openxmlformats.org/drawingml/2006/main">
              <a:ext uri="{FF2B5EF4-FFF2-40B4-BE49-F238E27FC236}">
                <a16:creationId xmlns:a16="http://schemas.microsoft.com/office/drawing/2014/main" id="{696AF783-8A9D-4844-BB73-527E0065ADF0}"/>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7D18F999-7347-4AF5-AC89-A342FDD5E118}"/>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How do chunk size and overlap affect retrieval?</a:t>
            </a:r>
          </a:p>
        </p:txBody>
      </p:sp>
      <p:sp>
        <p:nvSpPr>
          <p:cNvPr id="10" name="exam-number-3">
            <a:extLst xmlns:a="http://schemas.openxmlformats.org/drawingml/2006/main">
              <a:ext uri="{FF2B5EF4-FFF2-40B4-BE49-F238E27FC236}">
                <a16:creationId xmlns:a16="http://schemas.microsoft.com/office/drawing/2014/main" id="{7E783E04-A9A7-4AE7-80BA-55343FFDD4EB}"/>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E532D896-A120-4962-A397-530BF6396534}"/>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Why can top-k retrieval dilute an answer?</a:t>
            </a:r>
          </a:p>
        </p:txBody>
      </p:sp>
      <p:sp>
        <p:nvSpPr>
          <p:cNvPr id="12" name="exam-number-4">
            <a:extLst xmlns:a="http://schemas.openxmlformats.org/drawingml/2006/main">
              <a:ext uri="{FF2B5EF4-FFF2-40B4-BE49-F238E27FC236}">
                <a16:creationId xmlns:a16="http://schemas.microsoft.com/office/drawing/2014/main" id="{29D61457-7D84-4C4C-BD47-C99B91590532}"/>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DC4EA962-413B-4A28-BDDE-C9B9D67DA8F4}"/>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hybrid search, reranking, and query transformation.</a:t>
            </a:r>
          </a:p>
        </p:txBody>
      </p:sp>
      <p:sp>
        <p:nvSpPr>
          <p:cNvPr id="14" name="exam-number-5">
            <a:extLst xmlns:a="http://schemas.openxmlformats.org/drawingml/2006/main">
              <a:ext uri="{FF2B5EF4-FFF2-40B4-BE49-F238E27FC236}">
                <a16:creationId xmlns:a16="http://schemas.microsoft.com/office/drawing/2014/main" id="{FF4C8851-27F4-49A9-896D-6525B719384D}"/>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471AA265-5267-4FB1-BFDF-61365201CACB}"/>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is faithfulness and why is it important?</a:t>
            </a:r>
          </a:p>
        </p:txBody>
      </p:sp>
      <p:sp>
        <p:nvSpPr>
          <p:cNvPr id="16" name="exam-number-6">
            <a:extLst xmlns:a="http://schemas.openxmlformats.org/drawingml/2006/main">
              <a:ext uri="{FF2B5EF4-FFF2-40B4-BE49-F238E27FC236}">
                <a16:creationId xmlns:a16="http://schemas.microsoft.com/office/drawing/2014/main" id="{624A4A74-7C90-4980-9B69-195DD4D52840}"/>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73C8FF"/>
                </a:solidFill>
                <a:latin typeface="Helvetica Neue"/>
                <a:ea typeface="Helvetica Neue"/>
                <a:cs typeface="Helvetica Neue"/>
              </a:defRPr>
            </a:pPr>
            <a:r>
              <a:rPr sz="1725" b="1">
                <a:solidFill>
                  <a:srgbClr val="73C8FF"/>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21C1C5E2-A23E-4C06-9F8F-D1B18C97FFF9}"/>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can a citation-membership test establish, and what remains untested?</a:t>
            </a:r>
          </a:p>
        </p:txBody>
      </p:sp>
    </p:spTree>
    <p:extLst>
      <p:ext uri="{BB962C8B-B14F-4D97-AF65-F5344CB8AC3E}">
        <p14:creationId xmlns:p14="http://schemas.microsoft.com/office/powerpoint/2010/main" val="563438994"/>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3A41AB1A-CEA6-457C-BF2D-2172A2597EF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7C984000-E649-40D3-A63C-705093BCFEBC}"/>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06</a:t>
            </a:r>
          </a:p>
        </p:txBody>
      </p:sp>
      <p:sp>
        <p:nvSpPr>
          <p:cNvPr id="3" name="slide-number">
            <a:extLst xmlns:a="http://schemas.openxmlformats.org/drawingml/2006/main">
              <a:ext uri="{FF2B5EF4-FFF2-40B4-BE49-F238E27FC236}">
                <a16:creationId xmlns:a16="http://schemas.microsoft.com/office/drawing/2014/main" id="{59EE9F70-F8E6-41A9-B01B-AE7EE47CFE7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11</a:t>
            </a:r>
          </a:p>
        </p:txBody>
      </p:sp>
      <p:sp>
        <p:nvSpPr>
          <p:cNvPr id="4" name="chapter-footer">
            <a:extLst xmlns:a="http://schemas.openxmlformats.org/drawingml/2006/main">
              <a:ext uri="{FF2B5EF4-FFF2-40B4-BE49-F238E27FC236}">
                <a16:creationId xmlns:a16="http://schemas.microsoft.com/office/drawing/2014/main" id="{E6B2A9B8-439E-485F-968B-186DCEFA819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closing-title">
            <a:extLst xmlns:a="http://schemas.openxmlformats.org/drawingml/2006/main">
              <a:ext uri="{FF2B5EF4-FFF2-40B4-BE49-F238E27FC236}">
                <a16:creationId xmlns:a16="http://schemas.microsoft.com/office/drawing/2014/main" id="{CF50D3B1-8D32-44FC-B6C6-0E2E162CB2F0}"/>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060054DC-B20D-4E09-9C47-CC7667610755}"/>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68F1F5A6-F0D2-4B33-85B3-261149939BBA}"/>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RAG provides fresh, private, and citable evidence.</a:t>
            </a:r>
          </a:p>
        </p:txBody>
      </p:sp>
      <p:sp>
        <p:nvSpPr>
          <p:cNvPr id="8" name="takeaway-number-2">
            <a:extLst xmlns:a="http://schemas.openxmlformats.org/drawingml/2006/main">
              <a:ext uri="{FF2B5EF4-FFF2-40B4-BE49-F238E27FC236}">
                <a16:creationId xmlns:a16="http://schemas.microsoft.com/office/drawing/2014/main" id="{F50AB513-2BCF-4B59-9E57-10B4311F3291}"/>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28854923-2196-4786-ADEC-783EB4FDAAF1}"/>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Chunking and retrieval quality determine the maximum answer quality.</a:t>
            </a:r>
          </a:p>
        </p:txBody>
      </p:sp>
      <p:sp>
        <p:nvSpPr>
          <p:cNvPr id="10" name="takeaway-number-3">
            <a:extLst xmlns:a="http://schemas.openxmlformats.org/drawingml/2006/main">
              <a:ext uri="{FF2B5EF4-FFF2-40B4-BE49-F238E27FC236}">
                <a16:creationId xmlns:a16="http://schemas.microsoft.com/office/drawing/2014/main" id="{EE40F374-7846-4E38-A888-7B2C496E0F44}"/>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13E20865-6A96-4858-904A-4FBCEBC51B98}"/>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Measure retrieval and generation as separate systems.</a:t>
            </a:r>
          </a:p>
        </p:txBody>
      </p:sp>
      <p:sp>
        <p:nvSpPr>
          <p:cNvPr id="12" name="takeaway-number-4">
            <a:extLst xmlns:a="http://schemas.openxmlformats.org/drawingml/2006/main">
              <a:ext uri="{FF2B5EF4-FFF2-40B4-BE49-F238E27FC236}">
                <a16:creationId xmlns:a16="http://schemas.microsoft.com/office/drawing/2014/main" id="{740782B8-D1D7-4C36-A8BB-24E8F5A48074}"/>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73C8FF"/>
                </a:solidFill>
                <a:latin typeface="Helvetica Neue"/>
                <a:ea typeface="Helvetica Neue"/>
                <a:cs typeface="Helvetica Neue"/>
              </a:defRPr>
            </a:pPr>
            <a:r>
              <a:rPr sz="2250" b="1">
                <a:solidFill>
                  <a:srgbClr val="73C8FF"/>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033E8440-5DA3-481F-BDD8-9A2ED4DD8BB3}"/>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Agentic RAG controls retrieval; GraphRAG retrieves relationships.</a:t>
            </a:r>
          </a:p>
        </p:txBody>
      </p:sp>
    </p:spTree>
    <p:extLst>
      <p:ext uri="{BB962C8B-B14F-4D97-AF65-F5344CB8AC3E}">
        <p14:creationId xmlns:p14="http://schemas.microsoft.com/office/powerpoint/2010/main" val="5490130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ccent-line">
            <a:extLst xmlns:a="http://schemas.openxmlformats.org/drawingml/2006/main">
              <a:ext uri="{FF2B5EF4-FFF2-40B4-BE49-F238E27FC236}">
                <a16:creationId xmlns:a16="http://schemas.microsoft.com/office/drawing/2014/main" id="{57D24732-CD06-4E87-BB4D-8D73D6AF7100}"/>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73C8FF"/>
          </a:solidFill>
          <a:ln xmlns:a="http://schemas.openxmlformats.org/drawingml/2006/main" w="0">
            <a:solidFill>
              <a:srgbClr val="73C8FF"/>
            </a:solidFill>
            <a:prstDash val="solid"/>
          </a:ln>
        </p:spPr>
      </p:sp>
      <p:sp>
        <p:nvSpPr>
          <p:cNvPr id="2" name="chapter-label">
            <a:extLst xmlns:a="http://schemas.openxmlformats.org/drawingml/2006/main">
              <a:ext uri="{FF2B5EF4-FFF2-40B4-BE49-F238E27FC236}">
                <a16:creationId xmlns:a16="http://schemas.microsoft.com/office/drawing/2014/main" id="{E0B0E6DC-AFDD-4482-AB9E-FBDE3345D002}"/>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PRACTICE AND READING  /  06</a:t>
            </a:r>
          </a:p>
        </p:txBody>
      </p:sp>
      <p:sp>
        <p:nvSpPr>
          <p:cNvPr id="3" name="slide-number">
            <a:extLst xmlns:a="http://schemas.openxmlformats.org/drawingml/2006/main">
              <a:ext uri="{FF2B5EF4-FFF2-40B4-BE49-F238E27FC236}">
                <a16:creationId xmlns:a16="http://schemas.microsoft.com/office/drawing/2014/main" id="{1A240237-2B73-4F2D-BFB4-392E06F9D0EA}"/>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12</a:t>
            </a:r>
          </a:p>
        </p:txBody>
      </p:sp>
      <p:sp>
        <p:nvSpPr>
          <p:cNvPr id="4" name="chapter-footer">
            <a:extLst xmlns:a="http://schemas.openxmlformats.org/drawingml/2006/main">
              <a:ext uri="{FF2B5EF4-FFF2-40B4-BE49-F238E27FC236}">
                <a16:creationId xmlns:a16="http://schemas.microsoft.com/office/drawing/2014/main" id="{159E93C9-2ABB-42A6-BDFA-A28104EFC6D6}"/>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RAG and Agentic RAG</a:t>
            </a:r>
          </a:p>
        </p:txBody>
      </p:sp>
      <p:sp>
        <p:nvSpPr>
          <p:cNvPr id="5" name="practice-title">
            <a:extLst xmlns:a="http://schemas.openxmlformats.org/drawingml/2006/main">
              <a:ext uri="{FF2B5EF4-FFF2-40B4-BE49-F238E27FC236}">
                <a16:creationId xmlns:a16="http://schemas.microsoft.com/office/drawing/2014/main" id="{B2E28AAB-2CD1-49E8-9B95-0F58E5759BCE}"/>
              </a:ext>
            </a:extLst>
          </p:cNvPr>
          <p:cNvSpPr>
            <a:spLocks xmlns:a="http://schemas.openxmlformats.org/drawingml/2006/main" noGrp="1"/>
          </p:cNvSpPr>
          <p:nvPr/>
        </p:nvSpPr>
        <p:spPr>
          <a:xfrm xmlns:a="http://schemas.openxmlformats.org/drawingml/2006/main">
            <a:off x="390525" y="1000125"/>
            <a:ext cx="1114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Evidence to submit</a:t>
            </a:r>
          </a:p>
        </p:txBody>
      </p:sp>
      <p:sp>
        <p:nvSpPr>
          <p:cNvPr id="6" name="practice-task">
            <a:extLst xmlns:a="http://schemas.openxmlformats.org/drawingml/2006/main">
              <a:ext uri="{FF2B5EF4-FFF2-40B4-BE49-F238E27FC236}">
                <a16:creationId xmlns:a16="http://schemas.microsoft.com/office/drawing/2014/main" id="{EB71A4DA-FCED-40CF-A1FE-69FA577BE81B}"/>
              </a:ext>
            </a:extLst>
          </p:cNvPr>
          <p:cNvSpPr>
            <a:spLocks xmlns:a="http://schemas.openxmlformats.org/drawingml/2006/main" noGrp="1"/>
          </p:cNvSpPr>
          <p:nvPr/>
        </p:nvSpPr>
        <p:spPr>
          <a:xfrm xmlns:a="http://schemas.openxmlformats.org/drawingml/2006/main">
            <a:off x="390525" y="2000250"/>
            <a:ext cx="1095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111111"/>
                </a:solidFill>
                <a:latin typeface="Helvetica Neue"/>
                <a:ea typeface="Helvetica Neue"/>
                <a:cs typeface="Helvetica Neue"/>
              </a:defRPr>
            </a:pPr>
            <a:r>
              <a:rPr sz="1950" b="0">
                <a:solidFill>
                  <a:srgbClr val="111111"/>
                </a:solidFill>
                <a:latin typeface="Helvetica Neue"/>
                <a:ea typeface="Helvetica Neue"/>
                <a:cs typeface="Helvetica Neue"/>
              </a:rPr>
              <a:t>Complete Lab 6 and add unknown, conflicting, and irrelevant records. Compare zero repair with one repair using a fixed question set.</a:t>
            </a:r>
          </a:p>
        </p:txBody>
      </p:sp>
      <p:sp>
        <p:nvSpPr>
          <p:cNvPr id="7" name="practice-check">
            <a:extLst xmlns:a="http://schemas.openxmlformats.org/drawingml/2006/main">
              <a:ext uri="{FF2B5EF4-FFF2-40B4-BE49-F238E27FC236}">
                <a16:creationId xmlns:a16="http://schemas.microsoft.com/office/drawing/2014/main" id="{CE3EB52F-C4B6-42BE-8101-44F52B644091}"/>
              </a:ext>
            </a:extLst>
          </p:cNvPr>
          <p:cNvSpPr>
            <a:spLocks xmlns:a="http://schemas.openxmlformats.org/drawingml/2006/main" noGrp="1"/>
          </p:cNvSpPr>
          <p:nvPr/>
        </p:nvSpPr>
        <p:spPr>
          <a:xfrm xmlns:a="http://schemas.openxmlformats.org/drawingml/2006/main">
            <a:off x="390525" y="3381375"/>
            <a:ext cx="10953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B5B57"/>
                </a:solidFill>
                <a:latin typeface="Helvetica Neue"/>
                <a:ea typeface="Helvetica Neue"/>
                <a:cs typeface="Helvetica Neue"/>
              </a:defRPr>
            </a:pPr>
            <a:r>
              <a:rPr sz="1800" b="0">
                <a:solidFill>
                  <a:srgbClr val="5B5B57"/>
                </a:solidFill>
                <a:latin typeface="Helvetica Neue"/>
                <a:ea typeface="Helvetica Neue"/>
                <a:cs typeface="Helvetica Neue"/>
              </a:rPr>
              <a:t>Report retrieval hits, unsupported answers, abstentions, and attempts separately. A known citation ID alone does not count as grounded correctness.</a:t>
            </a:r>
          </a:p>
        </p:txBody>
      </p:sp>
      <p:sp>
        <p:nvSpPr>
          <p:cNvPr id="8" name="practice-readings">
            <a:extLst xmlns:a="http://schemas.openxmlformats.org/drawingml/2006/main">
              <a:ext uri="{FF2B5EF4-FFF2-40B4-BE49-F238E27FC236}">
                <a16:creationId xmlns:a16="http://schemas.microsoft.com/office/drawing/2014/main" id="{886D77E1-7D8D-4368-AF99-7492EEF488A5}"/>
              </a:ext>
            </a:extLst>
          </p:cNvPr>
          <p:cNvSpPr>
            <a:spLocks xmlns:a="http://schemas.openxmlformats.org/drawingml/2006/main" noGrp="1"/>
          </p:cNvSpPr>
          <p:nvPr/>
        </p:nvSpPr>
        <p:spPr>
          <a:xfrm xmlns:a="http://schemas.openxmlformats.org/drawingml/2006/main">
            <a:off x="390525" y="46672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S4  Gemini structured outputs</a:t>
            </a:r>
          </a:p>
        </p:txBody>
      </p:sp>
      <p:sp>
        <p:nvSpPr>
          <p:cNvPr id="9" name="practice-lab">
            <a:extLst xmlns:a="http://schemas.openxmlformats.org/drawingml/2006/main">
              <a:ext uri="{FF2B5EF4-FFF2-40B4-BE49-F238E27FC236}">
                <a16:creationId xmlns:a16="http://schemas.microsoft.com/office/drawing/2014/main" id="{F27E2180-01ED-4972-8DB3-616D756908CF}"/>
              </a:ext>
            </a:extLst>
          </p:cNvPr>
          <p:cNvSpPr>
            <a:spLocks xmlns:a="http://schemas.openxmlformats.org/drawingml/2006/main" noGrp="1"/>
          </p:cNvSpPr>
          <p:nvPr/>
        </p:nvSpPr>
        <p:spPr>
          <a:xfrm xmlns:a="http://schemas.openxmlformats.org/drawingml/2006/main">
            <a:off x="390525" y="58578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0">
                <a:solidFill>
                  <a:srgbClr val="5B5B57"/>
                </a:solidFill>
                <a:latin typeface="Helvetica Neue"/>
                <a:ea typeface="Helvetica Neue"/>
                <a:cs typeface="Helvetica Neue"/>
              </a:defRPr>
            </a:pPr>
            <a:r>
              <a:rPr sz="1275" b="0">
                <a:solidFill>
                  <a:srgbClr val="5B5B57"/>
                </a:solidFill>
                <a:latin typeface="Helvetica Neue"/>
                <a:ea typeface="Helvetica Neue"/>
                <a:cs typeface="Helvetica Neue"/>
              </a:rPr>
              <a:t>labs/06_langgraph_corrective_rag.ipynb</a:t>
            </a:r>
          </a:p>
        </p:txBody>
      </p:sp>
    </p:spTree>
    <p:extLst>
      <p:ext uri="{BB962C8B-B14F-4D97-AF65-F5344CB8AC3E}">
        <p14:creationId xmlns:p14="http://schemas.microsoft.com/office/powerpoint/2010/main" val="575560006"/>
      </p:ext>
    </p:extLst>
  </p:cSld>
</p:sld>
</file>

<file path=ppt/theme/theme1.xml><?xml version="1.0" encoding="utf-8"?>
<a:theme xmlns:a="http://schemas.openxmlformats.org/drawingml/2006/main" name="Course">
  <a:themeElements>
    <a:clrScheme name="Cours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ur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06-rag-agentic-rag</dc:title>
  <dcterms:created xsi:type="dcterms:W3CDTF">2026-09-09T16:56:44.4660000Z</dcterms:created>
  <dcterms:modified xsi:type="dcterms:W3CDTF">2026-09-09T16:56:44.4660000Z</dcterms:modified>
</coreProperties>
</file>